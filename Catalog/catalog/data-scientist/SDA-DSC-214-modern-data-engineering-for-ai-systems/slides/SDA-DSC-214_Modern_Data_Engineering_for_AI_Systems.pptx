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charts/chart3.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charts/chart4.xml" ContentType="application/vnd.openxmlformats-officedocument.drawingml.chart+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charts/chart5.xml" ContentType="application/vnd.openxmlformats-officedocument.drawingml.chart+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Lst>
  <p:notesMasterIdLst>
    <p:notesMasterId r:id="rId10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notesMaster" Target="notesMasters/notesMaster1.xml"/><Relationship Id="rId108" Type="http://schemas.openxmlformats.org/officeDocument/2006/relationships/presProps" Target="presProps.xml"/><Relationship Id="rId109" Type="http://schemas.openxmlformats.org/officeDocument/2006/relationships/viewProps" Target="viewProps.xml"/><Relationship Id="rId110" Type="http://schemas.openxmlformats.org/officeDocument/2006/relationships/theme" Target="theme/theme1.xml"/><Relationship Id="rId1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Weighting</c:v>
                </c:pt>
              </c:strCache>
            </c:strRef>
          </c:tx>
          <c:spPr>
            <a:solidFill>
              <a:schemeClr val="accent1"/>
            </a:solidFill>
            <a:ln w="9525" cap="flat">
              <a:solidFill>
                <a:srgbClr val="F9F9F9"/>
              </a:solidFill>
              <a:prstDash val="solid"/>
              <a:round/>
            </a:ln>
            <a:effectLst/>
          </c:spPr>
          <c:dPt>
            <c:idx val="0"/>
            <c:bubble3D val="0"/>
            <c:spPr>
              <a:solidFill>
                <a:srgbClr val="B0763A"/>
              </a:solidFill>
              <a:effectLst/>
            </c:spPr>
          </c:dPt>
          <c:dPt>
            <c:idx val="1"/>
            <c:bubble3D val="0"/>
            <c:spPr>
              <a:solidFill>
                <a:srgbClr val="8E9AA3"/>
              </a:solidFill>
              <a:effectLst/>
            </c:spPr>
          </c:dPt>
          <c:dPt>
            <c:idx val="2"/>
            <c:bubble3D val="0"/>
            <c:spPr>
              <a:solidFill>
                <a:srgbClr val="00A6A6"/>
              </a:solidFill>
              <a:effectLst/>
            </c:spPr>
          </c:dPt>
          <c:dPt>
            <c:idx val="3"/>
            <c:bubble3D val="0"/>
            <c:spPr>
              <a:solidFill>
                <a:srgbClr val="D4A537"/>
              </a:solidFill>
              <a:effectLst/>
            </c:spPr>
          </c:dPt>
          <c:dLbls>
            <c:dLbl>
              <c:idx val="0"/>
              <c:numFmt formatCode="0&quot;%&quot;" sourceLinked="0"/>
              <c:spPr/>
              <c:txPr>
                <a:bodyPr/>
                <a:lstStyle/>
                <a:p>
                  <a:pPr>
                    <a:defRPr sz="1300" b="1" i="0" u="none" strike="noStrike">
                      <a:solidFill>
                        <a:srgbClr val="FFFFFF"/>
                      </a:solidFill>
                      <a:latin typeface="Calibri"/>
                    </a:defRPr>
                  </a:pPr>
                </a:p>
              </c:txPr>
              <c:showLegendKey val="0"/>
              <c:showVal val="1"/>
              <c:showCatName val="0"/>
              <c:showSerName val="0"/>
              <c:showPercent val="0"/>
              <c:showBubbleSize val="0"/>
            </c:dLbl>
            <c:dLbl>
              <c:idx val="1"/>
              <c:numFmt formatCode="0&quot;%&quot;" sourceLinked="0"/>
              <c:spPr/>
              <c:txPr>
                <a:bodyPr/>
                <a:lstStyle/>
                <a:p>
                  <a:pPr>
                    <a:defRPr sz="1300" b="1" i="0" u="none" strike="noStrike">
                      <a:solidFill>
                        <a:srgbClr val="FFFFFF"/>
                      </a:solidFill>
                      <a:latin typeface="Calibri"/>
                    </a:defRPr>
                  </a:pPr>
                </a:p>
              </c:txPr>
              <c:showLegendKey val="0"/>
              <c:showVal val="1"/>
              <c:showCatName val="0"/>
              <c:showSerName val="0"/>
              <c:showPercent val="0"/>
              <c:showBubbleSize val="0"/>
            </c:dLbl>
            <c:dLbl>
              <c:idx val="2"/>
              <c:numFmt formatCode="0&quot;%&quot;" sourceLinked="0"/>
              <c:spPr/>
              <c:txPr>
                <a:bodyPr/>
                <a:lstStyle/>
                <a:p>
                  <a:pPr>
                    <a:defRPr sz="1300" b="1" i="0" u="none" strike="noStrike">
                      <a:solidFill>
                        <a:srgbClr val="FFFFFF"/>
                      </a:solidFill>
                      <a:latin typeface="Calibri"/>
                    </a:defRPr>
                  </a:pPr>
                </a:p>
              </c:txPr>
              <c:showLegendKey val="0"/>
              <c:showVal val="1"/>
              <c:showCatName val="0"/>
              <c:showSerName val="0"/>
              <c:showPercent val="0"/>
              <c:showBubbleSize val="0"/>
            </c:dLbl>
            <c:dLbl>
              <c:idx val="3"/>
              <c:numFmt formatCode="0&quot;%&quot;" sourceLinked="0"/>
              <c:spPr/>
              <c:txPr>
                <a:bodyPr/>
                <a:lstStyle/>
                <a:p>
                  <a:pPr>
                    <a:defRPr sz="1300" b="1" i="0" u="none" strike="noStrike">
                      <a:solidFill>
                        <a:srgbClr val="FFFFFF"/>
                      </a:solidFill>
                      <a:latin typeface="Calibri"/>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Labs (8)</c:v>
                </c:pt>
                <c:pt idx="1">
                  <c:v>Practical assessments</c:v>
                </c:pt>
                <c:pt idx="2">
                  <c:v>Quiz</c:v>
                </c:pt>
                <c:pt idx="3">
                  <c:v>Capstone</c:v>
                </c:pt>
              </c:strCache>
            </c:strRef>
          </c:cat>
          <c:val>
            <c:numRef>
              <c:f>Sheet1!$B$2:$B$5</c:f>
              <c:numCache>
                <c:ptCount val="4"/>
                <c:pt idx="0">
                  <c:v>30</c:v>
                </c:pt>
                <c:pt idx="1">
                  <c:v>20</c:v>
                </c:pt>
                <c:pt idx="2">
                  <c:v>10</c:v>
                </c:pt>
                <c:pt idx="3">
                  <c:v>40</c:v>
                </c:pt>
              </c:numCache>
            </c:numRef>
          </c:val>
        </c:ser>
        <c:firstSliceAng val="0"/>
        <c:holeSize val="55"/>
      </c:doughnutChart>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Coupled warehouse (USD/month)</c:v>
                </c:pt>
              </c:strCache>
            </c:strRef>
          </c:tx>
          <c:spPr>
            <a:solidFill>
              <a:srgbClr val="D9503F"/>
            </a:solidFill>
            <a:effectLst/>
          </c:spPr>
          <c:invertIfNegative val="0"/>
          <c:dLbls>
            <c:numFmt formatCode="#,##0.##" sourceLinked="0"/>
            <c:txPr>
              <a:bodyPr/>
              <a:lstStyle/>
              <a:p>
                <a:pPr>
                  <a:defRPr b="0" i="0" strike="noStrike" sz="1000" u="none">
                    <a:solidFill>
                      <a:srgbClr val="2B3A42"/>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Storage — 36 months history</c:v>
                  </c:pt>
                  <c:pt idx="1">
                    <c:v>Nightly ELT compute</c:v>
                  </c:pt>
                  <c:pt idx="2">
                    <c:v>Ad-hoc analyst compute</c:v>
                  </c:pt>
                  <c:pt idx="3">
                    <c:v>Idle nights and weekends</c:v>
                  </c:pt>
                </c:lvl>
              </c:multiLvlStrCache>
            </c:multiLvlStrRef>
          </c:cat>
          <c:val>
            <c:numRef>
              <c:f>Sheet1!$B$2:$B$5</c:f>
              <c:numCache>
                <c:formatCode>General</c:formatCode>
                <c:ptCount val="4"/>
                <c:pt idx="0">
                  <c:v>4200</c:v>
                </c:pt>
                <c:pt idx="1">
                  <c:v>1800</c:v>
                </c:pt>
                <c:pt idx="2">
                  <c:v>1400</c:v>
                </c:pt>
                <c:pt idx="3">
                  <c:v>3100</c:v>
                </c:pt>
              </c:numCache>
            </c:numRef>
          </c:val>
        </c:ser>
        <c:ser>
          <c:idx val="1"/>
          <c:order val="1"/>
          <c:tx>
            <c:strRef>
              <c:f>Sheet1!$C$1</c:f>
              <c:strCache>
                <c:ptCount val="1"/>
                <c:pt idx="0">
                  <c:v>Decoupled Lakehouse (USD/month)</c:v>
                </c:pt>
              </c:strCache>
            </c:strRef>
          </c:tx>
          <c:spPr>
            <a:solidFill>
              <a:srgbClr val="00A6A6"/>
            </a:solidFill>
            <a:effectLst/>
          </c:spPr>
          <c:invertIfNegative val="0"/>
          <c:dLbls>
            <c:numFmt formatCode="#,##0.##" sourceLinked="0"/>
            <c:txPr>
              <a:bodyPr/>
              <a:lstStyle/>
              <a:p>
                <a:pPr>
                  <a:defRPr b="0" i="0" strike="noStrike" sz="1000" u="none">
                    <a:solidFill>
                      <a:srgbClr val="2B3A42"/>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Storage — 36 months history</c:v>
                  </c:pt>
                  <c:pt idx="1">
                    <c:v>Nightly ELT compute</c:v>
                  </c:pt>
                  <c:pt idx="2">
                    <c:v>Ad-hoc analyst compute</c:v>
                  </c:pt>
                  <c:pt idx="3">
                    <c:v>Idle nights and weekends</c:v>
                  </c:pt>
                </c:lvl>
              </c:multiLvlStrCache>
            </c:multiLvlStrRef>
          </c:cat>
          <c:val>
            <c:numRef>
              <c:f>Sheet1!$C$2:$C$5</c:f>
              <c:numCache>
                <c:formatCode>General</c:formatCode>
                <c:ptCount val="4"/>
                <c:pt idx="0">
                  <c:v>276</c:v>
                </c:pt>
                <c:pt idx="1">
                  <c:v>190</c:v>
                </c:pt>
                <c:pt idx="2">
                  <c:v>340</c:v>
                </c:pt>
                <c:pt idx="3">
                  <c:v>0</c:v>
                </c:pt>
              </c:numCache>
            </c:numRef>
          </c:val>
        </c:ser>
        <c:dLbls>
          <c:numFmt formatCode="#,##0.##" sourceLinked="0"/>
          <c:txPr>
            <a:bodyPr/>
            <a:lstStyle/>
            <a:p>
              <a:pPr>
                <a:defRPr b="0" i="0" strike="noStrike" sz="1000" u="none">
                  <a:solidFill>
                    <a:srgbClr val="2B3A42"/>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C86"/>
                </a:solidFill>
                <a:latin typeface="Calibri"/>
              </a:defRPr>
            </a:pPr>
            <a:endParaRPr lang="en-US"/>
          </a:p>
        </c:txPr>
        <c:crossAx val="2094734552"/>
        <c:crosses val="autoZero"/>
        <c:auto val="1"/>
        <c:lblAlgn val="ctr"/>
        <c:noMultiLvlLbl val="1"/>
      </c:catAx>
      <c:valAx>
        <c:axId val="2094734552"/>
        <c:scaling>
          <c:orientation val="minMax"/>
          <c:max val="5000"/>
        </c:scaling>
        <c:delete val="0"/>
        <c:axPos val="b"/>
        <c:majorGridlines>
          <c:spPr>
            <a:ln w="9525" cap="flat">
              <a:solidFill>
                <a:srgbClr val="DDE3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C86"/>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Files in silver.trips</c:v>
                </c:pt>
              </c:strCache>
            </c:strRef>
          </c:tx>
          <c:spPr>
            <a:solidFill>
              <a:srgbClr val="D9503F"/>
            </a:solidFill>
            <a:effectLst/>
          </c:spPr>
          <c:invertIfNegative val="0"/>
          <c:dLbls>
            <c:numFmt formatCode="#,##0.##" sourceLinked="0"/>
            <c:txPr>
              <a:bodyPr/>
              <a:lstStyle/>
              <a:p>
                <a:pPr>
                  <a:defRPr b="0" i="0" strike="noStrike" sz="1000" u="none">
                    <a:solidFill>
                      <a:srgbClr val="2B3A4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503F"/>
              </a:solidFill>
              <a:effectLst/>
            </c:spPr>
          </c:dPt>
          <c:dPt>
            <c:idx val="1"/>
            <c:invertIfNegative val="0"/>
            <c:bubble3D val="0"/>
            <c:spPr>
              <a:solidFill>
                <a:srgbClr val="00A6A6"/>
              </a:solidFill>
              <a:effectLst/>
            </c:spPr>
          </c:dPt>
          <c:cat>
            <c:multiLvlStrRef>
              <c:f>Sheet1!$A$2:$A$3</c:f>
              <c:multiLvlStrCache>
                <c:ptCount val="2"/>
                <c:lvl>
                  <c:pt idx="0">
                    <c:v>Before OPTIMIZE</c:v>
                  </c:pt>
                  <c:pt idx="1">
                    <c:v>After OPTIMIZE + ZORDER</c:v>
                  </c:pt>
                </c:lvl>
              </c:multiLvlStrCache>
            </c:multiLvlStrRef>
          </c:cat>
          <c:val>
            <c:numRef>
              <c:f>Sheet1!$B$2:$B$3</c:f>
              <c:numCache>
                <c:formatCode>General</c:formatCode>
                <c:ptCount val="2"/>
                <c:pt idx="0">
                  <c:v>214</c:v>
                </c:pt>
                <c:pt idx="1">
                  <c:v>9</c:v>
                </c:pt>
              </c:numCache>
            </c:numRef>
          </c:val>
        </c:ser>
        <c:dLbls>
          <c:numFmt formatCode="#,##0.##" sourceLinked="0"/>
          <c:txPr>
            <a:bodyPr/>
            <a:lstStyle/>
            <a:p>
              <a:pPr>
                <a:defRPr b="0" i="0" strike="noStrike" sz="1000" u="none">
                  <a:solidFill>
                    <a:srgbClr val="2B3A42"/>
                  </a:solidFill>
                  <a:latin typeface="Calibri"/>
                </a:defRPr>
              </a:pPr>
            </a:p>
          </c:txPr>
          <c:showLegendKey val="0"/>
          <c:showVal val="1"/>
          <c:showCatName val="0"/>
          <c:showSerName val="0"/>
          <c:showPercent val="0"/>
          <c:showBubbleSize val="0"/>
          <c:showLeaderLines val="0"/>
        </c:dLbls>
        <c:gapWidth val="1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C86"/>
                </a:solidFill>
                <a:latin typeface="Calibri"/>
              </a:defRPr>
            </a:pPr>
            <a:endParaRPr lang="en-US"/>
          </a:p>
        </c:txPr>
        <c:crossAx val="2094734552"/>
        <c:crosses val="autoZero"/>
        <c:auto val="1"/>
        <c:lblAlgn val="ctr"/>
        <c:noMultiLvlLbl val="1"/>
      </c:catAx>
      <c:valAx>
        <c:axId val="2094734552"/>
        <c:scaling>
          <c:orientation val="minMax"/>
          <c:max val="240"/>
          <c:min val="0"/>
        </c:scaling>
        <c:delete val="0"/>
        <c:axPos val="l"/>
        <c:majorGridlines>
          <c:spPr>
            <a:ln w="9525" cap="flat">
              <a:solidFill>
                <a:srgbClr val="DDE3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86"/>
                </a:solidFill>
                <a:latin typeface="Calibri"/>
              </a:defRPr>
            </a:pPr>
            <a:endParaRPr lang="en-US"/>
          </a:p>
        </c:txPr>
        <c:crossAx val="2094734554"/>
        <c:crosses val="autoZero"/>
        <c:crossBetween val="between"/>
        <c:majorUnit val="4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speed_kmh in the same hour</c:v>
                </c:pt>
              </c:strCache>
            </c:strRef>
          </c:tx>
          <c:spPr>
            <a:solidFill>
              <a:srgbClr val="00A6A6"/>
            </a:solidFill>
            <a:effectLst/>
          </c:spPr>
          <c:invertIfNegative val="0"/>
          <c:dLbls>
            <c:numFmt formatCode="#,##0.##" sourceLinked="0"/>
            <c:txPr>
              <a:bodyPr/>
              <a:lstStyle/>
              <a:p>
                <a:pPr>
                  <a:defRPr b="0" i="0" strike="noStrike" sz="1000" u="none">
                    <a:solidFill>
                      <a:srgbClr val="2B3A42"/>
                    </a:solidFill>
                    <a:latin typeface="Calibri"/>
                  </a:defRPr>
                </a:pPr>
              </a:p>
            </c:txPr>
            <c:showLegendKey val="0"/>
            <c:showVal val="1"/>
            <c:showCatName val="0"/>
            <c:showSerName val="0"/>
            <c:showPercent val="0"/>
            <c:showBubbleSize val="0"/>
            <c:showLeaderLines val="0"/>
          </c:dLbls>
          <c:dPt>
            <c:idx val="0"/>
            <c:invertIfNegative val="0"/>
            <c:bubble3D val="0"/>
            <c:spPr>
              <a:solidFill>
                <a:srgbClr val="00A6A6"/>
              </a:solidFill>
              <a:effectLst/>
            </c:spPr>
          </c:dPt>
          <c:dPt>
            <c:idx val="1"/>
            <c:invertIfNegative val="0"/>
            <c:bubble3D val="0"/>
            <c:spPr>
              <a:solidFill>
                <a:srgbClr val="D9503F"/>
              </a:solidFill>
              <a:effectLst/>
            </c:spPr>
          </c:dPt>
          <c:cat>
            <c:multiLvlStrRef>
              <c:f>Sheet1!$A$2:$A$3</c:f>
              <c:multiLvlStrCache>
                <c:ptCount val="2"/>
                <c:lvl>
                  <c:pt idx="0">
                    <c:v>producer_version 2.4.0</c:v>
                  </c:pt>
                  <c:pt idx="1">
                    <c:v>producer_version 2.5.0</c:v>
                  </c:pt>
                </c:lvl>
              </c:multiLvlStrCache>
            </c:multiLvlStrRef>
          </c:cat>
          <c:val>
            <c:numRef>
              <c:f>Sheet1!$B$2:$B$3</c:f>
              <c:numCache>
                <c:formatCode>General</c:formatCode>
                <c:ptCount val="2"/>
                <c:pt idx="0">
                  <c:v>35.45</c:v>
                </c:pt>
                <c:pt idx="1">
                  <c:v>9.85</c:v>
                </c:pt>
              </c:numCache>
            </c:numRef>
          </c:val>
        </c:ser>
        <c:dLbls>
          <c:numFmt formatCode="#,##0.##" sourceLinked="0"/>
          <c:txPr>
            <a:bodyPr/>
            <a:lstStyle/>
            <a:p>
              <a:pPr>
                <a:defRPr b="0" i="0" strike="noStrike" sz="1000" u="none">
                  <a:solidFill>
                    <a:srgbClr val="2B3A42"/>
                  </a:solidFill>
                  <a:latin typeface="Calibri"/>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C86"/>
                </a:solidFill>
                <a:latin typeface="Calibri"/>
              </a:defRPr>
            </a:pPr>
            <a:endParaRPr lang="en-US"/>
          </a:p>
        </c:txPr>
        <c:crossAx val="2094734552"/>
        <c:crosses val="autoZero"/>
        <c:auto val="1"/>
        <c:lblAlgn val="ctr"/>
        <c:noMultiLvlLbl val="1"/>
      </c:catAx>
      <c:valAx>
        <c:axId val="2094734552"/>
        <c:scaling>
          <c:orientation val="minMax"/>
          <c:max val="45"/>
        </c:scaling>
        <c:delete val="0"/>
        <c:axPos val="l"/>
        <c:majorGridlines>
          <c:spPr>
            <a:ln w="9525" cap="flat">
              <a:solidFill>
                <a:srgbClr val="DDE3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8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Offline R² on the ETA model</c:v>
                </c:pt>
              </c:strCache>
            </c:strRef>
          </c:tx>
          <c:spPr>
            <a:solidFill>
              <a:srgbClr val="D9503F"/>
            </a:solidFill>
            <a:effectLst/>
          </c:spPr>
          <c:invertIfNegative val="0"/>
          <c:dLbls>
            <c:numFmt formatCode="0.000" sourceLinked="0"/>
            <c:txPr>
              <a:bodyPr/>
              <a:lstStyle/>
              <a:p>
                <a:pPr>
                  <a:defRPr b="0" i="0" strike="noStrike" sz="1000" u="none">
                    <a:solidFill>
                      <a:srgbClr val="2B3A4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503F"/>
              </a:solidFill>
              <a:effectLst/>
            </c:spPr>
          </c:dPt>
          <c:dPt>
            <c:idx val="1"/>
            <c:invertIfNegative val="0"/>
            <c:bubble3D val="0"/>
            <c:spPr>
              <a:solidFill>
                <a:srgbClr val="00A6A6"/>
              </a:solidFill>
              <a:effectLst/>
            </c:spPr>
          </c:dPt>
          <c:cat>
            <c:multiLvlStrRef>
              <c:f>Sheet1!$A$2:$A$3</c:f>
              <c:multiLvlStrCache>
                <c:ptCount val="2"/>
                <c:lvl>
                  <c:pt idx="0">
                    <c:v>With leaking features</c:v>
                  </c:pt>
                  <c:pt idx="1">
                    <c:v>Point-in-time correct</c:v>
                  </c:pt>
                </c:lvl>
              </c:multiLvlStrCache>
            </c:multiLvlStrRef>
          </c:cat>
          <c:val>
            <c:numRef>
              <c:f>Sheet1!$B$2:$B$3</c:f>
              <c:numCache>
                <c:formatCode>General</c:formatCode>
                <c:ptCount val="2"/>
                <c:pt idx="0">
                  <c:v>0.943</c:v>
                </c:pt>
                <c:pt idx="1">
                  <c:v>0.712</c:v>
                </c:pt>
              </c:numCache>
            </c:numRef>
          </c:val>
        </c:ser>
        <c:dLbls>
          <c:numFmt formatCode="0.000" sourceLinked="0"/>
          <c:txPr>
            <a:bodyPr/>
            <a:lstStyle/>
            <a:p>
              <a:pPr>
                <a:defRPr b="0" i="0" strike="noStrike" sz="1000" u="none">
                  <a:solidFill>
                    <a:srgbClr val="2B3A42"/>
                  </a:solidFill>
                  <a:latin typeface="Calibri"/>
                </a:defRPr>
              </a:pPr>
            </a:p>
          </c:txPr>
          <c:showLegendKey val="0"/>
          <c:showVal val="1"/>
          <c:showCatName val="0"/>
          <c:showSerName val="0"/>
          <c:showPercent val="0"/>
          <c:showBubbleSize val="0"/>
          <c:showLeaderLines val="0"/>
        </c:dLbls>
        <c:gapWidth val="1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C86"/>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DE3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86"/>
                </a:solidFill>
                <a:latin typeface="Calibri"/>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course promise: by Friday every participant owns a working, tested, governed Lakehouse feeding both an AI model and a BI dashboard. Do not open with tool names. Open with the Masar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spine of the whole delivery. Return to it at every module boundary. If a participant can answer this question for each layer of the platform by Friday, the course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sets the vocabulary and the golden thread. Protect the Lab 1 time — participants who land data on day one believe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The emotional hook for the whole week is that a platform can be operationally healthy and analytically fatal. The third card is the one participants underestimate; it is Module 8 and case study CS-08.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duplicate-key issue caused by re-running is teaching moment #1: bronze SHOULD allow it; silver resolves it. Walk the room and check who spots it. Fast finishers: profile drivers.csv for the mixed date-format smell — a perfect bridge to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the LAB1_NOTES swamp risks and put three of them on the board for tomorrow morning. They are the agenda for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timeline on the board: trip ends 23:50, payment settles 00:07, bronze receives it at 02:00 the next day. Then ask which run should have counted it. This is CS-03 and it cost Wusool a ~2% silent undercount for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3b is where pairs pay off — the SQL-strong participant leads. Publish lab3b-start so anyone stuck on staging can fast-forward.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question: if two jobs wrote to silver.trips at the same time right now, what would happen? Let them sit with not knowing. That is Module 4's first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foreshadow CS-11 here. When participants reach the incident and realise the schema check passed, this slide is what they will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4b is one of the two most overrun-prone labs. Publish lab4b-start and hold the line on time; the OPTIMIZE step is the one people skip, and it is the one the rubric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thesis. In Lab 5 participants kill the job mid-stream and restart it, then count rows. The count is unchanged. Never skip that observation, even if you have to run the lab as a guided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5 is the boot-time risk of the whole week: pre-pull the Kafka image, free port 9092, and have the compose healthcheck ready. If the cohort is weak, run the exactly-once step as a guided demo — but never skip the kill/restart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Day 4 here. Do not explain further. The overnight gap is deliberate — participants should arrive on Day 5 already suspicious.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at the start of Day 5, before Module 7. It is the emotional peak of the course and it retro-justifies every control taught on Days 3 and 4. Budget 90 minutes and do not compress it below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out loud and then stop talking. Let the silence do the work. Take the first three suggestions from the room and write them on the board without judging them — you will return to them in the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last line on the whiteboard and leave it there for the rest of Day 5. Capstone teams will point at it during their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CS-08 (“Wojhah”): 0.93 R² offline, worse than the old heuristic live. The culprit was a “current zone demand” feature computed from the WHOLE hour containing the trip — including trips that started after the one being predicted.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drill is the assessed part, not the code. A participant who ships a leakage-free table but cannot justify each classification has not met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anti-pattern flags: feature leakage; non-idempotent gold; VACUUM RETAIN 0; alert-only quality gate; raw rider IDs in BI output; streaming without a dedicated checkpoint. Grade from the running platform and repository evidence first, demo second. Verify one claim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collecting: repository URLs, BENCHMARKS.md, GOVERNANCE.md, DECISIONS.md and the mini_lakehouse/ folder. Badge recommendations within five working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234440"/>
            <a:ext cx="11057839" cy="274320"/>
          </a:xfrm>
          <a:prstGeom prst="rect">
            <a:avLst/>
          </a:prstGeom>
          <a:noFill/>
          <a:ln/>
        </p:spPr>
        <p:txBody>
          <a:bodyPr wrap="square" lIns="0" tIns="0" rIns="0" bIns="0" rtlCol="0" anchor="ctr"/>
          <a:lstStyle/>
          <a:p>
            <a:pPr indent="0" marL="0">
              <a:buNone/>
            </a:pPr>
            <a:r>
              <a:rPr lang="en-US" sz="1150" b="1" spc="240" kern="0" dirty="0">
                <a:solidFill>
                  <a:srgbClr val="D4A537"/>
                </a:solidFill>
                <a:latin typeface="Calibri" pitchFamily="34" charset="0"/>
                <a:ea typeface="Calibri" pitchFamily="34" charset="-122"/>
                <a:cs typeface="Calibri" pitchFamily="34" charset="-120"/>
              </a:rPr>
              <a:t>SDAIA ACADEMY  ·  SPECIALIST TRACK  ·  SDA-DSC-214</a:t>
            </a:r>
            <a:endParaRPr lang="en-US" sz="1150" dirty="0"/>
          </a:p>
        </p:txBody>
      </p:sp>
      <p:sp>
        <p:nvSpPr>
          <p:cNvPr id="3" name="Text 1"/>
          <p:cNvSpPr txBox="1"/>
          <p:nvPr/>
        </p:nvSpPr>
        <p:spPr>
          <a:xfrm>
            <a:off x="566928" y="1691640"/>
            <a:ext cx="9960559" cy="182880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Modern Data Engineering</a:t>
            </a:r>
            <a:endParaRPr lang="en-US" sz="4600" dirty="0"/>
          </a:p>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for AI Systems</a:t>
            </a:r>
            <a:endParaRPr lang="en-US" sz="4600" dirty="0"/>
          </a:p>
        </p:txBody>
      </p:sp>
      <p:sp>
        <p:nvSpPr>
          <p:cNvPr id="4" name="Text 2"/>
          <p:cNvSpPr txBox="1"/>
          <p:nvPr/>
        </p:nvSpPr>
        <p:spPr>
          <a:xfrm>
            <a:off x="566928" y="3611880"/>
            <a:ext cx="9594799" cy="548640"/>
          </a:xfrm>
          <a:prstGeom prst="rect">
            <a:avLst/>
          </a:prstGeom>
          <a:noFill/>
          <a:ln/>
        </p:spPr>
        <p:txBody>
          <a:bodyPr wrap="square" lIns="0" tIns="0" rIns="0" bIns="0" rtlCol="0" anchor="ctr"/>
          <a:lstStyle/>
          <a:p>
            <a:pPr indent="0" marL="0">
              <a:buNone/>
            </a:pPr>
            <a:r>
              <a:rPr lang="en-US" sz="1550" dirty="0">
                <a:solidFill>
                  <a:srgbClr val="9FB3BE"/>
                </a:solidFill>
                <a:latin typeface="Calibri" pitchFamily="34" charset="0"/>
                <a:ea typeface="Calibri" pitchFamily="34" charset="-122"/>
                <a:cs typeface="Calibri" pitchFamily="34" charset="-120"/>
              </a:rPr>
              <a:t>Building the trustworthy data platform behind Masar (مسار) — the national smart-mobility system</a:t>
            </a:r>
            <a:endParaRPr lang="en-US" sz="1550" dirty="0"/>
          </a:p>
        </p:txBody>
      </p:sp>
      <p:sp>
        <p:nvSpPr>
          <p:cNvPr id="5" name="Text 3"/>
          <p:cNvSpPr txBox="1"/>
          <p:nvPr/>
        </p:nvSpPr>
        <p:spPr>
          <a:xfrm>
            <a:off x="566928" y="4526280"/>
            <a:ext cx="2926080" cy="384048"/>
          </a:xfrm>
          <a:prstGeom prst="rect">
            <a:avLst/>
          </a:prstGeom>
          <a:noFill/>
          <a:ln/>
        </p:spPr>
        <p:txBody>
          <a:bodyPr wrap="square" lIns="0" tIns="0" rIns="0" bIns="0" rtlCol="0" anchor="ctr"/>
          <a:lstStyle/>
          <a:p>
            <a:pPr indent="0" marL="0">
              <a:buNone/>
            </a:pPr>
            <a:r>
              <a:rPr lang="en-US" sz="2200" b="1" dirty="0">
                <a:solidFill>
                  <a:srgbClr val="B0763A"/>
                </a:solidFill>
                <a:latin typeface="Cambria" pitchFamily="34" charset="0"/>
                <a:ea typeface="Cambria" pitchFamily="34" charset="-122"/>
                <a:cs typeface="Cambria" pitchFamily="34" charset="-120"/>
              </a:rPr>
              <a:t>5 days</a:t>
            </a:r>
            <a:endParaRPr lang="en-US" sz="2200" dirty="0"/>
          </a:p>
        </p:txBody>
      </p:sp>
      <p:sp>
        <p:nvSpPr>
          <p:cNvPr id="6" name="Text 4"/>
          <p:cNvSpPr txBox="1"/>
          <p:nvPr/>
        </p:nvSpPr>
        <p:spPr>
          <a:xfrm>
            <a:off x="566928" y="4919472"/>
            <a:ext cx="2926080" cy="274320"/>
          </a:xfrm>
          <a:prstGeom prst="rect">
            <a:avLst/>
          </a:prstGeom>
          <a:noFill/>
          <a:ln/>
        </p:spPr>
        <p:txBody>
          <a:bodyPr wrap="square" lIns="0" tIns="0" rIns="0" bIns="0" rtlCol="0" anchor="ctr"/>
          <a:lstStyle/>
          <a:p>
            <a:pPr indent="0" marL="0">
              <a:buNone/>
            </a:pPr>
            <a:r>
              <a:rPr lang="en-US" sz="1200" dirty="0">
                <a:solidFill>
                  <a:srgbClr val="9FB3BE"/>
                </a:solidFill>
                <a:latin typeface="Calibri" pitchFamily="34" charset="0"/>
                <a:ea typeface="Calibri" pitchFamily="34" charset="-122"/>
                <a:cs typeface="Calibri" pitchFamily="34" charset="-120"/>
              </a:rPr>
              <a:t>25 learning hours</a:t>
            </a:r>
            <a:endParaRPr lang="en-US" sz="1200" dirty="0"/>
          </a:p>
        </p:txBody>
      </p:sp>
      <p:sp>
        <p:nvSpPr>
          <p:cNvPr id="7" name="Text 5"/>
          <p:cNvSpPr txBox="1"/>
          <p:nvPr/>
        </p:nvSpPr>
        <p:spPr>
          <a:xfrm>
            <a:off x="3767328" y="4526280"/>
            <a:ext cx="2926080" cy="384048"/>
          </a:xfrm>
          <a:prstGeom prst="rect">
            <a:avLst/>
          </a:prstGeom>
          <a:noFill/>
          <a:ln/>
        </p:spPr>
        <p:txBody>
          <a:bodyPr wrap="square" lIns="0" tIns="0" rIns="0" bIns="0" rtlCol="0" anchor="ctr"/>
          <a:lstStyle/>
          <a:p>
            <a:pPr indent="0" marL="0">
              <a:buNone/>
            </a:pPr>
            <a:r>
              <a:rPr lang="en-US" sz="2200" b="1" dirty="0">
                <a:solidFill>
                  <a:srgbClr val="8E9AA3"/>
                </a:solidFill>
                <a:latin typeface="Cambria" pitchFamily="34" charset="0"/>
                <a:ea typeface="Cambria" pitchFamily="34" charset="-122"/>
                <a:cs typeface="Cambria" pitchFamily="34" charset="-120"/>
              </a:rPr>
              <a:t>8 modules</a:t>
            </a:r>
            <a:endParaRPr lang="en-US" sz="2200" dirty="0"/>
          </a:p>
        </p:txBody>
      </p:sp>
      <p:sp>
        <p:nvSpPr>
          <p:cNvPr id="8" name="Text 6"/>
          <p:cNvSpPr txBox="1"/>
          <p:nvPr/>
        </p:nvSpPr>
        <p:spPr>
          <a:xfrm>
            <a:off x="3767328" y="4919472"/>
            <a:ext cx="2926080" cy="274320"/>
          </a:xfrm>
          <a:prstGeom prst="rect">
            <a:avLst/>
          </a:prstGeom>
          <a:noFill/>
          <a:ln/>
        </p:spPr>
        <p:txBody>
          <a:bodyPr wrap="square" lIns="0" tIns="0" rIns="0" bIns="0" rtlCol="0" anchor="ctr"/>
          <a:lstStyle/>
          <a:p>
            <a:pPr indent="0" marL="0">
              <a:buNone/>
            </a:pPr>
            <a:r>
              <a:rPr lang="en-US" sz="1200" dirty="0">
                <a:solidFill>
                  <a:srgbClr val="9FB3BE"/>
                </a:solidFill>
                <a:latin typeface="Calibri" pitchFamily="34" charset="0"/>
                <a:ea typeface="Calibri" pitchFamily="34" charset="-122"/>
                <a:cs typeface="Calibri" pitchFamily="34" charset="-120"/>
              </a:rPr>
              <a:t>8 hands-on labs</a:t>
            </a:r>
            <a:endParaRPr lang="en-US" sz="1200" dirty="0"/>
          </a:p>
        </p:txBody>
      </p:sp>
      <p:sp>
        <p:nvSpPr>
          <p:cNvPr id="9" name="Text 7"/>
          <p:cNvSpPr txBox="1"/>
          <p:nvPr/>
        </p:nvSpPr>
        <p:spPr>
          <a:xfrm>
            <a:off x="6967728" y="4526280"/>
            <a:ext cx="2926080" cy="384048"/>
          </a:xfrm>
          <a:prstGeom prst="rect">
            <a:avLst/>
          </a:prstGeom>
          <a:noFill/>
          <a:ln/>
        </p:spPr>
        <p:txBody>
          <a:bodyPr wrap="square" lIns="0" tIns="0" rIns="0" bIns="0" rtlCol="0" anchor="ctr"/>
          <a:lstStyle/>
          <a:p>
            <a:pPr indent="0" marL="0">
              <a:buNone/>
            </a:pPr>
            <a:r>
              <a:rPr lang="en-US" sz="2200" b="1" dirty="0">
                <a:solidFill>
                  <a:srgbClr val="D4A537"/>
                </a:solidFill>
                <a:latin typeface="Cambria" pitchFamily="34" charset="0"/>
                <a:ea typeface="Cambria" pitchFamily="34" charset="-122"/>
                <a:cs typeface="Cambria" pitchFamily="34" charset="-120"/>
              </a:rPr>
              <a:t>1 capstone</a:t>
            </a:r>
            <a:endParaRPr lang="en-US" sz="2200" dirty="0"/>
          </a:p>
        </p:txBody>
      </p:sp>
      <p:sp>
        <p:nvSpPr>
          <p:cNvPr id="10" name="Text 8"/>
          <p:cNvSpPr txBox="1"/>
          <p:nvPr/>
        </p:nvSpPr>
        <p:spPr>
          <a:xfrm>
            <a:off x="6967728" y="4919472"/>
            <a:ext cx="2926080" cy="274320"/>
          </a:xfrm>
          <a:prstGeom prst="rect">
            <a:avLst/>
          </a:prstGeom>
          <a:noFill/>
          <a:ln/>
        </p:spPr>
        <p:txBody>
          <a:bodyPr wrap="square" lIns="0" tIns="0" rIns="0" bIns="0" rtlCol="0" anchor="ctr"/>
          <a:lstStyle/>
          <a:p>
            <a:pPr indent="0" marL="0">
              <a:buNone/>
            </a:pPr>
            <a:r>
              <a:rPr lang="en-US" sz="1200" dirty="0">
                <a:solidFill>
                  <a:srgbClr val="9FB3BE"/>
                </a:solidFill>
                <a:latin typeface="Calibri" pitchFamily="34" charset="0"/>
                <a:ea typeface="Calibri" pitchFamily="34" charset="-122"/>
                <a:cs typeface="Calibri" pitchFamily="34" charset="-120"/>
              </a:rPr>
              <a:t>Masar Mini-Lakehouse</a:t>
            </a:r>
            <a:endParaRPr lang="en-US" sz="1200" dirty="0"/>
          </a:p>
        </p:txBody>
      </p:sp>
      <p:sp>
        <p:nvSpPr>
          <p:cNvPr id="11" name="Text 9"/>
          <p:cNvSpPr txBox="1"/>
          <p:nvPr/>
        </p:nvSpPr>
        <p:spPr>
          <a:xfrm>
            <a:off x="566928" y="5715000"/>
            <a:ext cx="11057839" cy="274320"/>
          </a:xfrm>
          <a:prstGeom prst="rect">
            <a:avLst/>
          </a:prstGeom>
          <a:noFill/>
          <a:ln/>
        </p:spPr>
        <p:txBody>
          <a:bodyPr wrap="square" lIns="0" tIns="0" rIns="0" bIns="0" rtlCol="0" anchor="ctr"/>
          <a:lstStyle/>
          <a:p>
            <a:pPr indent="0" marL="0">
              <a:buNone/>
            </a:pPr>
            <a:r>
              <a:rPr lang="en-US" sz="1150" dirty="0">
                <a:solidFill>
                  <a:srgbClr val="00A6A6"/>
                </a:solidFill>
                <a:latin typeface="Courier New" pitchFamily="34" charset="0"/>
                <a:ea typeface="Courier New" pitchFamily="34" charset="-122"/>
                <a:cs typeface="Courier New" pitchFamily="34" charset="-120"/>
              </a:rPr>
              <a:t>PySpark · Delta Lake · dbt · Kafka · Great Expectations</a:t>
            </a:r>
            <a:endParaRPr lang="en-US" sz="1150" dirty="0"/>
          </a:p>
        </p:txBody>
      </p:sp>
      <p:sp>
        <p:nvSpPr>
          <p:cNvPr id="12" name="Shape 10"/>
          <p:cNvSpPr/>
          <p:nvPr/>
        </p:nvSpPr>
        <p:spPr>
          <a:xfrm>
            <a:off x="11048695" y="1243584"/>
            <a:ext cx="155448" cy="155448"/>
          </a:xfrm>
          <a:prstGeom prst="roundRect">
            <a:avLst>
              <a:gd name="adj" fmla="val 23529"/>
            </a:avLst>
          </a:prstGeom>
          <a:solidFill>
            <a:srgbClr val="B0763A"/>
          </a:solidFill>
          <a:ln w="6350">
            <a:solidFill>
              <a:srgbClr val="B0763A"/>
            </a:solidFill>
            <a:prstDash val="solid"/>
          </a:ln>
        </p:spPr>
      </p:sp>
      <p:sp>
        <p:nvSpPr>
          <p:cNvPr id="13" name="Shape 11"/>
          <p:cNvSpPr/>
          <p:nvPr/>
        </p:nvSpPr>
        <p:spPr>
          <a:xfrm>
            <a:off x="11249863" y="1243584"/>
            <a:ext cx="155448" cy="155448"/>
          </a:xfrm>
          <a:prstGeom prst="roundRect">
            <a:avLst>
              <a:gd name="adj" fmla="val 23529"/>
            </a:avLst>
          </a:prstGeom>
          <a:solidFill>
            <a:srgbClr val="8E9AA3"/>
          </a:solidFill>
          <a:ln w="6350">
            <a:solidFill>
              <a:srgbClr val="8E9AA3"/>
            </a:solidFill>
            <a:prstDash val="solid"/>
          </a:ln>
        </p:spPr>
      </p:sp>
      <p:sp>
        <p:nvSpPr>
          <p:cNvPr id="14" name="Shape 12"/>
          <p:cNvSpPr/>
          <p:nvPr/>
        </p:nvSpPr>
        <p:spPr>
          <a:xfrm>
            <a:off x="11451031" y="1243584"/>
            <a:ext cx="155448" cy="155448"/>
          </a:xfrm>
          <a:prstGeom prst="roundRect">
            <a:avLst>
              <a:gd name="adj" fmla="val 23529"/>
            </a:avLst>
          </a:prstGeom>
          <a:solidFill>
            <a:srgbClr val="D4A537"/>
          </a:solidFill>
          <a:ln w="6350">
            <a:solidFill>
              <a:srgbClr val="D4A537"/>
            </a:solidFill>
            <a:prstDash val="solid"/>
          </a:ln>
        </p:spPr>
      </p:sp>
      <p:sp>
        <p:nvSpPr>
          <p:cNvPr id="15" name="Text 13"/>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Instructor deck · v1.0</a:t>
            </a:r>
            <a:endParaRPr lang="en-US" sz="900" dirty="0"/>
          </a:p>
        </p:txBody>
      </p:sp>
      <p:sp>
        <p:nvSpPr>
          <p:cNvPr id="16" name="Text 14"/>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371600"/>
            <a:ext cx="11057839" cy="274320"/>
          </a:xfrm>
          <a:prstGeom prst="rect">
            <a:avLst/>
          </a:prstGeom>
          <a:noFill/>
          <a:ln/>
        </p:spPr>
        <p:txBody>
          <a:bodyPr wrap="square" lIns="0" tIns="0" rIns="0" bIns="0" rtlCol="0" anchor="ctr"/>
          <a:lstStyle/>
          <a:p>
            <a:pPr indent="0" marL="0">
              <a:buNone/>
            </a:pPr>
            <a:r>
              <a:rPr lang="en-US" sz="1100" b="1" spc="180" kern="0" dirty="0">
                <a:solidFill>
                  <a:srgbClr val="D4A537"/>
                </a:solidFill>
                <a:latin typeface="Calibri" pitchFamily="34" charset="0"/>
                <a:ea typeface="Calibri" pitchFamily="34" charset="-122"/>
                <a:cs typeface="Calibri" pitchFamily="34" charset="-120"/>
              </a:rPr>
              <a:t>THE QUESTION BEHIND EVERY SLIDE IN THIS DECK</a:t>
            </a:r>
            <a:endParaRPr lang="en-US" sz="1100" dirty="0"/>
          </a:p>
        </p:txBody>
      </p:sp>
      <p:sp>
        <p:nvSpPr>
          <p:cNvPr id="3" name="Text 1"/>
          <p:cNvSpPr txBox="1"/>
          <p:nvPr/>
        </p:nvSpPr>
        <p:spPr>
          <a:xfrm>
            <a:off x="566928" y="1783080"/>
            <a:ext cx="10509199" cy="2377440"/>
          </a:xfrm>
          <a:prstGeom prst="rect">
            <a:avLst/>
          </a:prstGeom>
          <a:noFill/>
          <a:ln/>
        </p:spPr>
        <p:txBody>
          <a:bodyPr wrap="square" lIns="0" tIns="0" rIns="0" bIns="0" rtlCol="0" anchor="t"/>
          <a:lstStyle/>
          <a:p>
            <a:pPr indent="0" marL="0">
              <a:lnSpc>
                <a:spcPct val="112000"/>
              </a:lnSpc>
              <a:buNone/>
            </a:pPr>
            <a:r>
              <a:rPr lang="en-US" sz="3300" b="1" dirty="0">
                <a:solidFill>
                  <a:srgbClr val="FFFFFF"/>
                </a:solidFill>
                <a:latin typeface="Cambria" pitchFamily="34" charset="0"/>
                <a:ea typeface="Cambria" pitchFamily="34" charset="-122"/>
                <a:cs typeface="Cambria" pitchFamily="34" charset="-120"/>
              </a:rPr>
              <a:t>“What happens to Masar’s AI system</a:t>
            </a:r>
            <a:endParaRPr lang="en-US" sz="3300" dirty="0"/>
          </a:p>
          <a:p>
            <a:pPr indent="0" marL="0">
              <a:lnSpc>
                <a:spcPct val="112000"/>
              </a:lnSpc>
              <a:buNone/>
            </a:pPr>
            <a:r>
              <a:rPr lang="en-US" sz="3300" b="1" dirty="0">
                <a:solidFill>
                  <a:srgbClr val="FFFFFF"/>
                </a:solidFill>
                <a:latin typeface="Cambria" pitchFamily="34" charset="0"/>
                <a:ea typeface="Cambria" pitchFamily="34" charset="-122"/>
                <a:cs typeface="Cambria" pitchFamily="34" charset="-120"/>
              </a:rPr>
              <a:t>if this part of the data platform fails?”</a:t>
            </a:r>
            <a:endParaRPr lang="en-US" sz="3300" dirty="0"/>
          </a:p>
        </p:txBody>
      </p:sp>
      <p:sp>
        <p:nvSpPr>
          <p:cNvPr id="4" name="Text 2"/>
          <p:cNvSpPr txBox="1"/>
          <p:nvPr/>
        </p:nvSpPr>
        <p:spPr>
          <a:xfrm>
            <a:off x="566928" y="4434840"/>
            <a:ext cx="10509199" cy="1097280"/>
          </a:xfrm>
          <a:prstGeom prst="rect">
            <a:avLst/>
          </a:prstGeom>
          <a:noFill/>
          <a:ln/>
        </p:spPr>
        <p:txBody>
          <a:bodyPr wrap="square" lIns="0" tIns="0" rIns="0" bIns="0" rtlCol="0" anchor="t"/>
          <a:lstStyle/>
          <a:p>
            <a:pPr indent="0" marL="0">
              <a:buNone/>
            </a:pPr>
            <a:r>
              <a:rPr lang="en-US" sz="1500" dirty="0">
                <a:solidFill>
                  <a:srgbClr val="9FB3BE"/>
                </a:solidFill>
                <a:latin typeface="Calibri" pitchFamily="34" charset="0"/>
                <a:ea typeface="Calibri" pitchFamily="34" charset="-122"/>
                <a:cs typeface="Calibri" pitchFamily="34" charset="-120"/>
              </a:rPr>
              <a:t>This course is not about learning five tools. It is about engineering ONE trustworthy data product for AI.</a:t>
            </a: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Every concept, every lab, every case study answers the same question. Ask it out loud at each transition.</a:t>
            </a:r>
            <a:endParaRPr lang="en-US" sz="1500" dirty="0"/>
          </a:p>
        </p:txBody>
      </p:sp>
      <p:sp>
        <p:nvSpPr>
          <p:cNvPr id="5"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6"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7"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8"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9"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COURSE PROFILE</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SDA-DSC-214 at a glance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2651760"/>
                <a:gridCol w="8403336"/>
              </a:tblGrid>
              <a:tr h="50520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Details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r>
              <a:tr h="505206">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Arabic title</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هندسة البيانات الحديثة لأنظمة الذكاء الاصطناعي</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505206">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Level / duration</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Specialist · 5 days × 5 learning hours = 25 hours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505206">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Audience</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Data engineers, data scientists, systems and AI architects, data-infrastructure leads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505206">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Prerequisites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SDA-FND-104 · SDA-FND-103</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505206">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Assessment</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8 labs (30%) · 2 practical assessments (20%) · quiz (10%) · Mini-Lakehouse capstone (40%)</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505206">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Stackability</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Data-engineering badge · anchors the Data Engineering for AI specialisation · next: SDA-DSC-215 / SDA-DSC-313</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505206">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Tools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PySpark 3.5 · Delta Lake 3.2 · dbt 1.7 · Kafka (single broker) · Great Expectations 0.18 · Redis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bl>
          </a:graphicData>
        </a:graphic>
      </p:graphicFrame>
      <p:sp>
        <p:nvSpPr>
          <p:cNvPr id="5" name="Text 2"/>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All code, table names and identifiers remain in English — Saudi enterprise convention; mixed-language identifiers break SQL tooling.</a:t>
            </a:r>
            <a:endParaRPr lang="en-US" sz="1200" dirty="0"/>
          </a:p>
        </p:txBody>
      </p:sp>
      <p:sp>
        <p:nvSpPr>
          <p:cNvPr id="6"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7"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8"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9"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0"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LEARNING OUTCOMES</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What you will be able to do by Thursday evening</a:t>
            </a:r>
            <a:endParaRPr lang="en-US" sz="3000" dirty="0"/>
          </a:p>
        </p:txBody>
      </p:sp>
      <p:sp>
        <p:nvSpPr>
          <p:cNvPr id="4" name="Shape 2"/>
          <p:cNvSpPr/>
          <p:nvPr/>
        </p:nvSpPr>
        <p:spPr>
          <a:xfrm>
            <a:off x="566928" y="1389888"/>
            <a:ext cx="2572436" cy="1993392"/>
          </a:xfrm>
          <a:prstGeom prst="roundRect">
            <a:avLst>
              <a:gd name="adj" fmla="val 2752"/>
            </a:avLst>
          </a:prstGeom>
          <a:solidFill>
            <a:srgbClr val="F4F6F7"/>
          </a:solidFill>
          <a:ln w="12700">
            <a:solidFill>
              <a:srgbClr val="DDE3E6"/>
            </a:solidFill>
            <a:prstDash val="solid"/>
          </a:ln>
        </p:spPr>
      </p:sp>
      <p:sp>
        <p:nvSpPr>
          <p:cNvPr id="5" name="Shape 3"/>
          <p:cNvSpPr/>
          <p:nvPr/>
        </p:nvSpPr>
        <p:spPr>
          <a:xfrm>
            <a:off x="786384" y="1572768"/>
            <a:ext cx="365760" cy="365760"/>
          </a:xfrm>
          <a:prstGeom prst="ellipse">
            <a:avLst/>
          </a:prstGeom>
          <a:solidFill>
            <a:srgbClr val="B0763A"/>
          </a:solidFill>
          <a:ln w="12700">
            <a:solidFill>
              <a:srgbClr val="B0763A"/>
            </a:solidFill>
            <a:prstDash val="solid"/>
          </a:ln>
        </p:spPr>
      </p:sp>
      <p:sp>
        <p:nvSpPr>
          <p:cNvPr id="6" name="Text 4"/>
          <p:cNvSpPr txBox="1"/>
          <p:nvPr/>
        </p:nvSpPr>
        <p:spPr>
          <a:xfrm>
            <a:off x="786384" y="158648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86384" y="2066544"/>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Compare architectures</a:t>
            </a:r>
            <a:endParaRPr lang="en-US" sz="1450" dirty="0"/>
          </a:p>
        </p:txBody>
      </p:sp>
      <p:sp>
        <p:nvSpPr>
          <p:cNvPr id="8" name="Text 6"/>
          <p:cNvSpPr txBox="1"/>
          <p:nvPr/>
        </p:nvSpPr>
        <p:spPr>
          <a:xfrm>
            <a:off x="786384" y="2390013"/>
            <a:ext cx="2133524" cy="828675"/>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Warehouse, lake and Lakehouse across real use cases — and say which one a workload belongs in.</a:t>
            </a:r>
            <a:endParaRPr lang="en-US" sz="1200" dirty="0"/>
          </a:p>
        </p:txBody>
      </p:sp>
      <p:sp>
        <p:nvSpPr>
          <p:cNvPr id="9" name="Shape 7"/>
          <p:cNvSpPr/>
          <p:nvPr/>
        </p:nvSpPr>
        <p:spPr>
          <a:xfrm>
            <a:off x="3395396" y="1389888"/>
            <a:ext cx="2572436" cy="1993392"/>
          </a:xfrm>
          <a:prstGeom prst="roundRect">
            <a:avLst>
              <a:gd name="adj" fmla="val 2752"/>
            </a:avLst>
          </a:prstGeom>
          <a:solidFill>
            <a:srgbClr val="F4F6F7"/>
          </a:solidFill>
          <a:ln w="12700">
            <a:solidFill>
              <a:srgbClr val="DDE3E6"/>
            </a:solidFill>
            <a:prstDash val="solid"/>
          </a:ln>
        </p:spPr>
      </p:sp>
      <p:sp>
        <p:nvSpPr>
          <p:cNvPr id="10" name="Shape 8"/>
          <p:cNvSpPr/>
          <p:nvPr/>
        </p:nvSpPr>
        <p:spPr>
          <a:xfrm>
            <a:off x="3614852" y="1572768"/>
            <a:ext cx="365760" cy="365760"/>
          </a:xfrm>
          <a:prstGeom prst="ellipse">
            <a:avLst/>
          </a:prstGeom>
          <a:solidFill>
            <a:srgbClr val="B0763A"/>
          </a:solidFill>
          <a:ln w="12700">
            <a:solidFill>
              <a:srgbClr val="B0763A"/>
            </a:solidFill>
            <a:prstDash val="solid"/>
          </a:ln>
        </p:spPr>
      </p:sp>
      <p:sp>
        <p:nvSpPr>
          <p:cNvPr id="11" name="Text 9"/>
          <p:cNvSpPr txBox="1"/>
          <p:nvPr/>
        </p:nvSpPr>
        <p:spPr>
          <a:xfrm>
            <a:off x="3614852" y="158648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txBox="1"/>
          <p:nvPr/>
        </p:nvSpPr>
        <p:spPr>
          <a:xfrm>
            <a:off x="3614852" y="2066544"/>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Explain decoupling</a:t>
            </a:r>
            <a:endParaRPr lang="en-US" sz="1450" dirty="0"/>
          </a:p>
        </p:txBody>
      </p:sp>
      <p:sp>
        <p:nvSpPr>
          <p:cNvPr id="13" name="Text 11"/>
          <p:cNvSpPr txBox="1"/>
          <p:nvPr/>
        </p:nvSpPr>
        <p:spPr>
          <a:xfrm>
            <a:off x="3614852" y="2390013"/>
            <a:ext cx="2133524" cy="828675"/>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Compute–storage separation and its impact on cost, elasticity and scale.</a:t>
            </a:r>
            <a:endParaRPr lang="en-US" sz="1200" dirty="0"/>
          </a:p>
        </p:txBody>
      </p:sp>
      <p:sp>
        <p:nvSpPr>
          <p:cNvPr id="14" name="Shape 12"/>
          <p:cNvSpPr/>
          <p:nvPr/>
        </p:nvSpPr>
        <p:spPr>
          <a:xfrm>
            <a:off x="6223864" y="1389888"/>
            <a:ext cx="2572436" cy="1993392"/>
          </a:xfrm>
          <a:prstGeom prst="roundRect">
            <a:avLst>
              <a:gd name="adj" fmla="val 2752"/>
            </a:avLst>
          </a:prstGeom>
          <a:solidFill>
            <a:srgbClr val="F4F6F7"/>
          </a:solidFill>
          <a:ln w="12700">
            <a:solidFill>
              <a:srgbClr val="DDE3E6"/>
            </a:solidFill>
            <a:prstDash val="solid"/>
          </a:ln>
        </p:spPr>
      </p:sp>
      <p:sp>
        <p:nvSpPr>
          <p:cNvPr id="15" name="Shape 13"/>
          <p:cNvSpPr/>
          <p:nvPr/>
        </p:nvSpPr>
        <p:spPr>
          <a:xfrm>
            <a:off x="6443320" y="1572768"/>
            <a:ext cx="365760" cy="365760"/>
          </a:xfrm>
          <a:prstGeom prst="ellipse">
            <a:avLst/>
          </a:prstGeom>
          <a:solidFill>
            <a:srgbClr val="8E9AA3"/>
          </a:solidFill>
          <a:ln w="12700">
            <a:solidFill>
              <a:srgbClr val="8E9AA3"/>
            </a:solidFill>
            <a:prstDash val="solid"/>
          </a:ln>
        </p:spPr>
      </p:sp>
      <p:sp>
        <p:nvSpPr>
          <p:cNvPr id="16" name="Text 14"/>
          <p:cNvSpPr txBox="1"/>
          <p:nvPr/>
        </p:nvSpPr>
        <p:spPr>
          <a:xfrm>
            <a:off x="6443320" y="158648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txBox="1"/>
          <p:nvPr/>
        </p:nvSpPr>
        <p:spPr>
          <a:xfrm>
            <a:off x="6443320" y="2066544"/>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Design ELT pipelines</a:t>
            </a:r>
            <a:endParaRPr lang="en-US" sz="1450" dirty="0"/>
          </a:p>
        </p:txBody>
      </p:sp>
      <p:sp>
        <p:nvSpPr>
          <p:cNvPr id="18" name="Text 16"/>
          <p:cNvSpPr txBox="1"/>
          <p:nvPr/>
        </p:nvSpPr>
        <p:spPr>
          <a:xfrm>
            <a:off x="6443320" y="2390013"/>
            <a:ext cx="2133524" cy="828675"/>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Incremental, idempotent transformations suited to modern cloud data platforms.</a:t>
            </a:r>
            <a:endParaRPr lang="en-US" sz="1200" dirty="0"/>
          </a:p>
        </p:txBody>
      </p:sp>
      <p:sp>
        <p:nvSpPr>
          <p:cNvPr id="19" name="Shape 17"/>
          <p:cNvSpPr/>
          <p:nvPr/>
        </p:nvSpPr>
        <p:spPr>
          <a:xfrm>
            <a:off x="9052331" y="1389888"/>
            <a:ext cx="2572436" cy="1993392"/>
          </a:xfrm>
          <a:prstGeom prst="roundRect">
            <a:avLst>
              <a:gd name="adj" fmla="val 2752"/>
            </a:avLst>
          </a:prstGeom>
          <a:solidFill>
            <a:srgbClr val="F4F6F7"/>
          </a:solidFill>
          <a:ln w="12700">
            <a:solidFill>
              <a:srgbClr val="DDE3E6"/>
            </a:solidFill>
            <a:prstDash val="solid"/>
          </a:ln>
        </p:spPr>
      </p:sp>
      <p:sp>
        <p:nvSpPr>
          <p:cNvPr id="20" name="Shape 18"/>
          <p:cNvSpPr/>
          <p:nvPr/>
        </p:nvSpPr>
        <p:spPr>
          <a:xfrm>
            <a:off x="9271787" y="1572768"/>
            <a:ext cx="365760" cy="365760"/>
          </a:xfrm>
          <a:prstGeom prst="ellipse">
            <a:avLst/>
          </a:prstGeom>
          <a:solidFill>
            <a:srgbClr val="8E9AA3"/>
          </a:solidFill>
          <a:ln w="12700">
            <a:solidFill>
              <a:srgbClr val="8E9AA3"/>
            </a:solidFill>
            <a:prstDash val="solid"/>
          </a:ln>
        </p:spPr>
      </p:sp>
      <p:sp>
        <p:nvSpPr>
          <p:cNvPr id="21" name="Text 19"/>
          <p:cNvSpPr txBox="1"/>
          <p:nvPr/>
        </p:nvSpPr>
        <p:spPr>
          <a:xfrm>
            <a:off x="9271787" y="158648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txBox="1"/>
          <p:nvPr/>
        </p:nvSpPr>
        <p:spPr>
          <a:xfrm>
            <a:off x="9271787" y="2066544"/>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Implement Delta Lake</a:t>
            </a:r>
            <a:endParaRPr lang="en-US" sz="1450" dirty="0"/>
          </a:p>
        </p:txBody>
      </p:sp>
      <p:sp>
        <p:nvSpPr>
          <p:cNvPr id="23" name="Text 21"/>
          <p:cNvSpPr txBox="1"/>
          <p:nvPr/>
        </p:nvSpPr>
        <p:spPr>
          <a:xfrm>
            <a:off x="9271787" y="2390013"/>
            <a:ext cx="2133524" cy="828675"/>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ACID transactions, schema enforcement, MERGE, time travel, maintenance.</a:t>
            </a:r>
            <a:endParaRPr lang="en-US" sz="1200" dirty="0"/>
          </a:p>
        </p:txBody>
      </p:sp>
      <p:sp>
        <p:nvSpPr>
          <p:cNvPr id="24" name="Shape 22"/>
          <p:cNvSpPr/>
          <p:nvPr/>
        </p:nvSpPr>
        <p:spPr>
          <a:xfrm>
            <a:off x="566928" y="3639312"/>
            <a:ext cx="2572436" cy="1993392"/>
          </a:xfrm>
          <a:prstGeom prst="roundRect">
            <a:avLst>
              <a:gd name="adj" fmla="val 2752"/>
            </a:avLst>
          </a:prstGeom>
          <a:solidFill>
            <a:srgbClr val="F4F6F7"/>
          </a:solidFill>
          <a:ln w="12700">
            <a:solidFill>
              <a:srgbClr val="DDE3E6"/>
            </a:solidFill>
            <a:prstDash val="solid"/>
          </a:ln>
        </p:spPr>
      </p:sp>
      <p:sp>
        <p:nvSpPr>
          <p:cNvPr id="25" name="Shape 23"/>
          <p:cNvSpPr/>
          <p:nvPr/>
        </p:nvSpPr>
        <p:spPr>
          <a:xfrm>
            <a:off x="786384" y="3822192"/>
            <a:ext cx="365760" cy="365760"/>
          </a:xfrm>
          <a:prstGeom prst="ellipse">
            <a:avLst/>
          </a:prstGeom>
          <a:solidFill>
            <a:srgbClr val="00A6A6"/>
          </a:solidFill>
          <a:ln w="12700">
            <a:solidFill>
              <a:srgbClr val="00A6A6"/>
            </a:solidFill>
            <a:prstDash val="solid"/>
          </a:ln>
        </p:spPr>
      </p:sp>
      <p:sp>
        <p:nvSpPr>
          <p:cNvPr id="26" name="Text 24"/>
          <p:cNvSpPr txBox="1"/>
          <p:nvPr/>
        </p:nvSpPr>
        <p:spPr>
          <a:xfrm>
            <a:off x="786384" y="383590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txBox="1"/>
          <p:nvPr/>
        </p:nvSpPr>
        <p:spPr>
          <a:xfrm>
            <a:off x="786384" y="4315968"/>
            <a:ext cx="2133524" cy="464058"/>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Develop streaming ingestion</a:t>
            </a:r>
            <a:endParaRPr lang="en-US" sz="1450" dirty="0"/>
          </a:p>
        </p:txBody>
      </p:sp>
      <p:sp>
        <p:nvSpPr>
          <p:cNvPr id="28" name="Text 26"/>
          <p:cNvSpPr txBox="1"/>
          <p:nvPr/>
        </p:nvSpPr>
        <p:spPr>
          <a:xfrm>
            <a:off x="786384" y="4871466"/>
            <a:ext cx="2133524" cy="596646"/>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Event-driven patterns with exactly-once semantics and event-time correctness.</a:t>
            </a:r>
            <a:endParaRPr lang="en-US" sz="1200" dirty="0"/>
          </a:p>
        </p:txBody>
      </p:sp>
      <p:sp>
        <p:nvSpPr>
          <p:cNvPr id="29" name="Shape 27"/>
          <p:cNvSpPr/>
          <p:nvPr/>
        </p:nvSpPr>
        <p:spPr>
          <a:xfrm>
            <a:off x="3395396" y="3639312"/>
            <a:ext cx="2572436" cy="1993392"/>
          </a:xfrm>
          <a:prstGeom prst="roundRect">
            <a:avLst>
              <a:gd name="adj" fmla="val 2752"/>
            </a:avLst>
          </a:prstGeom>
          <a:solidFill>
            <a:srgbClr val="F4F6F7"/>
          </a:solidFill>
          <a:ln w="12700">
            <a:solidFill>
              <a:srgbClr val="DDE3E6"/>
            </a:solidFill>
            <a:prstDash val="solid"/>
          </a:ln>
        </p:spPr>
      </p:sp>
      <p:sp>
        <p:nvSpPr>
          <p:cNvPr id="30" name="Shape 28"/>
          <p:cNvSpPr/>
          <p:nvPr/>
        </p:nvSpPr>
        <p:spPr>
          <a:xfrm>
            <a:off x="3614852" y="3822192"/>
            <a:ext cx="365760" cy="365760"/>
          </a:xfrm>
          <a:prstGeom prst="ellipse">
            <a:avLst/>
          </a:prstGeom>
          <a:solidFill>
            <a:srgbClr val="00A6A6"/>
          </a:solidFill>
          <a:ln w="12700">
            <a:solidFill>
              <a:srgbClr val="00A6A6"/>
            </a:solidFill>
            <a:prstDash val="solid"/>
          </a:ln>
        </p:spPr>
      </p:sp>
      <p:sp>
        <p:nvSpPr>
          <p:cNvPr id="31" name="Text 29"/>
          <p:cNvSpPr txBox="1"/>
          <p:nvPr/>
        </p:nvSpPr>
        <p:spPr>
          <a:xfrm>
            <a:off x="3614852" y="383590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2" name="Text 30"/>
          <p:cNvSpPr txBox="1"/>
          <p:nvPr/>
        </p:nvSpPr>
        <p:spPr>
          <a:xfrm>
            <a:off x="3614852" y="4315968"/>
            <a:ext cx="2133524" cy="464058"/>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Apply quality &amp; governance</a:t>
            </a:r>
            <a:endParaRPr lang="en-US" sz="1450" dirty="0"/>
          </a:p>
        </p:txBody>
      </p:sp>
      <p:sp>
        <p:nvSpPr>
          <p:cNvPr id="33" name="Text 31"/>
          <p:cNvSpPr txBox="1"/>
          <p:nvPr/>
        </p:nvSpPr>
        <p:spPr>
          <a:xfrm>
            <a:off x="3614852" y="4871466"/>
            <a:ext cx="2133524" cy="596646"/>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Expectations, observability signals, PII classification and PDPL controls.</a:t>
            </a:r>
            <a:endParaRPr lang="en-US" sz="1200" dirty="0"/>
          </a:p>
        </p:txBody>
      </p:sp>
      <p:sp>
        <p:nvSpPr>
          <p:cNvPr id="34" name="Shape 32"/>
          <p:cNvSpPr/>
          <p:nvPr/>
        </p:nvSpPr>
        <p:spPr>
          <a:xfrm>
            <a:off x="6223864" y="3639312"/>
            <a:ext cx="2572436" cy="1993392"/>
          </a:xfrm>
          <a:prstGeom prst="roundRect">
            <a:avLst>
              <a:gd name="adj" fmla="val 2752"/>
            </a:avLst>
          </a:prstGeom>
          <a:solidFill>
            <a:srgbClr val="F4F6F7"/>
          </a:solidFill>
          <a:ln w="12700">
            <a:solidFill>
              <a:srgbClr val="DDE3E6"/>
            </a:solidFill>
            <a:prstDash val="solid"/>
          </a:ln>
        </p:spPr>
      </p:sp>
      <p:sp>
        <p:nvSpPr>
          <p:cNvPr id="35" name="Shape 33"/>
          <p:cNvSpPr/>
          <p:nvPr/>
        </p:nvSpPr>
        <p:spPr>
          <a:xfrm>
            <a:off x="6443320" y="3822192"/>
            <a:ext cx="365760" cy="365760"/>
          </a:xfrm>
          <a:prstGeom prst="ellipse">
            <a:avLst/>
          </a:prstGeom>
          <a:solidFill>
            <a:srgbClr val="D4A537"/>
          </a:solidFill>
          <a:ln w="12700">
            <a:solidFill>
              <a:srgbClr val="D4A537"/>
            </a:solidFill>
            <a:prstDash val="solid"/>
          </a:ln>
        </p:spPr>
      </p:sp>
      <p:sp>
        <p:nvSpPr>
          <p:cNvPr id="36" name="Text 34"/>
          <p:cNvSpPr txBox="1"/>
          <p:nvPr/>
        </p:nvSpPr>
        <p:spPr>
          <a:xfrm>
            <a:off x="6443320" y="383590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7</a:t>
            </a:r>
            <a:endParaRPr lang="en-US" sz="1250" dirty="0"/>
          </a:p>
        </p:txBody>
      </p:sp>
      <p:sp>
        <p:nvSpPr>
          <p:cNvPr id="37" name="Text 35"/>
          <p:cNvSpPr txBox="1"/>
          <p:nvPr/>
        </p:nvSpPr>
        <p:spPr>
          <a:xfrm>
            <a:off x="6443320" y="4315968"/>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Build a Mini-Lakehouse</a:t>
            </a:r>
            <a:endParaRPr lang="en-US" sz="1450" dirty="0"/>
          </a:p>
        </p:txBody>
      </p:sp>
      <p:sp>
        <p:nvSpPr>
          <p:cNvPr id="38" name="Text 36"/>
          <p:cNvSpPr txBox="1"/>
          <p:nvPr/>
        </p:nvSpPr>
        <p:spPr>
          <a:xfrm>
            <a:off x="6443320" y="4639437"/>
            <a:ext cx="2133524" cy="828675"/>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The whole medallion, orchestrated as one idempotent, recoverable DAG.</a:t>
            </a:r>
            <a:endParaRPr lang="en-US" sz="1200" dirty="0"/>
          </a:p>
        </p:txBody>
      </p:sp>
      <p:sp>
        <p:nvSpPr>
          <p:cNvPr id="39" name="Shape 37"/>
          <p:cNvSpPr/>
          <p:nvPr/>
        </p:nvSpPr>
        <p:spPr>
          <a:xfrm>
            <a:off x="9052331" y="3639312"/>
            <a:ext cx="2572436" cy="1993392"/>
          </a:xfrm>
          <a:prstGeom prst="roundRect">
            <a:avLst>
              <a:gd name="adj" fmla="val 2752"/>
            </a:avLst>
          </a:prstGeom>
          <a:solidFill>
            <a:srgbClr val="F4F6F7"/>
          </a:solidFill>
          <a:ln w="12700">
            <a:solidFill>
              <a:srgbClr val="DDE3E6"/>
            </a:solidFill>
            <a:prstDash val="solid"/>
          </a:ln>
        </p:spPr>
      </p:sp>
      <p:sp>
        <p:nvSpPr>
          <p:cNvPr id="40" name="Shape 38"/>
          <p:cNvSpPr/>
          <p:nvPr/>
        </p:nvSpPr>
        <p:spPr>
          <a:xfrm>
            <a:off x="9271787" y="3822192"/>
            <a:ext cx="365760" cy="365760"/>
          </a:xfrm>
          <a:prstGeom prst="ellipse">
            <a:avLst/>
          </a:prstGeom>
          <a:solidFill>
            <a:srgbClr val="D4A537"/>
          </a:solidFill>
          <a:ln w="12700">
            <a:solidFill>
              <a:srgbClr val="D4A537"/>
            </a:solidFill>
            <a:prstDash val="solid"/>
          </a:ln>
        </p:spPr>
      </p:sp>
      <p:sp>
        <p:nvSpPr>
          <p:cNvPr id="41" name="Text 39"/>
          <p:cNvSpPr txBox="1"/>
          <p:nvPr/>
        </p:nvSpPr>
        <p:spPr>
          <a:xfrm>
            <a:off x="9271787" y="383590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8</a:t>
            </a:r>
            <a:endParaRPr lang="en-US" sz="1250" dirty="0"/>
          </a:p>
        </p:txBody>
      </p:sp>
      <p:sp>
        <p:nvSpPr>
          <p:cNvPr id="42" name="Text 40"/>
          <p:cNvSpPr txBox="1"/>
          <p:nvPr/>
        </p:nvSpPr>
        <p:spPr>
          <a:xfrm>
            <a:off x="9271787" y="4315968"/>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Serve AI and BI</a:t>
            </a:r>
            <a:endParaRPr lang="en-US" sz="1450" dirty="0"/>
          </a:p>
        </p:txBody>
      </p:sp>
      <p:sp>
        <p:nvSpPr>
          <p:cNvPr id="43" name="Text 41"/>
          <p:cNvSpPr txBox="1"/>
          <p:nvPr/>
        </p:nvSpPr>
        <p:spPr>
          <a:xfrm>
            <a:off x="9271787" y="4639437"/>
            <a:ext cx="2133524" cy="828675"/>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Point-in-time-correct features and a conformed star schema from one governed gold layer.</a:t>
            </a:r>
            <a:endParaRPr lang="en-US" sz="1200" dirty="0"/>
          </a:p>
        </p:txBody>
      </p:sp>
      <p:sp>
        <p:nvSpPr>
          <p:cNvPr id="44" name="Text 42"/>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LO1–LO8 are the assessment map: every rubric criterion and every quiz item traces back to one of these eight.</a:t>
            </a:r>
            <a:endParaRPr lang="en-US" sz="1200" dirty="0"/>
          </a:p>
        </p:txBody>
      </p:sp>
      <p:sp>
        <p:nvSpPr>
          <p:cNvPr id="45" name="Shape 4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46" name="Shape 4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47" name="Shape 4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48" name="Text 4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49" name="Text 4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THE GOLDEN THREAD</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Masar (مسار) — one platform, evolved for five days</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Never a throwaway dataset. Every lab adds a component to the same Lakehouse, so the capstone is assembly, not a new build.</a:t>
            </a:r>
            <a:endParaRPr lang="en-US" sz="1330" dirty="0"/>
          </a:p>
        </p:txBody>
      </p:sp>
      <p:sp>
        <p:nvSpPr>
          <p:cNvPr id="5" name="Shape 3"/>
          <p:cNvSpPr/>
          <p:nvPr/>
        </p:nvSpPr>
        <p:spPr>
          <a:xfrm>
            <a:off x="566928" y="1883664"/>
            <a:ext cx="1828800" cy="3520440"/>
          </a:xfrm>
          <a:prstGeom prst="roundRect">
            <a:avLst>
              <a:gd name="adj" fmla="val 3000"/>
            </a:avLst>
          </a:prstGeom>
          <a:solidFill>
            <a:srgbClr val="F4F6F7"/>
          </a:solidFill>
          <a:ln w="12700">
            <a:solidFill>
              <a:srgbClr val="DDE3E6"/>
            </a:solidFill>
            <a:prstDash val="solid"/>
          </a:ln>
        </p:spPr>
      </p:sp>
      <p:sp>
        <p:nvSpPr>
          <p:cNvPr id="6" name="Text 4"/>
          <p:cNvSpPr txBox="1"/>
          <p:nvPr/>
        </p:nvSpPr>
        <p:spPr>
          <a:xfrm>
            <a:off x="694944" y="2029968"/>
            <a:ext cx="1572768" cy="237744"/>
          </a:xfrm>
          <a:prstGeom prst="rect">
            <a:avLst/>
          </a:prstGeom>
          <a:noFill/>
          <a:ln/>
        </p:spPr>
        <p:txBody>
          <a:bodyPr wrap="square" lIns="0" tIns="0" rIns="0" bIns="0" rtlCol="0" anchor="ctr"/>
          <a:lstStyle/>
          <a:p>
            <a:pPr indent="0" marL="0">
              <a:buNone/>
            </a:pPr>
            <a:r>
              <a:rPr lang="en-US" sz="1050" b="1" spc="120" kern="0" dirty="0">
                <a:solidFill>
                  <a:srgbClr val="6B7C86"/>
                </a:solidFill>
                <a:latin typeface="Calibri" pitchFamily="34" charset="0"/>
                <a:ea typeface="Calibri" pitchFamily="34" charset="-122"/>
                <a:cs typeface="Calibri" pitchFamily="34" charset="-120"/>
              </a:rPr>
              <a:t>SOURCES</a:t>
            </a:r>
            <a:endParaRPr lang="en-US" sz="1050" dirty="0"/>
          </a:p>
        </p:txBody>
      </p:sp>
      <p:sp>
        <p:nvSpPr>
          <p:cNvPr id="7" name="Text 5"/>
          <p:cNvSpPr txBox="1"/>
          <p:nvPr/>
        </p:nvSpPr>
        <p:spPr>
          <a:xfrm>
            <a:off x="694944" y="2340864"/>
            <a:ext cx="1572768" cy="2916936"/>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B3A42"/>
                </a:solidFill>
                <a:latin typeface="Calibri" pitchFamily="34" charset="0"/>
                <a:ea typeface="Calibri" pitchFamily="34" charset="-122"/>
                <a:cs typeface="Calibri" pitchFamily="34" charset="-120"/>
              </a:rPr>
              <a:t>trips CSV (batch)</a:t>
            </a:r>
            <a:endParaRPr lang="en-US" sz="1100" dirty="0"/>
          </a:p>
          <a:p>
            <a:pPr marL="342900" indent="-342900">
              <a:spcAft>
                <a:spcPts val="600"/>
              </a:spcAft>
              <a:buSzPct val="100000"/>
              <a:buChar char="•"/>
            </a:pPr>
            <a:r>
              <a:rPr lang="en-US" sz="1100" dirty="0">
                <a:solidFill>
                  <a:srgbClr val="2B3A42"/>
                </a:solidFill>
                <a:latin typeface="Calibri" pitchFamily="34" charset="0"/>
                <a:ea typeface="Calibri" pitchFamily="34" charset="-122"/>
                <a:cs typeface="Calibri" pitchFamily="34" charset="-120"/>
              </a:rPr>
              <a:t>drivers / vehicles</a:t>
            </a:r>
            <a:endParaRPr lang="en-US" sz="1100" dirty="0"/>
          </a:p>
          <a:p>
            <a:pPr marL="342900" indent="-342900">
              <a:spcAft>
                <a:spcPts val="600"/>
              </a:spcAft>
              <a:buSzPct val="100000"/>
              <a:buChar char="•"/>
            </a:pPr>
            <a:r>
              <a:rPr lang="en-US" sz="1100" dirty="0">
                <a:solidFill>
                  <a:srgbClr val="2B3A42"/>
                </a:solidFill>
                <a:latin typeface="Calibri" pitchFamily="34" charset="0"/>
                <a:ea typeface="Calibri" pitchFamily="34" charset="-122"/>
                <a:cs typeface="Calibri" pitchFamily="34" charset="-120"/>
              </a:rPr>
              <a:t>payments</a:t>
            </a:r>
            <a:endParaRPr lang="en-US" sz="1100" dirty="0"/>
          </a:p>
          <a:p>
            <a:pPr marL="342900" indent="-342900">
              <a:spcAft>
                <a:spcPts val="600"/>
              </a:spcAft>
              <a:buSzPct val="100000"/>
              <a:buChar char="•"/>
            </a:pPr>
            <a:r>
              <a:rPr lang="en-US" sz="1100" dirty="0">
                <a:solidFill>
                  <a:srgbClr val="2B3A42"/>
                </a:solidFill>
                <a:latin typeface="Calibri" pitchFamily="34" charset="0"/>
                <a:ea typeface="Calibri" pitchFamily="34" charset="-122"/>
                <a:cs typeface="Calibri" pitchFamily="34" charset="-120"/>
              </a:rPr>
              <a:t>zones + weather</a:t>
            </a:r>
            <a:endParaRPr lang="en-US" sz="1100" dirty="0"/>
          </a:p>
          <a:p>
            <a:pPr marL="342900" indent="-342900">
              <a:spcAft>
                <a:spcPts val="600"/>
              </a:spcAft>
              <a:buSzPct val="100000"/>
              <a:buChar char="•"/>
            </a:pPr>
            <a:r>
              <a:rPr lang="en-US" sz="1100" dirty="0">
                <a:solidFill>
                  <a:srgbClr val="2B3A42"/>
                </a:solidFill>
                <a:latin typeface="Calibri" pitchFamily="34" charset="0"/>
                <a:ea typeface="Calibri" pitchFamily="34" charset="-122"/>
                <a:cs typeface="Calibri" pitchFamily="34" charset="-120"/>
              </a:rPr>
              <a:t>GPS via Kafka (stream)</a:t>
            </a:r>
            <a:endParaRPr lang="en-US" sz="1100" dirty="0"/>
          </a:p>
        </p:txBody>
      </p:sp>
      <p:sp>
        <p:nvSpPr>
          <p:cNvPr id="8" name="Shape 6"/>
          <p:cNvSpPr/>
          <p:nvPr/>
        </p:nvSpPr>
        <p:spPr>
          <a:xfrm>
            <a:off x="2596896" y="1883664"/>
            <a:ext cx="6997903" cy="1051560"/>
          </a:xfrm>
          <a:prstGeom prst="roundRect">
            <a:avLst>
              <a:gd name="adj" fmla="val 5217"/>
            </a:avLst>
          </a:prstGeom>
          <a:solidFill>
            <a:srgbClr val="F4F6F7"/>
          </a:solidFill>
          <a:ln w="22225">
            <a:solidFill>
              <a:srgbClr val="B0763A"/>
            </a:solidFill>
            <a:prstDash val="solid"/>
          </a:ln>
        </p:spPr>
      </p:sp>
      <p:sp>
        <p:nvSpPr>
          <p:cNvPr id="9" name="Text 7"/>
          <p:cNvSpPr txBox="1"/>
          <p:nvPr/>
        </p:nvSpPr>
        <p:spPr>
          <a:xfrm>
            <a:off x="2779776" y="2011680"/>
            <a:ext cx="1371600" cy="292608"/>
          </a:xfrm>
          <a:prstGeom prst="rect">
            <a:avLst/>
          </a:prstGeom>
          <a:noFill/>
          <a:ln/>
        </p:spPr>
        <p:txBody>
          <a:bodyPr wrap="square" lIns="0" tIns="0" rIns="0" bIns="0" rtlCol="0" anchor="ctr"/>
          <a:lstStyle/>
          <a:p>
            <a:pPr indent="0" marL="0">
              <a:buNone/>
            </a:pPr>
            <a:r>
              <a:rPr lang="en-US" sz="1300" b="1" spc="140" kern="0" dirty="0">
                <a:solidFill>
                  <a:srgbClr val="B0763A"/>
                </a:solidFill>
                <a:latin typeface="Calibri" pitchFamily="34" charset="0"/>
                <a:ea typeface="Calibri" pitchFamily="34" charset="-122"/>
                <a:cs typeface="Calibri" pitchFamily="34" charset="-120"/>
              </a:rPr>
              <a:t>BRONZE</a:t>
            </a:r>
            <a:endParaRPr lang="en-US" sz="1300" dirty="0"/>
          </a:p>
        </p:txBody>
      </p:sp>
      <p:sp>
        <p:nvSpPr>
          <p:cNvPr id="10" name="Text 8"/>
          <p:cNvSpPr txBox="1"/>
          <p:nvPr/>
        </p:nvSpPr>
        <p:spPr>
          <a:xfrm>
            <a:off x="4197096" y="1993392"/>
            <a:ext cx="5214823" cy="310896"/>
          </a:xfrm>
          <a:prstGeom prst="rect">
            <a:avLst/>
          </a:prstGeom>
          <a:noFill/>
          <a:ln/>
        </p:spPr>
        <p:txBody>
          <a:bodyPr wrap="square" lIns="0" tIns="0" rIns="0" bIns="0" rtlCol="0" anchor="ctr"/>
          <a:lstStyle/>
          <a:p>
            <a:pPr indent="0" marL="0">
              <a:buNone/>
            </a:pPr>
            <a:r>
              <a:rPr lang="en-US" sz="1100" dirty="0">
                <a:solidFill>
                  <a:srgbClr val="10202B"/>
                </a:solidFill>
                <a:latin typeface="Courier New" pitchFamily="34" charset="0"/>
                <a:ea typeface="Courier New" pitchFamily="34" charset="-122"/>
                <a:cs typeface="Courier New" pitchFamily="34" charset="-120"/>
              </a:rPr>
              <a:t>bronze.trips · bronze.gps_events · bronze.drivers</a:t>
            </a:r>
            <a:endParaRPr lang="en-US" sz="1100" dirty="0"/>
          </a:p>
        </p:txBody>
      </p:sp>
      <p:sp>
        <p:nvSpPr>
          <p:cNvPr id="11" name="Text 9"/>
          <p:cNvSpPr txBox="1"/>
          <p:nvPr/>
        </p:nvSpPr>
        <p:spPr>
          <a:xfrm>
            <a:off x="2779776" y="2340864"/>
            <a:ext cx="6632143" cy="502920"/>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Append-only, as-received schema, never mutated. Carries _ingested_at, _source_file, _batch_id.</a:t>
            </a:r>
            <a:endParaRPr lang="en-US" sz="1150" dirty="0"/>
          </a:p>
        </p:txBody>
      </p:sp>
      <p:sp>
        <p:nvSpPr>
          <p:cNvPr id="12" name="Shape 10"/>
          <p:cNvSpPr/>
          <p:nvPr/>
        </p:nvSpPr>
        <p:spPr>
          <a:xfrm>
            <a:off x="5995264" y="2939796"/>
            <a:ext cx="201168" cy="173736"/>
          </a:xfrm>
          <a:prstGeom prst="downArrow">
            <a:avLst/>
          </a:prstGeom>
          <a:solidFill>
            <a:srgbClr val="8E9AA3"/>
          </a:solidFill>
          <a:ln w="12700">
            <a:solidFill>
              <a:srgbClr val="8E9AA3"/>
            </a:solidFill>
            <a:prstDash val="solid"/>
          </a:ln>
        </p:spPr>
      </p:sp>
      <p:sp>
        <p:nvSpPr>
          <p:cNvPr id="13" name="Shape 11"/>
          <p:cNvSpPr/>
          <p:nvPr/>
        </p:nvSpPr>
        <p:spPr>
          <a:xfrm>
            <a:off x="2596896" y="3118104"/>
            <a:ext cx="6997903" cy="1051560"/>
          </a:xfrm>
          <a:prstGeom prst="roundRect">
            <a:avLst>
              <a:gd name="adj" fmla="val 5217"/>
            </a:avLst>
          </a:prstGeom>
          <a:solidFill>
            <a:srgbClr val="F4F6F7"/>
          </a:solidFill>
          <a:ln w="22225">
            <a:solidFill>
              <a:srgbClr val="8E9AA3"/>
            </a:solidFill>
            <a:prstDash val="solid"/>
          </a:ln>
        </p:spPr>
      </p:sp>
      <p:sp>
        <p:nvSpPr>
          <p:cNvPr id="14" name="Text 12"/>
          <p:cNvSpPr txBox="1"/>
          <p:nvPr/>
        </p:nvSpPr>
        <p:spPr>
          <a:xfrm>
            <a:off x="2779776" y="3246120"/>
            <a:ext cx="1371600" cy="292608"/>
          </a:xfrm>
          <a:prstGeom prst="rect">
            <a:avLst/>
          </a:prstGeom>
          <a:noFill/>
          <a:ln/>
        </p:spPr>
        <p:txBody>
          <a:bodyPr wrap="square" lIns="0" tIns="0" rIns="0" bIns="0" rtlCol="0" anchor="ctr"/>
          <a:lstStyle/>
          <a:p>
            <a:pPr indent="0" marL="0">
              <a:buNone/>
            </a:pPr>
            <a:r>
              <a:rPr lang="en-US" sz="1300" b="1" spc="140" kern="0" dirty="0">
                <a:solidFill>
                  <a:srgbClr val="8E9AA3"/>
                </a:solidFill>
                <a:latin typeface="Calibri" pitchFamily="34" charset="0"/>
                <a:ea typeface="Calibri" pitchFamily="34" charset="-122"/>
                <a:cs typeface="Calibri" pitchFamily="34" charset="-120"/>
              </a:rPr>
              <a:t>SILVER</a:t>
            </a:r>
            <a:endParaRPr lang="en-US" sz="1300" dirty="0"/>
          </a:p>
        </p:txBody>
      </p:sp>
      <p:sp>
        <p:nvSpPr>
          <p:cNvPr id="15" name="Text 13"/>
          <p:cNvSpPr txBox="1"/>
          <p:nvPr/>
        </p:nvSpPr>
        <p:spPr>
          <a:xfrm>
            <a:off x="4197096" y="3227832"/>
            <a:ext cx="5214823" cy="310896"/>
          </a:xfrm>
          <a:prstGeom prst="rect">
            <a:avLst/>
          </a:prstGeom>
          <a:noFill/>
          <a:ln/>
        </p:spPr>
        <p:txBody>
          <a:bodyPr wrap="square" lIns="0" tIns="0" rIns="0" bIns="0" rtlCol="0" anchor="ctr"/>
          <a:lstStyle/>
          <a:p>
            <a:pPr indent="0" marL="0">
              <a:buNone/>
            </a:pPr>
            <a:r>
              <a:rPr lang="en-US" sz="1100" dirty="0">
                <a:solidFill>
                  <a:srgbClr val="10202B"/>
                </a:solidFill>
                <a:latin typeface="Courier New" pitchFamily="34" charset="0"/>
                <a:ea typeface="Courier New" pitchFamily="34" charset="-122"/>
                <a:cs typeface="Courier New" pitchFamily="34" charset="-120"/>
              </a:rPr>
              <a:t>silver.trips · silver.vehicle_positions</a:t>
            </a:r>
            <a:endParaRPr lang="en-US" sz="1100" dirty="0"/>
          </a:p>
        </p:txBody>
      </p:sp>
      <p:sp>
        <p:nvSpPr>
          <p:cNvPr id="16" name="Text 14"/>
          <p:cNvSpPr txBox="1"/>
          <p:nvPr/>
        </p:nvSpPr>
        <p:spPr>
          <a:xfrm>
            <a:off x="2779776" y="3575304"/>
            <a:ext cx="6632143" cy="502920"/>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One row per trip_id. Enforced schema + CHECK constraints. Quality-gated. Conformed units and timezone.</a:t>
            </a:r>
            <a:endParaRPr lang="en-US" sz="1150" dirty="0"/>
          </a:p>
        </p:txBody>
      </p:sp>
      <p:sp>
        <p:nvSpPr>
          <p:cNvPr id="17" name="Shape 15"/>
          <p:cNvSpPr/>
          <p:nvPr/>
        </p:nvSpPr>
        <p:spPr>
          <a:xfrm>
            <a:off x="5995264" y="4174236"/>
            <a:ext cx="201168" cy="173736"/>
          </a:xfrm>
          <a:prstGeom prst="downArrow">
            <a:avLst/>
          </a:prstGeom>
          <a:solidFill>
            <a:srgbClr val="8E9AA3"/>
          </a:solidFill>
          <a:ln w="12700">
            <a:solidFill>
              <a:srgbClr val="8E9AA3"/>
            </a:solidFill>
            <a:prstDash val="solid"/>
          </a:ln>
        </p:spPr>
      </p:sp>
      <p:sp>
        <p:nvSpPr>
          <p:cNvPr id="18" name="Shape 16"/>
          <p:cNvSpPr/>
          <p:nvPr/>
        </p:nvSpPr>
        <p:spPr>
          <a:xfrm>
            <a:off x="2596896" y="4352544"/>
            <a:ext cx="6997903" cy="1051560"/>
          </a:xfrm>
          <a:prstGeom prst="roundRect">
            <a:avLst>
              <a:gd name="adj" fmla="val 5217"/>
            </a:avLst>
          </a:prstGeom>
          <a:solidFill>
            <a:srgbClr val="F4F6F7"/>
          </a:solidFill>
          <a:ln w="22225">
            <a:solidFill>
              <a:srgbClr val="D4A537"/>
            </a:solidFill>
            <a:prstDash val="solid"/>
          </a:ln>
        </p:spPr>
      </p:sp>
      <p:sp>
        <p:nvSpPr>
          <p:cNvPr id="19" name="Text 17"/>
          <p:cNvSpPr txBox="1"/>
          <p:nvPr/>
        </p:nvSpPr>
        <p:spPr>
          <a:xfrm>
            <a:off x="2779776" y="4480560"/>
            <a:ext cx="1371600" cy="292608"/>
          </a:xfrm>
          <a:prstGeom prst="rect">
            <a:avLst/>
          </a:prstGeom>
          <a:noFill/>
          <a:ln/>
        </p:spPr>
        <p:txBody>
          <a:bodyPr wrap="square" lIns="0" tIns="0" rIns="0" bIns="0" rtlCol="0" anchor="ctr"/>
          <a:lstStyle/>
          <a:p>
            <a:pPr indent="0" marL="0">
              <a:buNone/>
            </a:pPr>
            <a:r>
              <a:rPr lang="en-US" sz="1300" b="1" spc="140" kern="0" dirty="0">
                <a:solidFill>
                  <a:srgbClr val="D4A537"/>
                </a:solidFill>
                <a:latin typeface="Calibri" pitchFamily="34" charset="0"/>
                <a:ea typeface="Calibri" pitchFamily="34" charset="-122"/>
                <a:cs typeface="Calibri" pitchFamily="34" charset="-120"/>
              </a:rPr>
              <a:t>GOLD</a:t>
            </a:r>
            <a:endParaRPr lang="en-US" sz="1300" dirty="0"/>
          </a:p>
        </p:txBody>
      </p:sp>
      <p:sp>
        <p:nvSpPr>
          <p:cNvPr id="20" name="Text 18"/>
          <p:cNvSpPr txBox="1"/>
          <p:nvPr/>
        </p:nvSpPr>
        <p:spPr>
          <a:xfrm>
            <a:off x="4197096" y="4462272"/>
            <a:ext cx="5214823" cy="310896"/>
          </a:xfrm>
          <a:prstGeom prst="rect">
            <a:avLst/>
          </a:prstGeom>
          <a:noFill/>
          <a:ln/>
        </p:spPr>
        <p:txBody>
          <a:bodyPr wrap="square" lIns="0" tIns="0" rIns="0" bIns="0" rtlCol="0" anchor="ctr"/>
          <a:lstStyle/>
          <a:p>
            <a:pPr indent="0" marL="0">
              <a:buNone/>
            </a:pPr>
            <a:r>
              <a:rPr lang="en-US" sz="1100" dirty="0">
                <a:solidFill>
                  <a:srgbClr val="10202B"/>
                </a:solidFill>
                <a:latin typeface="Courier New" pitchFamily="34" charset="0"/>
                <a:ea typeface="Courier New" pitchFamily="34" charset="-122"/>
                <a:cs typeface="Courier New" pitchFamily="34" charset="-120"/>
              </a:rPr>
              <a:t>gold.fact_trip · gold.eta_features · gold.zone_hourly_demand</a:t>
            </a:r>
            <a:endParaRPr lang="en-US" sz="1100" dirty="0"/>
          </a:p>
        </p:txBody>
      </p:sp>
      <p:sp>
        <p:nvSpPr>
          <p:cNvPr id="21" name="Text 19"/>
          <p:cNvSpPr txBox="1"/>
          <p:nvPr/>
        </p:nvSpPr>
        <p:spPr>
          <a:xfrm>
            <a:off x="2779776" y="4809744"/>
            <a:ext cx="6632143" cy="502920"/>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Business-modelled, documented grain. Feature table is point-in-time correct. PDPL-safe at the boundary.</a:t>
            </a:r>
            <a:endParaRPr lang="en-US" sz="1150" dirty="0"/>
          </a:p>
        </p:txBody>
      </p:sp>
      <p:sp>
        <p:nvSpPr>
          <p:cNvPr id="22" name="Shape 20"/>
          <p:cNvSpPr/>
          <p:nvPr/>
        </p:nvSpPr>
        <p:spPr>
          <a:xfrm>
            <a:off x="9795967" y="1883664"/>
            <a:ext cx="1828800" cy="1705356"/>
          </a:xfrm>
          <a:prstGeom prst="roundRect">
            <a:avLst>
              <a:gd name="adj" fmla="val 3217"/>
            </a:avLst>
          </a:prstGeom>
          <a:solidFill>
            <a:srgbClr val="10202B"/>
          </a:solidFill>
          <a:ln w="12700">
            <a:solidFill>
              <a:srgbClr val="10202B"/>
            </a:solidFill>
            <a:prstDash val="solid"/>
          </a:ln>
        </p:spPr>
      </p:sp>
      <p:sp>
        <p:nvSpPr>
          <p:cNvPr id="23" name="Text 21"/>
          <p:cNvSpPr txBox="1"/>
          <p:nvPr/>
        </p:nvSpPr>
        <p:spPr>
          <a:xfrm>
            <a:off x="9942271" y="2029968"/>
            <a:ext cx="1536192" cy="274320"/>
          </a:xfrm>
          <a:prstGeom prst="rect">
            <a:avLst/>
          </a:prstGeom>
          <a:noFill/>
          <a:ln/>
        </p:spPr>
        <p:txBody>
          <a:bodyPr wrap="square" lIns="0" tIns="0" rIns="0" bIns="0" rtlCol="0" anchor="ctr"/>
          <a:lstStyle/>
          <a:p>
            <a:pPr indent="0" marL="0">
              <a:buNone/>
            </a:pPr>
            <a:r>
              <a:rPr lang="en-US" sz="1200" b="1" dirty="0">
                <a:solidFill>
                  <a:srgbClr val="D4A537"/>
                </a:solidFill>
                <a:latin typeface="Calibri" pitchFamily="34" charset="0"/>
                <a:ea typeface="Calibri" pitchFamily="34" charset="-122"/>
                <a:cs typeface="Calibri" pitchFamily="34" charset="-120"/>
              </a:rPr>
              <a:t>BI · operations</a:t>
            </a:r>
            <a:endParaRPr lang="en-US" sz="1200" dirty="0"/>
          </a:p>
        </p:txBody>
      </p:sp>
      <p:sp>
        <p:nvSpPr>
          <p:cNvPr id="24" name="Text 22"/>
          <p:cNvSpPr txBox="1"/>
          <p:nvPr/>
        </p:nvSpPr>
        <p:spPr>
          <a:xfrm>
            <a:off x="9942271" y="2340864"/>
            <a:ext cx="1536192" cy="1156716"/>
          </a:xfrm>
          <a:prstGeom prst="rect">
            <a:avLst/>
          </a:prstGeom>
          <a:noFill/>
          <a:ln/>
        </p:spPr>
        <p:txBody>
          <a:bodyPr wrap="square" lIns="0" tIns="0" rIns="0" bIns="0" rtlCol="0" anchor="t"/>
          <a:lstStyle/>
          <a:p>
            <a:pPr indent="0" marL="0">
              <a:buNone/>
            </a:pPr>
            <a:r>
              <a:rPr lang="en-US" sz="950" dirty="0">
                <a:solidFill>
                  <a:srgbClr val="9FB3BE"/>
                </a:solidFill>
                <a:latin typeface="Courier New" pitchFamily="34" charset="0"/>
                <a:ea typeface="Courier New" pitchFamily="34" charset="-122"/>
                <a:cs typeface="Courier New" pitchFamily="34" charset="-120"/>
              </a:rPr>
              <a:t>gold.fact_trip</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gold.dim_driver</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gold.dim_zone</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gold.dim_date</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 ops dashboard</a:t>
            </a:r>
            <a:endParaRPr lang="en-US" sz="950" dirty="0"/>
          </a:p>
        </p:txBody>
      </p:sp>
      <p:sp>
        <p:nvSpPr>
          <p:cNvPr id="25" name="Shape 23"/>
          <p:cNvSpPr/>
          <p:nvPr/>
        </p:nvSpPr>
        <p:spPr>
          <a:xfrm>
            <a:off x="9795967" y="3698748"/>
            <a:ext cx="1828800" cy="1705356"/>
          </a:xfrm>
          <a:prstGeom prst="roundRect">
            <a:avLst>
              <a:gd name="adj" fmla="val 3217"/>
            </a:avLst>
          </a:prstGeom>
          <a:solidFill>
            <a:srgbClr val="10202B"/>
          </a:solidFill>
          <a:ln w="12700">
            <a:solidFill>
              <a:srgbClr val="10202B"/>
            </a:solidFill>
            <a:prstDash val="solid"/>
          </a:ln>
        </p:spPr>
      </p:sp>
      <p:sp>
        <p:nvSpPr>
          <p:cNvPr id="26" name="Text 24"/>
          <p:cNvSpPr txBox="1"/>
          <p:nvPr/>
        </p:nvSpPr>
        <p:spPr>
          <a:xfrm>
            <a:off x="9942271" y="3845052"/>
            <a:ext cx="1536192" cy="274320"/>
          </a:xfrm>
          <a:prstGeom prst="rect">
            <a:avLst/>
          </a:prstGeom>
          <a:noFill/>
          <a:ln/>
        </p:spPr>
        <p:txBody>
          <a:bodyPr wrap="square" lIns="0" tIns="0" rIns="0" bIns="0" rtlCol="0" anchor="ctr"/>
          <a:lstStyle/>
          <a:p>
            <a:pPr indent="0" marL="0">
              <a:buNone/>
            </a:pPr>
            <a:r>
              <a:rPr lang="en-US" sz="1200" b="1" dirty="0">
                <a:solidFill>
                  <a:srgbClr val="00A6A6"/>
                </a:solidFill>
                <a:latin typeface="Calibri" pitchFamily="34" charset="0"/>
                <a:ea typeface="Calibri" pitchFamily="34" charset="-122"/>
                <a:cs typeface="Calibri" pitchFamily="34" charset="-120"/>
              </a:rPr>
              <a:t>AI · ETA &amp; demand</a:t>
            </a:r>
            <a:endParaRPr lang="en-US" sz="1200" dirty="0"/>
          </a:p>
        </p:txBody>
      </p:sp>
      <p:sp>
        <p:nvSpPr>
          <p:cNvPr id="27" name="Text 25"/>
          <p:cNvSpPr txBox="1"/>
          <p:nvPr/>
        </p:nvSpPr>
        <p:spPr>
          <a:xfrm>
            <a:off x="9942271" y="4155948"/>
            <a:ext cx="1536192" cy="1156716"/>
          </a:xfrm>
          <a:prstGeom prst="rect">
            <a:avLst/>
          </a:prstGeom>
          <a:noFill/>
          <a:ln/>
        </p:spPr>
        <p:txBody>
          <a:bodyPr wrap="square" lIns="0" tIns="0" rIns="0" bIns="0" rtlCol="0" anchor="t"/>
          <a:lstStyle/>
          <a:p>
            <a:pPr indent="0" marL="0">
              <a:buNone/>
            </a:pPr>
            <a:r>
              <a:rPr lang="en-US" sz="950" dirty="0">
                <a:solidFill>
                  <a:srgbClr val="9FB3BE"/>
                </a:solidFill>
                <a:latin typeface="Courier New" pitchFamily="34" charset="0"/>
                <a:ea typeface="Courier New" pitchFamily="34" charset="-122"/>
                <a:cs typeface="Courier New" pitchFamily="34" charset="-120"/>
              </a:rPr>
              <a:t>gold.eta_features</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 offline training</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 Redis online store</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masar:features:zone:*</a:t>
            </a:r>
            <a:endParaRPr lang="en-US" sz="950" dirty="0"/>
          </a:p>
        </p:txBody>
      </p:sp>
      <p:sp>
        <p:nvSpPr>
          <p:cNvPr id="28" name="Text 26"/>
          <p:cNvSpPr txBox="1"/>
          <p:nvPr/>
        </p:nvSpPr>
        <p:spPr>
          <a:xfrm>
            <a:off x="566928" y="5641848"/>
            <a:ext cx="11057839" cy="731520"/>
          </a:xfrm>
          <a:prstGeom prst="rect">
            <a:avLst/>
          </a:prstGeom>
          <a:noFill/>
          <a:ln/>
        </p:spPr>
        <p:txBody>
          <a:bodyPr wrap="square" lIns="0" tIns="0" rIns="0" bIns="0" rtlCol="0" anchor="t"/>
          <a:lstStyle/>
          <a:p>
            <a:pPr indent="0" marL="0">
              <a:buNone/>
            </a:pPr>
            <a:r>
              <a:rPr lang="en-US" sz="1300" i="1" dirty="0">
                <a:solidFill>
                  <a:srgbClr val="B0763A"/>
                </a:solidFill>
                <a:latin typeface="Calibri" pitchFamily="34" charset="0"/>
                <a:ea typeface="Calibri" pitchFamily="34" charset="-122"/>
                <a:cs typeface="Calibri" pitchFamily="34" charset="-120"/>
              </a:rPr>
              <a:t>One source of truth, two contracts. The analyst's “trips per zone” and the model's “zone demand feature” cannot silently disagree — because they are derived from the same silver.</a:t>
            </a:r>
            <a:endParaRPr lang="en-US" sz="1300" dirty="0"/>
          </a:p>
        </p:txBody>
      </p:sp>
      <p:sp>
        <p:nvSpPr>
          <p:cNvPr id="29" name="Shape 27"/>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30" name="Shape 28"/>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31" name="Shape 29"/>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32" name="Text 30"/>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33" name="Text 31"/>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DELIVERY PLAN</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Five days, five deliverables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685800"/>
                <a:gridCol w="2148840"/>
                <a:gridCol w="2377440"/>
                <a:gridCol w="1143000"/>
                <a:gridCol w="4700016"/>
              </a:tblGrid>
              <a:tr h="6858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Day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Theme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Modules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Theory / Lab</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Deliverable at end of day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r>
              <a:tr h="685800">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Day 1</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Foundations and economics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M1 Evolution · M2 Compute–storage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55 / 45</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Architecture decision record + a cost and elasticity model for Masar</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685800">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Day 2</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Pipelines — ETL to ELT</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M3 ETL vs ELT</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40 / 60</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ELT pipeline: raw trips landed and transformed to a conformed silver.trips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685800">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Day 3</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The Lakehouse table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M4 Delta Lake and ACID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35 / 65</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Delta silver.trips with constraints, MERGE upserts, time travel, OPTIMIZE/VACUUM</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685800">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Day 4</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Real-time and trust</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M5 Streaming · M6 Quality and governance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40 / 60</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Structured-Streaming GPS ingestion + a Great Expectations quality gate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685800">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Day 5</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Build and serve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M7 Mini-Lakehouse · M8 Serving · Capstone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25 / 75</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End-to-end Mini-Lakehouse feeding an AI feature table and a BI star schema</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bl>
          </a:graphicData>
        </a:graphic>
      </p:graphicFrame>
      <p:sp>
        <p:nvSpPr>
          <p:cNvPr id="5" name="Text 2"/>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Each “hour” is 50 minutes of instruction plus a 10-minute buffer. Schedule the long break around Dhuhr; Day 5 afternoon is deliberately build-heavy.</a:t>
            </a:r>
            <a:endParaRPr lang="en-US" sz="1200" dirty="0"/>
          </a:p>
        </p:txBody>
      </p:sp>
      <p:sp>
        <p:nvSpPr>
          <p:cNvPr id="6"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7"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8"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9"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0"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ASSESSMENT</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How the 100 points are earned</a:t>
            </a:r>
            <a:endParaRPr lang="en-US" sz="3000" dirty="0"/>
          </a:p>
        </p:txBody>
      </p:sp>
      <p:graphicFrame>
        <p:nvGraphicFramePr>
          <p:cNvPr id="4" name="Chart 0" descr=""/>
          <p:cNvGraphicFramePr/>
          <p:nvPr/>
        </p:nvGraphicFramePr>
        <p:xfrm>
          <a:off x="566928" y="1389888"/>
          <a:ext cx="6855860" cy="42976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715396" y="1435608"/>
            <a:ext cx="3909371" cy="29425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Graded from the platform first</a:t>
            </a:r>
            <a:endParaRPr lang="en-US" sz="1450" dirty="0"/>
          </a:p>
        </p:txBody>
      </p:sp>
      <p:sp>
        <p:nvSpPr>
          <p:cNvPr id="6" name="Text 3"/>
          <p:cNvSpPr txBox="1"/>
          <p:nvPr/>
        </p:nvSpPr>
        <p:spPr>
          <a:xfrm>
            <a:off x="7715396" y="1857883"/>
            <a:ext cx="3909371" cy="3756533"/>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Evidence order: the running platform and repository, then the demo — the point of the course is that the platform speaks for itself.</a:t>
            </a:r>
            <a:endParaRPr lang="en-US" sz="1200" dirty="0"/>
          </a:p>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Pass ≥ 70. Distinction ≥ 90. Extensions add up to +5 (capped at 100) only if mandatory scope is ≥ 80.</a:t>
            </a:r>
            <a:endParaRPr lang="en-US" sz="1200" dirty="0"/>
          </a:p>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Anti-pattern flags cap a criterion at 70%: feature leakage, non-idempotent gold, VACUUM RETAIN 0, alert-only quality gate, raw rider IDs in BI output, streaming without a dedicated checkpoint.</a:t>
            </a:r>
            <a:endParaRPr lang="en-US" sz="1200" dirty="0"/>
          </a:p>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Badge issuance also requires zero academic-integrity flags and no PDPL red flags.</a:t>
            </a:r>
            <a:endParaRPr lang="en-US" sz="1200" dirty="0"/>
          </a:p>
        </p:txBody>
      </p:sp>
      <p:sp>
        <p:nvSpPr>
          <p:cNvPr id="7" name="Text 4"/>
          <p:cNvSpPr txBox="1"/>
          <p:nvPr/>
        </p:nvSpPr>
        <p:spPr>
          <a:xfrm>
            <a:off x="566928" y="5833872"/>
            <a:ext cx="11057839" cy="512064"/>
          </a:xfrm>
          <a:prstGeom prst="rect">
            <a:avLst/>
          </a:prstGeom>
          <a:noFill/>
          <a:ln/>
        </p:spPr>
        <p:txBody>
          <a:bodyPr wrap="square" lIns="0" tIns="0" rIns="0" bIns="0" rtlCol="0" anchor="ctr"/>
          <a:lstStyle/>
          <a:p>
            <a:pPr indent="0" marL="0">
              <a:buNone/>
            </a:pPr>
            <a:r>
              <a:rPr lang="en-US" sz="1300" i="1" dirty="0">
                <a:solidFill>
                  <a:srgbClr val="B0763A"/>
                </a:solidFill>
                <a:latin typeface="Calibri" pitchFamily="34" charset="0"/>
                <a:ea typeface="Calibri" pitchFamily="34" charset="-122"/>
                <a:cs typeface="Calibri" pitchFamily="34" charset="-120"/>
              </a:rPr>
              <a:t>PA-1 (Delta recovery, Day 3) · PA-2 (streaming exactly-once, Day 4) · PA-3 (feature-leakage audit, Day 5).</a:t>
            </a:r>
            <a:endParaRPr lang="en-US" sz="1300" dirty="0"/>
          </a:p>
        </p:txBody>
      </p:sp>
      <p:sp>
        <p:nvSpPr>
          <p:cNvPr id="8" name="Shape 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9" name="Shape 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0" name="Shape 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1" name="Text 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2" name="Text 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BEFORE WE START</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Your environment for the week</a:t>
            </a:r>
            <a:endParaRPr lang="en-US" sz="3000" dirty="0"/>
          </a:p>
        </p:txBody>
      </p:sp>
      <p:sp>
        <p:nvSpPr>
          <p:cNvPr id="4" name="Shape 2"/>
          <p:cNvSpPr/>
          <p:nvPr/>
        </p:nvSpPr>
        <p:spPr>
          <a:xfrm>
            <a:off x="566928" y="1389888"/>
            <a:ext cx="3515258" cy="1993392"/>
          </a:xfrm>
          <a:prstGeom prst="roundRect">
            <a:avLst>
              <a:gd name="adj" fmla="val 2752"/>
            </a:avLst>
          </a:prstGeom>
          <a:solidFill>
            <a:srgbClr val="F4F6F7"/>
          </a:solidFill>
          <a:ln w="12700">
            <a:solidFill>
              <a:srgbClr val="DDE3E6"/>
            </a:solidFill>
            <a:prstDash val="solid"/>
          </a:ln>
        </p:spPr>
      </p:sp>
      <p:sp>
        <p:nvSpPr>
          <p:cNvPr id="5" name="Text 3"/>
          <p:cNvSpPr txBox="1"/>
          <p:nvPr/>
        </p:nvSpPr>
        <p:spPr>
          <a:xfrm>
            <a:off x="786384" y="1572768"/>
            <a:ext cx="3076346"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Primary path</a:t>
            </a:r>
            <a:endParaRPr lang="en-US" sz="1450" dirty="0"/>
          </a:p>
        </p:txBody>
      </p:sp>
      <p:sp>
        <p:nvSpPr>
          <p:cNvPr id="6" name="Text 4"/>
          <p:cNvSpPr txBox="1"/>
          <p:nvPr/>
        </p:nvSpPr>
        <p:spPr>
          <a:xfrm>
            <a:off x="786384" y="1896237"/>
            <a:ext cx="3076346" cy="1322451"/>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Local Spark 3.5 + delta-spark 3.2 on Java 17, plus a single-broker Kafka and Redis via docker compose. Run `make doctor` — it validates every dependency and prints a ✓/✗ table.</a:t>
            </a:r>
            <a:endParaRPr lang="en-US" sz="1200" dirty="0"/>
          </a:p>
        </p:txBody>
      </p:sp>
      <p:sp>
        <p:nvSpPr>
          <p:cNvPr id="7" name="Shape 5"/>
          <p:cNvSpPr/>
          <p:nvPr/>
        </p:nvSpPr>
        <p:spPr>
          <a:xfrm>
            <a:off x="4338218" y="1389888"/>
            <a:ext cx="3515258" cy="1993392"/>
          </a:xfrm>
          <a:prstGeom prst="roundRect">
            <a:avLst>
              <a:gd name="adj" fmla="val 2752"/>
            </a:avLst>
          </a:prstGeom>
          <a:solidFill>
            <a:srgbClr val="F4F6F7"/>
          </a:solidFill>
          <a:ln w="12700">
            <a:solidFill>
              <a:srgbClr val="DDE3E6"/>
            </a:solidFill>
            <a:prstDash val="solid"/>
          </a:ln>
        </p:spPr>
      </p:sp>
      <p:sp>
        <p:nvSpPr>
          <p:cNvPr id="8" name="Text 6"/>
          <p:cNvSpPr txBox="1"/>
          <p:nvPr/>
        </p:nvSpPr>
        <p:spPr>
          <a:xfrm>
            <a:off x="4557674" y="1572768"/>
            <a:ext cx="3076346" cy="232029"/>
          </a:xfrm>
          <a:prstGeom prst="rect">
            <a:avLst/>
          </a:prstGeom>
          <a:noFill/>
          <a:ln/>
        </p:spPr>
        <p:txBody>
          <a:bodyPr wrap="square" lIns="0" tIns="0" rIns="0" bIns="0" rtlCol="0" anchor="t"/>
          <a:lstStyle/>
          <a:p>
            <a:pPr indent="0" marL="0">
              <a:buNone/>
            </a:pPr>
            <a:r>
              <a:rPr lang="en-US" sz="1450" b="1" dirty="0">
                <a:solidFill>
                  <a:srgbClr val="8E9AA3"/>
                </a:solidFill>
                <a:latin typeface="Calibri" pitchFamily="34" charset="0"/>
                <a:ea typeface="Calibri" pitchFamily="34" charset="-122"/>
                <a:cs typeface="Calibri" pitchFamily="34" charset="-120"/>
              </a:rPr>
              <a:t>Fallback path</a:t>
            </a:r>
            <a:endParaRPr lang="en-US" sz="1450" dirty="0"/>
          </a:p>
        </p:txBody>
      </p:sp>
      <p:sp>
        <p:nvSpPr>
          <p:cNvPr id="9" name="Text 7"/>
          <p:cNvSpPr txBox="1"/>
          <p:nvPr/>
        </p:nvSpPr>
        <p:spPr>
          <a:xfrm>
            <a:off x="4557674" y="1896237"/>
            <a:ext cx="3076346" cy="1322451"/>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A hosted notebook: Databricks Community Edition, or Colab with pyspark and delta installed. Verified the week before delivery. The streaming lab needs Kafka — images are pre-pulled.</a:t>
            </a:r>
            <a:endParaRPr lang="en-US" sz="1200" dirty="0"/>
          </a:p>
        </p:txBody>
      </p:sp>
      <p:sp>
        <p:nvSpPr>
          <p:cNvPr id="10" name="Shape 8"/>
          <p:cNvSpPr/>
          <p:nvPr/>
        </p:nvSpPr>
        <p:spPr>
          <a:xfrm>
            <a:off x="8109509" y="1389888"/>
            <a:ext cx="3515258" cy="1993392"/>
          </a:xfrm>
          <a:prstGeom prst="roundRect">
            <a:avLst>
              <a:gd name="adj" fmla="val 2752"/>
            </a:avLst>
          </a:prstGeom>
          <a:solidFill>
            <a:srgbClr val="F4F6F7"/>
          </a:solidFill>
          <a:ln w="12700">
            <a:solidFill>
              <a:srgbClr val="DDE3E6"/>
            </a:solidFill>
            <a:prstDash val="solid"/>
          </a:ln>
        </p:spPr>
      </p:sp>
      <p:sp>
        <p:nvSpPr>
          <p:cNvPr id="11" name="Text 9"/>
          <p:cNvSpPr txBox="1"/>
          <p:nvPr/>
        </p:nvSpPr>
        <p:spPr>
          <a:xfrm>
            <a:off x="8328965" y="1572768"/>
            <a:ext cx="3076346" cy="232029"/>
          </a:xfrm>
          <a:prstGeom prst="rect">
            <a:avLst/>
          </a:prstGeom>
          <a:noFill/>
          <a:ln/>
        </p:spPr>
        <p:txBody>
          <a:bodyPr wrap="square" lIns="0" tIns="0" rIns="0" bIns="0" rtlCol="0" anchor="t"/>
          <a:lstStyle/>
          <a:p>
            <a:pPr indent="0" marL="0">
              <a:buNone/>
            </a:pPr>
            <a:r>
              <a:rPr lang="en-US" sz="1450" b="1" dirty="0">
                <a:solidFill>
                  <a:srgbClr val="00A6A6"/>
                </a:solidFill>
                <a:latin typeface="Calibri" pitchFamily="34" charset="0"/>
                <a:ea typeface="Calibri" pitchFamily="34" charset="-122"/>
                <a:cs typeface="Calibri" pitchFamily="34" charset="-120"/>
              </a:rPr>
              <a:t>The starter repo</a:t>
            </a:r>
            <a:endParaRPr lang="en-US" sz="1450" dirty="0"/>
          </a:p>
        </p:txBody>
      </p:sp>
      <p:sp>
        <p:nvSpPr>
          <p:cNvPr id="12" name="Text 10"/>
          <p:cNvSpPr txBox="1"/>
          <p:nvPr/>
        </p:nvSpPr>
        <p:spPr>
          <a:xfrm>
            <a:off x="8328965" y="1896237"/>
            <a:ext cx="3076346" cy="1322451"/>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Clone it once. Checkpoint tags (`lab1-start` … `lab8-start`) let anyone fast-forward to any lab's starting state without losing the day.</a:t>
            </a:r>
            <a:endParaRPr lang="en-US" sz="1200" dirty="0"/>
          </a:p>
        </p:txBody>
      </p:sp>
      <p:sp>
        <p:nvSpPr>
          <p:cNvPr id="13" name="Shape 11"/>
          <p:cNvSpPr/>
          <p:nvPr/>
        </p:nvSpPr>
        <p:spPr>
          <a:xfrm>
            <a:off x="566928" y="3639312"/>
            <a:ext cx="3515258" cy="1993392"/>
          </a:xfrm>
          <a:prstGeom prst="roundRect">
            <a:avLst>
              <a:gd name="adj" fmla="val 2752"/>
            </a:avLst>
          </a:prstGeom>
          <a:solidFill>
            <a:srgbClr val="F4F6F7"/>
          </a:solidFill>
          <a:ln w="12700">
            <a:solidFill>
              <a:srgbClr val="DDE3E6"/>
            </a:solidFill>
            <a:prstDash val="solid"/>
          </a:ln>
        </p:spPr>
      </p:sp>
      <p:sp>
        <p:nvSpPr>
          <p:cNvPr id="14" name="Text 12"/>
          <p:cNvSpPr txBox="1"/>
          <p:nvPr/>
        </p:nvSpPr>
        <p:spPr>
          <a:xfrm>
            <a:off x="786384" y="3822192"/>
            <a:ext cx="3076346" cy="232029"/>
          </a:xfrm>
          <a:prstGeom prst="rect">
            <a:avLst/>
          </a:prstGeom>
          <a:noFill/>
          <a:ln/>
        </p:spPr>
        <p:txBody>
          <a:bodyPr wrap="square" lIns="0" tIns="0" rIns="0" bIns="0" rtlCol="0" anchor="t"/>
          <a:lstStyle/>
          <a:p>
            <a:pPr indent="0" marL="0">
              <a:buNone/>
            </a:pPr>
            <a:r>
              <a:rPr lang="en-US" sz="1450" b="1" dirty="0">
                <a:solidFill>
                  <a:srgbClr val="D4A537"/>
                </a:solidFill>
                <a:latin typeface="Calibri" pitchFamily="34" charset="0"/>
                <a:ea typeface="Calibri" pitchFamily="34" charset="-122"/>
                <a:cs typeface="Calibri" pitchFamily="34" charset="-120"/>
              </a:rPr>
              <a:t>The data</a:t>
            </a:r>
            <a:endParaRPr lang="en-US" sz="1450" dirty="0"/>
          </a:p>
        </p:txBody>
      </p:sp>
      <p:sp>
        <p:nvSpPr>
          <p:cNvPr id="15" name="Text 13"/>
          <p:cNvSpPr txBox="1"/>
          <p:nvPr/>
        </p:nvSpPr>
        <p:spPr>
          <a:xfrm>
            <a:off x="786384" y="4145661"/>
            <a:ext cx="3076346" cy="1322451"/>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A seeded synthetic Masar generator — trips CSV, GPS NDJSON, drivers, vehicles, zones, payments, weather — with defects deliberately injected and documented.</a:t>
            </a:r>
            <a:endParaRPr lang="en-US" sz="1200" dirty="0"/>
          </a:p>
        </p:txBody>
      </p:sp>
      <p:sp>
        <p:nvSpPr>
          <p:cNvPr id="16" name="Shape 14"/>
          <p:cNvSpPr/>
          <p:nvPr/>
        </p:nvSpPr>
        <p:spPr>
          <a:xfrm>
            <a:off x="4338218" y="3639312"/>
            <a:ext cx="3515258" cy="1993392"/>
          </a:xfrm>
          <a:prstGeom prst="roundRect">
            <a:avLst>
              <a:gd name="adj" fmla="val 2752"/>
            </a:avLst>
          </a:prstGeom>
          <a:solidFill>
            <a:srgbClr val="F4F6F7"/>
          </a:solidFill>
          <a:ln w="12700">
            <a:solidFill>
              <a:srgbClr val="DDE3E6"/>
            </a:solidFill>
            <a:prstDash val="solid"/>
          </a:ln>
        </p:spPr>
      </p:sp>
      <p:sp>
        <p:nvSpPr>
          <p:cNvPr id="17" name="Text 15"/>
          <p:cNvSpPr txBox="1"/>
          <p:nvPr/>
        </p:nvSpPr>
        <p:spPr>
          <a:xfrm>
            <a:off x="4557674" y="3822192"/>
            <a:ext cx="3076346"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Pairs, rotated daily</a:t>
            </a:r>
            <a:endParaRPr lang="en-US" sz="1450" dirty="0"/>
          </a:p>
        </p:txBody>
      </p:sp>
      <p:sp>
        <p:nvSpPr>
          <p:cNvPr id="18" name="Text 16"/>
          <p:cNvSpPr txBox="1"/>
          <p:nvPr/>
        </p:nvSpPr>
        <p:spPr>
          <a:xfrm>
            <a:off x="4557674" y="4145661"/>
            <a:ext cx="3076346" cy="1322451"/>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Pair a strong-SQL participant with a strong-Python/Spark participant. ELT rewards one background, streaming the other; the skill transfer is the point.</a:t>
            </a:r>
            <a:endParaRPr lang="en-US" sz="1200" dirty="0"/>
          </a:p>
        </p:txBody>
      </p:sp>
      <p:sp>
        <p:nvSpPr>
          <p:cNvPr id="19" name="Shape 17"/>
          <p:cNvSpPr/>
          <p:nvPr/>
        </p:nvSpPr>
        <p:spPr>
          <a:xfrm>
            <a:off x="8109509" y="3639312"/>
            <a:ext cx="3515258" cy="1993392"/>
          </a:xfrm>
          <a:prstGeom prst="roundRect">
            <a:avLst>
              <a:gd name="adj" fmla="val 2752"/>
            </a:avLst>
          </a:prstGeom>
          <a:solidFill>
            <a:srgbClr val="F4F6F7"/>
          </a:solidFill>
          <a:ln w="12700">
            <a:solidFill>
              <a:srgbClr val="DDE3E6"/>
            </a:solidFill>
            <a:prstDash val="solid"/>
          </a:ln>
        </p:spPr>
      </p:sp>
      <p:sp>
        <p:nvSpPr>
          <p:cNvPr id="20" name="Text 18"/>
          <p:cNvSpPr txBox="1"/>
          <p:nvPr/>
        </p:nvSpPr>
        <p:spPr>
          <a:xfrm>
            <a:off x="8328965" y="3822192"/>
            <a:ext cx="3076346" cy="232029"/>
          </a:xfrm>
          <a:prstGeom prst="rect">
            <a:avLst/>
          </a:prstGeom>
          <a:noFill/>
          <a:ln/>
        </p:spPr>
        <p:txBody>
          <a:bodyPr wrap="square" lIns="0" tIns="0" rIns="0" bIns="0" rtlCol="0" anchor="t"/>
          <a:lstStyle/>
          <a:p>
            <a:pPr indent="0" marL="0">
              <a:buNone/>
            </a:pPr>
            <a:r>
              <a:rPr lang="en-US" sz="1450" b="1" dirty="0">
                <a:solidFill>
                  <a:srgbClr val="8E9AA3"/>
                </a:solidFill>
                <a:latin typeface="Calibri" pitchFamily="34" charset="0"/>
                <a:ea typeface="Calibri" pitchFamily="34" charset="-122"/>
                <a:cs typeface="Calibri" pitchFamily="34" charset="-120"/>
              </a:rPr>
              <a:t>Language rule</a:t>
            </a:r>
            <a:endParaRPr lang="en-US" sz="1450" dirty="0"/>
          </a:p>
        </p:txBody>
      </p:sp>
      <p:sp>
        <p:nvSpPr>
          <p:cNvPr id="21" name="Text 19"/>
          <p:cNvSpPr txBox="1"/>
          <p:nvPr/>
        </p:nvSpPr>
        <p:spPr>
          <a:xfrm>
            <a:off x="8328965" y="4145661"/>
            <a:ext cx="3076346" cy="1322451"/>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Delivery in English or Arabic. All code, table names, column names and commit messages stay in English — production convention in Saudi enterprise environments.</a:t>
            </a:r>
            <a:endParaRPr lang="en-US" sz="1200" dirty="0"/>
          </a:p>
        </p:txBody>
      </p:sp>
      <p:sp>
        <p:nvSpPr>
          <p:cNvPr id="22" name="Text 20"/>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Environment failures are the single biggest risk to Day 1. Send LAB_00_Environment_Setup.md two days before the course and staff the first hour with a floater.</a:t>
            </a:r>
            <a:endParaRPr lang="en-US" sz="1200" dirty="0"/>
          </a:p>
        </p:txBody>
      </p:sp>
      <p:sp>
        <p:nvSpPr>
          <p:cNvPr id="23" name="Shape 21"/>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4" name="Shape 22"/>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5" name="Shape 23"/>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6" name="Text 24"/>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7" name="Text 25"/>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417320"/>
            <a:ext cx="11057839" cy="274320"/>
          </a:xfrm>
          <a:prstGeom prst="rect">
            <a:avLst/>
          </a:prstGeom>
          <a:noFill/>
          <a:ln/>
        </p:spPr>
        <p:txBody>
          <a:bodyPr wrap="square" lIns="0" tIns="0" rIns="0" bIns="0" rtlCol="0" anchor="ctr"/>
          <a:lstStyle/>
          <a:p>
            <a:pPr indent="0" marL="0">
              <a:buNone/>
            </a:pPr>
            <a:r>
              <a:rPr lang="en-US" sz="1150" b="1" spc="220" kern="0" dirty="0">
                <a:solidFill>
                  <a:srgbClr val="D4A537"/>
                </a:solidFill>
                <a:latin typeface="Calibri" pitchFamily="34" charset="0"/>
                <a:ea typeface="Calibri" pitchFamily="34" charset="-122"/>
                <a:cs typeface="Calibri" pitchFamily="34" charset="-120"/>
              </a:rPr>
              <a:t>DAY 1</a:t>
            </a:r>
            <a:endParaRPr lang="en-US" sz="1150" dirty="0"/>
          </a:p>
        </p:txBody>
      </p:sp>
      <p:sp>
        <p:nvSpPr>
          <p:cNvPr id="3" name="Text 1"/>
          <p:cNvSpPr txBox="1"/>
          <p:nvPr/>
        </p:nvSpPr>
        <p:spPr>
          <a:xfrm>
            <a:off x="566928" y="1783080"/>
            <a:ext cx="6081812"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Foundations</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and economics</a:t>
            </a:r>
            <a:endParaRPr lang="en-US" sz="4000" dirty="0"/>
          </a:p>
        </p:txBody>
      </p:sp>
      <p:sp>
        <p:nvSpPr>
          <p:cNvPr id="4" name="Text 2"/>
          <p:cNvSpPr txBox="1"/>
          <p:nvPr/>
        </p:nvSpPr>
        <p:spPr>
          <a:xfrm>
            <a:off x="566928" y="3200400"/>
            <a:ext cx="6081812" cy="1371600"/>
          </a:xfrm>
          <a:prstGeom prst="rect">
            <a:avLst/>
          </a:prstGeom>
          <a:noFill/>
          <a:ln/>
        </p:spPr>
        <p:txBody>
          <a:bodyPr wrap="square" lIns="0" tIns="0" rIns="0" bIns="0" rtlCol="0" anchor="t"/>
          <a:lstStyle/>
          <a:p>
            <a:pPr indent="0" marL="0">
              <a:buNone/>
            </a:pPr>
            <a:r>
              <a:rPr lang="en-US" sz="1400" dirty="0">
                <a:solidFill>
                  <a:srgbClr val="9FB3BE"/>
                </a:solidFill>
                <a:latin typeface="Calibri" pitchFamily="34" charset="0"/>
                <a:ea typeface="Calibri" pitchFamily="34" charset="-122"/>
                <a:cs typeface="Calibri" pitchFamily="34" charset="-120"/>
              </a:rPr>
              <a:t>Where data platforms come from, why the two-tier design fails AI, and how to argue about cost with numbers instead of adjectives.</a:t>
            </a:r>
            <a:endParaRPr lang="en-US" sz="1400" dirty="0"/>
          </a:p>
        </p:txBody>
      </p:sp>
      <p:sp>
        <p:nvSpPr>
          <p:cNvPr id="5" name="Shape 3"/>
          <p:cNvSpPr/>
          <p:nvPr/>
        </p:nvSpPr>
        <p:spPr>
          <a:xfrm>
            <a:off x="7201632" y="1810512"/>
            <a:ext cx="329184" cy="329184"/>
          </a:xfrm>
          <a:prstGeom prst="ellipse">
            <a:avLst/>
          </a:prstGeom>
          <a:solidFill>
            <a:srgbClr val="B0763A"/>
          </a:solidFill>
          <a:ln w="12700">
            <a:solidFill>
              <a:srgbClr val="B0763A"/>
            </a:solidFill>
            <a:prstDash val="solid"/>
          </a:ln>
        </p:spPr>
      </p:sp>
      <p:sp>
        <p:nvSpPr>
          <p:cNvPr id="6" name="Text 4"/>
          <p:cNvSpPr txBox="1"/>
          <p:nvPr/>
        </p:nvSpPr>
        <p:spPr>
          <a:xfrm>
            <a:off x="7201632" y="18242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658832" y="1783080"/>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data platforms fail AI</a:t>
            </a:r>
            <a:endParaRPr lang="en-US" sz="1300" dirty="0"/>
          </a:p>
        </p:txBody>
      </p:sp>
      <p:sp>
        <p:nvSpPr>
          <p:cNvPr id="8" name="Shape 6"/>
          <p:cNvSpPr/>
          <p:nvPr/>
        </p:nvSpPr>
        <p:spPr>
          <a:xfrm>
            <a:off x="7201632" y="2468880"/>
            <a:ext cx="329184" cy="329184"/>
          </a:xfrm>
          <a:prstGeom prst="ellipse">
            <a:avLst/>
          </a:prstGeom>
          <a:solidFill>
            <a:srgbClr val="8E9AA3"/>
          </a:solidFill>
          <a:ln w="12700">
            <a:solidFill>
              <a:srgbClr val="8E9AA3"/>
            </a:solidFill>
            <a:prstDash val="solid"/>
          </a:ln>
        </p:spPr>
      </p:sp>
      <p:sp>
        <p:nvSpPr>
          <p:cNvPr id="9" name="Text 7"/>
          <p:cNvSpPr txBox="1"/>
          <p:nvPr/>
        </p:nvSpPr>
        <p:spPr>
          <a:xfrm>
            <a:off x="7201632" y="248259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7658832" y="2441448"/>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M1 — Evolution of data architecture</a:t>
            </a:r>
            <a:endParaRPr lang="en-US" sz="1300" dirty="0"/>
          </a:p>
        </p:txBody>
      </p:sp>
      <p:sp>
        <p:nvSpPr>
          <p:cNvPr id="11" name="Shape 9"/>
          <p:cNvSpPr/>
          <p:nvPr/>
        </p:nvSpPr>
        <p:spPr>
          <a:xfrm>
            <a:off x="7201632" y="3127248"/>
            <a:ext cx="329184" cy="329184"/>
          </a:xfrm>
          <a:prstGeom prst="ellipse">
            <a:avLst/>
          </a:prstGeom>
          <a:solidFill>
            <a:srgbClr val="D4A537"/>
          </a:solidFill>
          <a:ln w="12700">
            <a:solidFill>
              <a:srgbClr val="D4A537"/>
            </a:solidFill>
            <a:prstDash val="solid"/>
          </a:ln>
        </p:spPr>
      </p:sp>
      <p:sp>
        <p:nvSpPr>
          <p:cNvPr id="12" name="Text 10"/>
          <p:cNvSpPr txBox="1"/>
          <p:nvPr/>
        </p:nvSpPr>
        <p:spPr>
          <a:xfrm>
            <a:off x="7201632" y="31409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3" name="Text 11"/>
          <p:cNvSpPr txBox="1"/>
          <p:nvPr/>
        </p:nvSpPr>
        <p:spPr>
          <a:xfrm>
            <a:off x="7658832" y="3099816"/>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Lab 1 — Land the Masar raw feeds</a:t>
            </a:r>
            <a:endParaRPr lang="en-US" sz="1300" dirty="0"/>
          </a:p>
        </p:txBody>
      </p:sp>
      <p:sp>
        <p:nvSpPr>
          <p:cNvPr id="14" name="Shape 12"/>
          <p:cNvSpPr/>
          <p:nvPr/>
        </p:nvSpPr>
        <p:spPr>
          <a:xfrm>
            <a:off x="7201632" y="3785616"/>
            <a:ext cx="329184" cy="329184"/>
          </a:xfrm>
          <a:prstGeom prst="ellipse">
            <a:avLst/>
          </a:prstGeom>
          <a:solidFill>
            <a:srgbClr val="00A6A6"/>
          </a:solidFill>
          <a:ln w="12700">
            <a:solidFill>
              <a:srgbClr val="00A6A6"/>
            </a:solidFill>
            <a:prstDash val="solid"/>
          </a:ln>
        </p:spPr>
      </p:sp>
      <p:sp>
        <p:nvSpPr>
          <p:cNvPr id="15" name="Text 13"/>
          <p:cNvSpPr txBox="1"/>
          <p:nvPr/>
        </p:nvSpPr>
        <p:spPr>
          <a:xfrm>
            <a:off x="7201632" y="37993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6" name="Text 14"/>
          <p:cNvSpPr txBox="1"/>
          <p:nvPr/>
        </p:nvSpPr>
        <p:spPr>
          <a:xfrm>
            <a:off x="7658832" y="3758184"/>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M2 — Compute–storage separation</a:t>
            </a:r>
            <a:endParaRPr lang="en-US" sz="1300" dirty="0"/>
          </a:p>
        </p:txBody>
      </p:sp>
      <p:sp>
        <p:nvSpPr>
          <p:cNvPr id="17" name="Shape 15"/>
          <p:cNvSpPr/>
          <p:nvPr/>
        </p:nvSpPr>
        <p:spPr>
          <a:xfrm>
            <a:off x="7201632" y="4443984"/>
            <a:ext cx="329184" cy="329184"/>
          </a:xfrm>
          <a:prstGeom prst="ellipse">
            <a:avLst/>
          </a:prstGeom>
          <a:solidFill>
            <a:srgbClr val="D9503F"/>
          </a:solidFill>
          <a:ln w="12700">
            <a:solidFill>
              <a:srgbClr val="D9503F"/>
            </a:solidFill>
            <a:prstDash val="solid"/>
          </a:ln>
        </p:spPr>
      </p:sp>
      <p:sp>
        <p:nvSpPr>
          <p:cNvPr id="18" name="Text 16"/>
          <p:cNvSpPr txBox="1"/>
          <p:nvPr/>
        </p:nvSpPr>
        <p:spPr>
          <a:xfrm>
            <a:off x="7201632" y="44577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19" name="Text 17"/>
          <p:cNvSpPr txBox="1"/>
          <p:nvPr/>
        </p:nvSpPr>
        <p:spPr>
          <a:xfrm>
            <a:off x="7658832" y="4416552"/>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Lab 2 — Cost and elasticity model</a:t>
            </a:r>
            <a:endParaRPr lang="en-US" sz="1300" dirty="0"/>
          </a:p>
        </p:txBody>
      </p:sp>
      <p:sp>
        <p:nvSpPr>
          <p:cNvPr id="20" name="Shape 18"/>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1" name="Shape 19"/>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2" name="Shape 20"/>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3" name="Text 21"/>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4" name="Text 22"/>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D4A537"/>
                </a:solidFill>
                <a:latin typeface="Calibri" pitchFamily="34" charset="0"/>
                <a:ea typeface="Calibri" pitchFamily="34" charset="-122"/>
                <a:cs typeface="Calibri" pitchFamily="34" charset="-120"/>
              </a:rPr>
              <a:t>DAY 1 · HOUR 1</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Why data platforms fail AI</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9FB3BE"/>
                </a:solidFill>
                <a:latin typeface="Calibri" pitchFamily="34" charset="0"/>
                <a:ea typeface="Calibri" pitchFamily="34" charset="-122"/>
                <a:cs typeface="Calibri" pitchFamily="34" charset="-120"/>
              </a:rPr>
              <a:t>Three failure shapes. Each one is a real platform that ran perfectly and still starved or poisoned the model.</a:t>
            </a:r>
            <a:endParaRPr lang="en-US" sz="1330" dirty="0"/>
          </a:p>
        </p:txBody>
      </p:sp>
      <p:sp>
        <p:nvSpPr>
          <p:cNvPr id="5" name="Shape 3"/>
          <p:cNvSpPr/>
          <p:nvPr/>
        </p:nvSpPr>
        <p:spPr>
          <a:xfrm>
            <a:off x="566928" y="2157984"/>
            <a:ext cx="3515258" cy="2377440"/>
          </a:xfrm>
          <a:prstGeom prst="roundRect">
            <a:avLst>
              <a:gd name="adj" fmla="val 2308"/>
            </a:avLst>
          </a:prstGeom>
          <a:solidFill>
            <a:srgbClr val="1C333F"/>
          </a:solidFill>
          <a:ln w="12700">
            <a:solidFill>
              <a:srgbClr val="1C333F"/>
            </a:solidFill>
            <a:prstDash val="solid"/>
          </a:ln>
        </p:spPr>
      </p:sp>
      <p:sp>
        <p:nvSpPr>
          <p:cNvPr id="6" name="Text 4"/>
          <p:cNvSpPr txBox="1"/>
          <p:nvPr/>
        </p:nvSpPr>
        <p:spPr>
          <a:xfrm>
            <a:off x="786384" y="2340864"/>
            <a:ext cx="3076346" cy="464058"/>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The warehouse that could not feed the model</a:t>
            </a:r>
            <a:endParaRPr lang="en-US" sz="1450" dirty="0"/>
          </a:p>
        </p:txBody>
      </p:sp>
      <p:sp>
        <p:nvSpPr>
          <p:cNvPr id="7" name="Text 5"/>
          <p:cNvSpPr txBox="1"/>
          <p:nvPr/>
        </p:nvSpPr>
        <p:spPr>
          <a:xfrm>
            <a:off x="786384" y="2896362"/>
            <a:ext cx="3076346" cy="1474470"/>
          </a:xfrm>
          <a:prstGeom prst="rect">
            <a:avLst/>
          </a:prstGeom>
          <a:noFill/>
          <a:ln/>
        </p:spPr>
        <p:txBody>
          <a:bodyPr wrap="square" lIns="0" tIns="0" rIns="0" bIns="0" rtlCol="0" anchor="t"/>
          <a:lstStyle/>
          <a:p>
            <a:pPr indent="0" marL="0">
              <a:buNone/>
            </a:pPr>
            <a:r>
              <a:rPr lang="en-US" sz="1200" dirty="0">
                <a:solidFill>
                  <a:srgbClr val="9FB3BE"/>
                </a:solidFill>
                <a:latin typeface="Calibri" pitchFamily="34" charset="0"/>
                <a:ea typeface="Calibri" pitchFamily="34" charset="-122"/>
                <a:cs typeface="Calibri" pitchFamily="34" charset="-120"/>
              </a:rPr>
              <a:t>Schema-on-write rejected the raw GPS the ETA model needed. Data science built a shadow copy on object storage. Two pipelines, two definitions, one argument that never ended.</a:t>
            </a:r>
            <a:endParaRPr lang="en-US" sz="1200" dirty="0"/>
          </a:p>
        </p:txBody>
      </p:sp>
      <p:sp>
        <p:nvSpPr>
          <p:cNvPr id="8" name="Shape 6"/>
          <p:cNvSpPr/>
          <p:nvPr/>
        </p:nvSpPr>
        <p:spPr>
          <a:xfrm>
            <a:off x="4338218" y="2157984"/>
            <a:ext cx="3515258" cy="2377440"/>
          </a:xfrm>
          <a:prstGeom prst="roundRect">
            <a:avLst>
              <a:gd name="adj" fmla="val 2308"/>
            </a:avLst>
          </a:prstGeom>
          <a:solidFill>
            <a:srgbClr val="1C333F"/>
          </a:solidFill>
          <a:ln w="12700">
            <a:solidFill>
              <a:srgbClr val="1C333F"/>
            </a:solidFill>
            <a:prstDash val="solid"/>
          </a:ln>
        </p:spPr>
      </p:sp>
      <p:sp>
        <p:nvSpPr>
          <p:cNvPr id="9" name="Text 7"/>
          <p:cNvSpPr txBox="1"/>
          <p:nvPr/>
        </p:nvSpPr>
        <p:spPr>
          <a:xfrm>
            <a:off x="4557674" y="2340864"/>
            <a:ext cx="3076346" cy="232029"/>
          </a:xfrm>
          <a:prstGeom prst="rect">
            <a:avLst/>
          </a:prstGeom>
          <a:noFill/>
          <a:ln/>
        </p:spPr>
        <p:txBody>
          <a:bodyPr wrap="square" lIns="0" tIns="0" rIns="0" bIns="0" rtlCol="0" anchor="t"/>
          <a:lstStyle/>
          <a:p>
            <a:pPr indent="0" marL="0">
              <a:buNone/>
            </a:pPr>
            <a:r>
              <a:rPr lang="en-US" sz="1450" b="1" dirty="0">
                <a:solidFill>
                  <a:srgbClr val="8E9AA3"/>
                </a:solidFill>
                <a:latin typeface="Calibri" pitchFamily="34" charset="0"/>
                <a:ea typeface="Calibri" pitchFamily="34" charset="-122"/>
                <a:cs typeface="Calibri" pitchFamily="34" charset="-120"/>
              </a:rPr>
              <a:t>The lake that became a swamp</a:t>
            </a:r>
            <a:endParaRPr lang="en-US" sz="1450" dirty="0"/>
          </a:p>
        </p:txBody>
      </p:sp>
      <p:sp>
        <p:nvSpPr>
          <p:cNvPr id="10" name="Text 8"/>
          <p:cNvSpPr txBox="1"/>
          <p:nvPr/>
        </p:nvSpPr>
        <p:spPr>
          <a:xfrm>
            <a:off x="4557674" y="2664333"/>
            <a:ext cx="3076346" cy="1706499"/>
          </a:xfrm>
          <a:prstGeom prst="rect">
            <a:avLst/>
          </a:prstGeom>
          <a:noFill/>
          <a:ln/>
        </p:spPr>
        <p:txBody>
          <a:bodyPr wrap="square" lIns="0" tIns="0" rIns="0" bIns="0" rtlCol="0" anchor="t"/>
          <a:lstStyle/>
          <a:p>
            <a:pPr indent="0" marL="0">
              <a:buNone/>
            </a:pPr>
            <a:r>
              <a:rPr lang="en-US" sz="1200" dirty="0">
                <a:solidFill>
                  <a:srgbClr val="9FB3BE"/>
                </a:solidFill>
                <a:latin typeface="Calibri" pitchFamily="34" charset="0"/>
                <a:ea typeface="Calibri" pitchFamily="34" charset="-122"/>
                <a:cs typeface="Calibri" pitchFamily="34" charset="-120"/>
              </a:rPr>
              <a:t>Everything landed, nothing was governed. No schema contract, no ownership, no catalog. A model trained on a renamed column and nobody noticed for six weeks.</a:t>
            </a:r>
            <a:endParaRPr lang="en-US" sz="1200" dirty="0"/>
          </a:p>
        </p:txBody>
      </p:sp>
      <p:sp>
        <p:nvSpPr>
          <p:cNvPr id="11" name="Shape 9"/>
          <p:cNvSpPr/>
          <p:nvPr/>
        </p:nvSpPr>
        <p:spPr>
          <a:xfrm>
            <a:off x="8109509" y="2157984"/>
            <a:ext cx="3515258" cy="2377440"/>
          </a:xfrm>
          <a:prstGeom prst="roundRect">
            <a:avLst>
              <a:gd name="adj" fmla="val 2308"/>
            </a:avLst>
          </a:prstGeom>
          <a:solidFill>
            <a:srgbClr val="1C333F"/>
          </a:solidFill>
          <a:ln w="12700">
            <a:solidFill>
              <a:srgbClr val="1C333F"/>
            </a:solidFill>
            <a:prstDash val="solid"/>
          </a:ln>
        </p:spPr>
      </p:sp>
      <p:sp>
        <p:nvSpPr>
          <p:cNvPr id="12" name="Text 10"/>
          <p:cNvSpPr txBox="1"/>
          <p:nvPr/>
        </p:nvSpPr>
        <p:spPr>
          <a:xfrm>
            <a:off x="8328965" y="2340864"/>
            <a:ext cx="3076346" cy="464058"/>
          </a:xfrm>
          <a:prstGeom prst="rect">
            <a:avLst/>
          </a:prstGeom>
          <a:noFill/>
          <a:ln/>
        </p:spPr>
        <p:txBody>
          <a:bodyPr wrap="square" lIns="0" tIns="0" rIns="0" bIns="0" rtlCol="0" anchor="t"/>
          <a:lstStyle/>
          <a:p>
            <a:pPr indent="0" marL="0">
              <a:buNone/>
            </a:pPr>
            <a:r>
              <a:rPr lang="en-US" sz="1450" b="1" dirty="0">
                <a:solidFill>
                  <a:srgbClr val="D9503F"/>
                </a:solidFill>
                <a:latin typeface="Calibri" pitchFamily="34" charset="0"/>
                <a:ea typeface="Calibri" pitchFamily="34" charset="-122"/>
                <a:cs typeface="Calibri" pitchFamily="34" charset="-120"/>
              </a:rPr>
              <a:t>The platform that was right and still wrong</a:t>
            </a:r>
            <a:endParaRPr lang="en-US" sz="1450" dirty="0"/>
          </a:p>
        </p:txBody>
      </p:sp>
      <p:sp>
        <p:nvSpPr>
          <p:cNvPr id="13" name="Text 11"/>
          <p:cNvSpPr txBox="1"/>
          <p:nvPr/>
        </p:nvSpPr>
        <p:spPr>
          <a:xfrm>
            <a:off x="8328965" y="2896362"/>
            <a:ext cx="3076346" cy="1474470"/>
          </a:xfrm>
          <a:prstGeom prst="rect">
            <a:avLst/>
          </a:prstGeom>
          <a:noFill/>
          <a:ln/>
        </p:spPr>
        <p:txBody>
          <a:bodyPr wrap="square" lIns="0" tIns="0" rIns="0" bIns="0" rtlCol="0" anchor="t"/>
          <a:lstStyle/>
          <a:p>
            <a:pPr indent="0" marL="0">
              <a:buNone/>
            </a:pPr>
            <a:r>
              <a:rPr lang="en-US" sz="1200" dirty="0">
                <a:solidFill>
                  <a:srgbClr val="9FB3BE"/>
                </a:solidFill>
                <a:latin typeface="Calibri" pitchFamily="34" charset="0"/>
                <a:ea typeface="Calibri" pitchFamily="34" charset="-122"/>
                <a:cs typeface="Calibri" pitchFamily="34" charset="-120"/>
              </a:rPr>
              <a:t>Correct counts, fresh tables, green dashboards — and a feature that could not have been known at prediction time. Offline R² 0.94. Live: worse than the old heuristic.</a:t>
            </a:r>
            <a:endParaRPr lang="en-US" sz="1200" dirty="0"/>
          </a:p>
        </p:txBody>
      </p:sp>
      <p:sp>
        <p:nvSpPr>
          <p:cNvPr id="14" name="Text 12"/>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D4A537"/>
                </a:solidFill>
                <a:latin typeface="Calibri" pitchFamily="34" charset="0"/>
                <a:ea typeface="Calibri" pitchFamily="34" charset="-122"/>
                <a:cs typeface="Calibri" pitchFamily="34" charset="-120"/>
              </a:rPr>
              <a:t>Ask the room: which of these three is happening in your organisation right now? Take three answers, write them on the board, return to them Thursday.</a:t>
            </a:r>
            <a:endParaRPr lang="en-US" sz="1200" dirty="0"/>
          </a:p>
        </p:txBody>
      </p:sp>
      <p:sp>
        <p:nvSpPr>
          <p:cNvPr id="15" name="Shape 1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6" name="Shape 1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7" name="Shape 1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8" name="Text 1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9" name="Text 1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417320"/>
            <a:ext cx="11057839" cy="274320"/>
          </a:xfrm>
          <a:prstGeom prst="rect">
            <a:avLst/>
          </a:prstGeom>
          <a:noFill/>
          <a:ln/>
        </p:spPr>
        <p:txBody>
          <a:bodyPr wrap="square" lIns="0" tIns="0" rIns="0" bIns="0" rtlCol="0" anchor="ctr"/>
          <a:lstStyle/>
          <a:p>
            <a:pPr indent="0" marL="0">
              <a:buNone/>
            </a:pPr>
            <a:r>
              <a:rPr lang="en-US" sz="1150" b="1" spc="220" kern="0" dirty="0">
                <a:solidFill>
                  <a:srgbClr val="D4A537"/>
                </a:solidFill>
                <a:latin typeface="Calibri" pitchFamily="34" charset="0"/>
                <a:ea typeface="Calibri" pitchFamily="34" charset="-122"/>
                <a:cs typeface="Calibri" pitchFamily="34" charset="-120"/>
              </a:rPr>
              <a:t>MODULE 1</a:t>
            </a:r>
            <a:endParaRPr lang="en-US" sz="1150" dirty="0"/>
          </a:p>
        </p:txBody>
      </p:sp>
      <p:sp>
        <p:nvSpPr>
          <p:cNvPr id="3" name="Text 1"/>
          <p:cNvSpPr txBox="1"/>
          <p:nvPr/>
        </p:nvSpPr>
        <p:spPr>
          <a:xfrm>
            <a:off x="566928" y="1783080"/>
            <a:ext cx="6081812"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Evolution of</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data architecture</a:t>
            </a:r>
            <a:endParaRPr lang="en-US" sz="4000" dirty="0"/>
          </a:p>
        </p:txBody>
      </p:sp>
      <p:sp>
        <p:nvSpPr>
          <p:cNvPr id="4" name="Text 2"/>
          <p:cNvSpPr txBox="1"/>
          <p:nvPr/>
        </p:nvSpPr>
        <p:spPr>
          <a:xfrm>
            <a:off x="566928" y="3200400"/>
            <a:ext cx="6081812" cy="1371600"/>
          </a:xfrm>
          <a:prstGeom prst="rect">
            <a:avLst/>
          </a:prstGeom>
          <a:noFill/>
          <a:ln/>
        </p:spPr>
        <p:txBody>
          <a:bodyPr wrap="square" lIns="0" tIns="0" rIns="0" bIns="0" rtlCol="0" anchor="t"/>
          <a:lstStyle/>
          <a:p>
            <a:pPr indent="0" marL="0">
              <a:buNone/>
            </a:pPr>
            <a:r>
              <a:rPr lang="en-US" sz="1400" dirty="0">
                <a:solidFill>
                  <a:srgbClr val="9FB3BE"/>
                </a:solidFill>
                <a:latin typeface="Calibri" pitchFamily="34" charset="0"/>
                <a:ea typeface="Calibri" pitchFamily="34" charset="-122"/>
                <a:cs typeface="Calibri" pitchFamily="34" charset="-120"/>
              </a:rPr>
              <a:t>Warehouse · Lake · Lakehouse — and the medallion spine that carries the rest of the course.</a:t>
            </a:r>
            <a:endParaRPr lang="en-US" sz="1400" dirty="0"/>
          </a:p>
        </p:txBody>
      </p:sp>
      <p:sp>
        <p:nvSpPr>
          <p:cNvPr id="5" name="Shape 3"/>
          <p:cNvSpPr/>
          <p:nvPr/>
        </p:nvSpPr>
        <p:spPr>
          <a:xfrm>
            <a:off x="7201632" y="1810512"/>
            <a:ext cx="329184" cy="329184"/>
          </a:xfrm>
          <a:prstGeom prst="ellipse">
            <a:avLst/>
          </a:prstGeom>
          <a:solidFill>
            <a:srgbClr val="B0763A"/>
          </a:solidFill>
          <a:ln w="12700">
            <a:solidFill>
              <a:srgbClr val="B0763A"/>
            </a:solidFill>
            <a:prstDash val="solid"/>
          </a:ln>
        </p:spPr>
      </p:sp>
      <p:sp>
        <p:nvSpPr>
          <p:cNvPr id="6" name="Text 4"/>
          <p:cNvSpPr txBox="1"/>
          <p:nvPr/>
        </p:nvSpPr>
        <p:spPr>
          <a:xfrm>
            <a:off x="7201632" y="18242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658832" y="1783080"/>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Three architectures, three eras</a:t>
            </a:r>
            <a:endParaRPr lang="en-US" sz="1300" dirty="0"/>
          </a:p>
        </p:txBody>
      </p:sp>
      <p:sp>
        <p:nvSpPr>
          <p:cNvPr id="8" name="Shape 6"/>
          <p:cNvSpPr/>
          <p:nvPr/>
        </p:nvSpPr>
        <p:spPr>
          <a:xfrm>
            <a:off x="7201632" y="2468880"/>
            <a:ext cx="329184" cy="329184"/>
          </a:xfrm>
          <a:prstGeom prst="ellipse">
            <a:avLst/>
          </a:prstGeom>
          <a:solidFill>
            <a:srgbClr val="8E9AA3"/>
          </a:solidFill>
          <a:ln w="12700">
            <a:solidFill>
              <a:srgbClr val="8E9AA3"/>
            </a:solidFill>
            <a:prstDash val="solid"/>
          </a:ln>
        </p:spPr>
      </p:sp>
      <p:sp>
        <p:nvSpPr>
          <p:cNvPr id="9" name="Text 7"/>
          <p:cNvSpPr txBox="1"/>
          <p:nvPr/>
        </p:nvSpPr>
        <p:spPr>
          <a:xfrm>
            <a:off x="7201632" y="248259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7658832" y="2441448"/>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two-tier problem</a:t>
            </a:r>
            <a:endParaRPr lang="en-US" sz="1300" dirty="0"/>
          </a:p>
        </p:txBody>
      </p:sp>
      <p:sp>
        <p:nvSpPr>
          <p:cNvPr id="11" name="Shape 9"/>
          <p:cNvSpPr/>
          <p:nvPr/>
        </p:nvSpPr>
        <p:spPr>
          <a:xfrm>
            <a:off x="7201632" y="3127248"/>
            <a:ext cx="329184" cy="329184"/>
          </a:xfrm>
          <a:prstGeom prst="ellipse">
            <a:avLst/>
          </a:prstGeom>
          <a:solidFill>
            <a:srgbClr val="D4A537"/>
          </a:solidFill>
          <a:ln w="12700">
            <a:solidFill>
              <a:srgbClr val="D4A537"/>
            </a:solidFill>
            <a:prstDash val="solid"/>
          </a:ln>
        </p:spPr>
      </p:sp>
      <p:sp>
        <p:nvSpPr>
          <p:cNvPr id="12" name="Text 10"/>
          <p:cNvSpPr txBox="1"/>
          <p:nvPr/>
        </p:nvSpPr>
        <p:spPr>
          <a:xfrm>
            <a:off x="7201632" y="31409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3" name="Text 11"/>
          <p:cNvSpPr txBox="1"/>
          <p:nvPr/>
        </p:nvSpPr>
        <p:spPr>
          <a:xfrm>
            <a:off x="7658832" y="3099816"/>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Medallion: bronze, silver, gold</a:t>
            </a:r>
            <a:endParaRPr lang="en-US" sz="1300" dirty="0"/>
          </a:p>
        </p:txBody>
      </p:sp>
      <p:sp>
        <p:nvSpPr>
          <p:cNvPr id="14" name="Shape 12"/>
          <p:cNvSpPr/>
          <p:nvPr/>
        </p:nvSpPr>
        <p:spPr>
          <a:xfrm>
            <a:off x="7201632" y="3785616"/>
            <a:ext cx="329184" cy="329184"/>
          </a:xfrm>
          <a:prstGeom prst="ellipse">
            <a:avLst/>
          </a:prstGeom>
          <a:solidFill>
            <a:srgbClr val="00A6A6"/>
          </a:solidFill>
          <a:ln w="12700">
            <a:solidFill>
              <a:srgbClr val="00A6A6"/>
            </a:solidFill>
            <a:prstDash val="solid"/>
          </a:ln>
        </p:spPr>
      </p:sp>
      <p:sp>
        <p:nvSpPr>
          <p:cNvPr id="15" name="Text 13"/>
          <p:cNvSpPr txBox="1"/>
          <p:nvPr/>
        </p:nvSpPr>
        <p:spPr>
          <a:xfrm>
            <a:off x="7201632" y="37993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6" name="Text 14"/>
          <p:cNvSpPr txBox="1"/>
          <p:nvPr/>
        </p:nvSpPr>
        <p:spPr>
          <a:xfrm>
            <a:off x="7658832" y="3758184"/>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Open table formats</a:t>
            </a:r>
            <a:endParaRPr lang="en-US" sz="1300" dirty="0"/>
          </a:p>
        </p:txBody>
      </p:sp>
      <p:sp>
        <p:nvSpPr>
          <p:cNvPr id="17" name="Shape 15"/>
          <p:cNvSpPr/>
          <p:nvPr/>
        </p:nvSpPr>
        <p:spPr>
          <a:xfrm>
            <a:off x="7201632" y="4443984"/>
            <a:ext cx="329184" cy="329184"/>
          </a:xfrm>
          <a:prstGeom prst="ellipse">
            <a:avLst/>
          </a:prstGeom>
          <a:solidFill>
            <a:srgbClr val="D9503F"/>
          </a:solidFill>
          <a:ln w="12700">
            <a:solidFill>
              <a:srgbClr val="D9503F"/>
            </a:solidFill>
            <a:prstDash val="solid"/>
          </a:ln>
        </p:spPr>
      </p:sp>
      <p:sp>
        <p:nvSpPr>
          <p:cNvPr id="18" name="Text 16"/>
          <p:cNvSpPr txBox="1"/>
          <p:nvPr/>
        </p:nvSpPr>
        <p:spPr>
          <a:xfrm>
            <a:off x="7201632" y="44577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19" name="Text 17"/>
          <p:cNvSpPr txBox="1"/>
          <p:nvPr/>
        </p:nvSpPr>
        <p:spPr>
          <a:xfrm>
            <a:off x="7658832" y="4416552"/>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Lab 1 — land the raw feeds</a:t>
            </a:r>
            <a:endParaRPr lang="en-US" sz="1300" dirty="0"/>
          </a:p>
        </p:txBody>
      </p:sp>
      <p:sp>
        <p:nvSpPr>
          <p:cNvPr id="20" name="Shape 18"/>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1" name="Shape 19"/>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2" name="Shape 20"/>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3" name="Text 21"/>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4" name="Text 22"/>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1 · SECTION 1</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Three architectures, three eras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554480"/>
                <a:gridCol w="3163824"/>
                <a:gridCol w="3163824"/>
                <a:gridCol w="3172968"/>
              </a:tblGrid>
              <a:tr h="582603">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Data warehouse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Data lake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Lakehouse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r>
              <a:tr h="582603">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Era / driver</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Structured BI, expensive storage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Cheap object storage, big data, ML</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Both, on one copy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582603">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Schema</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On write — enforced, rejects nonconforming</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On read — anything lands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On write at the silver boundary; raw preserved in bronze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582603">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Transactions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ACID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None — a folder of files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ACID via an open table format</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582603">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Strength</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Reliability, governance, fast SQL</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Any format, any scale, cheap, ML-friendly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Lake economics with warehouse reliability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582603">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Failure mode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Cannot hold raw/unstructured data AI needs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Becomes a swamp: no contract, no trust</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None inherent — but discipline is still required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582603">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Masar fit</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The morning ops dashboard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Raw GPS for model training</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One platform serving both</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The Lakehouse is not a product. It is open files plus a transaction layer plus discipline. Two of those three are free; the third is this course.</a:t>
            </a:r>
            <a:endParaRPr lang="en-US" sz="1200" dirty="0"/>
          </a:p>
        </p:txBody>
      </p:sp>
      <p:sp>
        <p:nvSpPr>
          <p:cNvPr id="6"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7"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8"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9"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0"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1 · SECTION 2</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The two-tier problem</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A lake for data science, a warehouse for BI, and a fragile copy job between them. Four costs follow, always.</a:t>
            </a:r>
            <a:endParaRPr lang="en-US" sz="1330" dirty="0"/>
          </a:p>
        </p:txBody>
      </p:sp>
      <p:sp>
        <p:nvSpPr>
          <p:cNvPr id="5" name="Shape 3"/>
          <p:cNvSpPr/>
          <p:nvPr/>
        </p:nvSpPr>
        <p:spPr>
          <a:xfrm>
            <a:off x="566928" y="1920240"/>
            <a:ext cx="384048" cy="384048"/>
          </a:xfrm>
          <a:prstGeom prst="ellipse">
            <a:avLst/>
          </a:prstGeom>
          <a:solidFill>
            <a:srgbClr val="B0763A"/>
          </a:solidFill>
          <a:ln w="12700">
            <a:solidFill>
              <a:srgbClr val="B0763A"/>
            </a:solidFill>
            <a:prstDash val="solid"/>
          </a:ln>
        </p:spPr>
      </p:sp>
      <p:sp>
        <p:nvSpPr>
          <p:cNvPr id="6" name="Text 4"/>
          <p:cNvSpPr txBox="1"/>
          <p:nvPr/>
        </p:nvSpPr>
        <p:spPr>
          <a:xfrm>
            <a:off x="566928" y="193395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1133856" y="1883664"/>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Duplication</a:t>
            </a:r>
            <a:endParaRPr lang="en-US" sz="1500" dirty="0"/>
          </a:p>
        </p:txBody>
      </p:sp>
      <p:sp>
        <p:nvSpPr>
          <p:cNvPr id="8" name="Text 6"/>
          <p:cNvSpPr txBox="1"/>
          <p:nvPr/>
        </p:nvSpPr>
        <p:spPr>
          <a:xfrm>
            <a:off x="1133856" y="2148840"/>
            <a:ext cx="10417759" cy="653796"/>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The same data stored, secured and paid for twice. Two storage bills, two access-control models, two sets of infrastructure to patch.</a:t>
            </a:r>
            <a:endParaRPr lang="en-US" sz="1250" dirty="0"/>
          </a:p>
        </p:txBody>
      </p:sp>
      <p:sp>
        <p:nvSpPr>
          <p:cNvPr id="9" name="Shape 7"/>
          <p:cNvSpPr/>
          <p:nvPr/>
        </p:nvSpPr>
        <p:spPr>
          <a:xfrm>
            <a:off x="566928" y="2866644"/>
            <a:ext cx="384048" cy="384048"/>
          </a:xfrm>
          <a:prstGeom prst="ellipse">
            <a:avLst/>
          </a:prstGeom>
          <a:solidFill>
            <a:srgbClr val="8E9AA3"/>
          </a:solidFill>
          <a:ln w="12700">
            <a:solidFill>
              <a:srgbClr val="8E9AA3"/>
            </a:solidFill>
            <a:prstDash val="solid"/>
          </a:ln>
        </p:spPr>
      </p:sp>
      <p:sp>
        <p:nvSpPr>
          <p:cNvPr id="10" name="Text 8"/>
          <p:cNvSpPr txBox="1"/>
          <p:nvPr/>
        </p:nvSpPr>
        <p:spPr>
          <a:xfrm>
            <a:off x="566928" y="288036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1" name="Text 9"/>
          <p:cNvSpPr txBox="1"/>
          <p:nvPr/>
        </p:nvSpPr>
        <p:spPr>
          <a:xfrm>
            <a:off x="1133856" y="2830068"/>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Staleness</a:t>
            </a:r>
            <a:endParaRPr lang="en-US" sz="1500" dirty="0"/>
          </a:p>
        </p:txBody>
      </p:sp>
      <p:sp>
        <p:nvSpPr>
          <p:cNvPr id="12" name="Text 10"/>
          <p:cNvSpPr txBox="1"/>
          <p:nvPr/>
        </p:nvSpPr>
        <p:spPr>
          <a:xfrm>
            <a:off x="1133856" y="3095244"/>
            <a:ext cx="10417759" cy="653796"/>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The warehouse copy is only as fresh as the last successful copy job. Every failure of that job is a silent divergence nobody sees until a number looks wrong.</a:t>
            </a:r>
            <a:endParaRPr lang="en-US" sz="1250" dirty="0"/>
          </a:p>
        </p:txBody>
      </p:sp>
      <p:sp>
        <p:nvSpPr>
          <p:cNvPr id="13" name="Shape 11"/>
          <p:cNvSpPr/>
          <p:nvPr/>
        </p:nvSpPr>
        <p:spPr>
          <a:xfrm>
            <a:off x="566928" y="3813048"/>
            <a:ext cx="384048" cy="384048"/>
          </a:xfrm>
          <a:prstGeom prst="ellipse">
            <a:avLst/>
          </a:prstGeom>
          <a:solidFill>
            <a:srgbClr val="D9503F"/>
          </a:solidFill>
          <a:ln w="12700">
            <a:solidFill>
              <a:srgbClr val="D9503F"/>
            </a:solidFill>
            <a:prstDash val="solid"/>
          </a:ln>
        </p:spPr>
      </p:sp>
      <p:sp>
        <p:nvSpPr>
          <p:cNvPr id="14" name="Text 12"/>
          <p:cNvSpPr txBox="1"/>
          <p:nvPr/>
        </p:nvSpPr>
        <p:spPr>
          <a:xfrm>
            <a:off x="566928" y="3826764"/>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5" name="Text 13"/>
          <p:cNvSpPr txBox="1"/>
          <p:nvPr/>
        </p:nvSpPr>
        <p:spPr>
          <a:xfrm>
            <a:off x="1133856" y="3776472"/>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Skew</a:t>
            </a:r>
            <a:endParaRPr lang="en-US" sz="1500" dirty="0"/>
          </a:p>
        </p:txBody>
      </p:sp>
      <p:sp>
        <p:nvSpPr>
          <p:cNvPr id="16" name="Text 14"/>
          <p:cNvSpPr txBox="1"/>
          <p:nvPr/>
        </p:nvSpPr>
        <p:spPr>
          <a:xfrm>
            <a:off x="1133856" y="4041648"/>
            <a:ext cx="10417759" cy="653796"/>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Two independently maintained pipelines compute “completed trips” from the same events and disagree — on late arrivals, on timezone, on what “completed” means. Divergence is not a risk; it is a certainty.</a:t>
            </a:r>
            <a:endParaRPr lang="en-US" sz="1250" dirty="0"/>
          </a:p>
        </p:txBody>
      </p:sp>
      <p:sp>
        <p:nvSpPr>
          <p:cNvPr id="17" name="Shape 15"/>
          <p:cNvSpPr/>
          <p:nvPr/>
        </p:nvSpPr>
        <p:spPr>
          <a:xfrm>
            <a:off x="566928" y="4759452"/>
            <a:ext cx="384048" cy="384048"/>
          </a:xfrm>
          <a:prstGeom prst="ellipse">
            <a:avLst/>
          </a:prstGeom>
          <a:solidFill>
            <a:srgbClr val="D4A537"/>
          </a:solidFill>
          <a:ln w="12700">
            <a:solidFill>
              <a:srgbClr val="D4A537"/>
            </a:solidFill>
            <a:prstDash val="solid"/>
          </a:ln>
        </p:spPr>
      </p:sp>
      <p:sp>
        <p:nvSpPr>
          <p:cNvPr id="18" name="Text 16"/>
          <p:cNvSpPr txBox="1"/>
          <p:nvPr/>
        </p:nvSpPr>
        <p:spPr>
          <a:xfrm>
            <a:off x="566928" y="477316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9" name="Text 17"/>
          <p:cNvSpPr txBox="1"/>
          <p:nvPr/>
        </p:nvSpPr>
        <p:spPr>
          <a:xfrm>
            <a:off x="1133856" y="4722876"/>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Governance fracture</a:t>
            </a:r>
            <a:endParaRPr lang="en-US" sz="1500" dirty="0"/>
          </a:p>
        </p:txBody>
      </p:sp>
      <p:sp>
        <p:nvSpPr>
          <p:cNvPr id="20" name="Text 18"/>
          <p:cNvSpPr txBox="1"/>
          <p:nvPr/>
        </p:nvSpPr>
        <p:spPr>
          <a:xfrm>
            <a:off x="1133856" y="4988052"/>
            <a:ext cx="10417759" cy="653796"/>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PII masked in one tier and raw in the other. A PDPL erasure request must be honoured twice, and proving it was is nobody's job.</a:t>
            </a:r>
            <a:endParaRPr lang="en-US" sz="1250" dirty="0"/>
          </a:p>
        </p:txBody>
      </p:sp>
      <p:sp>
        <p:nvSpPr>
          <p:cNvPr id="21" name="Text 19"/>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Case study CS-01 (“Naql” Logistics) is this slide with a SAR 4M incentive decision frozen on top of it. Run it now or after Lab 1.</a:t>
            </a:r>
            <a:endParaRPr lang="en-US" sz="1200" dirty="0"/>
          </a:p>
        </p:txBody>
      </p:sp>
      <p:sp>
        <p:nvSpPr>
          <p:cNvPr id="22" name="Shape 20"/>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3" name="Shape 21"/>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4" name="Shape 22"/>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5" name="Text 23"/>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6" name="Text 24"/>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CASE STUDY CS-01 · 25 MINUTES</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The reporting divergence at “Naql” Logistics</a:t>
            </a:r>
            <a:endParaRPr lang="en-US" sz="3000" dirty="0"/>
          </a:p>
        </p:txBody>
      </p:sp>
      <p:sp>
        <p:nvSpPr>
          <p:cNvPr id="4" name="Shape 2"/>
          <p:cNvSpPr/>
          <p:nvPr/>
        </p:nvSpPr>
        <p:spPr>
          <a:xfrm>
            <a:off x="566928" y="1762963"/>
            <a:ext cx="2572436" cy="2377440"/>
          </a:xfrm>
          <a:prstGeom prst="roundRect">
            <a:avLst>
              <a:gd name="adj" fmla="val 2308"/>
            </a:avLst>
          </a:prstGeom>
          <a:solidFill>
            <a:srgbClr val="F4F6F7"/>
          </a:solidFill>
          <a:ln w="12700">
            <a:solidFill>
              <a:srgbClr val="DDE3E6"/>
            </a:solidFill>
            <a:prstDash val="solid"/>
          </a:ln>
        </p:spPr>
      </p:sp>
      <p:sp>
        <p:nvSpPr>
          <p:cNvPr id="5" name="Text 3"/>
          <p:cNvSpPr txBox="1"/>
          <p:nvPr/>
        </p:nvSpPr>
        <p:spPr>
          <a:xfrm>
            <a:off x="786384" y="1945843"/>
            <a:ext cx="2133524"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Scenario</a:t>
            </a:r>
            <a:endParaRPr lang="en-US" sz="1450" dirty="0"/>
          </a:p>
        </p:txBody>
      </p:sp>
      <p:sp>
        <p:nvSpPr>
          <p:cNvPr id="6" name="Text 4"/>
          <p:cNvSpPr txBox="1"/>
          <p:nvPr/>
        </p:nvSpPr>
        <p:spPr>
          <a:xfrm>
            <a:off x="786384" y="2269312"/>
            <a:ext cx="2133524" cy="17064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A Saudi last-mile logistics firm runs a lake for data science and a separate warehouse for BI. The CEO dashboard shows 87% on-time. The data-science model reports 91% for the same week.</a:t>
            </a:r>
            <a:endParaRPr lang="en-US" sz="1200" dirty="0"/>
          </a:p>
        </p:txBody>
      </p:sp>
      <p:sp>
        <p:nvSpPr>
          <p:cNvPr id="7" name="Shape 5"/>
          <p:cNvSpPr/>
          <p:nvPr/>
        </p:nvSpPr>
        <p:spPr>
          <a:xfrm>
            <a:off x="3395396" y="1762963"/>
            <a:ext cx="2572436" cy="2377440"/>
          </a:xfrm>
          <a:prstGeom prst="roundRect">
            <a:avLst>
              <a:gd name="adj" fmla="val 2308"/>
            </a:avLst>
          </a:prstGeom>
          <a:solidFill>
            <a:srgbClr val="F4F6F7"/>
          </a:solidFill>
          <a:ln w="12700">
            <a:solidFill>
              <a:srgbClr val="DDE3E6"/>
            </a:solidFill>
            <a:prstDash val="solid"/>
          </a:ln>
        </p:spPr>
      </p:sp>
      <p:sp>
        <p:nvSpPr>
          <p:cNvPr id="8" name="Text 6"/>
          <p:cNvSpPr txBox="1"/>
          <p:nvPr/>
        </p:nvSpPr>
        <p:spPr>
          <a:xfrm>
            <a:off x="3614852" y="1945843"/>
            <a:ext cx="2133524" cy="232029"/>
          </a:xfrm>
          <a:prstGeom prst="rect">
            <a:avLst/>
          </a:prstGeom>
          <a:noFill/>
          <a:ln/>
        </p:spPr>
        <p:txBody>
          <a:bodyPr wrap="square" lIns="0" tIns="0" rIns="0" bIns="0" rtlCol="0" anchor="t"/>
          <a:lstStyle/>
          <a:p>
            <a:pPr indent="0" marL="0">
              <a:buNone/>
            </a:pPr>
            <a:r>
              <a:rPr lang="en-US" sz="1450" b="1" dirty="0">
                <a:solidFill>
                  <a:srgbClr val="D9503F"/>
                </a:solidFill>
                <a:latin typeface="Calibri" pitchFamily="34" charset="0"/>
                <a:ea typeface="Calibri" pitchFamily="34" charset="-122"/>
                <a:cs typeface="Calibri" pitchFamily="34" charset="-120"/>
              </a:rPr>
              <a:t>Stakes</a:t>
            </a:r>
            <a:endParaRPr lang="en-US" sz="1450" dirty="0"/>
          </a:p>
        </p:txBody>
      </p:sp>
      <p:sp>
        <p:nvSpPr>
          <p:cNvPr id="9" name="Text 7"/>
          <p:cNvSpPr txBox="1"/>
          <p:nvPr/>
        </p:nvSpPr>
        <p:spPr>
          <a:xfrm>
            <a:off x="3614852" y="2269312"/>
            <a:ext cx="2133524" cy="17064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On-time rate drives customer SLAs and driver incentives. The divergence has frozen a SAR 4M incentive-scheme decision for a month. Trust in both numbers is collapsing.</a:t>
            </a:r>
            <a:endParaRPr lang="en-US" sz="1200" dirty="0"/>
          </a:p>
        </p:txBody>
      </p:sp>
      <p:sp>
        <p:nvSpPr>
          <p:cNvPr id="10" name="Shape 8"/>
          <p:cNvSpPr/>
          <p:nvPr/>
        </p:nvSpPr>
        <p:spPr>
          <a:xfrm>
            <a:off x="6223864" y="1762963"/>
            <a:ext cx="2572436" cy="2377440"/>
          </a:xfrm>
          <a:prstGeom prst="roundRect">
            <a:avLst>
              <a:gd name="adj" fmla="val 2308"/>
            </a:avLst>
          </a:prstGeom>
          <a:solidFill>
            <a:srgbClr val="F4F6F7"/>
          </a:solidFill>
          <a:ln w="12700">
            <a:solidFill>
              <a:srgbClr val="DDE3E6"/>
            </a:solidFill>
            <a:prstDash val="solid"/>
          </a:ln>
        </p:spPr>
      </p:sp>
      <p:sp>
        <p:nvSpPr>
          <p:cNvPr id="11" name="Text 9"/>
          <p:cNvSpPr txBox="1"/>
          <p:nvPr/>
        </p:nvSpPr>
        <p:spPr>
          <a:xfrm>
            <a:off x="6443320" y="1945843"/>
            <a:ext cx="2133524" cy="232029"/>
          </a:xfrm>
          <a:prstGeom prst="rect">
            <a:avLst/>
          </a:prstGeom>
          <a:noFill/>
          <a:ln/>
        </p:spPr>
        <p:txBody>
          <a:bodyPr wrap="square" lIns="0" tIns="0" rIns="0" bIns="0" rtlCol="0" anchor="t"/>
          <a:lstStyle/>
          <a:p>
            <a:pPr indent="0" marL="0">
              <a:buNone/>
            </a:pPr>
            <a:r>
              <a:rPr lang="en-US" sz="1450" b="1" dirty="0">
                <a:solidFill>
                  <a:srgbClr val="8E9AA3"/>
                </a:solidFill>
                <a:latin typeface="Calibri" pitchFamily="34" charset="0"/>
                <a:ea typeface="Calibri" pitchFamily="34" charset="-122"/>
                <a:cs typeface="Calibri" pitchFamily="34" charset="-120"/>
              </a:rPr>
              <a:t>Constraints</a:t>
            </a:r>
            <a:endParaRPr lang="en-US" sz="1450" dirty="0"/>
          </a:p>
        </p:txBody>
      </p:sp>
      <p:sp>
        <p:nvSpPr>
          <p:cNvPr id="12" name="Text 10"/>
          <p:cNvSpPr txBox="1"/>
          <p:nvPr/>
        </p:nvSpPr>
        <p:spPr>
          <a:xfrm>
            <a:off x="6443320" y="2269312"/>
            <a:ext cx="2133524" cy="17064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Neither system can be frozen. Regulators require one auditable definition. Arabic and English address fields must survive consolidation byte-exact. Budget: one quarter.</a:t>
            </a:r>
            <a:endParaRPr lang="en-US" sz="1200" dirty="0"/>
          </a:p>
        </p:txBody>
      </p:sp>
      <p:sp>
        <p:nvSpPr>
          <p:cNvPr id="13" name="Shape 11"/>
          <p:cNvSpPr/>
          <p:nvPr/>
        </p:nvSpPr>
        <p:spPr>
          <a:xfrm>
            <a:off x="9052331" y="1762963"/>
            <a:ext cx="2572436" cy="2377440"/>
          </a:xfrm>
          <a:prstGeom prst="roundRect">
            <a:avLst>
              <a:gd name="adj" fmla="val 2308"/>
            </a:avLst>
          </a:prstGeom>
          <a:solidFill>
            <a:srgbClr val="F4F6F7"/>
          </a:solidFill>
          <a:ln w="12700">
            <a:solidFill>
              <a:srgbClr val="DDE3E6"/>
            </a:solidFill>
            <a:prstDash val="solid"/>
          </a:ln>
        </p:spPr>
      </p:sp>
      <p:sp>
        <p:nvSpPr>
          <p:cNvPr id="14" name="Text 12"/>
          <p:cNvSpPr txBox="1"/>
          <p:nvPr/>
        </p:nvSpPr>
        <p:spPr>
          <a:xfrm>
            <a:off x="9271787" y="1945843"/>
            <a:ext cx="2133524" cy="232029"/>
          </a:xfrm>
          <a:prstGeom prst="rect">
            <a:avLst/>
          </a:prstGeom>
          <a:noFill/>
          <a:ln/>
        </p:spPr>
        <p:txBody>
          <a:bodyPr wrap="square" lIns="0" tIns="0" rIns="0" bIns="0" rtlCol="0" anchor="t"/>
          <a:lstStyle/>
          <a:p>
            <a:pPr indent="0" marL="0">
              <a:buNone/>
            </a:pPr>
            <a:r>
              <a:rPr lang="en-US" sz="1450" b="1" dirty="0">
                <a:solidFill>
                  <a:srgbClr val="00A6A6"/>
                </a:solidFill>
                <a:latin typeface="Calibri" pitchFamily="34" charset="0"/>
                <a:ea typeface="Calibri" pitchFamily="34" charset="-122"/>
                <a:cs typeface="Calibri" pitchFamily="34" charset="-120"/>
              </a:rPr>
              <a:t>The move</a:t>
            </a:r>
            <a:endParaRPr lang="en-US" sz="1450" dirty="0"/>
          </a:p>
        </p:txBody>
      </p:sp>
      <p:sp>
        <p:nvSpPr>
          <p:cNvPr id="15" name="Text 13"/>
          <p:cNvSpPr txBox="1"/>
          <p:nvPr/>
        </p:nvSpPr>
        <p:spPr>
          <a:xfrm>
            <a:off x="9271787" y="2269312"/>
            <a:ext cx="2133524" cy="17064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Land both feeds into an immutable bronze. Build ONE conformed silver.deliveries with a single reviewed late-arrival and timezone rule. Point BI and DS at it. Prove equivalence, then retire the copy job.</a:t>
            </a:r>
            <a:endParaRPr lang="en-US" sz="1200" dirty="0"/>
          </a:p>
        </p:txBody>
      </p:sp>
      <p:sp>
        <p:nvSpPr>
          <p:cNvPr id="16" name="Text 14"/>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Facilitate, do not lecture. The question that unlocks the room: “How would you PROVE the consolidated number to a sceptical CFO?” — reconciliation report, reproducible silver logic, audit trail.</a:t>
            </a:r>
            <a:endParaRPr lang="en-US" sz="1200" dirty="0"/>
          </a:p>
        </p:txBody>
      </p:sp>
      <p:sp>
        <p:nvSpPr>
          <p:cNvPr id="17" name="Shape 1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8" name="Shape 1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9" name="Shape 1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0" name="Text 1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1" name="Text 1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1 · SECTION 3</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Medallion architecture — the course spine</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Progressive refinement. Each layer has a contract its consumers can depend on without reading the code that produced it.</a:t>
            </a:r>
            <a:endParaRPr lang="en-US" sz="1330" dirty="0"/>
          </a:p>
        </p:txBody>
      </p:sp>
      <p:sp>
        <p:nvSpPr>
          <p:cNvPr id="5" name="Shape 3"/>
          <p:cNvSpPr/>
          <p:nvPr/>
        </p:nvSpPr>
        <p:spPr>
          <a:xfrm>
            <a:off x="566928" y="1883664"/>
            <a:ext cx="1828800" cy="3520440"/>
          </a:xfrm>
          <a:prstGeom prst="roundRect">
            <a:avLst>
              <a:gd name="adj" fmla="val 3000"/>
            </a:avLst>
          </a:prstGeom>
          <a:solidFill>
            <a:srgbClr val="F4F6F7"/>
          </a:solidFill>
          <a:ln w="12700">
            <a:solidFill>
              <a:srgbClr val="DDE3E6"/>
            </a:solidFill>
            <a:prstDash val="solid"/>
          </a:ln>
        </p:spPr>
      </p:sp>
      <p:sp>
        <p:nvSpPr>
          <p:cNvPr id="6" name="Text 4"/>
          <p:cNvSpPr txBox="1"/>
          <p:nvPr/>
        </p:nvSpPr>
        <p:spPr>
          <a:xfrm>
            <a:off x="694944" y="2029968"/>
            <a:ext cx="1572768" cy="237744"/>
          </a:xfrm>
          <a:prstGeom prst="rect">
            <a:avLst/>
          </a:prstGeom>
          <a:noFill/>
          <a:ln/>
        </p:spPr>
        <p:txBody>
          <a:bodyPr wrap="square" lIns="0" tIns="0" rIns="0" bIns="0" rtlCol="0" anchor="ctr"/>
          <a:lstStyle/>
          <a:p>
            <a:pPr indent="0" marL="0">
              <a:buNone/>
            </a:pPr>
            <a:r>
              <a:rPr lang="en-US" sz="1050" b="1" spc="120" kern="0" dirty="0">
                <a:solidFill>
                  <a:srgbClr val="6B7C86"/>
                </a:solidFill>
                <a:latin typeface="Calibri" pitchFamily="34" charset="0"/>
                <a:ea typeface="Calibri" pitchFamily="34" charset="-122"/>
                <a:cs typeface="Calibri" pitchFamily="34" charset="-120"/>
              </a:rPr>
              <a:t>SOURCES</a:t>
            </a:r>
            <a:endParaRPr lang="en-US" sz="1050" dirty="0"/>
          </a:p>
        </p:txBody>
      </p:sp>
      <p:sp>
        <p:nvSpPr>
          <p:cNvPr id="7" name="Text 5"/>
          <p:cNvSpPr txBox="1"/>
          <p:nvPr/>
        </p:nvSpPr>
        <p:spPr>
          <a:xfrm>
            <a:off x="694944" y="2340864"/>
            <a:ext cx="1572768" cy="2916936"/>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B3A42"/>
                </a:solidFill>
                <a:latin typeface="Calibri" pitchFamily="34" charset="0"/>
                <a:ea typeface="Calibri" pitchFamily="34" charset="-122"/>
                <a:cs typeface="Calibri" pitchFamily="34" charset="-120"/>
              </a:rPr>
              <a:t>Raw feeds</a:t>
            </a:r>
            <a:endParaRPr lang="en-US" sz="1100" dirty="0"/>
          </a:p>
          <a:p>
            <a:pPr marL="342900" indent="-342900">
              <a:spcAft>
                <a:spcPts val="600"/>
              </a:spcAft>
              <a:buSzPct val="100000"/>
              <a:buChar char="•"/>
            </a:pPr>
            <a:r>
              <a:rPr lang="en-US" sz="1100" dirty="0">
                <a:solidFill>
                  <a:srgbClr val="2B3A42"/>
                </a:solidFill>
                <a:latin typeface="Calibri" pitchFamily="34" charset="0"/>
                <a:ea typeface="Calibri" pitchFamily="34" charset="-122"/>
                <a:cs typeface="Calibri" pitchFamily="34" charset="-120"/>
              </a:rPr>
              <a:t>as received</a:t>
            </a:r>
            <a:endParaRPr lang="en-US" sz="1100" dirty="0"/>
          </a:p>
          <a:p>
            <a:pPr marL="342900" indent="-342900">
              <a:spcAft>
                <a:spcPts val="600"/>
              </a:spcAft>
              <a:buSzPct val="100000"/>
              <a:buChar char="•"/>
            </a:pPr>
            <a:r>
              <a:rPr lang="en-US" sz="1100" dirty="0">
                <a:solidFill>
                  <a:srgbClr val="2B3A42"/>
                </a:solidFill>
                <a:latin typeface="Calibri" pitchFamily="34" charset="0"/>
                <a:ea typeface="Calibri" pitchFamily="34" charset="-122"/>
                <a:cs typeface="Calibri" pitchFamily="34" charset="-120"/>
              </a:rPr>
              <a:t>never edited</a:t>
            </a:r>
            <a:endParaRPr lang="en-US" sz="1100" dirty="0"/>
          </a:p>
          <a:p>
            <a:pPr marL="342900" indent="-342900">
              <a:spcAft>
                <a:spcPts val="600"/>
              </a:spcAft>
              <a:buSzPct val="100000"/>
              <a:buChar char="•"/>
            </a:pPr>
            <a:r>
              <a:rPr lang="en-US" sz="1100" dirty="0">
                <a:solidFill>
                  <a:srgbClr val="2B3A42"/>
                </a:solidFill>
                <a:latin typeface="Calibri" pitchFamily="34" charset="0"/>
                <a:ea typeface="Calibri" pitchFamily="34" charset="-122"/>
                <a:cs typeface="Calibri" pitchFamily="34" charset="-120"/>
              </a:rPr>
              <a:t>at source</a:t>
            </a:r>
            <a:endParaRPr lang="en-US" sz="1100" dirty="0"/>
          </a:p>
        </p:txBody>
      </p:sp>
      <p:sp>
        <p:nvSpPr>
          <p:cNvPr id="8" name="Shape 6"/>
          <p:cNvSpPr/>
          <p:nvPr/>
        </p:nvSpPr>
        <p:spPr>
          <a:xfrm>
            <a:off x="2596896" y="1883664"/>
            <a:ext cx="6997903" cy="1051560"/>
          </a:xfrm>
          <a:prstGeom prst="roundRect">
            <a:avLst>
              <a:gd name="adj" fmla="val 5217"/>
            </a:avLst>
          </a:prstGeom>
          <a:solidFill>
            <a:srgbClr val="F4F6F7"/>
          </a:solidFill>
          <a:ln w="22225">
            <a:solidFill>
              <a:srgbClr val="B0763A"/>
            </a:solidFill>
            <a:prstDash val="solid"/>
          </a:ln>
        </p:spPr>
      </p:sp>
      <p:sp>
        <p:nvSpPr>
          <p:cNvPr id="9" name="Text 7"/>
          <p:cNvSpPr txBox="1"/>
          <p:nvPr/>
        </p:nvSpPr>
        <p:spPr>
          <a:xfrm>
            <a:off x="2779776" y="2011680"/>
            <a:ext cx="1371600" cy="292608"/>
          </a:xfrm>
          <a:prstGeom prst="rect">
            <a:avLst/>
          </a:prstGeom>
          <a:noFill/>
          <a:ln/>
        </p:spPr>
        <p:txBody>
          <a:bodyPr wrap="square" lIns="0" tIns="0" rIns="0" bIns="0" rtlCol="0" anchor="ctr"/>
          <a:lstStyle/>
          <a:p>
            <a:pPr indent="0" marL="0">
              <a:buNone/>
            </a:pPr>
            <a:r>
              <a:rPr lang="en-US" sz="1300" b="1" spc="140" kern="0" dirty="0">
                <a:solidFill>
                  <a:srgbClr val="B0763A"/>
                </a:solidFill>
                <a:latin typeface="Calibri" pitchFamily="34" charset="0"/>
                <a:ea typeface="Calibri" pitchFamily="34" charset="-122"/>
                <a:cs typeface="Calibri" pitchFamily="34" charset="-120"/>
              </a:rPr>
              <a:t>BRONZE</a:t>
            </a:r>
            <a:endParaRPr lang="en-US" sz="1300" dirty="0"/>
          </a:p>
        </p:txBody>
      </p:sp>
      <p:sp>
        <p:nvSpPr>
          <p:cNvPr id="10" name="Text 8"/>
          <p:cNvSpPr txBox="1"/>
          <p:nvPr/>
        </p:nvSpPr>
        <p:spPr>
          <a:xfrm>
            <a:off x="4197096" y="1993392"/>
            <a:ext cx="5214823" cy="310896"/>
          </a:xfrm>
          <a:prstGeom prst="rect">
            <a:avLst/>
          </a:prstGeom>
          <a:noFill/>
          <a:ln/>
        </p:spPr>
        <p:txBody>
          <a:bodyPr wrap="square" lIns="0" tIns="0" rIns="0" bIns="0" rtlCol="0" anchor="ctr"/>
          <a:lstStyle/>
          <a:p>
            <a:pPr indent="0" marL="0">
              <a:buNone/>
            </a:pPr>
            <a:r>
              <a:rPr lang="en-US" sz="1100" dirty="0">
                <a:solidFill>
                  <a:srgbClr val="10202B"/>
                </a:solidFill>
                <a:latin typeface="Courier New" pitchFamily="34" charset="0"/>
                <a:ea typeface="Courier New" pitchFamily="34" charset="-122"/>
                <a:cs typeface="Courier New" pitchFamily="34" charset="-120"/>
              </a:rPr>
              <a:t>raw · append-only</a:t>
            </a:r>
            <a:endParaRPr lang="en-US" sz="1100" dirty="0"/>
          </a:p>
        </p:txBody>
      </p:sp>
      <p:sp>
        <p:nvSpPr>
          <p:cNvPr id="11" name="Text 9"/>
          <p:cNvSpPr txBox="1"/>
          <p:nvPr/>
        </p:nvSpPr>
        <p:spPr>
          <a:xfrm>
            <a:off x="2779776" y="2340864"/>
            <a:ext cx="6632143" cy="502920"/>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Land AS RECEIVED. No cleaning, no dedup, no unit conversion. Add lineage only. Immutable — because it is the only thing you can reprocess from.</a:t>
            </a:r>
            <a:endParaRPr lang="en-US" sz="1150" dirty="0"/>
          </a:p>
        </p:txBody>
      </p:sp>
      <p:sp>
        <p:nvSpPr>
          <p:cNvPr id="12" name="Shape 10"/>
          <p:cNvSpPr/>
          <p:nvPr/>
        </p:nvSpPr>
        <p:spPr>
          <a:xfrm>
            <a:off x="5995264" y="2939796"/>
            <a:ext cx="201168" cy="173736"/>
          </a:xfrm>
          <a:prstGeom prst="downArrow">
            <a:avLst/>
          </a:prstGeom>
          <a:solidFill>
            <a:srgbClr val="8E9AA3"/>
          </a:solidFill>
          <a:ln w="12700">
            <a:solidFill>
              <a:srgbClr val="8E9AA3"/>
            </a:solidFill>
            <a:prstDash val="solid"/>
          </a:ln>
        </p:spPr>
      </p:sp>
      <p:sp>
        <p:nvSpPr>
          <p:cNvPr id="13" name="Shape 11"/>
          <p:cNvSpPr/>
          <p:nvPr/>
        </p:nvSpPr>
        <p:spPr>
          <a:xfrm>
            <a:off x="2596896" y="3118104"/>
            <a:ext cx="6997903" cy="1051560"/>
          </a:xfrm>
          <a:prstGeom prst="roundRect">
            <a:avLst>
              <a:gd name="adj" fmla="val 5217"/>
            </a:avLst>
          </a:prstGeom>
          <a:solidFill>
            <a:srgbClr val="F4F6F7"/>
          </a:solidFill>
          <a:ln w="22225">
            <a:solidFill>
              <a:srgbClr val="8E9AA3"/>
            </a:solidFill>
            <a:prstDash val="solid"/>
          </a:ln>
        </p:spPr>
      </p:sp>
      <p:sp>
        <p:nvSpPr>
          <p:cNvPr id="14" name="Text 12"/>
          <p:cNvSpPr txBox="1"/>
          <p:nvPr/>
        </p:nvSpPr>
        <p:spPr>
          <a:xfrm>
            <a:off x="2779776" y="3246120"/>
            <a:ext cx="1371600" cy="292608"/>
          </a:xfrm>
          <a:prstGeom prst="rect">
            <a:avLst/>
          </a:prstGeom>
          <a:noFill/>
          <a:ln/>
        </p:spPr>
        <p:txBody>
          <a:bodyPr wrap="square" lIns="0" tIns="0" rIns="0" bIns="0" rtlCol="0" anchor="ctr"/>
          <a:lstStyle/>
          <a:p>
            <a:pPr indent="0" marL="0">
              <a:buNone/>
            </a:pPr>
            <a:r>
              <a:rPr lang="en-US" sz="1300" b="1" spc="140" kern="0" dirty="0">
                <a:solidFill>
                  <a:srgbClr val="8E9AA3"/>
                </a:solidFill>
                <a:latin typeface="Calibri" pitchFamily="34" charset="0"/>
                <a:ea typeface="Calibri" pitchFamily="34" charset="-122"/>
                <a:cs typeface="Calibri" pitchFamily="34" charset="-120"/>
              </a:rPr>
              <a:t>SILVER</a:t>
            </a:r>
            <a:endParaRPr lang="en-US" sz="1300" dirty="0"/>
          </a:p>
        </p:txBody>
      </p:sp>
      <p:sp>
        <p:nvSpPr>
          <p:cNvPr id="15" name="Text 13"/>
          <p:cNvSpPr txBox="1"/>
          <p:nvPr/>
        </p:nvSpPr>
        <p:spPr>
          <a:xfrm>
            <a:off x="4197096" y="3227832"/>
            <a:ext cx="5214823" cy="310896"/>
          </a:xfrm>
          <a:prstGeom prst="rect">
            <a:avLst/>
          </a:prstGeom>
          <a:noFill/>
          <a:ln/>
        </p:spPr>
        <p:txBody>
          <a:bodyPr wrap="square" lIns="0" tIns="0" rIns="0" bIns="0" rtlCol="0" anchor="ctr"/>
          <a:lstStyle/>
          <a:p>
            <a:pPr indent="0" marL="0">
              <a:buNone/>
            </a:pPr>
            <a:r>
              <a:rPr lang="en-US" sz="1100" dirty="0">
                <a:solidFill>
                  <a:srgbClr val="10202B"/>
                </a:solidFill>
                <a:latin typeface="Courier New" pitchFamily="34" charset="0"/>
                <a:ea typeface="Courier New" pitchFamily="34" charset="-122"/>
                <a:cs typeface="Courier New" pitchFamily="34" charset="-120"/>
              </a:rPr>
              <a:t>conformed · constrained</a:t>
            </a:r>
            <a:endParaRPr lang="en-US" sz="1100" dirty="0"/>
          </a:p>
        </p:txBody>
      </p:sp>
      <p:sp>
        <p:nvSpPr>
          <p:cNvPr id="16" name="Text 14"/>
          <p:cNvSpPr txBox="1"/>
          <p:nvPr/>
        </p:nvSpPr>
        <p:spPr>
          <a:xfrm>
            <a:off x="2779776" y="3575304"/>
            <a:ext cx="6632143" cy="502920"/>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Dedup, type, conform units and timezone, enforce schema and CHECK constraints, quality-gate. One row per business key. This is the boundary where trust is created.</a:t>
            </a:r>
            <a:endParaRPr lang="en-US" sz="1150" dirty="0"/>
          </a:p>
        </p:txBody>
      </p:sp>
      <p:sp>
        <p:nvSpPr>
          <p:cNvPr id="17" name="Shape 15"/>
          <p:cNvSpPr/>
          <p:nvPr/>
        </p:nvSpPr>
        <p:spPr>
          <a:xfrm>
            <a:off x="5995264" y="4174236"/>
            <a:ext cx="201168" cy="173736"/>
          </a:xfrm>
          <a:prstGeom prst="downArrow">
            <a:avLst/>
          </a:prstGeom>
          <a:solidFill>
            <a:srgbClr val="8E9AA3"/>
          </a:solidFill>
          <a:ln w="12700">
            <a:solidFill>
              <a:srgbClr val="8E9AA3"/>
            </a:solidFill>
            <a:prstDash val="solid"/>
          </a:ln>
        </p:spPr>
      </p:sp>
      <p:sp>
        <p:nvSpPr>
          <p:cNvPr id="18" name="Shape 16"/>
          <p:cNvSpPr/>
          <p:nvPr/>
        </p:nvSpPr>
        <p:spPr>
          <a:xfrm>
            <a:off x="2596896" y="4352544"/>
            <a:ext cx="6997903" cy="1051560"/>
          </a:xfrm>
          <a:prstGeom prst="roundRect">
            <a:avLst>
              <a:gd name="adj" fmla="val 5217"/>
            </a:avLst>
          </a:prstGeom>
          <a:solidFill>
            <a:srgbClr val="F4F6F7"/>
          </a:solidFill>
          <a:ln w="22225">
            <a:solidFill>
              <a:srgbClr val="D4A537"/>
            </a:solidFill>
            <a:prstDash val="solid"/>
          </a:ln>
        </p:spPr>
      </p:sp>
      <p:sp>
        <p:nvSpPr>
          <p:cNvPr id="19" name="Text 17"/>
          <p:cNvSpPr txBox="1"/>
          <p:nvPr/>
        </p:nvSpPr>
        <p:spPr>
          <a:xfrm>
            <a:off x="2779776" y="4480560"/>
            <a:ext cx="1371600" cy="292608"/>
          </a:xfrm>
          <a:prstGeom prst="rect">
            <a:avLst/>
          </a:prstGeom>
          <a:noFill/>
          <a:ln/>
        </p:spPr>
        <p:txBody>
          <a:bodyPr wrap="square" lIns="0" tIns="0" rIns="0" bIns="0" rtlCol="0" anchor="ctr"/>
          <a:lstStyle/>
          <a:p>
            <a:pPr indent="0" marL="0">
              <a:buNone/>
            </a:pPr>
            <a:r>
              <a:rPr lang="en-US" sz="1300" b="1" spc="140" kern="0" dirty="0">
                <a:solidFill>
                  <a:srgbClr val="D4A537"/>
                </a:solidFill>
                <a:latin typeface="Calibri" pitchFamily="34" charset="0"/>
                <a:ea typeface="Calibri" pitchFamily="34" charset="-122"/>
                <a:cs typeface="Calibri" pitchFamily="34" charset="-120"/>
              </a:rPr>
              <a:t>GOLD</a:t>
            </a:r>
            <a:endParaRPr lang="en-US" sz="1300" dirty="0"/>
          </a:p>
        </p:txBody>
      </p:sp>
      <p:sp>
        <p:nvSpPr>
          <p:cNvPr id="20" name="Text 18"/>
          <p:cNvSpPr txBox="1"/>
          <p:nvPr/>
        </p:nvSpPr>
        <p:spPr>
          <a:xfrm>
            <a:off x="4197096" y="4462272"/>
            <a:ext cx="5214823" cy="310896"/>
          </a:xfrm>
          <a:prstGeom prst="rect">
            <a:avLst/>
          </a:prstGeom>
          <a:noFill/>
          <a:ln/>
        </p:spPr>
        <p:txBody>
          <a:bodyPr wrap="square" lIns="0" tIns="0" rIns="0" bIns="0" rtlCol="0" anchor="ctr"/>
          <a:lstStyle/>
          <a:p>
            <a:pPr indent="0" marL="0">
              <a:buNone/>
            </a:pPr>
            <a:r>
              <a:rPr lang="en-US" sz="1100" dirty="0">
                <a:solidFill>
                  <a:srgbClr val="10202B"/>
                </a:solidFill>
                <a:latin typeface="Courier New" pitchFamily="34" charset="0"/>
                <a:ea typeface="Courier New" pitchFamily="34" charset="-122"/>
                <a:cs typeface="Courier New" pitchFamily="34" charset="-120"/>
              </a:rPr>
              <a:t>curated · consumer-shaped</a:t>
            </a:r>
            <a:endParaRPr lang="en-US" sz="1100" dirty="0"/>
          </a:p>
        </p:txBody>
      </p:sp>
      <p:sp>
        <p:nvSpPr>
          <p:cNvPr id="21" name="Text 19"/>
          <p:cNvSpPr txBox="1"/>
          <p:nvPr/>
        </p:nvSpPr>
        <p:spPr>
          <a:xfrm>
            <a:off x="2779776" y="4809744"/>
            <a:ext cx="6632143" cy="502920"/>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Business aggregates, star schema, feature tables. Documented grain. Point-in-time correct. PDPL-safe. Optimised for how it is read.</a:t>
            </a:r>
            <a:endParaRPr lang="en-US" sz="1150" dirty="0"/>
          </a:p>
        </p:txBody>
      </p:sp>
      <p:sp>
        <p:nvSpPr>
          <p:cNvPr id="22" name="Shape 20"/>
          <p:cNvSpPr/>
          <p:nvPr/>
        </p:nvSpPr>
        <p:spPr>
          <a:xfrm>
            <a:off x="9795967" y="1883664"/>
            <a:ext cx="1828800" cy="1705356"/>
          </a:xfrm>
          <a:prstGeom prst="roundRect">
            <a:avLst>
              <a:gd name="adj" fmla="val 3217"/>
            </a:avLst>
          </a:prstGeom>
          <a:solidFill>
            <a:srgbClr val="10202B"/>
          </a:solidFill>
          <a:ln w="12700">
            <a:solidFill>
              <a:srgbClr val="10202B"/>
            </a:solidFill>
            <a:prstDash val="solid"/>
          </a:ln>
        </p:spPr>
      </p:sp>
      <p:sp>
        <p:nvSpPr>
          <p:cNvPr id="23" name="Text 21"/>
          <p:cNvSpPr txBox="1"/>
          <p:nvPr/>
        </p:nvSpPr>
        <p:spPr>
          <a:xfrm>
            <a:off x="9942271" y="2029968"/>
            <a:ext cx="1536192" cy="274320"/>
          </a:xfrm>
          <a:prstGeom prst="rect">
            <a:avLst/>
          </a:prstGeom>
          <a:noFill/>
          <a:ln/>
        </p:spPr>
        <p:txBody>
          <a:bodyPr wrap="square" lIns="0" tIns="0" rIns="0" bIns="0" rtlCol="0" anchor="ctr"/>
          <a:lstStyle/>
          <a:p>
            <a:pPr indent="0" marL="0">
              <a:buNone/>
            </a:pPr>
            <a:r>
              <a:rPr lang="en-US" sz="1200" b="1" dirty="0">
                <a:solidFill>
                  <a:srgbClr val="D4A537"/>
                </a:solidFill>
                <a:latin typeface="Calibri" pitchFamily="34" charset="0"/>
                <a:ea typeface="Calibri" pitchFamily="34" charset="-122"/>
                <a:cs typeface="Calibri" pitchFamily="34" charset="-120"/>
              </a:rPr>
              <a:t>BI · operations</a:t>
            </a:r>
            <a:endParaRPr lang="en-US" sz="1200" dirty="0"/>
          </a:p>
        </p:txBody>
      </p:sp>
      <p:sp>
        <p:nvSpPr>
          <p:cNvPr id="24" name="Text 22"/>
          <p:cNvSpPr txBox="1"/>
          <p:nvPr/>
        </p:nvSpPr>
        <p:spPr>
          <a:xfrm>
            <a:off x="9942271" y="2340864"/>
            <a:ext cx="1536192" cy="1156716"/>
          </a:xfrm>
          <a:prstGeom prst="rect">
            <a:avLst/>
          </a:prstGeom>
          <a:noFill/>
          <a:ln/>
        </p:spPr>
        <p:txBody>
          <a:bodyPr wrap="square" lIns="0" tIns="0" rIns="0" bIns="0" rtlCol="0" anchor="t"/>
          <a:lstStyle/>
          <a:p>
            <a:pPr indent="0" marL="0">
              <a:buNone/>
            </a:pPr>
            <a:r>
              <a:rPr lang="en-US" sz="950" dirty="0">
                <a:solidFill>
                  <a:srgbClr val="9FB3BE"/>
                </a:solidFill>
                <a:latin typeface="Courier New" pitchFamily="34" charset="0"/>
                <a:ea typeface="Courier New" pitchFamily="34" charset="-122"/>
                <a:cs typeface="Courier New" pitchFamily="34" charset="-120"/>
              </a:rPr>
              <a:t>counts, revenue,</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utilisation,</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the morning</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decision</a:t>
            </a:r>
            <a:endParaRPr lang="en-US" sz="950" dirty="0"/>
          </a:p>
        </p:txBody>
      </p:sp>
      <p:sp>
        <p:nvSpPr>
          <p:cNvPr id="25" name="Shape 23"/>
          <p:cNvSpPr/>
          <p:nvPr/>
        </p:nvSpPr>
        <p:spPr>
          <a:xfrm>
            <a:off x="9795967" y="3698748"/>
            <a:ext cx="1828800" cy="1705356"/>
          </a:xfrm>
          <a:prstGeom prst="roundRect">
            <a:avLst>
              <a:gd name="adj" fmla="val 3217"/>
            </a:avLst>
          </a:prstGeom>
          <a:solidFill>
            <a:srgbClr val="10202B"/>
          </a:solidFill>
          <a:ln w="12700">
            <a:solidFill>
              <a:srgbClr val="10202B"/>
            </a:solidFill>
            <a:prstDash val="solid"/>
          </a:ln>
        </p:spPr>
      </p:sp>
      <p:sp>
        <p:nvSpPr>
          <p:cNvPr id="26" name="Text 24"/>
          <p:cNvSpPr txBox="1"/>
          <p:nvPr/>
        </p:nvSpPr>
        <p:spPr>
          <a:xfrm>
            <a:off x="9942271" y="3845052"/>
            <a:ext cx="1536192" cy="274320"/>
          </a:xfrm>
          <a:prstGeom prst="rect">
            <a:avLst/>
          </a:prstGeom>
          <a:noFill/>
          <a:ln/>
        </p:spPr>
        <p:txBody>
          <a:bodyPr wrap="square" lIns="0" tIns="0" rIns="0" bIns="0" rtlCol="0" anchor="ctr"/>
          <a:lstStyle/>
          <a:p>
            <a:pPr indent="0" marL="0">
              <a:buNone/>
            </a:pPr>
            <a:r>
              <a:rPr lang="en-US" sz="1200" b="1" dirty="0">
                <a:solidFill>
                  <a:srgbClr val="00A6A6"/>
                </a:solidFill>
                <a:latin typeface="Calibri" pitchFamily="34" charset="0"/>
                <a:ea typeface="Calibri" pitchFamily="34" charset="-122"/>
                <a:cs typeface="Calibri" pitchFamily="34" charset="-120"/>
              </a:rPr>
              <a:t>AI · ETA &amp; demand</a:t>
            </a:r>
            <a:endParaRPr lang="en-US" sz="1200" dirty="0"/>
          </a:p>
        </p:txBody>
      </p:sp>
      <p:sp>
        <p:nvSpPr>
          <p:cNvPr id="27" name="Text 25"/>
          <p:cNvSpPr txBox="1"/>
          <p:nvPr/>
        </p:nvSpPr>
        <p:spPr>
          <a:xfrm>
            <a:off x="9942271" y="4155948"/>
            <a:ext cx="1536192" cy="1156716"/>
          </a:xfrm>
          <a:prstGeom prst="rect">
            <a:avLst/>
          </a:prstGeom>
          <a:noFill/>
          <a:ln/>
        </p:spPr>
        <p:txBody>
          <a:bodyPr wrap="square" lIns="0" tIns="0" rIns="0" bIns="0" rtlCol="0" anchor="t"/>
          <a:lstStyle/>
          <a:p>
            <a:pPr indent="0" marL="0">
              <a:buNone/>
            </a:pPr>
            <a:r>
              <a:rPr lang="en-US" sz="950" dirty="0">
                <a:solidFill>
                  <a:srgbClr val="9FB3BE"/>
                </a:solidFill>
                <a:latin typeface="Courier New" pitchFamily="34" charset="0"/>
                <a:ea typeface="Courier New" pitchFamily="34" charset="-122"/>
                <a:cs typeface="Courier New" pitchFamily="34" charset="-120"/>
              </a:rPr>
              <a:t>features,</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training sets,</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online lookups,</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the live ETA</a:t>
            </a:r>
            <a:endParaRPr lang="en-US" sz="950" dirty="0"/>
          </a:p>
        </p:txBody>
      </p:sp>
      <p:sp>
        <p:nvSpPr>
          <p:cNvPr id="28" name="Text 26"/>
          <p:cNvSpPr txBox="1"/>
          <p:nvPr/>
        </p:nvSpPr>
        <p:spPr>
          <a:xfrm>
            <a:off x="566928" y="5641848"/>
            <a:ext cx="11057839" cy="731520"/>
          </a:xfrm>
          <a:prstGeom prst="rect">
            <a:avLst/>
          </a:prstGeom>
          <a:noFill/>
          <a:ln/>
        </p:spPr>
        <p:txBody>
          <a:bodyPr wrap="square" lIns="0" tIns="0" rIns="0" bIns="0" rtlCol="0" anchor="t"/>
          <a:lstStyle/>
          <a:p>
            <a:pPr indent="0" marL="0">
              <a:buNone/>
            </a:pPr>
            <a:r>
              <a:rPr lang="en-US" sz="1300" i="1" dirty="0">
                <a:solidFill>
                  <a:srgbClr val="B0763A"/>
                </a:solidFill>
                <a:latin typeface="Calibri" pitchFamily="34" charset="0"/>
                <a:ea typeface="Calibri" pitchFamily="34" charset="-122"/>
                <a:cs typeface="Calibri" pitchFamily="34" charset="-120"/>
              </a:rPr>
              <a:t>Bronze is intentionally allowed to contain the duplication that silver resolves. That is not sloppiness — it is what makes reprocessing possible.</a:t>
            </a:r>
            <a:endParaRPr lang="en-US" sz="1300" dirty="0"/>
          </a:p>
        </p:txBody>
      </p:sp>
      <p:sp>
        <p:nvSpPr>
          <p:cNvPr id="29" name="Shape 27"/>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30" name="Shape 28"/>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31" name="Shape 29"/>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32" name="Text 30"/>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33" name="Text 31"/>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CASE STUDY CS-09 · DATABRICKS MEDALLION</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Which transformations belong where?</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Instructor question: Masar receives 15 million GPS events daily. Deliverable: a one-page Architecture Decision Record.</a:t>
            </a:r>
            <a:endParaRPr lang="en-US" sz="1330" dirty="0"/>
          </a:p>
        </p:txBody>
      </p:sp>
      <p:sp>
        <p:nvSpPr>
          <p:cNvPr id="5" name="Shape 3"/>
          <p:cNvSpPr/>
          <p:nvPr/>
        </p:nvSpPr>
        <p:spPr>
          <a:xfrm>
            <a:off x="566928" y="1904032"/>
            <a:ext cx="5373472" cy="3656457"/>
          </a:xfrm>
          <a:prstGeom prst="roundRect">
            <a:avLst>
              <a:gd name="adj" fmla="val 1500"/>
            </a:avLst>
          </a:prstGeom>
          <a:solidFill>
            <a:srgbClr val="F4F6F7"/>
          </a:solidFill>
          <a:ln w="12700">
            <a:solidFill>
              <a:srgbClr val="DDE3E6"/>
            </a:solidFill>
            <a:prstDash val="solid"/>
          </a:ln>
        </p:spPr>
      </p:sp>
      <p:sp>
        <p:nvSpPr>
          <p:cNvPr id="6" name="Text 4"/>
          <p:cNvSpPr txBox="1"/>
          <p:nvPr/>
        </p:nvSpPr>
        <p:spPr>
          <a:xfrm>
            <a:off x="804672" y="2086912"/>
            <a:ext cx="4897984" cy="365760"/>
          </a:xfrm>
          <a:prstGeom prst="rect">
            <a:avLst/>
          </a:prstGeom>
          <a:noFill/>
          <a:ln/>
        </p:spPr>
        <p:txBody>
          <a:bodyPr wrap="square" lIns="0" tIns="0" rIns="0" bIns="0" rtlCol="0" anchor="ctr"/>
          <a:lstStyle/>
          <a:p>
            <a:pPr indent="0" marL="0">
              <a:buNone/>
            </a:pPr>
            <a:r>
              <a:rPr lang="en-US" sz="1600" b="1" dirty="0">
                <a:solidFill>
                  <a:srgbClr val="B0763A"/>
                </a:solidFill>
                <a:latin typeface="Calibri" pitchFamily="34" charset="0"/>
                <a:ea typeface="Calibri" pitchFamily="34" charset="-122"/>
                <a:cs typeface="Calibri" pitchFamily="34" charset="-120"/>
              </a:rPr>
              <a:t>The rule that settles most arguments</a:t>
            </a:r>
            <a:endParaRPr lang="en-US" sz="1600" dirty="0"/>
          </a:p>
        </p:txBody>
      </p:sp>
      <p:sp>
        <p:nvSpPr>
          <p:cNvPr id="7" name="Text 5"/>
          <p:cNvSpPr txBox="1"/>
          <p:nvPr/>
        </p:nvSpPr>
        <p:spPr>
          <a:xfrm>
            <a:off x="804672" y="2470960"/>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Ask: could this transformation ever need to be undone or re-decided?</a:t>
            </a:r>
            <a:endParaRPr lang="en-US" sz="1150" dirty="0"/>
          </a:p>
        </p:txBody>
      </p:sp>
      <p:sp>
        <p:nvSpPr>
          <p:cNvPr id="8" name="Text 6"/>
          <p:cNvSpPr txBox="1"/>
          <p:nvPr/>
        </p:nvSpPr>
        <p:spPr>
          <a:xfrm>
            <a:off x="804672" y="2836720"/>
            <a:ext cx="4897984" cy="2522601"/>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BRONZE — nothing but landing plus lineage: _ingested_at, _source_file, _batch_id. Partition by arrival date. That is the entire list.</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SILVER — dedup on event_id, type casting, timezone normalisation to UTC, unit conformance, PII hashing, referential joins to conformed dimensions, quality gate.</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GOLD — rolling windows, surrogate keys, business aggregates, feature engineering, point-in-time joins, star-schema modelling.</a:t>
            </a:r>
            <a:endParaRPr lang="en-US" sz="1250" dirty="0"/>
          </a:p>
        </p:txBody>
      </p:sp>
      <p:sp>
        <p:nvSpPr>
          <p:cNvPr id="9" name="Shape 7"/>
          <p:cNvSpPr/>
          <p:nvPr/>
        </p:nvSpPr>
        <p:spPr>
          <a:xfrm>
            <a:off x="6251296" y="1904032"/>
            <a:ext cx="5373472" cy="3656457"/>
          </a:xfrm>
          <a:prstGeom prst="roundRect">
            <a:avLst>
              <a:gd name="adj" fmla="val 1500"/>
            </a:avLst>
          </a:prstGeom>
          <a:solidFill>
            <a:srgbClr val="F4F6F7"/>
          </a:solidFill>
          <a:ln w="12700">
            <a:solidFill>
              <a:srgbClr val="DDE3E6"/>
            </a:solidFill>
            <a:prstDash val="solid"/>
          </a:ln>
        </p:spPr>
      </p:sp>
      <p:sp>
        <p:nvSpPr>
          <p:cNvPr id="10" name="Text 8"/>
          <p:cNvSpPr txBox="1"/>
          <p:nvPr/>
        </p:nvSpPr>
        <p:spPr>
          <a:xfrm>
            <a:off x="6489040" y="2086912"/>
            <a:ext cx="4897984" cy="365760"/>
          </a:xfrm>
          <a:prstGeom prst="rect">
            <a:avLst/>
          </a:prstGeom>
          <a:noFill/>
          <a:ln/>
        </p:spPr>
        <p:txBody>
          <a:bodyPr wrap="square" lIns="0" tIns="0" rIns="0" bIns="0" rtlCol="0" anchor="ctr"/>
          <a:lstStyle/>
          <a:p>
            <a:pPr indent="0" marL="0">
              <a:buNone/>
            </a:pPr>
            <a:r>
              <a:rPr lang="en-US" sz="1600" b="1" dirty="0">
                <a:solidFill>
                  <a:srgbClr val="D9503F"/>
                </a:solidFill>
                <a:latin typeface="Calibri" pitchFamily="34" charset="0"/>
                <a:ea typeface="Calibri" pitchFamily="34" charset="-122"/>
                <a:cs typeface="Calibri" pitchFamily="34" charset="-120"/>
              </a:rPr>
              <a:t>NEVER before bronze persistence</a:t>
            </a:r>
            <a:endParaRPr lang="en-US" sz="1600" dirty="0"/>
          </a:p>
        </p:txBody>
      </p:sp>
      <p:sp>
        <p:nvSpPr>
          <p:cNvPr id="11" name="Text 9"/>
          <p:cNvSpPr txBox="1"/>
          <p:nvPr/>
        </p:nvSpPr>
        <p:spPr>
          <a:xfrm>
            <a:off x="6489040" y="2470960"/>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Each of these destroys the only copy you could have reprocessed from.</a:t>
            </a:r>
            <a:endParaRPr lang="en-US" sz="1150" dirty="0"/>
          </a:p>
        </p:txBody>
      </p:sp>
      <p:sp>
        <p:nvSpPr>
          <p:cNvPr id="12" name="Text 10"/>
          <p:cNvSpPr txBox="1"/>
          <p:nvPr/>
        </p:nvSpPr>
        <p:spPr>
          <a:xfrm>
            <a:off x="6489040" y="2836720"/>
            <a:ext cx="4897984" cy="2522601"/>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Deduplication — you cannot prove a duplicate was real if you deleted it on arrival.</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Unit conversion — the very failure this course's signature incident is built on.</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Outlier removal — today's outlier is next quarter's fraud signal.</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Any join or enrichment — it embeds a second source's state at landing time, unreproducibly.</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Filtering by status — cancelled trips are data, not noise.</a:t>
            </a:r>
            <a:endParaRPr lang="en-US" sz="1250" dirty="0"/>
          </a:p>
        </p:txBody>
      </p:sp>
      <p:sp>
        <p:nvSpPr>
          <p:cNvPr id="13" name="Text 11"/>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The ADR template and the full 20-transformation classification table are in labs/case_studies/CS-09.</a:t>
            </a:r>
            <a:endParaRPr lang="en-US" sz="1200" dirty="0"/>
          </a:p>
        </p:txBody>
      </p:sp>
      <p:sp>
        <p:nvSpPr>
          <p:cNvPr id="14" name="Shape 12"/>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5" name="Shape 13"/>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6" name="Shape 14"/>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7" name="Text 15"/>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8" name="Text 16"/>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1 · SECTION 4</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What actually makes it a Lakehouse</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Open files alone are a lake. One layer turns them into a table.</a:t>
            </a:r>
            <a:endParaRPr lang="en-US" sz="1330" dirty="0"/>
          </a:p>
        </p:txBody>
      </p:sp>
      <p:sp>
        <p:nvSpPr>
          <p:cNvPr id="5" name="Shape 3"/>
          <p:cNvSpPr/>
          <p:nvPr/>
        </p:nvSpPr>
        <p:spPr>
          <a:xfrm>
            <a:off x="566928" y="2346899"/>
            <a:ext cx="3478682" cy="2286000"/>
          </a:xfrm>
          <a:prstGeom prst="roundRect">
            <a:avLst>
              <a:gd name="adj" fmla="val 2400"/>
            </a:avLst>
          </a:prstGeom>
          <a:solidFill>
            <a:srgbClr val="F4F6F7"/>
          </a:solidFill>
          <a:ln w="19050">
            <a:solidFill>
              <a:srgbClr val="8E9AA3"/>
            </a:solidFill>
            <a:prstDash val="solid"/>
          </a:ln>
        </p:spPr>
      </p:sp>
      <p:sp>
        <p:nvSpPr>
          <p:cNvPr id="6" name="Text 4"/>
          <p:cNvSpPr txBox="1"/>
          <p:nvPr/>
        </p:nvSpPr>
        <p:spPr>
          <a:xfrm>
            <a:off x="731520" y="2548067"/>
            <a:ext cx="3149498" cy="585216"/>
          </a:xfrm>
          <a:prstGeom prst="rect">
            <a:avLst/>
          </a:prstGeom>
          <a:noFill/>
          <a:ln/>
        </p:spPr>
        <p:txBody>
          <a:bodyPr wrap="square" lIns="0" tIns="0" rIns="0" bIns="0" rtlCol="0" anchor="t"/>
          <a:lstStyle/>
          <a:p>
            <a:pPr indent="0" marL="0">
              <a:buNone/>
            </a:pPr>
            <a:r>
              <a:rPr lang="en-US" sz="1350" b="1" dirty="0">
                <a:solidFill>
                  <a:srgbClr val="8E9AA3"/>
                </a:solidFill>
                <a:latin typeface="Calibri" pitchFamily="34" charset="0"/>
                <a:ea typeface="Calibri" pitchFamily="34" charset="-122"/>
                <a:cs typeface="Calibri" pitchFamily="34" charset="-120"/>
              </a:rPr>
              <a:t>Parquet files</a:t>
            </a:r>
            <a:endParaRPr lang="en-US" sz="1350" dirty="0"/>
          </a:p>
        </p:txBody>
      </p:sp>
      <p:sp>
        <p:nvSpPr>
          <p:cNvPr id="7" name="Text 5"/>
          <p:cNvSpPr txBox="1"/>
          <p:nvPr/>
        </p:nvSpPr>
        <p:spPr>
          <a:xfrm>
            <a:off x="731520" y="3151571"/>
            <a:ext cx="3149498" cy="131673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Columnar, compressed, open. Readable by Spark, Trino, DuckDB, pandas. Nothing proprietary. But: no transactions, no schema guarantee, no history.</a:t>
            </a:r>
            <a:endParaRPr lang="en-US" sz="1150" dirty="0"/>
          </a:p>
        </p:txBody>
      </p:sp>
      <p:sp>
        <p:nvSpPr>
          <p:cNvPr id="8" name="Shape 6"/>
          <p:cNvSpPr/>
          <p:nvPr/>
        </p:nvSpPr>
        <p:spPr>
          <a:xfrm>
            <a:off x="4091330" y="3389315"/>
            <a:ext cx="219456" cy="201168"/>
          </a:xfrm>
          <a:prstGeom prst="rightArrow">
            <a:avLst/>
          </a:prstGeom>
          <a:solidFill>
            <a:srgbClr val="8E9AA3"/>
          </a:solidFill>
          <a:ln w="12700">
            <a:solidFill>
              <a:srgbClr val="8E9AA3"/>
            </a:solidFill>
            <a:prstDash val="solid"/>
          </a:ln>
        </p:spPr>
      </p:sp>
      <p:sp>
        <p:nvSpPr>
          <p:cNvPr id="9" name="Shape 7"/>
          <p:cNvSpPr/>
          <p:nvPr/>
        </p:nvSpPr>
        <p:spPr>
          <a:xfrm>
            <a:off x="4356506" y="2346899"/>
            <a:ext cx="3478682" cy="2286000"/>
          </a:xfrm>
          <a:prstGeom prst="roundRect">
            <a:avLst>
              <a:gd name="adj" fmla="val 2400"/>
            </a:avLst>
          </a:prstGeom>
          <a:solidFill>
            <a:srgbClr val="F4F6F7"/>
          </a:solidFill>
          <a:ln w="19050">
            <a:solidFill>
              <a:srgbClr val="B0763A"/>
            </a:solidFill>
            <a:prstDash val="solid"/>
          </a:ln>
        </p:spPr>
      </p:sp>
      <p:sp>
        <p:nvSpPr>
          <p:cNvPr id="10" name="Text 8"/>
          <p:cNvSpPr txBox="1"/>
          <p:nvPr/>
        </p:nvSpPr>
        <p:spPr>
          <a:xfrm>
            <a:off x="4521098" y="2548067"/>
            <a:ext cx="3149498" cy="585216"/>
          </a:xfrm>
          <a:prstGeom prst="rect">
            <a:avLst/>
          </a:prstGeom>
          <a:noFill/>
          <a:ln/>
        </p:spPr>
        <p:txBody>
          <a:bodyPr wrap="square" lIns="0" tIns="0" rIns="0" bIns="0" rtlCol="0" anchor="t"/>
          <a:lstStyle/>
          <a:p>
            <a:pPr indent="0" marL="0">
              <a:buNone/>
            </a:pPr>
            <a:r>
              <a:rPr lang="en-US" sz="1350" b="1" dirty="0">
                <a:solidFill>
                  <a:srgbClr val="B0763A"/>
                </a:solidFill>
                <a:latin typeface="Calibri" pitchFamily="34" charset="0"/>
                <a:ea typeface="Calibri" pitchFamily="34" charset="-122"/>
                <a:cs typeface="Calibri" pitchFamily="34" charset="-120"/>
              </a:rPr>
              <a:t>+ a transaction log</a:t>
            </a:r>
            <a:endParaRPr lang="en-US" sz="1350" dirty="0"/>
          </a:p>
        </p:txBody>
      </p:sp>
      <p:sp>
        <p:nvSpPr>
          <p:cNvPr id="11" name="Text 9"/>
          <p:cNvSpPr txBox="1"/>
          <p:nvPr/>
        </p:nvSpPr>
        <p:spPr>
          <a:xfrm>
            <a:off x="4521098" y="3151571"/>
            <a:ext cx="3149498" cy="131673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An ordered set of atomic commit files recording which data files each transaction added and removed, plus schema and statistics.</a:t>
            </a:r>
            <a:endParaRPr lang="en-US" sz="1150" dirty="0"/>
          </a:p>
        </p:txBody>
      </p:sp>
      <p:sp>
        <p:nvSpPr>
          <p:cNvPr id="12" name="Shape 10"/>
          <p:cNvSpPr/>
          <p:nvPr/>
        </p:nvSpPr>
        <p:spPr>
          <a:xfrm>
            <a:off x="7880909" y="3389315"/>
            <a:ext cx="219456" cy="201168"/>
          </a:xfrm>
          <a:prstGeom prst="rightArrow">
            <a:avLst/>
          </a:prstGeom>
          <a:solidFill>
            <a:srgbClr val="8E9AA3"/>
          </a:solidFill>
          <a:ln w="12700">
            <a:solidFill>
              <a:srgbClr val="8E9AA3"/>
            </a:solidFill>
            <a:prstDash val="solid"/>
          </a:ln>
        </p:spPr>
      </p:sp>
      <p:sp>
        <p:nvSpPr>
          <p:cNvPr id="13" name="Shape 11"/>
          <p:cNvSpPr/>
          <p:nvPr/>
        </p:nvSpPr>
        <p:spPr>
          <a:xfrm>
            <a:off x="8146085" y="2346899"/>
            <a:ext cx="3478682" cy="2286000"/>
          </a:xfrm>
          <a:prstGeom prst="roundRect">
            <a:avLst>
              <a:gd name="adj" fmla="val 2400"/>
            </a:avLst>
          </a:prstGeom>
          <a:solidFill>
            <a:srgbClr val="F4F6F7"/>
          </a:solidFill>
          <a:ln w="19050">
            <a:solidFill>
              <a:srgbClr val="D4A537"/>
            </a:solidFill>
            <a:prstDash val="solid"/>
          </a:ln>
        </p:spPr>
      </p:sp>
      <p:sp>
        <p:nvSpPr>
          <p:cNvPr id="14" name="Text 12"/>
          <p:cNvSpPr txBox="1"/>
          <p:nvPr/>
        </p:nvSpPr>
        <p:spPr>
          <a:xfrm>
            <a:off x="8310677" y="2548067"/>
            <a:ext cx="3149498" cy="585216"/>
          </a:xfrm>
          <a:prstGeom prst="rect">
            <a:avLst/>
          </a:prstGeom>
          <a:noFill/>
          <a:ln/>
        </p:spPr>
        <p:txBody>
          <a:bodyPr wrap="square" lIns="0" tIns="0" rIns="0" bIns="0" rtlCol="0" anchor="t"/>
          <a:lstStyle/>
          <a:p>
            <a:pPr indent="0" marL="0">
              <a:buNone/>
            </a:pPr>
            <a:r>
              <a:rPr lang="en-US" sz="1350" b="1" dirty="0">
                <a:solidFill>
                  <a:srgbClr val="D4A537"/>
                </a:solidFill>
                <a:latin typeface="Calibri" pitchFamily="34" charset="0"/>
                <a:ea typeface="Calibri" pitchFamily="34" charset="-122"/>
                <a:cs typeface="Calibri" pitchFamily="34" charset="-120"/>
              </a:rPr>
              <a:t>= a Lakehouse table</a:t>
            </a:r>
            <a:endParaRPr lang="en-US" sz="1350" dirty="0"/>
          </a:p>
        </p:txBody>
      </p:sp>
      <p:sp>
        <p:nvSpPr>
          <p:cNvPr id="15" name="Text 13"/>
          <p:cNvSpPr txBox="1"/>
          <p:nvPr/>
        </p:nvSpPr>
        <p:spPr>
          <a:xfrm>
            <a:off x="8310677" y="3151571"/>
            <a:ext cx="3149498" cy="131673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ACID · schema enforcement · MERGE upserts · time travel · concurrent readers and writers · maintenance. All on open files in object storage.</a:t>
            </a:r>
            <a:endParaRPr lang="en-US" sz="1150" dirty="0"/>
          </a:p>
        </p:txBody>
      </p:sp>
      <p:sp>
        <p:nvSpPr>
          <p:cNvPr id="16" name="Text 14"/>
          <p:cNvSpPr txBox="1"/>
          <p:nvPr/>
        </p:nvSpPr>
        <p:spPr>
          <a:xfrm>
            <a:off x="566928" y="4962083"/>
            <a:ext cx="11057839" cy="621792"/>
          </a:xfrm>
          <a:prstGeom prst="rect">
            <a:avLst/>
          </a:prstGeom>
          <a:noFill/>
          <a:ln/>
        </p:spPr>
        <p:txBody>
          <a:bodyPr wrap="square" lIns="0" tIns="0" rIns="0" bIns="0" rtlCol="0" anchor="t"/>
          <a:lstStyle/>
          <a:p>
            <a:pPr indent="0" marL="0">
              <a:buNone/>
            </a:pPr>
            <a:r>
              <a:rPr lang="en-US" sz="1300" i="1" dirty="0">
                <a:solidFill>
                  <a:srgbClr val="B0763A"/>
                </a:solidFill>
                <a:latin typeface="Calibri" pitchFamily="34" charset="0"/>
                <a:ea typeface="Calibri" pitchFamily="34" charset="-122"/>
                <a:cs typeface="Calibri" pitchFamily="34" charset="-120"/>
              </a:rPr>
              <a:t>Delta Lake, Apache Iceberg and Apache Hudi are three implementations of this idea. This course uses Delta; the concepts transfer. Module 4 opens the log and reads it aloud.</a:t>
            </a:r>
            <a:endParaRPr lang="en-US" sz="1300" dirty="0"/>
          </a:p>
        </p:txBody>
      </p:sp>
      <p:sp>
        <p:nvSpPr>
          <p:cNvPr id="17" name="Shape 1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8" name="Shape 1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9" name="Shape 1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0" name="Text 1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1" name="Text 1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1 · SECTION 5</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Principles, and the mistakes that break them</a:t>
            </a:r>
            <a:endParaRPr lang="en-US" sz="3000" dirty="0"/>
          </a:p>
        </p:txBody>
      </p:sp>
      <p:sp>
        <p:nvSpPr>
          <p:cNvPr id="4" name="Shape 2"/>
          <p:cNvSpPr/>
          <p:nvPr/>
        </p:nvSpPr>
        <p:spPr>
          <a:xfrm>
            <a:off x="566928" y="1426464"/>
            <a:ext cx="384048" cy="384048"/>
          </a:xfrm>
          <a:prstGeom prst="ellipse">
            <a:avLst/>
          </a:prstGeom>
          <a:solidFill>
            <a:srgbClr val="B0763A"/>
          </a:solidFill>
          <a:ln w="12700">
            <a:solidFill>
              <a:srgbClr val="B0763A"/>
            </a:solidFill>
            <a:prstDash val="solid"/>
          </a:ln>
        </p:spPr>
      </p:sp>
      <p:sp>
        <p:nvSpPr>
          <p:cNvPr id="5" name="Text 3"/>
          <p:cNvSpPr txBox="1"/>
          <p:nvPr/>
        </p:nvSpPr>
        <p:spPr>
          <a:xfrm>
            <a:off x="566928" y="144018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6" name="Text 4"/>
          <p:cNvSpPr txBox="1"/>
          <p:nvPr/>
        </p:nvSpPr>
        <p:spPr>
          <a:xfrm>
            <a:off x="1133856" y="1389888"/>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Bronze is immutable and append-only</a:t>
            </a:r>
            <a:endParaRPr lang="en-US" sz="1500" dirty="0"/>
          </a:p>
        </p:txBody>
      </p:sp>
      <p:sp>
        <p:nvSpPr>
          <p:cNvPr id="7" name="Text 5"/>
          <p:cNvSpPr txBox="1"/>
          <p:nvPr/>
        </p:nvSpPr>
        <p:spPr>
          <a:xfrm>
            <a:off x="1133856" y="1655064"/>
            <a:ext cx="10417759" cy="548640"/>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Corrections happen downstream, never in place. Mistake: mode("overwrite") on landing — history disappears on re-run and reprocessing becomes impossible.</a:t>
            </a:r>
            <a:endParaRPr lang="en-US" sz="1250" dirty="0"/>
          </a:p>
        </p:txBody>
      </p:sp>
      <p:sp>
        <p:nvSpPr>
          <p:cNvPr id="8" name="Shape 6"/>
          <p:cNvSpPr/>
          <p:nvPr/>
        </p:nvSpPr>
        <p:spPr>
          <a:xfrm>
            <a:off x="566928" y="2267712"/>
            <a:ext cx="384048" cy="384048"/>
          </a:xfrm>
          <a:prstGeom prst="ellipse">
            <a:avLst/>
          </a:prstGeom>
          <a:solidFill>
            <a:srgbClr val="8E9AA3"/>
          </a:solidFill>
          <a:ln w="12700">
            <a:solidFill>
              <a:srgbClr val="8E9AA3"/>
            </a:solidFill>
            <a:prstDash val="solid"/>
          </a:ln>
        </p:spPr>
      </p:sp>
      <p:sp>
        <p:nvSpPr>
          <p:cNvPr id="9" name="Text 7"/>
          <p:cNvSpPr txBox="1"/>
          <p:nvPr/>
        </p:nvSpPr>
        <p:spPr>
          <a:xfrm>
            <a:off x="566928" y="228142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133856" y="2231136"/>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Enforce the schema contract at the silver boundary</a:t>
            </a:r>
            <a:endParaRPr lang="en-US" sz="1500" dirty="0"/>
          </a:p>
        </p:txBody>
      </p:sp>
      <p:sp>
        <p:nvSpPr>
          <p:cNvPr id="11" name="Text 9"/>
          <p:cNvSpPr txBox="1"/>
          <p:nvPr/>
        </p:nvSpPr>
        <p:spPr>
          <a:xfrm>
            <a:off x="1133856" y="2496312"/>
            <a:ext cx="10417759" cy="548640"/>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Schema-on-read does not mean you never enforce schema. Mistake: no contract anywhere, so a renamed source column silently under-reports a day.</a:t>
            </a:r>
            <a:endParaRPr lang="en-US" sz="1250" dirty="0"/>
          </a:p>
        </p:txBody>
      </p:sp>
      <p:sp>
        <p:nvSpPr>
          <p:cNvPr id="12" name="Shape 10"/>
          <p:cNvSpPr/>
          <p:nvPr/>
        </p:nvSpPr>
        <p:spPr>
          <a:xfrm>
            <a:off x="566928" y="3108960"/>
            <a:ext cx="384048" cy="384048"/>
          </a:xfrm>
          <a:prstGeom prst="ellipse">
            <a:avLst/>
          </a:prstGeom>
          <a:solidFill>
            <a:srgbClr val="D4A537"/>
          </a:solidFill>
          <a:ln w="12700">
            <a:solidFill>
              <a:srgbClr val="D4A537"/>
            </a:solidFill>
            <a:prstDash val="solid"/>
          </a:ln>
        </p:spPr>
      </p:sp>
      <p:sp>
        <p:nvSpPr>
          <p:cNvPr id="13" name="Text 11"/>
          <p:cNvSpPr txBox="1"/>
          <p:nvPr/>
        </p:nvSpPr>
        <p:spPr>
          <a:xfrm>
            <a:off x="566928" y="312267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4" name="Text 12"/>
          <p:cNvSpPr txBox="1"/>
          <p:nvPr/>
        </p:nvSpPr>
        <p:spPr>
          <a:xfrm>
            <a:off x="1133856" y="3072384"/>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One definition of a business concept, in one place</a:t>
            </a:r>
            <a:endParaRPr lang="en-US" sz="1500" dirty="0"/>
          </a:p>
        </p:txBody>
      </p:sp>
      <p:sp>
        <p:nvSpPr>
          <p:cNvPr id="15" name="Text 13"/>
          <p:cNvSpPr txBox="1"/>
          <p:nvPr/>
        </p:nvSpPr>
        <p:spPr>
          <a:xfrm>
            <a:off x="1133856" y="3337560"/>
            <a:ext cx="10417759" cy="548640"/>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“A completed trip” is encoded once, in silver. Mistake: BI and DS each encode their own — the two-tier divergence, rebuilt inside one platform.</a:t>
            </a:r>
            <a:endParaRPr lang="en-US" sz="1250" dirty="0"/>
          </a:p>
        </p:txBody>
      </p:sp>
      <p:sp>
        <p:nvSpPr>
          <p:cNvPr id="16" name="Shape 14"/>
          <p:cNvSpPr/>
          <p:nvPr/>
        </p:nvSpPr>
        <p:spPr>
          <a:xfrm>
            <a:off x="566928" y="3950208"/>
            <a:ext cx="384048" cy="384048"/>
          </a:xfrm>
          <a:prstGeom prst="ellipse">
            <a:avLst/>
          </a:prstGeom>
          <a:solidFill>
            <a:srgbClr val="00A6A6"/>
          </a:solidFill>
          <a:ln w="12700">
            <a:solidFill>
              <a:srgbClr val="00A6A6"/>
            </a:solidFill>
            <a:prstDash val="solid"/>
          </a:ln>
        </p:spPr>
      </p:sp>
      <p:sp>
        <p:nvSpPr>
          <p:cNvPr id="17" name="Text 15"/>
          <p:cNvSpPr txBox="1"/>
          <p:nvPr/>
        </p:nvSpPr>
        <p:spPr>
          <a:xfrm>
            <a:off x="566928" y="3963924"/>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8" name="Text 16"/>
          <p:cNvSpPr txBox="1"/>
          <p:nvPr/>
        </p:nvSpPr>
        <p:spPr>
          <a:xfrm>
            <a:off x="1133856" y="3913632"/>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Every layer has a named owner and a documented grain</a:t>
            </a:r>
            <a:endParaRPr lang="en-US" sz="1500" dirty="0"/>
          </a:p>
        </p:txBody>
      </p:sp>
      <p:sp>
        <p:nvSpPr>
          <p:cNvPr id="19" name="Text 17"/>
          <p:cNvSpPr txBox="1"/>
          <p:nvPr/>
        </p:nvSpPr>
        <p:spPr>
          <a:xfrm>
            <a:off x="1133856" y="4178808"/>
            <a:ext cx="10417759" cy="548640"/>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Mistake: gold built directly from bronze “just this once”, bypassing the gate. It is never just once.</a:t>
            </a:r>
            <a:endParaRPr lang="en-US" sz="1250" dirty="0"/>
          </a:p>
        </p:txBody>
      </p:sp>
      <p:sp>
        <p:nvSpPr>
          <p:cNvPr id="20" name="Text 18"/>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Activity ACT-01 (architecture card-sort, 15 min) makes participants place 12 real workloads onto warehouse / lake / Lakehouse and onto bronze / silver / gold.</a:t>
            </a:r>
            <a:endParaRPr lang="en-US" sz="1200" dirty="0"/>
          </a:p>
        </p:txBody>
      </p:sp>
      <p:sp>
        <p:nvSpPr>
          <p:cNvPr id="21" name="Shape 19"/>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2" name="Shape 20"/>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3" name="Shape 21"/>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4" name="Text 22"/>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5" name="Text 23"/>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00A6A6"/>
                </a:solidFill>
                <a:latin typeface="Calibri" pitchFamily="34" charset="0"/>
                <a:ea typeface="Calibri" pitchFamily="34" charset="-122"/>
                <a:cs typeface="Calibri" pitchFamily="34" charset="-120"/>
              </a:rPr>
              <a:t>HANDS-ON LAB 1</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Land the Masar raw feeds into bronze</a:t>
            </a:r>
            <a:endParaRPr lang="en-US" sz="3000" dirty="0"/>
          </a:p>
        </p:txBody>
      </p:sp>
      <p:sp>
        <p:nvSpPr>
          <p:cNvPr id="4" name="Shape 2"/>
          <p:cNvSpPr/>
          <p:nvPr/>
        </p:nvSpPr>
        <p:spPr>
          <a:xfrm>
            <a:off x="566928" y="1389888"/>
            <a:ext cx="3200400" cy="4736592"/>
          </a:xfrm>
          <a:prstGeom prst="roundRect">
            <a:avLst>
              <a:gd name="adj" fmla="val 1714"/>
            </a:avLst>
          </a:prstGeom>
          <a:solidFill>
            <a:srgbClr val="10202B"/>
          </a:solidFill>
          <a:ln w="12700">
            <a:solidFill>
              <a:srgbClr val="10202B"/>
            </a:solidFill>
            <a:prstDash val="solid"/>
          </a:ln>
        </p:spPr>
      </p:sp>
      <p:sp>
        <p:nvSpPr>
          <p:cNvPr id="5" name="Text 3"/>
          <p:cNvSpPr txBox="1"/>
          <p:nvPr/>
        </p:nvSpPr>
        <p:spPr>
          <a:xfrm>
            <a:off x="749808" y="1572768"/>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DURATION</a:t>
            </a:r>
            <a:endParaRPr lang="en-US" sz="900" dirty="0"/>
          </a:p>
        </p:txBody>
      </p:sp>
      <p:sp>
        <p:nvSpPr>
          <p:cNvPr id="6" name="Text 4"/>
          <p:cNvSpPr txBox="1"/>
          <p:nvPr/>
        </p:nvSpPr>
        <p:spPr>
          <a:xfrm>
            <a:off x="749808" y="1755648"/>
            <a:ext cx="2834640" cy="21945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50 minutes · pairs</a:t>
            </a:r>
            <a:endParaRPr lang="en-US" sz="1150" dirty="0"/>
          </a:p>
        </p:txBody>
      </p:sp>
      <p:sp>
        <p:nvSpPr>
          <p:cNvPr id="7" name="Text 5"/>
          <p:cNvSpPr txBox="1"/>
          <p:nvPr/>
        </p:nvSpPr>
        <p:spPr>
          <a:xfrm>
            <a:off x="749808" y="2157984"/>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CHECKPOINT</a:t>
            </a:r>
            <a:endParaRPr lang="en-US" sz="900" dirty="0"/>
          </a:p>
        </p:txBody>
      </p:sp>
      <p:sp>
        <p:nvSpPr>
          <p:cNvPr id="8" name="Text 6"/>
          <p:cNvSpPr txBox="1"/>
          <p:nvPr/>
        </p:nvSpPr>
        <p:spPr>
          <a:xfrm>
            <a:off x="749808" y="2340864"/>
            <a:ext cx="2834640" cy="21945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git checkout lab1-start</a:t>
            </a:r>
            <a:endParaRPr lang="en-US" sz="1150" dirty="0"/>
          </a:p>
        </p:txBody>
      </p:sp>
      <p:sp>
        <p:nvSpPr>
          <p:cNvPr id="9" name="Text 7"/>
          <p:cNvSpPr txBox="1"/>
          <p:nvPr/>
        </p:nvSpPr>
        <p:spPr>
          <a:xfrm>
            <a:off x="749808" y="2743200"/>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OBJECTIVE</a:t>
            </a:r>
            <a:endParaRPr lang="en-US" sz="900" dirty="0"/>
          </a:p>
        </p:txBody>
      </p:sp>
      <p:sp>
        <p:nvSpPr>
          <p:cNvPr id="10" name="Text 8"/>
          <p:cNvSpPr txBox="1"/>
          <p:nvPr/>
        </p:nvSpPr>
        <p:spPr>
          <a:xfrm>
            <a:off x="749808" y="2926080"/>
            <a:ext cx="2834640" cy="56083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Three raw feeds landed append-only as Delta with lineage, then profiled for swamp risk</a:t>
            </a:r>
            <a:endParaRPr lang="en-US" sz="1150" dirty="0"/>
          </a:p>
        </p:txBody>
      </p:sp>
      <p:sp>
        <p:nvSpPr>
          <p:cNvPr id="11" name="Text 9"/>
          <p:cNvSpPr txBox="1"/>
          <p:nvPr/>
        </p:nvSpPr>
        <p:spPr>
          <a:xfrm>
            <a:off x="749808" y="3669792"/>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DELIVERABLE</a:t>
            </a:r>
            <a:endParaRPr lang="en-US" sz="900" dirty="0"/>
          </a:p>
        </p:txBody>
      </p:sp>
      <p:sp>
        <p:nvSpPr>
          <p:cNvPr id="12" name="Text 10"/>
          <p:cNvSpPr txBox="1"/>
          <p:nvPr/>
        </p:nvSpPr>
        <p:spPr>
          <a:xfrm>
            <a:off x="749808" y="3852672"/>
            <a:ext cx="2834640" cy="373888"/>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bronze.trips · bronze.gps_events · bronze.drivers + LAB1_NOTES.md</a:t>
            </a:r>
            <a:endParaRPr lang="en-US" sz="1150" dirty="0"/>
          </a:p>
        </p:txBody>
      </p:sp>
      <p:sp>
        <p:nvSpPr>
          <p:cNvPr id="13" name="Text 11"/>
          <p:cNvSpPr txBox="1"/>
          <p:nvPr/>
        </p:nvSpPr>
        <p:spPr>
          <a:xfrm>
            <a:off x="4041648" y="1408176"/>
            <a:ext cx="7583119" cy="274320"/>
          </a:xfrm>
          <a:prstGeom prst="rect">
            <a:avLst/>
          </a:prstGeom>
          <a:noFill/>
          <a:ln/>
        </p:spPr>
        <p:txBody>
          <a:bodyPr wrap="square" lIns="0" tIns="0" rIns="0" bIns="0" rtlCol="0" anchor="ctr"/>
          <a:lstStyle/>
          <a:p>
            <a:pPr indent="0" marL="0">
              <a:buNone/>
            </a:pPr>
            <a:r>
              <a:rPr lang="en-US" sz="1400" b="1" dirty="0">
                <a:solidFill>
                  <a:srgbClr val="B0763A"/>
                </a:solidFill>
                <a:latin typeface="Calibri" pitchFamily="34" charset="0"/>
                <a:ea typeface="Calibri" pitchFamily="34" charset="-122"/>
                <a:cs typeface="Calibri" pitchFamily="34" charset="-120"/>
              </a:rPr>
              <a:t>What you will do</a:t>
            </a:r>
            <a:endParaRPr lang="en-US" sz="1400" dirty="0"/>
          </a:p>
        </p:txBody>
      </p:sp>
      <p:sp>
        <p:nvSpPr>
          <p:cNvPr id="14" name="Text 12"/>
          <p:cNvSpPr txBox="1"/>
          <p:nvPr/>
        </p:nvSpPr>
        <p:spPr>
          <a:xfrm>
            <a:off x="4041648" y="1755648"/>
            <a:ext cx="7583119" cy="250317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Inspect data/raw/ — trips CSV with SAR fares and KSA cities, GPS as nested NDJSON, drivers CSV with three different date formats.</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Implement land_trips and land_gps: read AS RECEIVED, add _ingested_at, _source_file and _batch_id, write Delta in append mode.</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Run the landing for one day. Then run it again for the same day. Confirm bronze GROWS — and discuss why bronze intentionally allows the duplication silver will resolve.</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Run profile_bronze on bronze.trips. Record null rates and the duplicate-trip_id count. Name at least three swamp risks you can see.</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Check the GPS partition count. Note whether the feed is already over-fragmented — this is Module 4's small-files problem arriving early.</a:t>
            </a:r>
            <a:endParaRPr lang="en-US" sz="1250" dirty="0"/>
          </a:p>
        </p:txBody>
      </p:sp>
      <p:sp>
        <p:nvSpPr>
          <p:cNvPr id="15" name="Text 13"/>
          <p:cNvSpPr txBox="1"/>
          <p:nvPr/>
        </p:nvSpPr>
        <p:spPr>
          <a:xfrm>
            <a:off x="4041648" y="4350258"/>
            <a:ext cx="7583119" cy="274320"/>
          </a:xfrm>
          <a:prstGeom prst="rect">
            <a:avLst/>
          </a:prstGeom>
          <a:noFill/>
          <a:ln/>
        </p:spPr>
        <p:txBody>
          <a:bodyPr wrap="square" lIns="0" tIns="0" rIns="0" bIns="0" rtlCol="0" anchor="ctr"/>
          <a:lstStyle/>
          <a:p>
            <a:pPr indent="0" marL="0">
              <a:buNone/>
            </a:pPr>
            <a:r>
              <a:rPr lang="en-US" sz="1400" b="1" dirty="0">
                <a:solidFill>
                  <a:srgbClr val="00A6A6"/>
                </a:solidFill>
                <a:latin typeface="Calibri" pitchFamily="34" charset="0"/>
                <a:ea typeface="Calibri" pitchFamily="34" charset="-122"/>
                <a:cs typeface="Calibri" pitchFamily="34" charset="-120"/>
              </a:rPr>
              <a:t>Acceptance criteria</a:t>
            </a:r>
            <a:endParaRPr lang="en-US" sz="1400" dirty="0"/>
          </a:p>
        </p:txBody>
      </p:sp>
      <p:sp>
        <p:nvSpPr>
          <p:cNvPr id="16" name="Text 14"/>
          <p:cNvSpPr txBox="1"/>
          <p:nvPr/>
        </p:nvSpPr>
        <p:spPr>
          <a:xfrm>
            <a:off x="4041648" y="4661154"/>
            <a:ext cx="7583119" cy="141046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Bronze tables exist as Delta, are append-only, and carry all three lineage columns.</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Re-running the landing does not overwrite history (96,400 rows after two runs of a 48,200-row day).</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LAB1_NOTES.md lists ≥ 3 swamp risks with evidence.</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Nothing was cleaned, deduplicated or converted on the way in.</a:t>
            </a:r>
            <a:endParaRPr lang="en-US" sz="1200" dirty="0"/>
          </a:p>
        </p:txBody>
      </p:sp>
      <p:sp>
        <p:nvSpPr>
          <p:cNvPr id="17" name="Shape 1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8" name="Shape 1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9" name="Shape 1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0" name="Text 1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1" name="Text 1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417320"/>
            <a:ext cx="11057839" cy="274320"/>
          </a:xfrm>
          <a:prstGeom prst="rect">
            <a:avLst/>
          </a:prstGeom>
          <a:noFill/>
          <a:ln/>
        </p:spPr>
        <p:txBody>
          <a:bodyPr wrap="square" lIns="0" tIns="0" rIns="0" bIns="0" rtlCol="0" anchor="ctr"/>
          <a:lstStyle/>
          <a:p>
            <a:pPr indent="0" marL="0">
              <a:buNone/>
            </a:pPr>
            <a:r>
              <a:rPr lang="en-US" sz="1150" b="1" spc="220" kern="0" dirty="0">
                <a:solidFill>
                  <a:srgbClr val="D4A537"/>
                </a:solidFill>
                <a:latin typeface="Calibri" pitchFamily="34" charset="0"/>
                <a:ea typeface="Calibri" pitchFamily="34" charset="-122"/>
                <a:cs typeface="Calibri" pitchFamily="34" charset="-120"/>
              </a:rPr>
              <a:t>MODULE 2</a:t>
            </a:r>
            <a:endParaRPr lang="en-US" sz="1150" dirty="0"/>
          </a:p>
        </p:txBody>
      </p:sp>
      <p:sp>
        <p:nvSpPr>
          <p:cNvPr id="3" name="Text 1"/>
          <p:cNvSpPr txBox="1"/>
          <p:nvPr/>
        </p:nvSpPr>
        <p:spPr>
          <a:xfrm>
            <a:off x="566928" y="1783080"/>
            <a:ext cx="6081812"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Compute–storage</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separation</a:t>
            </a:r>
            <a:endParaRPr lang="en-US" sz="4000" dirty="0"/>
          </a:p>
        </p:txBody>
      </p:sp>
      <p:sp>
        <p:nvSpPr>
          <p:cNvPr id="4" name="Text 2"/>
          <p:cNvSpPr txBox="1"/>
          <p:nvPr/>
        </p:nvSpPr>
        <p:spPr>
          <a:xfrm>
            <a:off x="566928" y="3200400"/>
            <a:ext cx="6081812" cy="1371600"/>
          </a:xfrm>
          <a:prstGeom prst="rect">
            <a:avLst/>
          </a:prstGeom>
          <a:noFill/>
          <a:ln/>
        </p:spPr>
        <p:txBody>
          <a:bodyPr wrap="square" lIns="0" tIns="0" rIns="0" bIns="0" rtlCol="0" anchor="t"/>
          <a:lstStyle/>
          <a:p>
            <a:pPr indent="0" marL="0">
              <a:buNone/>
            </a:pPr>
            <a:r>
              <a:rPr lang="en-US" sz="1400" dirty="0">
                <a:solidFill>
                  <a:srgbClr val="9FB3BE"/>
                </a:solidFill>
                <a:latin typeface="Calibri" pitchFamily="34" charset="0"/>
                <a:ea typeface="Calibri" pitchFamily="34" charset="-122"/>
                <a:cs typeface="Calibri" pitchFamily="34" charset="-120"/>
              </a:rPr>
              <a:t>The single design decision that made the Lakehouse economically possible — and the discipline required to actually realise the saving.</a:t>
            </a:r>
            <a:endParaRPr lang="en-US" sz="1400" dirty="0"/>
          </a:p>
        </p:txBody>
      </p:sp>
      <p:sp>
        <p:nvSpPr>
          <p:cNvPr id="5" name="Shape 3"/>
          <p:cNvSpPr/>
          <p:nvPr/>
        </p:nvSpPr>
        <p:spPr>
          <a:xfrm>
            <a:off x="7201632" y="1810512"/>
            <a:ext cx="329184" cy="329184"/>
          </a:xfrm>
          <a:prstGeom prst="ellipse">
            <a:avLst/>
          </a:prstGeom>
          <a:solidFill>
            <a:srgbClr val="B0763A"/>
          </a:solidFill>
          <a:ln w="12700">
            <a:solidFill>
              <a:srgbClr val="B0763A"/>
            </a:solidFill>
            <a:prstDash val="solid"/>
          </a:ln>
        </p:spPr>
      </p:sp>
      <p:sp>
        <p:nvSpPr>
          <p:cNvPr id="6" name="Text 4"/>
          <p:cNvSpPr txBox="1"/>
          <p:nvPr/>
        </p:nvSpPr>
        <p:spPr>
          <a:xfrm>
            <a:off x="7201632" y="18242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658832" y="1783080"/>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decoupling physically means</a:t>
            </a:r>
            <a:endParaRPr lang="en-US" sz="1300" dirty="0"/>
          </a:p>
        </p:txBody>
      </p:sp>
      <p:sp>
        <p:nvSpPr>
          <p:cNvPr id="8" name="Shape 6"/>
          <p:cNvSpPr/>
          <p:nvPr/>
        </p:nvSpPr>
        <p:spPr>
          <a:xfrm>
            <a:off x="7201632" y="2468880"/>
            <a:ext cx="329184" cy="329184"/>
          </a:xfrm>
          <a:prstGeom prst="ellipse">
            <a:avLst/>
          </a:prstGeom>
          <a:solidFill>
            <a:srgbClr val="8E9AA3"/>
          </a:solidFill>
          <a:ln w="12700">
            <a:solidFill>
              <a:srgbClr val="8E9AA3"/>
            </a:solidFill>
            <a:prstDash val="solid"/>
          </a:ln>
        </p:spPr>
      </p:sp>
      <p:sp>
        <p:nvSpPr>
          <p:cNvPr id="9" name="Text 7"/>
          <p:cNvSpPr txBox="1"/>
          <p:nvPr/>
        </p:nvSpPr>
        <p:spPr>
          <a:xfrm>
            <a:off x="7201632" y="248259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7658832" y="2441448"/>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Object storage and Parquet</a:t>
            </a:r>
            <a:endParaRPr lang="en-US" sz="1300" dirty="0"/>
          </a:p>
        </p:txBody>
      </p:sp>
      <p:sp>
        <p:nvSpPr>
          <p:cNvPr id="11" name="Shape 9"/>
          <p:cNvSpPr/>
          <p:nvPr/>
        </p:nvSpPr>
        <p:spPr>
          <a:xfrm>
            <a:off x="7201632" y="3127248"/>
            <a:ext cx="329184" cy="329184"/>
          </a:xfrm>
          <a:prstGeom prst="ellipse">
            <a:avLst/>
          </a:prstGeom>
          <a:solidFill>
            <a:srgbClr val="D4A537"/>
          </a:solidFill>
          <a:ln w="12700">
            <a:solidFill>
              <a:srgbClr val="D4A537"/>
            </a:solidFill>
            <a:prstDash val="solid"/>
          </a:ln>
        </p:spPr>
      </p:sp>
      <p:sp>
        <p:nvSpPr>
          <p:cNvPr id="12" name="Text 10"/>
          <p:cNvSpPr txBox="1"/>
          <p:nvPr/>
        </p:nvSpPr>
        <p:spPr>
          <a:xfrm>
            <a:off x="7201632" y="31409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3" name="Text 11"/>
          <p:cNvSpPr txBox="1"/>
          <p:nvPr/>
        </p:nvSpPr>
        <p:spPr>
          <a:xfrm>
            <a:off x="7658832" y="3099816"/>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elasticity ladder</a:t>
            </a:r>
            <a:endParaRPr lang="en-US" sz="1300" dirty="0"/>
          </a:p>
        </p:txBody>
      </p:sp>
      <p:sp>
        <p:nvSpPr>
          <p:cNvPr id="14" name="Shape 12"/>
          <p:cNvSpPr/>
          <p:nvPr/>
        </p:nvSpPr>
        <p:spPr>
          <a:xfrm>
            <a:off x="7201632" y="3785616"/>
            <a:ext cx="329184" cy="329184"/>
          </a:xfrm>
          <a:prstGeom prst="ellipse">
            <a:avLst/>
          </a:prstGeom>
          <a:solidFill>
            <a:srgbClr val="00A6A6"/>
          </a:solidFill>
          <a:ln w="12700">
            <a:solidFill>
              <a:srgbClr val="00A6A6"/>
            </a:solidFill>
            <a:prstDash val="solid"/>
          </a:ln>
        </p:spPr>
      </p:sp>
      <p:sp>
        <p:nvSpPr>
          <p:cNvPr id="15" name="Text 13"/>
          <p:cNvSpPr txBox="1"/>
          <p:nvPr/>
        </p:nvSpPr>
        <p:spPr>
          <a:xfrm>
            <a:off x="7201632" y="37993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6" name="Text 14"/>
          <p:cNvSpPr txBox="1"/>
          <p:nvPr/>
        </p:nvSpPr>
        <p:spPr>
          <a:xfrm>
            <a:off x="7658832" y="3758184"/>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Building a defensible cost model</a:t>
            </a:r>
            <a:endParaRPr lang="en-US" sz="1300" dirty="0"/>
          </a:p>
        </p:txBody>
      </p:sp>
      <p:sp>
        <p:nvSpPr>
          <p:cNvPr id="17" name="Shape 15"/>
          <p:cNvSpPr/>
          <p:nvPr/>
        </p:nvSpPr>
        <p:spPr>
          <a:xfrm>
            <a:off x="7201632" y="4443984"/>
            <a:ext cx="329184" cy="329184"/>
          </a:xfrm>
          <a:prstGeom prst="ellipse">
            <a:avLst/>
          </a:prstGeom>
          <a:solidFill>
            <a:srgbClr val="D9503F"/>
          </a:solidFill>
          <a:ln w="12700">
            <a:solidFill>
              <a:srgbClr val="D9503F"/>
            </a:solidFill>
            <a:prstDash val="solid"/>
          </a:ln>
        </p:spPr>
      </p:sp>
      <p:sp>
        <p:nvSpPr>
          <p:cNvPr id="18" name="Text 16"/>
          <p:cNvSpPr txBox="1"/>
          <p:nvPr/>
        </p:nvSpPr>
        <p:spPr>
          <a:xfrm>
            <a:off x="7201632" y="44577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19" name="Text 17"/>
          <p:cNvSpPr txBox="1"/>
          <p:nvPr/>
        </p:nvSpPr>
        <p:spPr>
          <a:xfrm>
            <a:off x="7658832" y="4416552"/>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Lab 2 — cost and elasticity</a:t>
            </a:r>
            <a:endParaRPr lang="en-US" sz="1300" dirty="0"/>
          </a:p>
        </p:txBody>
      </p:sp>
      <p:sp>
        <p:nvSpPr>
          <p:cNvPr id="20" name="Shape 18"/>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1" name="Shape 19"/>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2" name="Shape 20"/>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3" name="Text 21"/>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4" name="Text 22"/>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2 · SECTION 1</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What “decoupled” physically means</a:t>
            </a:r>
            <a:endParaRPr lang="en-US" sz="3000" dirty="0"/>
          </a:p>
        </p:txBody>
      </p:sp>
      <p:sp>
        <p:nvSpPr>
          <p:cNvPr id="4" name="Shape 2"/>
          <p:cNvSpPr/>
          <p:nvPr/>
        </p:nvSpPr>
        <p:spPr>
          <a:xfrm>
            <a:off x="566928" y="1577226"/>
            <a:ext cx="5373472" cy="3391281"/>
          </a:xfrm>
          <a:prstGeom prst="roundRect">
            <a:avLst>
              <a:gd name="adj" fmla="val 1618"/>
            </a:avLst>
          </a:prstGeom>
          <a:solidFill>
            <a:srgbClr val="F4F6F7"/>
          </a:solidFill>
          <a:ln w="12700">
            <a:solidFill>
              <a:srgbClr val="DDE3E6"/>
            </a:solidFill>
            <a:prstDash val="solid"/>
          </a:ln>
        </p:spPr>
      </p:sp>
      <p:sp>
        <p:nvSpPr>
          <p:cNvPr id="5" name="Text 3"/>
          <p:cNvSpPr txBox="1"/>
          <p:nvPr/>
        </p:nvSpPr>
        <p:spPr>
          <a:xfrm>
            <a:off x="804672" y="1760106"/>
            <a:ext cx="4897984" cy="365760"/>
          </a:xfrm>
          <a:prstGeom prst="rect">
            <a:avLst/>
          </a:prstGeom>
          <a:noFill/>
          <a:ln/>
        </p:spPr>
        <p:txBody>
          <a:bodyPr wrap="square" lIns="0" tIns="0" rIns="0" bIns="0" rtlCol="0" anchor="ctr"/>
          <a:lstStyle/>
          <a:p>
            <a:pPr indent="0" marL="0">
              <a:buNone/>
            </a:pPr>
            <a:r>
              <a:rPr lang="en-US" sz="1600" b="1" dirty="0">
                <a:solidFill>
                  <a:srgbClr val="D9503F"/>
                </a:solidFill>
                <a:latin typeface="Calibri" pitchFamily="34" charset="0"/>
                <a:ea typeface="Calibri" pitchFamily="34" charset="-122"/>
                <a:cs typeface="Calibri" pitchFamily="34" charset="-120"/>
              </a:rPr>
              <a:t>Coupled</a:t>
            </a:r>
            <a:endParaRPr lang="en-US" sz="1600" dirty="0"/>
          </a:p>
        </p:txBody>
      </p:sp>
      <p:sp>
        <p:nvSpPr>
          <p:cNvPr id="6" name="Text 4"/>
          <p:cNvSpPr txBox="1"/>
          <p:nvPr/>
        </p:nvSpPr>
        <p:spPr>
          <a:xfrm>
            <a:off x="804672" y="2144154"/>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Classic MPP warehouse or a Hadoop cluster</a:t>
            </a:r>
            <a:endParaRPr lang="en-US" sz="1150" dirty="0"/>
          </a:p>
        </p:txBody>
      </p:sp>
      <p:sp>
        <p:nvSpPr>
          <p:cNvPr id="7" name="Text 5"/>
          <p:cNvSpPr txBox="1"/>
          <p:nvPr/>
        </p:nvSpPr>
        <p:spPr>
          <a:xfrm>
            <a:off x="804672" y="2509914"/>
            <a:ext cx="4897984" cy="2257425"/>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The machines that store the data are the machines that query it.</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Doubling storage means adding nodes you also pay to run, 24/7.</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Retaining rarely queried history is expensive: idle disks live inside always-on compute.</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You cannot scale one axis without the other. Capacity planning is a fixed, over-provisioned expense.</a:t>
            </a:r>
            <a:endParaRPr lang="en-US" sz="1250" dirty="0"/>
          </a:p>
        </p:txBody>
      </p:sp>
      <p:sp>
        <p:nvSpPr>
          <p:cNvPr id="8" name="Shape 6"/>
          <p:cNvSpPr/>
          <p:nvPr/>
        </p:nvSpPr>
        <p:spPr>
          <a:xfrm>
            <a:off x="6251296" y="1577226"/>
            <a:ext cx="5373472" cy="3391281"/>
          </a:xfrm>
          <a:prstGeom prst="roundRect">
            <a:avLst>
              <a:gd name="adj" fmla="val 1618"/>
            </a:avLst>
          </a:prstGeom>
          <a:solidFill>
            <a:srgbClr val="F4F6F7"/>
          </a:solidFill>
          <a:ln w="12700">
            <a:solidFill>
              <a:srgbClr val="DDE3E6"/>
            </a:solidFill>
            <a:prstDash val="solid"/>
          </a:ln>
        </p:spPr>
      </p:sp>
      <p:sp>
        <p:nvSpPr>
          <p:cNvPr id="9" name="Text 7"/>
          <p:cNvSpPr txBox="1"/>
          <p:nvPr/>
        </p:nvSpPr>
        <p:spPr>
          <a:xfrm>
            <a:off x="6489040" y="1760106"/>
            <a:ext cx="4897984" cy="365760"/>
          </a:xfrm>
          <a:prstGeom prst="rect">
            <a:avLst/>
          </a:prstGeom>
          <a:noFill/>
          <a:ln/>
        </p:spPr>
        <p:txBody>
          <a:bodyPr wrap="square" lIns="0" tIns="0" rIns="0" bIns="0" rtlCol="0" anchor="ctr"/>
          <a:lstStyle/>
          <a:p>
            <a:pPr indent="0" marL="0">
              <a:buNone/>
            </a:pPr>
            <a:r>
              <a:rPr lang="en-US" sz="1600" b="1" dirty="0">
                <a:solidFill>
                  <a:srgbClr val="00A6A6"/>
                </a:solidFill>
                <a:latin typeface="Calibri" pitchFamily="34" charset="0"/>
                <a:ea typeface="Calibri" pitchFamily="34" charset="-122"/>
                <a:cs typeface="Calibri" pitchFamily="34" charset="-120"/>
              </a:rPr>
              <a:t>Decoupled</a:t>
            </a:r>
            <a:endParaRPr lang="en-US" sz="1600" dirty="0"/>
          </a:p>
        </p:txBody>
      </p:sp>
      <p:sp>
        <p:nvSpPr>
          <p:cNvPr id="10" name="Text 8"/>
          <p:cNvSpPr txBox="1"/>
          <p:nvPr/>
        </p:nvSpPr>
        <p:spPr>
          <a:xfrm>
            <a:off x="6489040" y="2144154"/>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Object storage + stateless elastic compute</a:t>
            </a:r>
            <a:endParaRPr lang="en-US" sz="1150" dirty="0"/>
          </a:p>
        </p:txBody>
      </p:sp>
      <p:sp>
        <p:nvSpPr>
          <p:cNvPr id="11" name="Text 9"/>
          <p:cNvSpPr txBox="1"/>
          <p:nvPr/>
        </p:nvSpPr>
        <p:spPr>
          <a:xfrm>
            <a:off x="6489040" y="2509914"/>
            <a:ext cx="4897984" cy="2257425"/>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Data lives in object storage: cheap, effectively infinite, highly durable, addressed over the network.</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Compute is a separate stateless cluster that reads objects when a job runs, then is torn down.</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Store a petabyte you rarely touch for the price of the bytes; spin up 100 cores for the ten minutes a query needs them.</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The cost of the trade: network latency instead of local disk.</a:t>
            </a:r>
            <a:endParaRPr lang="en-US" sz="1250" dirty="0"/>
          </a:p>
        </p:txBody>
      </p:sp>
      <p:sp>
        <p:nvSpPr>
          <p:cNvPr id="12" name="Text 10"/>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Three things make that latency acceptable: object-storage bandwidth is enormous and parallel; columnar formats let compute read only the columns and row-groups a query needs; and caching keeps hot data near compute.</a:t>
            </a:r>
            <a:endParaRPr lang="en-US" sz="1200" dirty="0"/>
          </a:p>
        </p:txBody>
      </p:sp>
      <p:sp>
        <p:nvSpPr>
          <p:cNvPr id="13" name="Shape 11"/>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4" name="Shape 12"/>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5" name="Shape 13"/>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6" name="Text 14"/>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7" name="Text 15"/>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2 · SECTION 2</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Why Parquet makes decoupling affordable</a:t>
            </a:r>
            <a:endParaRPr lang="en-US" sz="3000" dirty="0"/>
          </a:p>
        </p:txBody>
      </p:sp>
      <p:sp>
        <p:nvSpPr>
          <p:cNvPr id="4" name="Text 2"/>
          <p:cNvSpPr txBox="1"/>
          <p:nvPr/>
        </p:nvSpPr>
        <p:spPr>
          <a:xfrm>
            <a:off x="566928" y="1389888"/>
            <a:ext cx="10692079" cy="439166"/>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Decoupling is only cheap because the format lets compute read a small, relevant slice of remote data instead of dragging everything across the wire.</a:t>
            </a:r>
            <a:endParaRPr lang="en-US" sz="1330" dirty="0"/>
          </a:p>
        </p:txBody>
      </p:sp>
      <p:sp>
        <p:nvSpPr>
          <p:cNvPr id="5" name="Shape 3"/>
          <p:cNvSpPr/>
          <p:nvPr/>
        </p:nvSpPr>
        <p:spPr>
          <a:xfrm>
            <a:off x="566928" y="1957070"/>
            <a:ext cx="3515258" cy="1956689"/>
          </a:xfrm>
          <a:prstGeom prst="roundRect">
            <a:avLst>
              <a:gd name="adj" fmla="val 2804"/>
            </a:avLst>
          </a:prstGeom>
          <a:solidFill>
            <a:srgbClr val="F4F6F7"/>
          </a:solidFill>
          <a:ln w="12700">
            <a:solidFill>
              <a:srgbClr val="DDE3E6"/>
            </a:solidFill>
            <a:prstDash val="solid"/>
          </a:ln>
        </p:spPr>
      </p:sp>
      <p:sp>
        <p:nvSpPr>
          <p:cNvPr id="6" name="Text 4"/>
          <p:cNvSpPr txBox="1"/>
          <p:nvPr/>
        </p:nvSpPr>
        <p:spPr>
          <a:xfrm>
            <a:off x="786384" y="2139950"/>
            <a:ext cx="3076346"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Columnar layout</a:t>
            </a:r>
            <a:endParaRPr lang="en-US" sz="1450" dirty="0"/>
          </a:p>
        </p:txBody>
      </p:sp>
      <p:sp>
        <p:nvSpPr>
          <p:cNvPr id="7" name="Text 5"/>
          <p:cNvSpPr txBox="1"/>
          <p:nvPr/>
        </p:nvSpPr>
        <p:spPr>
          <a:xfrm>
            <a:off x="786384" y="2463419"/>
            <a:ext cx="3076346" cy="128574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Values of one column are stored together. A query touching 3 of 40 columns reads roughly 3/40 of the bytes. This is column pruning, and it is free.</a:t>
            </a:r>
            <a:endParaRPr lang="en-US" sz="1200" dirty="0"/>
          </a:p>
        </p:txBody>
      </p:sp>
      <p:sp>
        <p:nvSpPr>
          <p:cNvPr id="8" name="Shape 6"/>
          <p:cNvSpPr/>
          <p:nvPr/>
        </p:nvSpPr>
        <p:spPr>
          <a:xfrm>
            <a:off x="4338218" y="1957070"/>
            <a:ext cx="3515258" cy="1956689"/>
          </a:xfrm>
          <a:prstGeom prst="roundRect">
            <a:avLst>
              <a:gd name="adj" fmla="val 2804"/>
            </a:avLst>
          </a:prstGeom>
          <a:solidFill>
            <a:srgbClr val="F4F6F7"/>
          </a:solidFill>
          <a:ln w="12700">
            <a:solidFill>
              <a:srgbClr val="DDE3E6"/>
            </a:solidFill>
            <a:prstDash val="solid"/>
          </a:ln>
        </p:spPr>
      </p:sp>
      <p:sp>
        <p:nvSpPr>
          <p:cNvPr id="9" name="Text 7"/>
          <p:cNvSpPr txBox="1"/>
          <p:nvPr/>
        </p:nvSpPr>
        <p:spPr>
          <a:xfrm>
            <a:off x="4557674" y="2139950"/>
            <a:ext cx="3076346" cy="232029"/>
          </a:xfrm>
          <a:prstGeom prst="rect">
            <a:avLst/>
          </a:prstGeom>
          <a:noFill/>
          <a:ln/>
        </p:spPr>
        <p:txBody>
          <a:bodyPr wrap="square" lIns="0" tIns="0" rIns="0" bIns="0" rtlCol="0" anchor="t"/>
          <a:lstStyle/>
          <a:p>
            <a:pPr indent="0" marL="0">
              <a:buNone/>
            </a:pPr>
            <a:r>
              <a:rPr lang="en-US" sz="1450" b="1" dirty="0">
                <a:solidFill>
                  <a:srgbClr val="8E9AA3"/>
                </a:solidFill>
                <a:latin typeface="Calibri" pitchFamily="34" charset="0"/>
                <a:ea typeface="Calibri" pitchFamily="34" charset="-122"/>
                <a:cs typeface="Calibri" pitchFamily="34" charset="-120"/>
              </a:rPr>
              <a:t>Row groups + statistics</a:t>
            </a:r>
            <a:endParaRPr lang="en-US" sz="1450" dirty="0"/>
          </a:p>
        </p:txBody>
      </p:sp>
      <p:sp>
        <p:nvSpPr>
          <p:cNvPr id="10" name="Text 8"/>
          <p:cNvSpPr txBox="1"/>
          <p:nvPr/>
        </p:nvSpPr>
        <p:spPr>
          <a:xfrm>
            <a:off x="4557674" y="2463419"/>
            <a:ext cx="3076346" cy="128574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Each row group stores min/max per column, so a query skips groups that cannot match its filter. This is predicate pushdown and data skipping — a cost control, not just a speed control.</a:t>
            </a:r>
            <a:endParaRPr lang="en-US" sz="1200" dirty="0"/>
          </a:p>
        </p:txBody>
      </p:sp>
      <p:sp>
        <p:nvSpPr>
          <p:cNvPr id="11" name="Shape 9"/>
          <p:cNvSpPr/>
          <p:nvPr/>
        </p:nvSpPr>
        <p:spPr>
          <a:xfrm>
            <a:off x="8109509" y="1957070"/>
            <a:ext cx="3515258" cy="1956689"/>
          </a:xfrm>
          <a:prstGeom prst="roundRect">
            <a:avLst>
              <a:gd name="adj" fmla="val 2804"/>
            </a:avLst>
          </a:prstGeom>
          <a:solidFill>
            <a:srgbClr val="F4F6F7"/>
          </a:solidFill>
          <a:ln w="12700">
            <a:solidFill>
              <a:srgbClr val="DDE3E6"/>
            </a:solidFill>
            <a:prstDash val="solid"/>
          </a:ln>
        </p:spPr>
      </p:sp>
      <p:sp>
        <p:nvSpPr>
          <p:cNvPr id="12" name="Text 10"/>
          <p:cNvSpPr txBox="1"/>
          <p:nvPr/>
        </p:nvSpPr>
        <p:spPr>
          <a:xfrm>
            <a:off x="8328965" y="2139950"/>
            <a:ext cx="3076346" cy="232029"/>
          </a:xfrm>
          <a:prstGeom prst="rect">
            <a:avLst/>
          </a:prstGeom>
          <a:noFill/>
          <a:ln/>
        </p:spPr>
        <p:txBody>
          <a:bodyPr wrap="square" lIns="0" tIns="0" rIns="0" bIns="0" rtlCol="0" anchor="t"/>
          <a:lstStyle/>
          <a:p>
            <a:pPr indent="0" marL="0">
              <a:buNone/>
            </a:pPr>
            <a:r>
              <a:rPr lang="en-US" sz="1450" b="1" dirty="0">
                <a:solidFill>
                  <a:srgbClr val="D4A537"/>
                </a:solidFill>
                <a:latin typeface="Calibri" pitchFamily="34" charset="0"/>
                <a:ea typeface="Calibri" pitchFamily="34" charset="-122"/>
                <a:cs typeface="Calibri" pitchFamily="34" charset="-120"/>
              </a:rPr>
              <a:t>Compression and encoding</a:t>
            </a:r>
            <a:endParaRPr lang="en-US" sz="1450" dirty="0"/>
          </a:p>
        </p:txBody>
      </p:sp>
      <p:sp>
        <p:nvSpPr>
          <p:cNvPr id="13" name="Text 11"/>
          <p:cNvSpPr txBox="1"/>
          <p:nvPr/>
        </p:nvSpPr>
        <p:spPr>
          <a:xfrm>
            <a:off x="8328965" y="2463419"/>
            <a:ext cx="3076346" cy="128574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Similar values sit adjacent, so columnar data compresses far better than row data. It cuts storage cost AND bytes over the network at the same time.</a:t>
            </a:r>
            <a:endParaRPr lang="en-US" sz="1200" dirty="0"/>
          </a:p>
        </p:txBody>
      </p:sp>
      <p:sp>
        <p:nvSpPr>
          <p:cNvPr id="14" name="Shape 12"/>
          <p:cNvSpPr/>
          <p:nvPr/>
        </p:nvSpPr>
        <p:spPr>
          <a:xfrm>
            <a:off x="566928" y="4169791"/>
            <a:ext cx="3515258" cy="1956689"/>
          </a:xfrm>
          <a:prstGeom prst="roundRect">
            <a:avLst>
              <a:gd name="adj" fmla="val 2804"/>
            </a:avLst>
          </a:prstGeom>
          <a:solidFill>
            <a:srgbClr val="F4F6F7"/>
          </a:solidFill>
          <a:ln w="12700">
            <a:solidFill>
              <a:srgbClr val="DDE3E6"/>
            </a:solidFill>
            <a:prstDash val="solid"/>
          </a:ln>
        </p:spPr>
      </p:sp>
      <p:sp>
        <p:nvSpPr>
          <p:cNvPr id="15" name="Text 13"/>
          <p:cNvSpPr txBox="1"/>
          <p:nvPr/>
        </p:nvSpPr>
        <p:spPr>
          <a:xfrm>
            <a:off x="786384" y="4352671"/>
            <a:ext cx="3076346" cy="232029"/>
          </a:xfrm>
          <a:prstGeom prst="rect">
            <a:avLst/>
          </a:prstGeom>
          <a:noFill/>
          <a:ln/>
        </p:spPr>
        <p:txBody>
          <a:bodyPr wrap="square" lIns="0" tIns="0" rIns="0" bIns="0" rtlCol="0" anchor="t"/>
          <a:lstStyle/>
          <a:p>
            <a:pPr indent="0" marL="0">
              <a:buNone/>
            </a:pPr>
            <a:r>
              <a:rPr lang="en-US" sz="1450" b="1" dirty="0">
                <a:solidFill>
                  <a:srgbClr val="00A6A6"/>
                </a:solidFill>
                <a:latin typeface="Calibri" pitchFamily="34" charset="0"/>
                <a:ea typeface="Calibri" pitchFamily="34" charset="-122"/>
                <a:cs typeface="Calibri" pitchFamily="34" charset="-120"/>
              </a:rPr>
              <a:t>Cheap and elastic storage</a:t>
            </a:r>
            <a:endParaRPr lang="en-US" sz="1450" dirty="0"/>
          </a:p>
        </p:txBody>
      </p:sp>
      <p:sp>
        <p:nvSpPr>
          <p:cNvPr id="16" name="Text 14"/>
          <p:cNvSpPr txBox="1"/>
          <p:nvPr/>
        </p:nvSpPr>
        <p:spPr>
          <a:xfrm>
            <a:off x="786384" y="4676140"/>
            <a:ext cx="3076346" cy="128574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Priced per GB-month with no pre-provisioning. You never “run out”, and you never pay for headroom you are not using.</a:t>
            </a:r>
            <a:endParaRPr lang="en-US" sz="1200" dirty="0"/>
          </a:p>
        </p:txBody>
      </p:sp>
      <p:sp>
        <p:nvSpPr>
          <p:cNvPr id="17" name="Shape 15"/>
          <p:cNvSpPr/>
          <p:nvPr/>
        </p:nvSpPr>
        <p:spPr>
          <a:xfrm>
            <a:off x="4338218" y="4169791"/>
            <a:ext cx="3515258" cy="1956689"/>
          </a:xfrm>
          <a:prstGeom prst="roundRect">
            <a:avLst>
              <a:gd name="adj" fmla="val 2804"/>
            </a:avLst>
          </a:prstGeom>
          <a:solidFill>
            <a:srgbClr val="F4F6F7"/>
          </a:solidFill>
          <a:ln w="12700">
            <a:solidFill>
              <a:srgbClr val="DDE3E6"/>
            </a:solidFill>
            <a:prstDash val="solid"/>
          </a:ln>
        </p:spPr>
      </p:sp>
      <p:sp>
        <p:nvSpPr>
          <p:cNvPr id="18" name="Text 16"/>
          <p:cNvSpPr txBox="1"/>
          <p:nvPr/>
        </p:nvSpPr>
        <p:spPr>
          <a:xfrm>
            <a:off x="4557674" y="4352671"/>
            <a:ext cx="3076346"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Durable and open</a:t>
            </a:r>
            <a:endParaRPr lang="en-US" sz="1450" dirty="0"/>
          </a:p>
        </p:txBody>
      </p:sp>
      <p:sp>
        <p:nvSpPr>
          <p:cNvPr id="19" name="Text 17"/>
          <p:cNvSpPr txBox="1"/>
          <p:nvPr/>
        </p:nvSpPr>
        <p:spPr>
          <a:xfrm>
            <a:off x="4557674" y="4676140"/>
            <a:ext cx="3076346" cy="128574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Providers replicate across facilities — 11 nines is typical. Many engines read the same bucket, so one copy serves BI and ML.</a:t>
            </a:r>
            <a:endParaRPr lang="en-US" sz="1200" dirty="0"/>
          </a:p>
        </p:txBody>
      </p:sp>
      <p:sp>
        <p:nvSpPr>
          <p:cNvPr id="20" name="Shape 18"/>
          <p:cNvSpPr/>
          <p:nvPr/>
        </p:nvSpPr>
        <p:spPr>
          <a:xfrm>
            <a:off x="8109509" y="4169791"/>
            <a:ext cx="3515258" cy="1956689"/>
          </a:xfrm>
          <a:prstGeom prst="roundRect">
            <a:avLst>
              <a:gd name="adj" fmla="val 2804"/>
            </a:avLst>
          </a:prstGeom>
          <a:solidFill>
            <a:srgbClr val="F4F6F7"/>
          </a:solidFill>
          <a:ln w="12700">
            <a:solidFill>
              <a:srgbClr val="DDE3E6"/>
            </a:solidFill>
            <a:prstDash val="solid"/>
          </a:ln>
        </p:spPr>
      </p:sp>
      <p:sp>
        <p:nvSpPr>
          <p:cNvPr id="21" name="Text 19"/>
          <p:cNvSpPr txBox="1"/>
          <p:nvPr/>
        </p:nvSpPr>
        <p:spPr>
          <a:xfrm>
            <a:off x="8328965" y="4352671"/>
            <a:ext cx="3076346" cy="232029"/>
          </a:xfrm>
          <a:prstGeom prst="rect">
            <a:avLst/>
          </a:prstGeom>
          <a:noFill/>
          <a:ln/>
        </p:spPr>
        <p:txBody>
          <a:bodyPr wrap="square" lIns="0" tIns="0" rIns="0" bIns="0" rtlCol="0" anchor="t"/>
          <a:lstStyle/>
          <a:p>
            <a:pPr indent="0" marL="0">
              <a:buNone/>
            </a:pPr>
            <a:r>
              <a:rPr lang="en-US" sz="1450" b="1" dirty="0">
                <a:solidFill>
                  <a:srgbClr val="D9503F"/>
                </a:solidFill>
                <a:latin typeface="Calibri" pitchFamily="34" charset="0"/>
                <a:ea typeface="Calibri" pitchFamily="34" charset="-122"/>
                <a:cs typeface="Calibri" pitchFamily="34" charset="-120"/>
              </a:rPr>
              <a:t>The pitfall to remember</a:t>
            </a:r>
            <a:endParaRPr lang="en-US" sz="1450" dirty="0"/>
          </a:p>
        </p:txBody>
      </p:sp>
      <p:sp>
        <p:nvSpPr>
          <p:cNvPr id="22" name="Text 20"/>
          <p:cNvSpPr txBox="1"/>
          <p:nvPr/>
        </p:nvSpPr>
        <p:spPr>
          <a:xfrm>
            <a:off x="8328965" y="4676140"/>
            <a:ext cx="3076346" cy="128574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Objects are written whole, and huge numbers of tiny objects make LISTING slow. This is exactly why the small-files problem in Module 4 matters to your bill.</a:t>
            </a:r>
            <a:endParaRPr lang="en-US" sz="1200" dirty="0"/>
          </a:p>
        </p:txBody>
      </p:sp>
      <p:sp>
        <p:nvSpPr>
          <p:cNvPr id="23" name="Shape 21"/>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4" name="Shape 22"/>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5" name="Shape 23"/>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6" name="Text 24"/>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7" name="Text 25"/>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2 · SECTION 3</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The elasticity ladder</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2011680"/>
                <a:gridCol w="2148840"/>
                <a:gridCol w="1965960"/>
                <a:gridCol w="2377440"/>
                <a:gridCol w="2551176"/>
              </a:tblGrid>
              <a:tr h="6858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You manage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Scales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Best for</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Masar example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r>
              <a:tr h="685800">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Fixed / provisioned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Cluster size, always on</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Manually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Steady, predictable 24/7 load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Nothing here should be fixed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685800">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Autoscaling cluster</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Min / max bounds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Up and down with load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Variable batch pipelines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Daytime ad-hoc analysis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685800">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Ephemeral job cluster</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Nothing between jobs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0 → N per job → 0</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Scheduled ELT, model retrains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The nightly medallion DAG</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685800">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Serverless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Nothing at all</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Instantly, per query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Spiky, unpredictable, ad-hoc</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The exec dashboard endpoint</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685800">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Spot / preemptible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Interruption tolerance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Cheaply — 60–90% off</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Fault-tolerant, restartable jobs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GPS backfill reprocessing</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bl>
          </a:graphicData>
        </a:graphic>
      </p:graphicFrame>
      <p:sp>
        <p:nvSpPr>
          <p:cNvPr id="5" name="Text 2"/>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You pay for compute by the second it runs, and for storage by the byte you keep. A nightly ELT that runs 20 minutes should cost 20 minutes of compute — not 24 hours of an idle cluster.</a:t>
            </a:r>
            <a:endParaRPr lang="en-US" sz="1200" dirty="0"/>
          </a:p>
        </p:txBody>
      </p:sp>
      <p:sp>
        <p:nvSpPr>
          <p:cNvPr id="6"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7"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8"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9"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0"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2 · SECTION 4</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Where the money actually goes</a:t>
            </a:r>
            <a:endParaRPr lang="en-US" sz="3000" dirty="0"/>
          </a:p>
        </p:txBody>
      </p:sp>
      <p:graphicFrame>
        <p:nvGraphicFramePr>
          <p:cNvPr id="4" name="Chart 0" descr=""/>
          <p:cNvGraphicFramePr/>
          <p:nvPr/>
        </p:nvGraphicFramePr>
        <p:xfrm>
          <a:off x="566928" y="1389888"/>
          <a:ext cx="6855860" cy="42976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715396" y="1435608"/>
            <a:ext cx="3909371" cy="29425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How to build the model</a:t>
            </a:r>
            <a:endParaRPr lang="en-US" sz="1450" dirty="0"/>
          </a:p>
        </p:txBody>
      </p:sp>
      <p:sp>
        <p:nvSpPr>
          <p:cNvPr id="6" name="Text 3"/>
          <p:cNvSpPr txBox="1"/>
          <p:nvPr/>
        </p:nvSpPr>
        <p:spPr>
          <a:xfrm>
            <a:off x="7715396" y="1857883"/>
            <a:ext cx="3909371" cy="3756533"/>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Storage/month = total_GB × price_per_GB_month, plus a modest factor for the history the table format retains.</a:t>
            </a:r>
            <a:endParaRPr lang="en-US" sz="1200" dirty="0"/>
          </a:p>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Compute/month = Σ over jobs ( cores × core-hour price × runtime hours × runs per month ).</a:t>
            </a:r>
            <a:endParaRPr lang="en-US" sz="1200" dirty="0"/>
          </a:p>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12 TB of Masar raw GPS and trips at ~$0.023/GB-month ≈ $276. That is the whole storage line.</a:t>
            </a:r>
            <a:endParaRPr lang="en-US" sz="1200" dirty="0"/>
          </a:p>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Illustrative unit prices — Lab 2 has participants plug in real ones and defend the result.</a:t>
            </a:r>
            <a:endParaRPr lang="en-US" sz="1200" dirty="0"/>
          </a:p>
        </p:txBody>
      </p:sp>
      <p:sp>
        <p:nvSpPr>
          <p:cNvPr id="7" name="Text 4"/>
          <p:cNvSpPr txBox="1"/>
          <p:nvPr/>
        </p:nvSpPr>
        <p:spPr>
          <a:xfrm>
            <a:off x="566928" y="5833872"/>
            <a:ext cx="11057839" cy="512064"/>
          </a:xfrm>
          <a:prstGeom prst="rect">
            <a:avLst/>
          </a:prstGeom>
          <a:noFill/>
          <a:ln/>
        </p:spPr>
        <p:txBody>
          <a:bodyPr wrap="square" lIns="0" tIns="0" rIns="0" bIns="0" rtlCol="0" anchor="ctr"/>
          <a:lstStyle/>
          <a:p>
            <a:pPr indent="0" marL="0">
              <a:buNone/>
            </a:pPr>
            <a:r>
              <a:rPr lang="en-US" sz="1300" i="1" dirty="0">
                <a:solidFill>
                  <a:srgbClr val="B0763A"/>
                </a:solidFill>
                <a:latin typeface="Calibri" pitchFamily="34" charset="0"/>
                <a:ea typeface="Calibri" pitchFamily="34" charset="-122"/>
                <a:cs typeface="Calibri" pitchFamily="34" charset="-120"/>
              </a:rPr>
              <a:t>The headline that wins architecture reviews: decoupling lets you retain MORE history for LESS money, while paying for compute only when work happens.</a:t>
            </a:r>
            <a:endParaRPr lang="en-US" sz="1300" dirty="0"/>
          </a:p>
        </p:txBody>
      </p:sp>
      <p:sp>
        <p:nvSpPr>
          <p:cNvPr id="8" name="Shape 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9" name="Shape 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0" name="Shape 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1" name="Text 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2" name="Text 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D4A537"/>
                </a:solidFill>
                <a:latin typeface="Calibri" pitchFamily="34" charset="0"/>
                <a:ea typeface="Calibri" pitchFamily="34" charset="-122"/>
                <a:cs typeface="Calibri" pitchFamily="34" charset="-120"/>
              </a:rPr>
              <a:t>MODULE 2 · SECTION 5</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Five ways teams fail to realise the saving</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9FB3BE"/>
                </a:solidFill>
                <a:latin typeface="Calibri" pitchFamily="34" charset="0"/>
                <a:ea typeface="Calibri" pitchFamily="34" charset="-122"/>
                <a:cs typeface="Calibri" pitchFamily="34" charset="-120"/>
              </a:rPr>
              <a:t>Decoupling ENABLES savings. Layout and elasticity discipline REALISE them. These five are why a migration bill goes up.</a:t>
            </a:r>
            <a:endParaRPr lang="en-US" sz="1330" dirty="0"/>
          </a:p>
        </p:txBody>
      </p:sp>
      <p:sp>
        <p:nvSpPr>
          <p:cNvPr id="5" name="Shape 3"/>
          <p:cNvSpPr/>
          <p:nvPr/>
        </p:nvSpPr>
        <p:spPr>
          <a:xfrm>
            <a:off x="566928" y="1920240"/>
            <a:ext cx="384048" cy="384048"/>
          </a:xfrm>
          <a:prstGeom prst="ellipse">
            <a:avLst/>
          </a:prstGeom>
          <a:solidFill>
            <a:srgbClr val="D9503F"/>
          </a:solidFill>
          <a:ln w="12700">
            <a:solidFill>
              <a:srgbClr val="D9503F"/>
            </a:solidFill>
            <a:prstDash val="solid"/>
          </a:ln>
        </p:spPr>
      </p:sp>
      <p:sp>
        <p:nvSpPr>
          <p:cNvPr id="6" name="Text 4"/>
          <p:cNvSpPr txBox="1"/>
          <p:nvPr/>
        </p:nvSpPr>
        <p:spPr>
          <a:xfrm>
            <a:off x="566928" y="193395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1133856" y="1883664"/>
            <a:ext cx="10417759"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Estimating a Lakehouse with warehouse intuition</a:t>
            </a:r>
            <a:endParaRPr lang="en-US" sz="1500" dirty="0"/>
          </a:p>
        </p:txBody>
      </p:sp>
      <p:sp>
        <p:nvSpPr>
          <p:cNvPr id="8" name="Text 6"/>
          <p:cNvSpPr txBox="1"/>
          <p:nvPr/>
        </p:nvSpPr>
        <p:spPr>
          <a:xfrm>
            <a:off x="1133856" y="2148840"/>
            <a:ext cx="10417759" cy="464515"/>
          </a:xfrm>
          <a:prstGeom prst="rect">
            <a:avLst/>
          </a:prstGeom>
          <a:noFill/>
          <a:ln/>
        </p:spPr>
        <p:txBody>
          <a:bodyPr wrap="square" lIns="0" tIns="0" rIns="0" bIns="0" rtlCol="0" anchor="t"/>
          <a:lstStyle/>
          <a:p>
            <a:pPr indent="0" marL="0">
              <a:buNone/>
            </a:pPr>
            <a:r>
              <a:rPr lang="en-US" sz="1250" dirty="0">
                <a:solidFill>
                  <a:srgbClr val="9FB3BE"/>
                </a:solidFill>
                <a:latin typeface="Calibri" pitchFamily="34" charset="0"/>
                <a:ea typeface="Calibri" pitchFamily="34" charset="-122"/>
                <a:cs typeface="Calibri" pitchFamily="34" charset="-120"/>
              </a:rPr>
              <a:t>Assuming compute is always on, then concluding it is “not cheaper”. The elasticity is the product.</a:t>
            </a:r>
            <a:endParaRPr lang="en-US" sz="1250" dirty="0"/>
          </a:p>
        </p:txBody>
      </p:sp>
      <p:sp>
        <p:nvSpPr>
          <p:cNvPr id="9" name="Shape 7"/>
          <p:cNvSpPr/>
          <p:nvPr/>
        </p:nvSpPr>
        <p:spPr>
          <a:xfrm>
            <a:off x="566928" y="2677363"/>
            <a:ext cx="384048" cy="384048"/>
          </a:xfrm>
          <a:prstGeom prst="ellipse">
            <a:avLst/>
          </a:prstGeom>
          <a:solidFill>
            <a:srgbClr val="D9503F"/>
          </a:solidFill>
          <a:ln w="12700">
            <a:solidFill>
              <a:srgbClr val="D9503F"/>
            </a:solidFill>
            <a:prstDash val="solid"/>
          </a:ln>
        </p:spPr>
      </p:sp>
      <p:sp>
        <p:nvSpPr>
          <p:cNvPr id="10" name="Text 8"/>
          <p:cNvSpPr txBox="1"/>
          <p:nvPr/>
        </p:nvSpPr>
        <p:spPr>
          <a:xfrm>
            <a:off x="566928" y="2691079"/>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1" name="Text 9"/>
          <p:cNvSpPr txBox="1"/>
          <p:nvPr/>
        </p:nvSpPr>
        <p:spPr>
          <a:xfrm>
            <a:off x="1133856" y="2640787"/>
            <a:ext cx="10417759"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Ignoring the small-files and listing cost</a:t>
            </a:r>
            <a:endParaRPr lang="en-US" sz="1500" dirty="0"/>
          </a:p>
        </p:txBody>
      </p:sp>
      <p:sp>
        <p:nvSpPr>
          <p:cNvPr id="12" name="Text 10"/>
          <p:cNvSpPr txBox="1"/>
          <p:nvPr/>
        </p:nvSpPr>
        <p:spPr>
          <a:xfrm>
            <a:off x="1133856" y="2905963"/>
            <a:ext cx="10417759" cy="464515"/>
          </a:xfrm>
          <a:prstGeom prst="rect">
            <a:avLst/>
          </a:prstGeom>
          <a:noFill/>
          <a:ln/>
        </p:spPr>
        <p:txBody>
          <a:bodyPr wrap="square" lIns="0" tIns="0" rIns="0" bIns="0" rtlCol="0" anchor="t"/>
          <a:lstStyle/>
          <a:p>
            <a:pPr indent="0" marL="0">
              <a:buNone/>
            </a:pPr>
            <a:r>
              <a:rPr lang="en-US" sz="1250" dirty="0">
                <a:solidFill>
                  <a:srgbClr val="9FB3BE"/>
                </a:solidFill>
                <a:latin typeface="Calibri" pitchFamily="34" charset="0"/>
                <a:ea typeface="Calibri" pitchFamily="34" charset="-122"/>
                <a:cs typeface="Calibri" pitchFamily="34" charset="-120"/>
              </a:rPr>
              <a:t>Millions of tiny objects make jobs slow and expensive at the same time. Streaming sinks create this daily.</a:t>
            </a:r>
            <a:endParaRPr lang="en-US" sz="1250" dirty="0"/>
          </a:p>
        </p:txBody>
      </p:sp>
      <p:sp>
        <p:nvSpPr>
          <p:cNvPr id="13" name="Shape 11"/>
          <p:cNvSpPr/>
          <p:nvPr/>
        </p:nvSpPr>
        <p:spPr>
          <a:xfrm>
            <a:off x="566928" y="3434486"/>
            <a:ext cx="384048" cy="384048"/>
          </a:xfrm>
          <a:prstGeom prst="ellipse">
            <a:avLst/>
          </a:prstGeom>
          <a:solidFill>
            <a:srgbClr val="D9503F"/>
          </a:solidFill>
          <a:ln w="12700">
            <a:solidFill>
              <a:srgbClr val="D9503F"/>
            </a:solidFill>
            <a:prstDash val="solid"/>
          </a:ln>
        </p:spPr>
      </p:sp>
      <p:sp>
        <p:nvSpPr>
          <p:cNvPr id="14" name="Text 12"/>
          <p:cNvSpPr txBox="1"/>
          <p:nvPr/>
        </p:nvSpPr>
        <p:spPr>
          <a:xfrm>
            <a:off x="566928" y="344820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5" name="Text 13"/>
          <p:cNvSpPr txBox="1"/>
          <p:nvPr/>
        </p:nvSpPr>
        <p:spPr>
          <a:xfrm>
            <a:off x="1133856" y="3397910"/>
            <a:ext cx="10417759"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Autoscaling with no idle-termination</a:t>
            </a:r>
            <a:endParaRPr lang="en-US" sz="1500" dirty="0"/>
          </a:p>
        </p:txBody>
      </p:sp>
      <p:sp>
        <p:nvSpPr>
          <p:cNvPr id="16" name="Text 14"/>
          <p:cNvSpPr txBox="1"/>
          <p:nvPr/>
        </p:nvSpPr>
        <p:spPr>
          <a:xfrm>
            <a:off x="1133856" y="3663086"/>
            <a:ext cx="10417759" cy="464515"/>
          </a:xfrm>
          <a:prstGeom prst="rect">
            <a:avLst/>
          </a:prstGeom>
          <a:noFill/>
          <a:ln/>
        </p:spPr>
        <p:txBody>
          <a:bodyPr wrap="square" lIns="0" tIns="0" rIns="0" bIns="0" rtlCol="0" anchor="t"/>
          <a:lstStyle/>
          <a:p>
            <a:pPr indent="0" marL="0">
              <a:buNone/>
            </a:pPr>
            <a:r>
              <a:rPr lang="en-US" sz="1250" dirty="0">
                <a:solidFill>
                  <a:srgbClr val="9FB3BE"/>
                </a:solidFill>
                <a:latin typeface="Calibri" pitchFamily="34" charset="0"/>
                <a:ea typeface="Calibri" pitchFamily="34" charset="-122"/>
                <a:cs typeface="Calibri" pitchFamily="34" charset="-120"/>
              </a:rPr>
              <a:t>The classic surprise bill. Idle termination is a config line, not a project.</a:t>
            </a:r>
            <a:endParaRPr lang="en-US" sz="1250" dirty="0"/>
          </a:p>
        </p:txBody>
      </p:sp>
      <p:sp>
        <p:nvSpPr>
          <p:cNvPr id="17" name="Shape 15"/>
          <p:cNvSpPr/>
          <p:nvPr/>
        </p:nvSpPr>
        <p:spPr>
          <a:xfrm>
            <a:off x="566928" y="4191610"/>
            <a:ext cx="384048" cy="384048"/>
          </a:xfrm>
          <a:prstGeom prst="ellipse">
            <a:avLst/>
          </a:prstGeom>
          <a:solidFill>
            <a:srgbClr val="D9503F"/>
          </a:solidFill>
          <a:ln w="12700">
            <a:solidFill>
              <a:srgbClr val="D9503F"/>
            </a:solidFill>
            <a:prstDash val="solid"/>
          </a:ln>
        </p:spPr>
      </p:sp>
      <p:sp>
        <p:nvSpPr>
          <p:cNvPr id="18" name="Text 16"/>
          <p:cNvSpPr txBox="1"/>
          <p:nvPr/>
        </p:nvSpPr>
        <p:spPr>
          <a:xfrm>
            <a:off x="566928" y="420532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9" name="Text 17"/>
          <p:cNvSpPr txBox="1"/>
          <p:nvPr/>
        </p:nvSpPr>
        <p:spPr>
          <a:xfrm>
            <a:off x="1133856" y="4155034"/>
            <a:ext cx="10417759"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Full-scanning because of poor layout</a:t>
            </a:r>
            <a:endParaRPr lang="en-US" sz="1500" dirty="0"/>
          </a:p>
        </p:txBody>
      </p:sp>
      <p:sp>
        <p:nvSpPr>
          <p:cNvPr id="20" name="Text 18"/>
          <p:cNvSpPr txBox="1"/>
          <p:nvPr/>
        </p:nvSpPr>
        <p:spPr>
          <a:xfrm>
            <a:off x="1133856" y="4420210"/>
            <a:ext cx="10417759" cy="464515"/>
          </a:xfrm>
          <a:prstGeom prst="rect">
            <a:avLst/>
          </a:prstGeom>
          <a:noFill/>
          <a:ln/>
        </p:spPr>
        <p:txBody>
          <a:bodyPr wrap="square" lIns="0" tIns="0" rIns="0" bIns="0" rtlCol="0" anchor="t"/>
          <a:lstStyle/>
          <a:p>
            <a:pPr indent="0" marL="0">
              <a:buNone/>
            </a:pPr>
            <a:r>
              <a:rPr lang="en-US" sz="1250" dirty="0">
                <a:solidFill>
                  <a:srgbClr val="9FB3BE"/>
                </a:solidFill>
                <a:latin typeface="Calibri" pitchFamily="34" charset="0"/>
                <a:ea typeface="Calibri" pitchFamily="34" charset="-122"/>
                <a:cs typeface="Calibri" pitchFamily="34" charset="-120"/>
              </a:rPr>
              <a:t>Paying compute to read data a partition filter or a ZORDER could have skipped entirely.</a:t>
            </a:r>
            <a:endParaRPr lang="en-US" sz="1250" dirty="0"/>
          </a:p>
        </p:txBody>
      </p:sp>
      <p:sp>
        <p:nvSpPr>
          <p:cNvPr id="21" name="Shape 19"/>
          <p:cNvSpPr/>
          <p:nvPr/>
        </p:nvSpPr>
        <p:spPr>
          <a:xfrm>
            <a:off x="566928" y="4948733"/>
            <a:ext cx="384048" cy="384048"/>
          </a:xfrm>
          <a:prstGeom prst="ellipse">
            <a:avLst/>
          </a:prstGeom>
          <a:solidFill>
            <a:srgbClr val="D9503F"/>
          </a:solidFill>
          <a:ln w="12700">
            <a:solidFill>
              <a:srgbClr val="D9503F"/>
            </a:solidFill>
            <a:prstDash val="solid"/>
          </a:ln>
        </p:spPr>
      </p:sp>
      <p:sp>
        <p:nvSpPr>
          <p:cNvPr id="22" name="Text 20"/>
          <p:cNvSpPr txBox="1"/>
          <p:nvPr/>
        </p:nvSpPr>
        <p:spPr>
          <a:xfrm>
            <a:off x="566928" y="4962449"/>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3" name="Text 21"/>
          <p:cNvSpPr txBox="1"/>
          <p:nvPr/>
        </p:nvSpPr>
        <p:spPr>
          <a:xfrm>
            <a:off x="1133856" y="4912157"/>
            <a:ext cx="10417759"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Forgetting egress and cross-region transfer</a:t>
            </a:r>
            <a:endParaRPr lang="en-US" sz="1500" dirty="0"/>
          </a:p>
        </p:txBody>
      </p:sp>
      <p:sp>
        <p:nvSpPr>
          <p:cNvPr id="24" name="Text 22"/>
          <p:cNvSpPr txBox="1"/>
          <p:nvPr/>
        </p:nvSpPr>
        <p:spPr>
          <a:xfrm>
            <a:off x="1133856" y="5177333"/>
            <a:ext cx="10417759" cy="464515"/>
          </a:xfrm>
          <a:prstGeom prst="rect">
            <a:avLst/>
          </a:prstGeom>
          <a:noFill/>
          <a:ln/>
        </p:spPr>
        <p:txBody>
          <a:bodyPr wrap="square" lIns="0" tIns="0" rIns="0" bIns="0" rtlCol="0" anchor="t"/>
          <a:lstStyle/>
          <a:p>
            <a:pPr indent="0" marL="0">
              <a:buNone/>
            </a:pPr>
            <a:r>
              <a:rPr lang="en-US" sz="1250" dirty="0">
                <a:solidFill>
                  <a:srgbClr val="9FB3BE"/>
                </a:solidFill>
                <a:latin typeface="Calibri" pitchFamily="34" charset="0"/>
                <a:ea typeface="Calibri" pitchFamily="34" charset="-122"/>
                <a:cs typeface="Calibri" pitchFamily="34" charset="-120"/>
              </a:rPr>
              <a:t>Compute and storage in different regions turns every read into a transfer charge.</a:t>
            </a:r>
            <a:endParaRPr lang="en-US" sz="1250" dirty="0"/>
          </a:p>
        </p:txBody>
      </p:sp>
      <p:sp>
        <p:nvSpPr>
          <p:cNvPr id="25" name="Text 23"/>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D4A537"/>
                </a:solidFill>
                <a:latin typeface="Calibri" pitchFamily="34" charset="0"/>
                <a:ea typeface="Calibri" pitchFamily="34" charset="-122"/>
                <a:cs typeface="Calibri" pitchFamily="34" charset="-120"/>
              </a:rPr>
              <a:t>Case study CS-02 (“Tabadul” Analytics): storage dropped 70% and the first month's total bill still ROSE — every dashboard full-scanned an unpartitioned gold table. Month two, after partitioning, ZORDER, caching and a 10-minute idle timeout: 45% below the old warehouse.</a:t>
            </a:r>
            <a:endParaRPr lang="en-US" sz="1200" dirty="0"/>
          </a:p>
        </p:txBody>
      </p:sp>
      <p:sp>
        <p:nvSpPr>
          <p:cNvPr id="26" name="Shape 24"/>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7" name="Shape 25"/>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8" name="Shape 26"/>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9" name="Text 27"/>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30" name="Text 28"/>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00A6A6"/>
                </a:solidFill>
                <a:latin typeface="Calibri" pitchFamily="34" charset="0"/>
                <a:ea typeface="Calibri" pitchFamily="34" charset="-122"/>
                <a:cs typeface="Calibri" pitchFamily="34" charset="-120"/>
              </a:rPr>
              <a:t>HANDS-ON LAB 2</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Cost and elasticity model for Masar</a:t>
            </a:r>
            <a:endParaRPr lang="en-US" sz="3000" dirty="0"/>
          </a:p>
        </p:txBody>
      </p:sp>
      <p:sp>
        <p:nvSpPr>
          <p:cNvPr id="4" name="Shape 2"/>
          <p:cNvSpPr/>
          <p:nvPr/>
        </p:nvSpPr>
        <p:spPr>
          <a:xfrm>
            <a:off x="566928" y="1389888"/>
            <a:ext cx="3200400" cy="4736592"/>
          </a:xfrm>
          <a:prstGeom prst="roundRect">
            <a:avLst>
              <a:gd name="adj" fmla="val 1714"/>
            </a:avLst>
          </a:prstGeom>
          <a:solidFill>
            <a:srgbClr val="10202B"/>
          </a:solidFill>
          <a:ln w="12700">
            <a:solidFill>
              <a:srgbClr val="10202B"/>
            </a:solidFill>
            <a:prstDash val="solid"/>
          </a:ln>
        </p:spPr>
      </p:sp>
      <p:sp>
        <p:nvSpPr>
          <p:cNvPr id="5" name="Text 3"/>
          <p:cNvSpPr txBox="1"/>
          <p:nvPr/>
        </p:nvSpPr>
        <p:spPr>
          <a:xfrm>
            <a:off x="749808" y="1572768"/>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DURATION</a:t>
            </a:r>
            <a:endParaRPr lang="en-US" sz="900" dirty="0"/>
          </a:p>
        </p:txBody>
      </p:sp>
      <p:sp>
        <p:nvSpPr>
          <p:cNvPr id="6" name="Text 4"/>
          <p:cNvSpPr txBox="1"/>
          <p:nvPr/>
        </p:nvSpPr>
        <p:spPr>
          <a:xfrm>
            <a:off x="749808" y="1755648"/>
            <a:ext cx="2834640" cy="21945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50 minutes · pairs</a:t>
            </a:r>
            <a:endParaRPr lang="en-US" sz="1150" dirty="0"/>
          </a:p>
        </p:txBody>
      </p:sp>
      <p:sp>
        <p:nvSpPr>
          <p:cNvPr id="7" name="Text 5"/>
          <p:cNvSpPr txBox="1"/>
          <p:nvPr/>
        </p:nvSpPr>
        <p:spPr>
          <a:xfrm>
            <a:off x="749808" y="2157984"/>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CHECKPOINT</a:t>
            </a:r>
            <a:endParaRPr lang="en-US" sz="900" dirty="0"/>
          </a:p>
        </p:txBody>
      </p:sp>
      <p:sp>
        <p:nvSpPr>
          <p:cNvPr id="8" name="Text 6"/>
          <p:cNvSpPr txBox="1"/>
          <p:nvPr/>
        </p:nvSpPr>
        <p:spPr>
          <a:xfrm>
            <a:off x="749808" y="2340864"/>
            <a:ext cx="2834640" cy="21945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git checkout lab2-start</a:t>
            </a:r>
            <a:endParaRPr lang="en-US" sz="1150" dirty="0"/>
          </a:p>
        </p:txBody>
      </p:sp>
      <p:sp>
        <p:nvSpPr>
          <p:cNvPr id="9" name="Text 7"/>
          <p:cNvSpPr txBox="1"/>
          <p:nvPr/>
        </p:nvSpPr>
        <p:spPr>
          <a:xfrm>
            <a:off x="749808" y="2743200"/>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OBJECTIVE</a:t>
            </a:r>
            <a:endParaRPr lang="en-US" sz="900" dirty="0"/>
          </a:p>
        </p:txBody>
      </p:sp>
      <p:sp>
        <p:nvSpPr>
          <p:cNvPr id="10" name="Text 8"/>
          <p:cNvSpPr txBox="1"/>
          <p:nvPr/>
        </p:nvSpPr>
        <p:spPr>
          <a:xfrm>
            <a:off x="749808" y="2926080"/>
            <a:ext cx="2834640" cy="56083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A defensible, auditable cost model comparing coupled and decoupled for Masar's real volumes</a:t>
            </a:r>
            <a:endParaRPr lang="en-US" sz="1150" dirty="0"/>
          </a:p>
        </p:txBody>
      </p:sp>
      <p:sp>
        <p:nvSpPr>
          <p:cNvPr id="11" name="Text 9"/>
          <p:cNvSpPr txBox="1"/>
          <p:nvPr/>
        </p:nvSpPr>
        <p:spPr>
          <a:xfrm>
            <a:off x="749808" y="3669792"/>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DELIVERABLE</a:t>
            </a:r>
            <a:endParaRPr lang="en-US" sz="900" dirty="0"/>
          </a:p>
        </p:txBody>
      </p:sp>
      <p:sp>
        <p:nvSpPr>
          <p:cNvPr id="12" name="Text 10"/>
          <p:cNvSpPr txBox="1"/>
          <p:nvPr/>
        </p:nvSpPr>
        <p:spPr>
          <a:xfrm>
            <a:off x="749808" y="3852672"/>
            <a:ext cx="2834640" cy="373888"/>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cost_model.py output + BENCHMARKS.md scan analysis</a:t>
            </a:r>
            <a:endParaRPr lang="en-US" sz="1150" dirty="0"/>
          </a:p>
        </p:txBody>
      </p:sp>
      <p:sp>
        <p:nvSpPr>
          <p:cNvPr id="13" name="Text 11"/>
          <p:cNvSpPr txBox="1"/>
          <p:nvPr/>
        </p:nvSpPr>
        <p:spPr>
          <a:xfrm>
            <a:off x="4041648" y="1408176"/>
            <a:ext cx="7583119" cy="274320"/>
          </a:xfrm>
          <a:prstGeom prst="rect">
            <a:avLst/>
          </a:prstGeom>
          <a:noFill/>
          <a:ln/>
        </p:spPr>
        <p:txBody>
          <a:bodyPr wrap="square" lIns="0" tIns="0" rIns="0" bIns="0" rtlCol="0" anchor="ctr"/>
          <a:lstStyle/>
          <a:p>
            <a:pPr indent="0" marL="0">
              <a:buNone/>
            </a:pPr>
            <a:r>
              <a:rPr lang="en-US" sz="1400" b="1" dirty="0">
                <a:solidFill>
                  <a:srgbClr val="B0763A"/>
                </a:solidFill>
                <a:latin typeface="Calibri" pitchFamily="34" charset="0"/>
                <a:ea typeface="Calibri" pitchFamily="34" charset="-122"/>
                <a:cs typeface="Calibri" pitchFamily="34" charset="-120"/>
              </a:rPr>
              <a:t>What you will do</a:t>
            </a:r>
            <a:endParaRPr lang="en-US" sz="1400" dirty="0"/>
          </a:p>
        </p:txBody>
      </p:sp>
      <p:sp>
        <p:nvSpPr>
          <p:cNvPr id="14" name="Text 12"/>
          <p:cNvSpPr txBox="1"/>
          <p:nvPr/>
        </p:nvSpPr>
        <p:spPr>
          <a:xfrm>
            <a:off x="4041648" y="1755648"/>
            <a:ext cx="7583119" cy="250317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Measure the columnar advantage: run the same aggregation over CSV and over Parquet, and read the physical plan for PushedFilters and ReadSchema.</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Record bytes scanned with and without column pruning, and with and without a partition filter.</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Build the cost model in code, not a spreadsheet — storage and compute as separate, auditable terms.</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Model three elasticity strategies for the nightly ELT: always-on, autoscaling, ephemeral job cluster. Report the monthly delta.</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Add the idle-termination guardrail to the cluster config and state, in one sentence, what it is worth per month.</a:t>
            </a:r>
            <a:endParaRPr lang="en-US" sz="1250" dirty="0"/>
          </a:p>
        </p:txBody>
      </p:sp>
      <p:sp>
        <p:nvSpPr>
          <p:cNvPr id="15" name="Text 13"/>
          <p:cNvSpPr txBox="1"/>
          <p:nvPr/>
        </p:nvSpPr>
        <p:spPr>
          <a:xfrm>
            <a:off x="4041648" y="4350258"/>
            <a:ext cx="7583119" cy="274320"/>
          </a:xfrm>
          <a:prstGeom prst="rect">
            <a:avLst/>
          </a:prstGeom>
          <a:noFill/>
          <a:ln/>
        </p:spPr>
        <p:txBody>
          <a:bodyPr wrap="square" lIns="0" tIns="0" rIns="0" bIns="0" rtlCol="0" anchor="ctr"/>
          <a:lstStyle/>
          <a:p>
            <a:pPr indent="0" marL="0">
              <a:buNone/>
            </a:pPr>
            <a:r>
              <a:rPr lang="en-US" sz="1400" b="1" dirty="0">
                <a:solidFill>
                  <a:srgbClr val="00A6A6"/>
                </a:solidFill>
                <a:latin typeface="Calibri" pitchFamily="34" charset="0"/>
                <a:ea typeface="Calibri" pitchFamily="34" charset="-122"/>
                <a:cs typeface="Calibri" pitchFamily="34" charset="-120"/>
              </a:rPr>
              <a:t>Acceptance criteria</a:t>
            </a:r>
            <a:endParaRPr lang="en-US" sz="1400" dirty="0"/>
          </a:p>
        </p:txBody>
      </p:sp>
      <p:sp>
        <p:nvSpPr>
          <p:cNvPr id="16" name="Text 14"/>
          <p:cNvSpPr txBox="1"/>
          <p:nvPr/>
        </p:nvSpPr>
        <p:spPr>
          <a:xfrm>
            <a:off x="4041648" y="4661154"/>
            <a:ext cx="7583119" cy="141046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The plan output shows PushedFilters and a pruned ReadSchema — you can point at the line.</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The cost model separates storage and compute and names the dominant driver for Masar.</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BENCHMARKS.md records bytes scanned before and after layout changes, from YOUR run.</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You can defend the recommendation in one sentence to a finance stakeholder.</a:t>
            </a:r>
            <a:endParaRPr lang="en-US" sz="1200" dirty="0"/>
          </a:p>
        </p:txBody>
      </p:sp>
      <p:sp>
        <p:nvSpPr>
          <p:cNvPr id="17" name="Shape 1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8" name="Shape 1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9" name="Shape 1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0" name="Text 1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1" name="Text 1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371600"/>
            <a:ext cx="11057839" cy="274320"/>
          </a:xfrm>
          <a:prstGeom prst="rect">
            <a:avLst/>
          </a:prstGeom>
          <a:noFill/>
          <a:ln/>
        </p:spPr>
        <p:txBody>
          <a:bodyPr wrap="square" lIns="0" tIns="0" rIns="0" bIns="0" rtlCol="0" anchor="ctr"/>
          <a:lstStyle/>
          <a:p>
            <a:pPr indent="0" marL="0">
              <a:buNone/>
            </a:pPr>
            <a:r>
              <a:rPr lang="en-US" sz="1100" b="1" spc="180" kern="0" dirty="0">
                <a:solidFill>
                  <a:srgbClr val="D4A537"/>
                </a:solidFill>
                <a:latin typeface="Calibri" pitchFamily="34" charset="0"/>
                <a:ea typeface="Calibri" pitchFamily="34" charset="-122"/>
                <a:cs typeface="Calibri" pitchFamily="34" charset="-120"/>
              </a:rPr>
              <a:t>DAY 1 · CLOSE</a:t>
            </a:r>
            <a:endParaRPr lang="en-US" sz="1100" dirty="0"/>
          </a:p>
        </p:txBody>
      </p:sp>
      <p:sp>
        <p:nvSpPr>
          <p:cNvPr id="3" name="Text 1"/>
          <p:cNvSpPr txBox="1"/>
          <p:nvPr/>
        </p:nvSpPr>
        <p:spPr>
          <a:xfrm>
            <a:off x="566928" y="1783080"/>
            <a:ext cx="10509199" cy="2377440"/>
          </a:xfrm>
          <a:prstGeom prst="rect">
            <a:avLst/>
          </a:prstGeom>
          <a:noFill/>
          <a:ln/>
        </p:spPr>
        <p:txBody>
          <a:bodyPr wrap="square" lIns="0" tIns="0" rIns="0" bIns="0" rtlCol="0" anchor="t"/>
          <a:lstStyle/>
          <a:p>
            <a:pPr indent="0" marL="0">
              <a:lnSpc>
                <a:spcPct val="112000"/>
              </a:lnSpc>
              <a:buNone/>
            </a:pPr>
            <a:r>
              <a:rPr lang="en-US" sz="3200" b="1" dirty="0">
                <a:solidFill>
                  <a:srgbClr val="FFFFFF"/>
                </a:solidFill>
                <a:latin typeface="Cambria" pitchFamily="34" charset="0"/>
                <a:ea typeface="Cambria" pitchFamily="34" charset="-122"/>
                <a:cs typeface="Cambria" pitchFamily="34" charset="-120"/>
              </a:rPr>
              <a:t>Tomorrow the raw feeds become</a:t>
            </a:r>
            <a:endParaRPr lang="en-US" sz="3200" dirty="0"/>
          </a:p>
          <a:p>
            <a:pPr indent="0" marL="0">
              <a:lnSpc>
                <a:spcPct val="112000"/>
              </a:lnSpc>
              <a:buNone/>
            </a:pPr>
            <a:r>
              <a:rPr lang="en-US" sz="3200" b="1" dirty="0">
                <a:solidFill>
                  <a:srgbClr val="FFFFFF"/>
                </a:solidFill>
                <a:latin typeface="Cambria" pitchFamily="34" charset="0"/>
                <a:ea typeface="Cambria" pitchFamily="34" charset="-122"/>
                <a:cs typeface="Cambria" pitchFamily="34" charset="-120"/>
              </a:rPr>
              <a:t>a table someone can trust.</a:t>
            </a:r>
            <a:endParaRPr lang="en-US" sz="3200" dirty="0"/>
          </a:p>
        </p:txBody>
      </p:sp>
      <p:sp>
        <p:nvSpPr>
          <p:cNvPr id="4" name="Text 2"/>
          <p:cNvSpPr txBox="1"/>
          <p:nvPr/>
        </p:nvSpPr>
        <p:spPr>
          <a:xfrm>
            <a:off x="566928" y="4434840"/>
            <a:ext cx="10509199" cy="1097280"/>
          </a:xfrm>
          <a:prstGeom prst="rect">
            <a:avLst/>
          </a:prstGeom>
          <a:noFill/>
          <a:ln/>
        </p:spPr>
        <p:txBody>
          <a:bodyPr wrap="square" lIns="0" tIns="0" rIns="0" bIns="0" rtlCol="0" anchor="t"/>
          <a:lstStyle/>
          <a:p>
            <a:pPr indent="0" marL="0">
              <a:buNone/>
            </a:pPr>
            <a:r>
              <a:rPr lang="en-US" sz="1500" dirty="0">
                <a:solidFill>
                  <a:srgbClr val="9FB3BE"/>
                </a:solidFill>
                <a:latin typeface="Calibri" pitchFamily="34" charset="0"/>
                <a:ea typeface="Calibri" pitchFamily="34" charset="-122"/>
                <a:cs typeface="Calibri" pitchFamily="34" charset="-120"/>
              </a:rPr>
              <a:t>You have landed three feeds into an immutable bronze and you can argue about cost with numbers.</a:t>
            </a: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Day 2 is where bronze becomes silver — and where the single most common production pipeline bug lives.</a:t>
            </a:r>
            <a:endParaRPr lang="en-US" sz="1500" dirty="0"/>
          </a:p>
        </p:txBody>
      </p:sp>
      <p:sp>
        <p:nvSpPr>
          <p:cNvPr id="5"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6"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7"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8"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9"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417320"/>
            <a:ext cx="11057839" cy="274320"/>
          </a:xfrm>
          <a:prstGeom prst="rect">
            <a:avLst/>
          </a:prstGeom>
          <a:noFill/>
          <a:ln/>
        </p:spPr>
        <p:txBody>
          <a:bodyPr wrap="square" lIns="0" tIns="0" rIns="0" bIns="0" rtlCol="0" anchor="ctr"/>
          <a:lstStyle/>
          <a:p>
            <a:pPr indent="0" marL="0">
              <a:buNone/>
            </a:pPr>
            <a:r>
              <a:rPr lang="en-US" sz="1150" b="1" spc="220" kern="0" dirty="0">
                <a:solidFill>
                  <a:srgbClr val="D4A537"/>
                </a:solidFill>
                <a:latin typeface="Calibri" pitchFamily="34" charset="0"/>
                <a:ea typeface="Calibri" pitchFamily="34" charset="-122"/>
                <a:cs typeface="Calibri" pitchFamily="34" charset="-120"/>
              </a:rPr>
              <a:t>DAY 2</a:t>
            </a:r>
            <a:endParaRPr lang="en-US" sz="1150" dirty="0"/>
          </a:p>
        </p:txBody>
      </p:sp>
      <p:sp>
        <p:nvSpPr>
          <p:cNvPr id="3" name="Text 1"/>
          <p:cNvSpPr txBox="1"/>
          <p:nvPr/>
        </p:nvSpPr>
        <p:spPr>
          <a:xfrm>
            <a:off x="566928" y="1783080"/>
            <a:ext cx="6081812"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Pipelines —</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from ETL to ELT</a:t>
            </a:r>
            <a:endParaRPr lang="en-US" sz="4000" dirty="0"/>
          </a:p>
        </p:txBody>
      </p:sp>
      <p:sp>
        <p:nvSpPr>
          <p:cNvPr id="4" name="Text 2"/>
          <p:cNvSpPr txBox="1"/>
          <p:nvPr/>
        </p:nvSpPr>
        <p:spPr>
          <a:xfrm>
            <a:off x="566928" y="3200400"/>
            <a:ext cx="6081812" cy="1371600"/>
          </a:xfrm>
          <a:prstGeom prst="rect">
            <a:avLst/>
          </a:prstGeom>
          <a:noFill/>
          <a:ln/>
        </p:spPr>
        <p:txBody>
          <a:bodyPr wrap="square" lIns="0" tIns="0" rIns="0" bIns="0" rtlCol="0" anchor="t"/>
          <a:lstStyle/>
          <a:p>
            <a:pPr indent="0" marL="0">
              <a:buNone/>
            </a:pPr>
            <a:r>
              <a:rPr lang="en-US" sz="1400" dirty="0">
                <a:solidFill>
                  <a:srgbClr val="9FB3BE"/>
                </a:solidFill>
                <a:latin typeface="Calibri" pitchFamily="34" charset="0"/>
                <a:ea typeface="Calibri" pitchFamily="34" charset="-122"/>
                <a:cs typeface="Calibri" pitchFamily="34" charset="-120"/>
              </a:rPr>
              <a:t>How bronze becomes a silver table people depend on: incremental, idempotent, tested, documented.</a:t>
            </a:r>
            <a:endParaRPr lang="en-US" sz="1400" dirty="0"/>
          </a:p>
        </p:txBody>
      </p:sp>
      <p:sp>
        <p:nvSpPr>
          <p:cNvPr id="5" name="Shape 3"/>
          <p:cNvSpPr/>
          <p:nvPr/>
        </p:nvSpPr>
        <p:spPr>
          <a:xfrm>
            <a:off x="7201632" y="1810512"/>
            <a:ext cx="329184" cy="329184"/>
          </a:xfrm>
          <a:prstGeom prst="ellipse">
            <a:avLst/>
          </a:prstGeom>
          <a:solidFill>
            <a:srgbClr val="B0763A"/>
          </a:solidFill>
          <a:ln w="12700">
            <a:solidFill>
              <a:srgbClr val="B0763A"/>
            </a:solidFill>
            <a:prstDash val="solid"/>
          </a:ln>
        </p:spPr>
      </p:sp>
      <p:sp>
        <p:nvSpPr>
          <p:cNvPr id="6" name="Text 4"/>
          <p:cNvSpPr txBox="1"/>
          <p:nvPr/>
        </p:nvSpPr>
        <p:spPr>
          <a:xfrm>
            <a:off x="7201632" y="18242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658832" y="1783080"/>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ETL vs ELT on the cloud</a:t>
            </a:r>
            <a:endParaRPr lang="en-US" sz="1300" dirty="0"/>
          </a:p>
        </p:txBody>
      </p:sp>
      <p:sp>
        <p:nvSpPr>
          <p:cNvPr id="8" name="Shape 6"/>
          <p:cNvSpPr/>
          <p:nvPr/>
        </p:nvSpPr>
        <p:spPr>
          <a:xfrm>
            <a:off x="7201632" y="2468880"/>
            <a:ext cx="329184" cy="329184"/>
          </a:xfrm>
          <a:prstGeom prst="ellipse">
            <a:avLst/>
          </a:prstGeom>
          <a:solidFill>
            <a:srgbClr val="8E9AA3"/>
          </a:solidFill>
          <a:ln w="12700">
            <a:solidFill>
              <a:srgbClr val="8E9AA3"/>
            </a:solidFill>
            <a:prstDash val="solid"/>
          </a:ln>
        </p:spPr>
      </p:sp>
      <p:sp>
        <p:nvSpPr>
          <p:cNvPr id="9" name="Text 7"/>
          <p:cNvSpPr txBox="1"/>
          <p:nvPr/>
        </p:nvSpPr>
        <p:spPr>
          <a:xfrm>
            <a:off x="7201632" y="248259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7658832" y="2441448"/>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dbt as the transformation framework</a:t>
            </a:r>
            <a:endParaRPr lang="en-US" sz="1300" dirty="0"/>
          </a:p>
        </p:txBody>
      </p:sp>
      <p:sp>
        <p:nvSpPr>
          <p:cNvPr id="11" name="Shape 9"/>
          <p:cNvSpPr/>
          <p:nvPr/>
        </p:nvSpPr>
        <p:spPr>
          <a:xfrm>
            <a:off x="7201632" y="3127248"/>
            <a:ext cx="329184" cy="329184"/>
          </a:xfrm>
          <a:prstGeom prst="ellipse">
            <a:avLst/>
          </a:prstGeom>
          <a:solidFill>
            <a:srgbClr val="D4A537"/>
          </a:solidFill>
          <a:ln w="12700">
            <a:solidFill>
              <a:srgbClr val="D4A537"/>
            </a:solidFill>
            <a:prstDash val="solid"/>
          </a:ln>
        </p:spPr>
      </p:sp>
      <p:sp>
        <p:nvSpPr>
          <p:cNvPr id="12" name="Text 10"/>
          <p:cNvSpPr txBox="1"/>
          <p:nvPr/>
        </p:nvSpPr>
        <p:spPr>
          <a:xfrm>
            <a:off x="7201632" y="31409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3" name="Text 11"/>
          <p:cNvSpPr txBox="1"/>
          <p:nvPr/>
        </p:nvSpPr>
        <p:spPr>
          <a:xfrm>
            <a:off x="7658832" y="3099816"/>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Idempotency and incremental models</a:t>
            </a:r>
            <a:endParaRPr lang="en-US" sz="1300" dirty="0"/>
          </a:p>
        </p:txBody>
      </p:sp>
      <p:sp>
        <p:nvSpPr>
          <p:cNvPr id="14" name="Shape 12"/>
          <p:cNvSpPr/>
          <p:nvPr/>
        </p:nvSpPr>
        <p:spPr>
          <a:xfrm>
            <a:off x="7201632" y="3785616"/>
            <a:ext cx="329184" cy="329184"/>
          </a:xfrm>
          <a:prstGeom prst="ellipse">
            <a:avLst/>
          </a:prstGeom>
          <a:solidFill>
            <a:srgbClr val="00A6A6"/>
          </a:solidFill>
          <a:ln w="12700">
            <a:solidFill>
              <a:srgbClr val="00A6A6"/>
            </a:solidFill>
            <a:prstDash val="solid"/>
          </a:ln>
        </p:spPr>
      </p:sp>
      <p:sp>
        <p:nvSpPr>
          <p:cNvPr id="15" name="Text 13"/>
          <p:cNvSpPr txBox="1"/>
          <p:nvPr/>
        </p:nvSpPr>
        <p:spPr>
          <a:xfrm>
            <a:off x="7201632" y="37993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6" name="Text 14"/>
          <p:cNvSpPr txBox="1"/>
          <p:nvPr/>
        </p:nvSpPr>
        <p:spPr>
          <a:xfrm>
            <a:off x="7658832" y="3758184"/>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late-arriving data bug</a:t>
            </a:r>
            <a:endParaRPr lang="en-US" sz="1300" dirty="0"/>
          </a:p>
        </p:txBody>
      </p:sp>
      <p:sp>
        <p:nvSpPr>
          <p:cNvPr id="17" name="Shape 15"/>
          <p:cNvSpPr/>
          <p:nvPr/>
        </p:nvSpPr>
        <p:spPr>
          <a:xfrm>
            <a:off x="7201632" y="4443984"/>
            <a:ext cx="329184" cy="329184"/>
          </a:xfrm>
          <a:prstGeom prst="ellipse">
            <a:avLst/>
          </a:prstGeom>
          <a:solidFill>
            <a:srgbClr val="D9503F"/>
          </a:solidFill>
          <a:ln w="12700">
            <a:solidFill>
              <a:srgbClr val="D9503F"/>
            </a:solidFill>
            <a:prstDash val="solid"/>
          </a:ln>
        </p:spPr>
      </p:sp>
      <p:sp>
        <p:nvSpPr>
          <p:cNvPr id="18" name="Text 16"/>
          <p:cNvSpPr txBox="1"/>
          <p:nvPr/>
        </p:nvSpPr>
        <p:spPr>
          <a:xfrm>
            <a:off x="7201632" y="44577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19" name="Text 17"/>
          <p:cNvSpPr txBox="1"/>
          <p:nvPr/>
        </p:nvSpPr>
        <p:spPr>
          <a:xfrm>
            <a:off x="7658832" y="4416552"/>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Labs 3a and 3b — build silver.trips</a:t>
            </a:r>
            <a:endParaRPr lang="en-US" sz="1300" dirty="0"/>
          </a:p>
        </p:txBody>
      </p:sp>
      <p:sp>
        <p:nvSpPr>
          <p:cNvPr id="20" name="Shape 18"/>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1" name="Shape 19"/>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2" name="Shape 20"/>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3" name="Text 21"/>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4" name="Text 22"/>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3 · SECTION 1</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ETL and ELT</a:t>
            </a:r>
            <a:endParaRPr lang="en-US" sz="3000" dirty="0"/>
          </a:p>
        </p:txBody>
      </p:sp>
      <p:sp>
        <p:nvSpPr>
          <p:cNvPr id="4" name="Shape 2"/>
          <p:cNvSpPr/>
          <p:nvPr/>
        </p:nvSpPr>
        <p:spPr>
          <a:xfrm>
            <a:off x="566928" y="1408999"/>
            <a:ext cx="5373472" cy="4155948"/>
          </a:xfrm>
          <a:prstGeom prst="roundRect">
            <a:avLst>
              <a:gd name="adj" fmla="val 1320"/>
            </a:avLst>
          </a:prstGeom>
          <a:solidFill>
            <a:srgbClr val="F4F6F7"/>
          </a:solidFill>
          <a:ln w="12700">
            <a:solidFill>
              <a:srgbClr val="DDE3E6"/>
            </a:solidFill>
            <a:prstDash val="solid"/>
          </a:ln>
        </p:spPr>
      </p:sp>
      <p:sp>
        <p:nvSpPr>
          <p:cNvPr id="5" name="Text 3"/>
          <p:cNvSpPr txBox="1"/>
          <p:nvPr/>
        </p:nvSpPr>
        <p:spPr>
          <a:xfrm>
            <a:off x="804672" y="1591879"/>
            <a:ext cx="4897984" cy="365760"/>
          </a:xfrm>
          <a:prstGeom prst="rect">
            <a:avLst/>
          </a:prstGeom>
          <a:noFill/>
          <a:ln/>
        </p:spPr>
        <p:txBody>
          <a:bodyPr wrap="square" lIns="0" tIns="0" rIns="0" bIns="0" rtlCol="0" anchor="ctr"/>
          <a:lstStyle/>
          <a:p>
            <a:pPr indent="0" marL="0">
              <a:buNone/>
            </a:pPr>
            <a:r>
              <a:rPr lang="en-US" sz="1600" b="1" dirty="0">
                <a:solidFill>
                  <a:srgbClr val="8E9AA3"/>
                </a:solidFill>
                <a:latin typeface="Calibri" pitchFamily="34" charset="0"/>
                <a:ea typeface="Calibri" pitchFamily="34" charset="-122"/>
                <a:cs typeface="Calibri" pitchFamily="34" charset="-120"/>
              </a:rPr>
              <a:t>ETL — Extract, Transform, Load</a:t>
            </a:r>
            <a:endParaRPr lang="en-US" sz="1600" dirty="0"/>
          </a:p>
        </p:txBody>
      </p:sp>
      <p:sp>
        <p:nvSpPr>
          <p:cNvPr id="6" name="Text 4"/>
          <p:cNvSpPr txBox="1"/>
          <p:nvPr/>
        </p:nvSpPr>
        <p:spPr>
          <a:xfrm>
            <a:off x="804672" y="1975927"/>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Born when storage was expensive and warehouses were rigid</a:t>
            </a:r>
            <a:endParaRPr lang="en-US" sz="1150" dirty="0"/>
          </a:p>
        </p:txBody>
      </p:sp>
      <p:sp>
        <p:nvSpPr>
          <p:cNvPr id="7" name="Text 5"/>
          <p:cNvSpPr txBox="1"/>
          <p:nvPr/>
        </p:nvSpPr>
        <p:spPr>
          <a:xfrm>
            <a:off x="804672" y="2341687"/>
            <a:ext cx="4897984" cy="3022092"/>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Transform BEFORE the data lands in the analytics store.</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You could not afford to keep raw, so you cleaned and shaped it in a separate engine and loaded only the finished product.</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Cost: raw data is discarded, so nothing can be reprocessed.</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Cost: transformation logic lives in a separate tool, outside the platform's version control and lineage.</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Cost: any logic change means re-extracting from source.</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Still right for: heavy transformation before a real-time sink; masking that must happen before data ever lands.</a:t>
            </a:r>
            <a:endParaRPr lang="en-US" sz="1250" dirty="0"/>
          </a:p>
        </p:txBody>
      </p:sp>
      <p:sp>
        <p:nvSpPr>
          <p:cNvPr id="8" name="Shape 6"/>
          <p:cNvSpPr/>
          <p:nvPr/>
        </p:nvSpPr>
        <p:spPr>
          <a:xfrm>
            <a:off x="6251296" y="1408999"/>
            <a:ext cx="5373472" cy="4155948"/>
          </a:xfrm>
          <a:prstGeom prst="roundRect">
            <a:avLst>
              <a:gd name="adj" fmla="val 1320"/>
            </a:avLst>
          </a:prstGeom>
          <a:solidFill>
            <a:srgbClr val="F4F6F7"/>
          </a:solidFill>
          <a:ln w="12700">
            <a:solidFill>
              <a:srgbClr val="DDE3E6"/>
            </a:solidFill>
            <a:prstDash val="solid"/>
          </a:ln>
        </p:spPr>
      </p:sp>
      <p:sp>
        <p:nvSpPr>
          <p:cNvPr id="9" name="Text 7"/>
          <p:cNvSpPr txBox="1"/>
          <p:nvPr/>
        </p:nvSpPr>
        <p:spPr>
          <a:xfrm>
            <a:off x="6489040" y="1591879"/>
            <a:ext cx="4897984" cy="365760"/>
          </a:xfrm>
          <a:prstGeom prst="rect">
            <a:avLst/>
          </a:prstGeom>
          <a:noFill/>
          <a:ln/>
        </p:spPr>
        <p:txBody>
          <a:bodyPr wrap="square" lIns="0" tIns="0" rIns="0" bIns="0" rtlCol="0" anchor="ctr"/>
          <a:lstStyle/>
          <a:p>
            <a:pPr indent="0" marL="0">
              <a:buNone/>
            </a:pPr>
            <a:r>
              <a:rPr lang="en-US" sz="1600" b="1" dirty="0">
                <a:solidFill>
                  <a:srgbClr val="00A6A6"/>
                </a:solidFill>
                <a:latin typeface="Calibri" pitchFamily="34" charset="0"/>
                <a:ea typeface="Calibri" pitchFamily="34" charset="-122"/>
                <a:cs typeface="Calibri" pitchFamily="34" charset="-120"/>
              </a:rPr>
              <a:t>ELT — Extract, Load, Transform</a:t>
            </a:r>
            <a:endParaRPr lang="en-US" sz="1600" dirty="0"/>
          </a:p>
        </p:txBody>
      </p:sp>
      <p:sp>
        <p:nvSpPr>
          <p:cNvPr id="10" name="Text 8"/>
          <p:cNvSpPr txBox="1"/>
          <p:nvPr/>
        </p:nvSpPr>
        <p:spPr>
          <a:xfrm>
            <a:off x="6489040" y="1975927"/>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Cheap storage keeps raw; elastic compute transforms in place</a:t>
            </a:r>
            <a:endParaRPr lang="en-US" sz="1150" dirty="0"/>
          </a:p>
        </p:txBody>
      </p:sp>
      <p:sp>
        <p:nvSpPr>
          <p:cNvPr id="11" name="Text 9"/>
          <p:cNvSpPr txBox="1"/>
          <p:nvPr/>
        </p:nvSpPr>
        <p:spPr>
          <a:xfrm>
            <a:off x="6489040" y="2341687"/>
            <a:ext cx="4897984" cy="3022092"/>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Land RAW first — this is bronze — then transform inside the platform with its own elastic compute.</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Reprocessing: raw is retained, so a fixed transformation reruns over all history.</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Auditability: every curated value traces back to an untouched source row.</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Velocity: changing logic is a code change and a rerun, never a re-ingestion.</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Ownership: transformations are SQL models that analysts and engineers both review.</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For an AI-data Lakehouse, ELT is the default. This course builds ELT.</a:t>
            </a:r>
            <a:endParaRPr lang="en-US" sz="1250" dirty="0"/>
          </a:p>
        </p:txBody>
      </p:sp>
      <p:sp>
        <p:nvSpPr>
          <p:cNvPr id="12" name="Text 10"/>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The four ELT payoffs are exactly the four medallion virtues. That is not a coincidence — ELT is what the medallion is for.</a:t>
            </a:r>
            <a:endParaRPr lang="en-US" sz="1200" dirty="0"/>
          </a:p>
        </p:txBody>
      </p:sp>
      <p:sp>
        <p:nvSpPr>
          <p:cNvPr id="13" name="Shape 11"/>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4" name="Shape 12"/>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5" name="Shape 13"/>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6" name="Text 14"/>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7" name="Text 15"/>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3 · SECTION 2</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dbt layering mirrors the medallion</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Models are SELECT statements dbt materialises; ref() and source() build the dependency graph and run order.</a:t>
            </a:r>
            <a:endParaRPr lang="en-US" sz="133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883664"/>
          <a:ext cx="11057839" cy="914400"/>
        </p:xfrm>
        <a:graphic>
          <a:graphicData uri="http://schemas.openxmlformats.org/drawingml/2006/table">
            <a:tbl>
              <a:tblPr/>
              <a:tblGrid>
                <a:gridCol w="1737360"/>
                <a:gridCol w="1600200"/>
                <a:gridCol w="3657600"/>
                <a:gridCol w="1737360"/>
                <a:gridCol w="2322576"/>
              </a:tblGrid>
              <a:tr h="92354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dbt layer</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Medallion</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Materialisation</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Masar example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r>
              <a:tr h="923544">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staging (stg_)</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bronze →</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1:1 with a source: rename, cast, light clean. No joins. Isolates every source quirk in exactly one place.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view or incremental</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stg_trips, stg_gps, stg_drivers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923544">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intermediate (int_)</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 silver</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Reusable joins and derivations shared by several marts. Removes duplication between models.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ephemeral or view</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int_trips_with_driver</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923544">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marts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silver, gold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Conformed entities and business aggregates — the stable contract consumers read.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table or incremental</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silver.trips, gold.zone_hourly_demand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bl>
          </a:graphicData>
        </a:graphic>
      </p:graphicFrame>
      <p:sp>
        <p:nvSpPr>
          <p:cNvPr id="6" name="Text 3"/>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Why it matters: renaming a source column touches exactly one staging model. Cast and rename in marts instead, and a single rename breaks ten models at once.</a:t>
            </a:r>
            <a:endParaRPr lang="en-US" sz="1200" dirty="0"/>
          </a:p>
        </p:txBody>
      </p:sp>
      <p:sp>
        <p:nvSpPr>
          <p:cNvPr id="7" name="Shape 4"/>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8" name="Shape 5"/>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9" name="Shape 6"/>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0" name="Text 7"/>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1" name="Text 8"/>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3 · SECTION 3</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Idempotency: the property that makes retries safe</a:t>
            </a:r>
            <a:endParaRPr lang="en-US" sz="3000" dirty="0"/>
          </a:p>
        </p:txBody>
      </p:sp>
      <p:sp>
        <p:nvSpPr>
          <p:cNvPr id="4" name="Text 2"/>
          <p:cNvSpPr txBox="1"/>
          <p:nvPr/>
        </p:nvSpPr>
        <p:spPr>
          <a:xfrm>
            <a:off x="566928" y="1389888"/>
            <a:ext cx="10692079" cy="439166"/>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Running the transformation twice yields the same result as running it once. This is what makes retries, backfills and disaster recovery safe.</a:t>
            </a:r>
            <a:endParaRPr lang="en-US" sz="1330" dirty="0"/>
          </a:p>
        </p:txBody>
      </p:sp>
      <p:sp>
        <p:nvSpPr>
          <p:cNvPr id="5" name="Shape 3"/>
          <p:cNvSpPr/>
          <p:nvPr/>
        </p:nvSpPr>
        <p:spPr>
          <a:xfrm>
            <a:off x="566928" y="1993646"/>
            <a:ext cx="384048" cy="384048"/>
          </a:xfrm>
          <a:prstGeom prst="ellipse">
            <a:avLst/>
          </a:prstGeom>
          <a:solidFill>
            <a:srgbClr val="00A6A6"/>
          </a:solidFill>
          <a:ln w="12700">
            <a:solidFill>
              <a:srgbClr val="00A6A6"/>
            </a:solidFill>
            <a:prstDash val="solid"/>
          </a:ln>
        </p:spPr>
      </p:sp>
      <p:sp>
        <p:nvSpPr>
          <p:cNvPr id="6" name="Text 4"/>
          <p:cNvSpPr txBox="1"/>
          <p:nvPr/>
        </p:nvSpPr>
        <p:spPr>
          <a:xfrm>
            <a:off x="566928" y="200736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7" name="Text 5"/>
          <p:cNvSpPr txBox="1"/>
          <p:nvPr/>
        </p:nvSpPr>
        <p:spPr>
          <a:xfrm>
            <a:off x="1133856" y="1957070"/>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MERGE on a key is idempotent</a:t>
            </a:r>
            <a:endParaRPr lang="en-US" sz="1500" dirty="0"/>
          </a:p>
        </p:txBody>
      </p:sp>
      <p:sp>
        <p:nvSpPr>
          <p:cNvPr id="8" name="Text 6"/>
          <p:cNvSpPr txBox="1"/>
          <p:nvPr/>
        </p:nvSpPr>
        <p:spPr>
          <a:xfrm>
            <a:off x="1133856" y="2222246"/>
            <a:ext cx="10417759" cy="667512"/>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Re-applying the same rows updates nothing. The second run is a no-op. This is why every layer downstream of bronze in this course merges on trip_id.</a:t>
            </a:r>
            <a:endParaRPr lang="en-US" sz="1250" dirty="0"/>
          </a:p>
        </p:txBody>
      </p:sp>
      <p:sp>
        <p:nvSpPr>
          <p:cNvPr id="9" name="Shape 7"/>
          <p:cNvSpPr/>
          <p:nvPr/>
        </p:nvSpPr>
        <p:spPr>
          <a:xfrm>
            <a:off x="566928" y="2953766"/>
            <a:ext cx="384048" cy="384048"/>
          </a:xfrm>
          <a:prstGeom prst="ellipse">
            <a:avLst/>
          </a:prstGeom>
          <a:solidFill>
            <a:srgbClr val="D9503F"/>
          </a:solidFill>
          <a:ln w="12700">
            <a:solidFill>
              <a:srgbClr val="D9503F"/>
            </a:solidFill>
            <a:prstDash val="solid"/>
          </a:ln>
        </p:spPr>
      </p:sp>
      <p:sp>
        <p:nvSpPr>
          <p:cNvPr id="10" name="Text 8"/>
          <p:cNvSpPr txBox="1"/>
          <p:nvPr/>
        </p:nvSpPr>
        <p:spPr>
          <a:xfrm>
            <a:off x="566928" y="296748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1" name="Text 9"/>
          <p:cNvSpPr txBox="1"/>
          <p:nvPr/>
        </p:nvSpPr>
        <p:spPr>
          <a:xfrm>
            <a:off x="1133856" y="2917190"/>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A blind INSERT is not</a:t>
            </a:r>
            <a:endParaRPr lang="en-US" sz="1500" dirty="0"/>
          </a:p>
        </p:txBody>
      </p:sp>
      <p:sp>
        <p:nvSpPr>
          <p:cNvPr id="12" name="Text 10"/>
          <p:cNvSpPr txBox="1"/>
          <p:nvPr/>
        </p:nvSpPr>
        <p:spPr>
          <a:xfrm>
            <a:off x="1133856" y="3182366"/>
            <a:ext cx="10417759" cy="667512"/>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The second run duplicates everything. It is the single most common cause of an aggregate that silently doubles after a retry.</a:t>
            </a:r>
            <a:endParaRPr lang="en-US" sz="1250" dirty="0"/>
          </a:p>
        </p:txBody>
      </p:sp>
      <p:sp>
        <p:nvSpPr>
          <p:cNvPr id="13" name="Shape 11"/>
          <p:cNvSpPr/>
          <p:nvPr/>
        </p:nvSpPr>
        <p:spPr>
          <a:xfrm>
            <a:off x="566928" y="3913886"/>
            <a:ext cx="384048" cy="384048"/>
          </a:xfrm>
          <a:prstGeom prst="ellipse">
            <a:avLst/>
          </a:prstGeom>
          <a:solidFill>
            <a:srgbClr val="B0763A"/>
          </a:solidFill>
          <a:ln w="12700">
            <a:solidFill>
              <a:srgbClr val="B0763A"/>
            </a:solidFill>
            <a:prstDash val="solid"/>
          </a:ln>
        </p:spPr>
      </p:sp>
      <p:sp>
        <p:nvSpPr>
          <p:cNvPr id="14" name="Text 12"/>
          <p:cNvSpPr txBox="1"/>
          <p:nvPr/>
        </p:nvSpPr>
        <p:spPr>
          <a:xfrm>
            <a:off x="566928" y="392760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5" name="Text 13"/>
          <p:cNvSpPr txBox="1"/>
          <p:nvPr/>
        </p:nvSpPr>
        <p:spPr>
          <a:xfrm>
            <a:off x="1133856" y="3877310"/>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Incremental processing is the other half</a:t>
            </a:r>
            <a:endParaRPr lang="en-US" sz="1500" dirty="0"/>
          </a:p>
        </p:txBody>
      </p:sp>
      <p:sp>
        <p:nvSpPr>
          <p:cNvPr id="16" name="Text 14"/>
          <p:cNvSpPr txBox="1"/>
          <p:nvPr/>
        </p:nvSpPr>
        <p:spPr>
          <a:xfrm>
            <a:off x="1133856" y="4142486"/>
            <a:ext cx="10417759" cy="667512"/>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On day 400 you do not re-transform 400 days of trips. You transform the last day and merge it in. dbt's incremental materialisation expresses exactly this.</a:t>
            </a:r>
            <a:endParaRPr lang="en-US" sz="1250" dirty="0"/>
          </a:p>
        </p:txBody>
      </p:sp>
      <p:sp>
        <p:nvSpPr>
          <p:cNvPr id="17" name="Shape 15"/>
          <p:cNvSpPr/>
          <p:nvPr/>
        </p:nvSpPr>
        <p:spPr>
          <a:xfrm>
            <a:off x="566928" y="4874006"/>
            <a:ext cx="384048" cy="384048"/>
          </a:xfrm>
          <a:prstGeom prst="ellipse">
            <a:avLst/>
          </a:prstGeom>
          <a:solidFill>
            <a:srgbClr val="D4A537"/>
          </a:solidFill>
          <a:ln w="12700">
            <a:solidFill>
              <a:srgbClr val="D4A537"/>
            </a:solidFill>
            <a:prstDash val="solid"/>
          </a:ln>
        </p:spPr>
      </p:sp>
      <p:sp>
        <p:nvSpPr>
          <p:cNvPr id="18" name="Text 16"/>
          <p:cNvSpPr txBox="1"/>
          <p:nvPr/>
        </p:nvSpPr>
        <p:spPr>
          <a:xfrm>
            <a:off x="566928" y="488772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9" name="Text 17"/>
          <p:cNvSpPr txBox="1"/>
          <p:nvPr/>
        </p:nvSpPr>
        <p:spPr>
          <a:xfrm>
            <a:off x="1133856" y="4837430"/>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Together they make backfills boring</a:t>
            </a:r>
            <a:endParaRPr lang="en-US" sz="1500" dirty="0"/>
          </a:p>
        </p:txBody>
      </p:sp>
      <p:sp>
        <p:nvSpPr>
          <p:cNvPr id="20" name="Text 18"/>
          <p:cNvSpPr txBox="1"/>
          <p:nvPr/>
        </p:nvSpPr>
        <p:spPr>
          <a:xfrm>
            <a:off x="1133856" y="5102606"/>
            <a:ext cx="10417759" cy="667512"/>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Parameterise the date range and rerun. Idempotency guarantees correctness; incrementality guarantees it finishes. A corrected model can repair six months of history in one run.</a:t>
            </a:r>
            <a:endParaRPr lang="en-US" sz="1250" dirty="0"/>
          </a:p>
        </p:txBody>
      </p:sp>
      <p:sp>
        <p:nvSpPr>
          <p:cNvPr id="21" name="Shape 19"/>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2" name="Shape 20"/>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3" name="Shape 21"/>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4" name="Text 22"/>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5" name="Text 23"/>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3 · SECTION 3</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The single most common production pipeline bug</a:t>
            </a:r>
            <a:endParaRPr lang="en-US" sz="3000" dirty="0"/>
          </a:p>
        </p:txBody>
      </p:sp>
      <p:sp>
        <p:nvSpPr>
          <p:cNvPr id="4" name="Shape 2"/>
          <p:cNvSpPr/>
          <p:nvPr/>
        </p:nvSpPr>
        <p:spPr>
          <a:xfrm>
            <a:off x="566928" y="1389888"/>
            <a:ext cx="6634704" cy="4736592"/>
          </a:xfrm>
          <a:prstGeom prst="roundRect">
            <a:avLst>
              <a:gd name="adj" fmla="val 1158"/>
            </a:avLst>
          </a:prstGeom>
          <a:solidFill>
            <a:srgbClr val="10202B"/>
          </a:solidFill>
          <a:ln w="12700">
            <a:solidFill>
              <a:srgbClr val="10202B"/>
            </a:solidFill>
            <a:prstDash val="solid"/>
          </a:ln>
        </p:spPr>
      </p:sp>
      <p:sp>
        <p:nvSpPr>
          <p:cNvPr id="5" name="Text 3"/>
          <p:cNvSpPr txBox="1"/>
          <p:nvPr/>
        </p:nvSpPr>
        <p:spPr>
          <a:xfrm>
            <a:off x="6012912" y="1481328"/>
            <a:ext cx="1005840" cy="219456"/>
          </a:xfrm>
          <a:prstGeom prst="rect">
            <a:avLst/>
          </a:prstGeom>
          <a:noFill/>
          <a:ln/>
        </p:spPr>
        <p:txBody>
          <a:bodyPr wrap="square" lIns="0" tIns="0" rIns="0" bIns="0" rtlCol="0" anchor="ctr"/>
          <a:lstStyle/>
          <a:p>
            <a:pPr algn="r" indent="0" marL="0">
              <a:buNone/>
            </a:pPr>
            <a:r>
              <a:rPr lang="en-US" sz="900" dirty="0">
                <a:solidFill>
                  <a:srgbClr val="9FB3BE"/>
                </a:solidFill>
                <a:latin typeface="Courier New" pitchFamily="34" charset="0"/>
                <a:ea typeface="Courier New" pitchFamily="34" charset="-122"/>
                <a:cs typeface="Courier New" pitchFamily="34" charset="-120"/>
              </a:rPr>
              <a:t>sql · dbt</a:t>
            </a:r>
            <a:endParaRPr lang="en-US" sz="900" dirty="0"/>
          </a:p>
        </p:txBody>
      </p:sp>
      <p:sp>
        <p:nvSpPr>
          <p:cNvPr id="6" name="Text 4"/>
          <p:cNvSpPr txBox="1"/>
          <p:nvPr/>
        </p:nvSpPr>
        <p:spPr>
          <a:xfrm>
            <a:off x="768096" y="1572768"/>
            <a:ext cx="6232368" cy="4407408"/>
          </a:xfrm>
          <a:prstGeom prst="rect">
            <a:avLst/>
          </a:prstGeom>
          <a:noFill/>
          <a:ln/>
        </p:spPr>
        <p:txBody>
          <a:bodyPr wrap="square" lIns="0" tIns="0" rIns="0" bIns="0" rtlCol="0" anchor="t"/>
          <a:lstStyle/>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WRONG: silently drops every late-arriving trip</a:t>
            </a: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config(materialized='incremental', unique_key='trip_id') }}</a:t>
            </a:r>
            <a:endParaRPr lang="en-US" sz="1050" dirty="0"/>
          </a:p>
          <a:p>
            <a:pPr indent="0" marL="0">
              <a:lnSpc>
                <a:spcPct val="106000"/>
              </a:lnSpc>
              <a:buNone/>
            </a:pP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select * from {{ ref('stg_trips') }}</a:t>
            </a: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if is_incremental() %}</a:t>
            </a: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where pickup_date = current_date()      -- &lt;-- the bug</a:t>
            </a: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endif %}</a:t>
            </a:r>
            <a:endParaRPr lang="en-US" sz="1050" dirty="0"/>
          </a:p>
          <a:p>
            <a:pPr indent="0" marL="0">
              <a:lnSpc>
                <a:spcPct val="106000"/>
              </a:lnSpc>
              <a:buNone/>
            </a:pPr>
            <a:endParaRPr lang="en-US" sz="1050" dirty="0"/>
          </a:p>
          <a:p>
            <a:pPr indent="0" marL="0">
              <a:lnSpc>
                <a:spcPct val="106000"/>
              </a:lnSpc>
              <a:buNone/>
            </a:pP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RIGHT: lookback window + merge on the business key</a:t>
            </a: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config(</a:t>
            </a: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materialized = 'incremental',</a:t>
            </a: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unique_key   = 'trip_id',</a:t>
            </a: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incremental_strategy = 'merge',</a:t>
            </a: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partition_by = ['pickup_date']</a:t>
            </a: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select * from {{ ref('stg_trips') }}</a:t>
            </a: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if is_incremental() %}</a:t>
            </a: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where pickup_date &gt;= date_sub(current_date(), 3)   -- 3-day lookback</a:t>
            </a: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endif %}</a:t>
            </a:r>
            <a:endParaRPr lang="en-US" sz="1050" dirty="0"/>
          </a:p>
          <a:p>
            <a:pPr indent="0" marL="0">
              <a:lnSpc>
                <a:spcPct val="106000"/>
              </a:lnSpc>
              <a:buNone/>
            </a:pP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and in _silver__models.yml:</a:t>
            </a:r>
            <a:endParaRPr lang="en-US" sz="1050" dirty="0"/>
          </a:p>
          <a:p>
            <a:pPr indent="0" marL="0">
              <a:lnSpc>
                <a:spcPct val="106000"/>
              </a:lnSpc>
              <a:buNone/>
            </a:pPr>
            <a:r>
              <a:rPr lang="en-US" sz="1050" dirty="0">
                <a:solidFill>
                  <a:srgbClr val="E8F0F3"/>
                </a:solidFill>
                <a:latin typeface="Courier New" pitchFamily="34" charset="0"/>
                <a:ea typeface="Courier New" pitchFamily="34" charset="-122"/>
                <a:cs typeface="Courier New" pitchFamily="34" charset="-120"/>
              </a:rPr>
              <a:t>--   tests: [unique, not_null]  on trip_id</a:t>
            </a:r>
            <a:endParaRPr lang="en-US" sz="1050" dirty="0"/>
          </a:p>
        </p:txBody>
      </p:sp>
      <p:sp>
        <p:nvSpPr>
          <p:cNvPr id="7" name="Shape 5"/>
          <p:cNvSpPr/>
          <p:nvPr/>
        </p:nvSpPr>
        <p:spPr>
          <a:xfrm>
            <a:off x="7475952" y="1426464"/>
            <a:ext cx="310896" cy="310896"/>
          </a:xfrm>
          <a:prstGeom prst="ellipse">
            <a:avLst/>
          </a:prstGeom>
          <a:solidFill>
            <a:srgbClr val="B0763A"/>
          </a:solidFill>
          <a:ln w="12700">
            <a:solidFill>
              <a:srgbClr val="B0763A"/>
            </a:solidFill>
            <a:prstDash val="solid"/>
          </a:ln>
        </p:spPr>
      </p:sp>
      <p:sp>
        <p:nvSpPr>
          <p:cNvPr id="8" name="Text 6"/>
          <p:cNvSpPr txBox="1"/>
          <p:nvPr/>
        </p:nvSpPr>
        <p:spPr>
          <a:xfrm>
            <a:off x="7475952" y="14401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txBox="1"/>
          <p:nvPr/>
        </p:nvSpPr>
        <p:spPr>
          <a:xfrm>
            <a:off x="7896576" y="13990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A trip that ended yesterday may only reach bronze today — payment settles after midnight, a device was in a tunnel, a source retried.</a:t>
            </a:r>
            <a:endParaRPr lang="en-US" sz="1200" dirty="0"/>
          </a:p>
        </p:txBody>
      </p:sp>
      <p:sp>
        <p:nvSpPr>
          <p:cNvPr id="10" name="Shape 8"/>
          <p:cNvSpPr/>
          <p:nvPr/>
        </p:nvSpPr>
        <p:spPr>
          <a:xfrm>
            <a:off x="7475952" y="2340864"/>
            <a:ext cx="310896" cy="310896"/>
          </a:xfrm>
          <a:prstGeom prst="ellipse">
            <a:avLst/>
          </a:prstGeom>
          <a:solidFill>
            <a:srgbClr val="00A6A6"/>
          </a:solidFill>
          <a:ln w="12700">
            <a:solidFill>
              <a:srgbClr val="00A6A6"/>
            </a:solidFill>
            <a:prstDash val="solid"/>
          </a:ln>
        </p:spPr>
      </p:sp>
      <p:sp>
        <p:nvSpPr>
          <p:cNvPr id="11" name="Text 9"/>
          <p:cNvSpPr txBox="1"/>
          <p:nvPr/>
        </p:nvSpPr>
        <p:spPr>
          <a:xfrm>
            <a:off x="7475952" y="23545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txBox="1"/>
          <p:nvPr/>
        </p:nvSpPr>
        <p:spPr>
          <a:xfrm>
            <a:off x="7896576" y="23134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WHERE date = today never sees it. The row is not rejected and no error is raised. It simply never arrives.</a:t>
            </a:r>
            <a:endParaRPr lang="en-US" sz="1200" dirty="0"/>
          </a:p>
        </p:txBody>
      </p:sp>
      <p:sp>
        <p:nvSpPr>
          <p:cNvPr id="13" name="Shape 11"/>
          <p:cNvSpPr/>
          <p:nvPr/>
        </p:nvSpPr>
        <p:spPr>
          <a:xfrm>
            <a:off x="7475952" y="3255264"/>
            <a:ext cx="310896" cy="310896"/>
          </a:xfrm>
          <a:prstGeom prst="ellipse">
            <a:avLst/>
          </a:prstGeom>
          <a:solidFill>
            <a:srgbClr val="D4A537"/>
          </a:solidFill>
          <a:ln w="12700">
            <a:solidFill>
              <a:srgbClr val="D4A537"/>
            </a:solidFill>
            <a:prstDash val="solid"/>
          </a:ln>
        </p:spPr>
      </p:sp>
      <p:sp>
        <p:nvSpPr>
          <p:cNvPr id="14" name="Text 12"/>
          <p:cNvSpPr txBox="1"/>
          <p:nvPr/>
        </p:nvSpPr>
        <p:spPr>
          <a:xfrm>
            <a:off x="7475952" y="32689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5" name="Text 13"/>
          <p:cNvSpPr txBox="1"/>
          <p:nvPr/>
        </p:nvSpPr>
        <p:spPr>
          <a:xfrm>
            <a:off x="7896576" y="32278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The lookback window reprocesses the last N days; the MERGE on trip_id corrects late rows without duplicating settled ones.</a:t>
            </a:r>
            <a:endParaRPr lang="en-US" sz="1200" dirty="0"/>
          </a:p>
        </p:txBody>
      </p:sp>
      <p:sp>
        <p:nvSpPr>
          <p:cNvPr id="16" name="Shape 14"/>
          <p:cNvSpPr/>
          <p:nvPr/>
        </p:nvSpPr>
        <p:spPr>
          <a:xfrm>
            <a:off x="7475952" y="4169664"/>
            <a:ext cx="310896" cy="310896"/>
          </a:xfrm>
          <a:prstGeom prst="ellipse">
            <a:avLst/>
          </a:prstGeom>
          <a:solidFill>
            <a:srgbClr val="D9503F"/>
          </a:solidFill>
          <a:ln w="12700">
            <a:solidFill>
              <a:srgbClr val="D9503F"/>
            </a:solidFill>
            <a:prstDash val="solid"/>
          </a:ln>
        </p:spPr>
      </p:sp>
      <p:sp>
        <p:nvSpPr>
          <p:cNvPr id="17" name="Text 15"/>
          <p:cNvSpPr txBox="1"/>
          <p:nvPr/>
        </p:nvSpPr>
        <p:spPr>
          <a:xfrm>
            <a:off x="7475952" y="41833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8" name="Text 16"/>
          <p:cNvSpPr txBox="1"/>
          <p:nvPr/>
        </p:nvSpPr>
        <p:spPr>
          <a:xfrm>
            <a:off x="7896576" y="41422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The unique test on the key is what tells you the day the fix stops working.</a:t>
            </a:r>
            <a:endParaRPr lang="en-US" sz="1200" dirty="0"/>
          </a:p>
        </p:txBody>
      </p:sp>
      <p:sp>
        <p:nvSpPr>
          <p:cNvPr id="19" name="Shape 17"/>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0" name="Shape 18"/>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1" name="Shape 19"/>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2" name="Text 20"/>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3" name="Text 21"/>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CASE STUDY CS-03 · 20 MINUTES</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The silent undercount at “Wusool” Mobility</a:t>
            </a:r>
            <a:endParaRPr lang="en-US" sz="3000" dirty="0"/>
          </a:p>
        </p:txBody>
      </p:sp>
      <p:sp>
        <p:nvSpPr>
          <p:cNvPr id="4" name="Shape 2"/>
          <p:cNvSpPr/>
          <p:nvPr/>
        </p:nvSpPr>
        <p:spPr>
          <a:xfrm>
            <a:off x="566928" y="1781251"/>
            <a:ext cx="2572436" cy="2286000"/>
          </a:xfrm>
          <a:prstGeom prst="roundRect">
            <a:avLst>
              <a:gd name="adj" fmla="val 2400"/>
            </a:avLst>
          </a:prstGeom>
          <a:solidFill>
            <a:srgbClr val="F4F6F7"/>
          </a:solidFill>
          <a:ln w="12700">
            <a:solidFill>
              <a:srgbClr val="DDE3E6"/>
            </a:solidFill>
            <a:prstDash val="solid"/>
          </a:ln>
        </p:spPr>
      </p:sp>
      <p:sp>
        <p:nvSpPr>
          <p:cNvPr id="5" name="Text 3"/>
          <p:cNvSpPr txBox="1"/>
          <p:nvPr/>
        </p:nvSpPr>
        <p:spPr>
          <a:xfrm>
            <a:off x="786384" y="1964131"/>
            <a:ext cx="2133524" cy="232029"/>
          </a:xfrm>
          <a:prstGeom prst="rect">
            <a:avLst/>
          </a:prstGeom>
          <a:noFill/>
          <a:ln/>
        </p:spPr>
        <p:txBody>
          <a:bodyPr wrap="square" lIns="0" tIns="0" rIns="0" bIns="0" rtlCol="0" anchor="t"/>
          <a:lstStyle/>
          <a:p>
            <a:pPr indent="0" marL="0">
              <a:buNone/>
            </a:pPr>
            <a:r>
              <a:rPr lang="en-US" sz="1450" b="1" dirty="0">
                <a:solidFill>
                  <a:srgbClr val="8E9AA3"/>
                </a:solidFill>
                <a:latin typeface="Calibri" pitchFamily="34" charset="0"/>
                <a:ea typeface="Calibri" pitchFamily="34" charset="-122"/>
                <a:cs typeface="Calibri" pitchFamily="34" charset="-120"/>
              </a:rPr>
              <a:t>The symptom</a:t>
            </a:r>
            <a:endParaRPr lang="en-US" sz="1450" dirty="0"/>
          </a:p>
        </p:txBody>
      </p:sp>
      <p:sp>
        <p:nvSpPr>
          <p:cNvPr id="6" name="Text 4"/>
          <p:cNvSpPr txBox="1"/>
          <p:nvPr/>
        </p:nvSpPr>
        <p:spPr>
          <a:xfrm>
            <a:off x="786384" y="2287600"/>
            <a:ext cx="2133524" cy="161505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Daily completed-trips is about 2% below what the operations system reports. Every individual row is valid. No test fails. No alert fires.</a:t>
            </a:r>
            <a:endParaRPr lang="en-US" sz="1200" dirty="0"/>
          </a:p>
        </p:txBody>
      </p:sp>
      <p:sp>
        <p:nvSpPr>
          <p:cNvPr id="7" name="Shape 5"/>
          <p:cNvSpPr/>
          <p:nvPr/>
        </p:nvSpPr>
        <p:spPr>
          <a:xfrm>
            <a:off x="3395396" y="1781251"/>
            <a:ext cx="2572436" cy="2286000"/>
          </a:xfrm>
          <a:prstGeom prst="roundRect">
            <a:avLst>
              <a:gd name="adj" fmla="val 2400"/>
            </a:avLst>
          </a:prstGeom>
          <a:solidFill>
            <a:srgbClr val="F4F6F7"/>
          </a:solidFill>
          <a:ln w="12700">
            <a:solidFill>
              <a:srgbClr val="DDE3E6"/>
            </a:solidFill>
            <a:prstDash val="solid"/>
          </a:ln>
        </p:spPr>
      </p:sp>
      <p:sp>
        <p:nvSpPr>
          <p:cNvPr id="8" name="Text 6"/>
          <p:cNvSpPr txBox="1"/>
          <p:nvPr/>
        </p:nvSpPr>
        <p:spPr>
          <a:xfrm>
            <a:off x="3614852" y="1964131"/>
            <a:ext cx="2133524" cy="232029"/>
          </a:xfrm>
          <a:prstGeom prst="rect">
            <a:avLst/>
          </a:prstGeom>
          <a:noFill/>
          <a:ln/>
        </p:spPr>
        <p:txBody>
          <a:bodyPr wrap="square" lIns="0" tIns="0" rIns="0" bIns="0" rtlCol="0" anchor="t"/>
          <a:lstStyle/>
          <a:p>
            <a:pPr indent="0" marL="0">
              <a:buNone/>
            </a:pPr>
            <a:r>
              <a:rPr lang="en-US" sz="1450" b="1" dirty="0">
                <a:solidFill>
                  <a:srgbClr val="D9503F"/>
                </a:solidFill>
                <a:latin typeface="Calibri" pitchFamily="34" charset="0"/>
                <a:ea typeface="Calibri" pitchFamily="34" charset="-122"/>
                <a:cs typeface="Calibri" pitchFamily="34" charset="-120"/>
              </a:rPr>
              <a:t>The cause</a:t>
            </a:r>
            <a:endParaRPr lang="en-US" sz="1450" dirty="0"/>
          </a:p>
        </p:txBody>
      </p:sp>
      <p:sp>
        <p:nvSpPr>
          <p:cNvPr id="9" name="Text 7"/>
          <p:cNvSpPr txBox="1"/>
          <p:nvPr/>
        </p:nvSpPr>
        <p:spPr>
          <a:xfrm>
            <a:off x="3614852" y="2287600"/>
            <a:ext cx="2133524" cy="161505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The daily model filters WHERE trip_date = current_date(). Trips whose payment settled after midnight arrive in bronze the next morning and are never counted.</a:t>
            </a:r>
            <a:endParaRPr lang="en-US" sz="1200" dirty="0"/>
          </a:p>
        </p:txBody>
      </p:sp>
      <p:sp>
        <p:nvSpPr>
          <p:cNvPr id="10" name="Shape 8"/>
          <p:cNvSpPr/>
          <p:nvPr/>
        </p:nvSpPr>
        <p:spPr>
          <a:xfrm>
            <a:off x="6223864" y="1781251"/>
            <a:ext cx="2572436" cy="2286000"/>
          </a:xfrm>
          <a:prstGeom prst="roundRect">
            <a:avLst>
              <a:gd name="adj" fmla="val 2400"/>
            </a:avLst>
          </a:prstGeom>
          <a:solidFill>
            <a:srgbClr val="F4F6F7"/>
          </a:solidFill>
          <a:ln w="12700">
            <a:solidFill>
              <a:srgbClr val="DDE3E6"/>
            </a:solidFill>
            <a:prstDash val="solid"/>
          </a:ln>
        </p:spPr>
      </p:sp>
      <p:sp>
        <p:nvSpPr>
          <p:cNvPr id="11" name="Text 9"/>
          <p:cNvSpPr txBox="1"/>
          <p:nvPr/>
        </p:nvSpPr>
        <p:spPr>
          <a:xfrm>
            <a:off x="6443320" y="1964131"/>
            <a:ext cx="2133524" cy="232029"/>
          </a:xfrm>
          <a:prstGeom prst="rect">
            <a:avLst/>
          </a:prstGeom>
          <a:noFill/>
          <a:ln/>
        </p:spPr>
        <p:txBody>
          <a:bodyPr wrap="square" lIns="0" tIns="0" rIns="0" bIns="0" rtlCol="0" anchor="t"/>
          <a:lstStyle/>
          <a:p>
            <a:pPr indent="0" marL="0">
              <a:buNone/>
            </a:pPr>
            <a:r>
              <a:rPr lang="en-US" sz="1450" b="1" dirty="0">
                <a:solidFill>
                  <a:srgbClr val="D9503F"/>
                </a:solidFill>
                <a:latin typeface="Calibri" pitchFamily="34" charset="0"/>
                <a:ea typeface="Calibri" pitchFamily="34" charset="-122"/>
                <a:cs typeface="Calibri" pitchFamily="34" charset="-120"/>
              </a:rPr>
              <a:t>The damage</a:t>
            </a:r>
            <a:endParaRPr lang="en-US" sz="1450" dirty="0"/>
          </a:p>
        </p:txBody>
      </p:sp>
      <p:sp>
        <p:nvSpPr>
          <p:cNvPr id="12" name="Text 10"/>
          <p:cNvSpPr txBox="1"/>
          <p:nvPr/>
        </p:nvSpPr>
        <p:spPr>
          <a:xfrm>
            <a:off x="6443320" y="2287600"/>
            <a:ext cx="2133524" cy="161505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Driver incentives were computed from the undercount. A demand model trained on labels that systematically under-represented late-settling trips — i.e. exactly the busiest evenings.</a:t>
            </a:r>
            <a:endParaRPr lang="en-US" sz="1200" dirty="0"/>
          </a:p>
        </p:txBody>
      </p:sp>
      <p:sp>
        <p:nvSpPr>
          <p:cNvPr id="13" name="Shape 11"/>
          <p:cNvSpPr/>
          <p:nvPr/>
        </p:nvSpPr>
        <p:spPr>
          <a:xfrm>
            <a:off x="9052331" y="1781251"/>
            <a:ext cx="2572436" cy="2286000"/>
          </a:xfrm>
          <a:prstGeom prst="roundRect">
            <a:avLst>
              <a:gd name="adj" fmla="val 2400"/>
            </a:avLst>
          </a:prstGeom>
          <a:solidFill>
            <a:srgbClr val="F4F6F7"/>
          </a:solidFill>
          <a:ln w="12700">
            <a:solidFill>
              <a:srgbClr val="DDE3E6"/>
            </a:solidFill>
            <a:prstDash val="solid"/>
          </a:ln>
        </p:spPr>
      </p:sp>
      <p:sp>
        <p:nvSpPr>
          <p:cNvPr id="14" name="Text 12"/>
          <p:cNvSpPr txBox="1"/>
          <p:nvPr/>
        </p:nvSpPr>
        <p:spPr>
          <a:xfrm>
            <a:off x="9271787" y="1964131"/>
            <a:ext cx="2133524" cy="232029"/>
          </a:xfrm>
          <a:prstGeom prst="rect">
            <a:avLst/>
          </a:prstGeom>
          <a:noFill/>
          <a:ln/>
        </p:spPr>
        <p:txBody>
          <a:bodyPr wrap="square" lIns="0" tIns="0" rIns="0" bIns="0" rtlCol="0" anchor="t"/>
          <a:lstStyle/>
          <a:p>
            <a:pPr indent="0" marL="0">
              <a:buNone/>
            </a:pPr>
            <a:r>
              <a:rPr lang="en-US" sz="1450" b="1" dirty="0">
                <a:solidFill>
                  <a:srgbClr val="00A6A6"/>
                </a:solidFill>
                <a:latin typeface="Calibri" pitchFamily="34" charset="0"/>
                <a:ea typeface="Calibri" pitchFamily="34" charset="-122"/>
                <a:cs typeface="Calibri" pitchFamily="34" charset="-120"/>
              </a:rPr>
              <a:t>The fix</a:t>
            </a:r>
            <a:endParaRPr lang="en-US" sz="1450" dirty="0"/>
          </a:p>
        </p:txBody>
      </p:sp>
      <p:sp>
        <p:nvSpPr>
          <p:cNvPr id="15" name="Text 13"/>
          <p:cNvSpPr txBox="1"/>
          <p:nvPr/>
        </p:nvSpPr>
        <p:spPr>
          <a:xfrm>
            <a:off x="9271787" y="2287600"/>
            <a:ext cx="2133524" cy="161505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Three lines: a 3-day lookback window, an incremental merge on trip_id, and a unique test on the key. No re-ingestion, no new tool. The backfill corrected six months in one parameterised run.</a:t>
            </a:r>
            <a:endParaRPr lang="en-US" sz="1200" dirty="0"/>
          </a:p>
        </p:txBody>
      </p:sp>
      <p:sp>
        <p:nvSpPr>
          <p:cNvPr id="16" name="Text 14"/>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Ask: what would have DETECTED this? Not a row-level test — a reconciliation check against the ops system, and a volume observability signal. That is Module 6, previewed.</a:t>
            </a:r>
            <a:endParaRPr lang="en-US" sz="1200" dirty="0"/>
          </a:p>
        </p:txBody>
      </p:sp>
      <p:sp>
        <p:nvSpPr>
          <p:cNvPr id="17" name="Shape 1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8" name="Shape 1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9" name="Shape 1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0" name="Text 1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1" name="Text 1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3 · SECTION 4</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Tests and docs are part of the pipeline</a:t>
            </a:r>
            <a:endParaRPr lang="en-US" sz="3000" dirty="0"/>
          </a:p>
        </p:txBody>
      </p:sp>
      <p:sp>
        <p:nvSpPr>
          <p:cNvPr id="4" name="Shape 2"/>
          <p:cNvSpPr/>
          <p:nvPr/>
        </p:nvSpPr>
        <p:spPr>
          <a:xfrm>
            <a:off x="566928" y="1426464"/>
            <a:ext cx="3515258" cy="2148840"/>
          </a:xfrm>
          <a:prstGeom prst="roundRect">
            <a:avLst>
              <a:gd name="adj" fmla="val 2553"/>
            </a:avLst>
          </a:prstGeom>
          <a:solidFill>
            <a:srgbClr val="F4F6F7"/>
          </a:solidFill>
          <a:ln w="12700">
            <a:solidFill>
              <a:srgbClr val="DDE3E6"/>
            </a:solidFill>
            <a:prstDash val="solid"/>
          </a:ln>
        </p:spPr>
      </p:sp>
      <p:sp>
        <p:nvSpPr>
          <p:cNvPr id="5" name="Text 3"/>
          <p:cNvSpPr txBox="1"/>
          <p:nvPr/>
        </p:nvSpPr>
        <p:spPr>
          <a:xfrm>
            <a:off x="786384" y="1609344"/>
            <a:ext cx="3076346"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Source freshness</a:t>
            </a:r>
            <a:endParaRPr lang="en-US" sz="1450" dirty="0"/>
          </a:p>
        </p:txBody>
      </p:sp>
      <p:sp>
        <p:nvSpPr>
          <p:cNvPr id="6" name="Text 4"/>
          <p:cNvSpPr txBox="1"/>
          <p:nvPr/>
        </p:nvSpPr>
        <p:spPr>
          <a:xfrm>
            <a:off x="786384" y="1932813"/>
            <a:ext cx="3076346" cy="14778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Assert bronze received data recently — loaded_at within N hours. Catches an upstream outage BEFORE the transform silently republishes yesterday's mart.</a:t>
            </a:r>
            <a:endParaRPr lang="en-US" sz="1200" dirty="0"/>
          </a:p>
        </p:txBody>
      </p:sp>
      <p:sp>
        <p:nvSpPr>
          <p:cNvPr id="7" name="Shape 5"/>
          <p:cNvSpPr/>
          <p:nvPr/>
        </p:nvSpPr>
        <p:spPr>
          <a:xfrm>
            <a:off x="4338218" y="1426464"/>
            <a:ext cx="3515258" cy="2148840"/>
          </a:xfrm>
          <a:prstGeom prst="roundRect">
            <a:avLst>
              <a:gd name="adj" fmla="val 2553"/>
            </a:avLst>
          </a:prstGeom>
          <a:solidFill>
            <a:srgbClr val="F4F6F7"/>
          </a:solidFill>
          <a:ln w="12700">
            <a:solidFill>
              <a:srgbClr val="DDE3E6"/>
            </a:solidFill>
            <a:prstDash val="solid"/>
          </a:ln>
        </p:spPr>
      </p:sp>
      <p:sp>
        <p:nvSpPr>
          <p:cNvPr id="8" name="Text 6"/>
          <p:cNvSpPr txBox="1"/>
          <p:nvPr/>
        </p:nvSpPr>
        <p:spPr>
          <a:xfrm>
            <a:off x="4557674" y="1609344"/>
            <a:ext cx="3076346" cy="232029"/>
          </a:xfrm>
          <a:prstGeom prst="rect">
            <a:avLst/>
          </a:prstGeom>
          <a:noFill/>
          <a:ln/>
        </p:spPr>
        <p:txBody>
          <a:bodyPr wrap="square" lIns="0" tIns="0" rIns="0" bIns="0" rtlCol="0" anchor="t"/>
          <a:lstStyle/>
          <a:p>
            <a:pPr indent="0" marL="0">
              <a:buNone/>
            </a:pPr>
            <a:r>
              <a:rPr lang="en-US" sz="1450" b="1" dirty="0">
                <a:solidFill>
                  <a:srgbClr val="8E9AA3"/>
                </a:solidFill>
                <a:latin typeface="Calibri" pitchFamily="34" charset="0"/>
                <a:ea typeface="Calibri" pitchFamily="34" charset="-122"/>
                <a:cs typeface="Calibri" pitchFamily="34" charset="-120"/>
              </a:rPr>
              <a:t>Schema and constraint tests</a:t>
            </a:r>
            <a:endParaRPr lang="en-US" sz="1450" dirty="0"/>
          </a:p>
        </p:txBody>
      </p:sp>
      <p:sp>
        <p:nvSpPr>
          <p:cNvPr id="9" name="Text 7"/>
          <p:cNvSpPr txBox="1"/>
          <p:nvPr/>
        </p:nvSpPr>
        <p:spPr>
          <a:xfrm>
            <a:off x="4557674" y="1932813"/>
            <a:ext cx="3076346" cy="14778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unique, not_null, accepted_values, relationships. On silver.trips: unique + not_null on trip_id is the test that would have caught three of this course's case studies.</a:t>
            </a:r>
            <a:endParaRPr lang="en-US" sz="1200" dirty="0"/>
          </a:p>
        </p:txBody>
      </p:sp>
      <p:sp>
        <p:nvSpPr>
          <p:cNvPr id="10" name="Shape 8"/>
          <p:cNvSpPr/>
          <p:nvPr/>
        </p:nvSpPr>
        <p:spPr>
          <a:xfrm>
            <a:off x="8109509" y="1426464"/>
            <a:ext cx="3515258" cy="2148840"/>
          </a:xfrm>
          <a:prstGeom prst="roundRect">
            <a:avLst>
              <a:gd name="adj" fmla="val 2553"/>
            </a:avLst>
          </a:prstGeom>
          <a:solidFill>
            <a:srgbClr val="F4F6F7"/>
          </a:solidFill>
          <a:ln w="12700">
            <a:solidFill>
              <a:srgbClr val="DDE3E6"/>
            </a:solidFill>
            <a:prstDash val="solid"/>
          </a:ln>
        </p:spPr>
      </p:sp>
      <p:sp>
        <p:nvSpPr>
          <p:cNvPr id="11" name="Text 9"/>
          <p:cNvSpPr txBox="1"/>
          <p:nvPr/>
        </p:nvSpPr>
        <p:spPr>
          <a:xfrm>
            <a:off x="8328965" y="1609344"/>
            <a:ext cx="3076346" cy="232029"/>
          </a:xfrm>
          <a:prstGeom prst="rect">
            <a:avLst/>
          </a:prstGeom>
          <a:noFill/>
          <a:ln/>
        </p:spPr>
        <p:txBody>
          <a:bodyPr wrap="square" lIns="0" tIns="0" rIns="0" bIns="0" rtlCol="0" anchor="t"/>
          <a:lstStyle/>
          <a:p>
            <a:pPr indent="0" marL="0">
              <a:buNone/>
            </a:pPr>
            <a:r>
              <a:rPr lang="en-US" sz="1450" b="1" dirty="0">
                <a:solidFill>
                  <a:srgbClr val="D4A537"/>
                </a:solidFill>
                <a:latin typeface="Calibri" pitchFamily="34" charset="0"/>
                <a:ea typeface="Calibri" pitchFamily="34" charset="-122"/>
                <a:cs typeface="Calibri" pitchFamily="34" charset="-120"/>
              </a:rPr>
              <a:t>Custom data tests</a:t>
            </a:r>
            <a:endParaRPr lang="en-US" sz="1450" dirty="0"/>
          </a:p>
        </p:txBody>
      </p:sp>
      <p:sp>
        <p:nvSpPr>
          <p:cNvPr id="12" name="Text 10"/>
          <p:cNvSpPr txBox="1"/>
          <p:nvPr/>
        </p:nvSpPr>
        <p:spPr>
          <a:xfrm>
            <a:off x="8328965" y="1932813"/>
            <a:ext cx="3076346" cy="14778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SQL that must return zero rows: fare_sar &lt;= 0, dropoff_ts &lt; pickup_ts, city not in the KSA set. Cheap, specific, and they encode business rules reviewers can read.</a:t>
            </a:r>
            <a:endParaRPr lang="en-US" sz="1200" dirty="0"/>
          </a:p>
        </p:txBody>
      </p:sp>
      <p:sp>
        <p:nvSpPr>
          <p:cNvPr id="13" name="Shape 11"/>
          <p:cNvSpPr/>
          <p:nvPr/>
        </p:nvSpPr>
        <p:spPr>
          <a:xfrm>
            <a:off x="566928" y="3831336"/>
            <a:ext cx="3515258" cy="2148840"/>
          </a:xfrm>
          <a:prstGeom prst="roundRect">
            <a:avLst>
              <a:gd name="adj" fmla="val 2553"/>
            </a:avLst>
          </a:prstGeom>
          <a:solidFill>
            <a:srgbClr val="F4F6F7"/>
          </a:solidFill>
          <a:ln w="12700">
            <a:solidFill>
              <a:srgbClr val="DDE3E6"/>
            </a:solidFill>
            <a:prstDash val="solid"/>
          </a:ln>
        </p:spPr>
      </p:sp>
      <p:sp>
        <p:nvSpPr>
          <p:cNvPr id="14" name="Text 12"/>
          <p:cNvSpPr txBox="1"/>
          <p:nvPr/>
        </p:nvSpPr>
        <p:spPr>
          <a:xfrm>
            <a:off x="786384" y="4014216"/>
            <a:ext cx="3076346" cy="232029"/>
          </a:xfrm>
          <a:prstGeom prst="rect">
            <a:avLst/>
          </a:prstGeom>
          <a:noFill/>
          <a:ln/>
        </p:spPr>
        <p:txBody>
          <a:bodyPr wrap="square" lIns="0" tIns="0" rIns="0" bIns="0" rtlCol="0" anchor="t"/>
          <a:lstStyle/>
          <a:p>
            <a:pPr indent="0" marL="0">
              <a:buNone/>
            </a:pPr>
            <a:r>
              <a:rPr lang="en-US" sz="1450" b="1" dirty="0">
                <a:solidFill>
                  <a:srgbClr val="00A6A6"/>
                </a:solidFill>
                <a:latin typeface="Calibri" pitchFamily="34" charset="0"/>
                <a:ea typeface="Calibri" pitchFamily="34" charset="-122"/>
                <a:cs typeface="Calibri" pitchFamily="34" charset="-120"/>
              </a:rPr>
              <a:t>Lineage and docs, generated</a:t>
            </a:r>
            <a:endParaRPr lang="en-US" sz="1450" dirty="0"/>
          </a:p>
        </p:txBody>
      </p:sp>
      <p:sp>
        <p:nvSpPr>
          <p:cNvPr id="15" name="Text 13"/>
          <p:cNvSpPr txBox="1"/>
          <p:nvPr/>
        </p:nvSpPr>
        <p:spPr>
          <a:xfrm>
            <a:off x="786384" y="4337685"/>
            <a:ext cx="3076346" cy="14778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dbt docs renders the DAG and every model and column description from the same project — the audit trail that Module 6 governance and PDPL depend on.</a:t>
            </a:r>
            <a:endParaRPr lang="en-US" sz="1200" dirty="0"/>
          </a:p>
        </p:txBody>
      </p:sp>
      <p:sp>
        <p:nvSpPr>
          <p:cNvPr id="16" name="Shape 14"/>
          <p:cNvSpPr/>
          <p:nvPr/>
        </p:nvSpPr>
        <p:spPr>
          <a:xfrm>
            <a:off x="4338218" y="3831336"/>
            <a:ext cx="3515258" cy="2148840"/>
          </a:xfrm>
          <a:prstGeom prst="roundRect">
            <a:avLst>
              <a:gd name="adj" fmla="val 2553"/>
            </a:avLst>
          </a:prstGeom>
          <a:solidFill>
            <a:srgbClr val="F4F6F7"/>
          </a:solidFill>
          <a:ln w="12700">
            <a:solidFill>
              <a:srgbClr val="DDE3E6"/>
            </a:solidFill>
            <a:prstDash val="solid"/>
          </a:ln>
        </p:spPr>
      </p:sp>
      <p:sp>
        <p:nvSpPr>
          <p:cNvPr id="17" name="Text 15"/>
          <p:cNvSpPr txBox="1"/>
          <p:nvPr/>
        </p:nvSpPr>
        <p:spPr>
          <a:xfrm>
            <a:off x="4557674" y="4014216"/>
            <a:ext cx="3076346"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Run them every build</a:t>
            </a:r>
            <a:endParaRPr lang="en-US" sz="1450" dirty="0"/>
          </a:p>
        </p:txBody>
      </p:sp>
      <p:sp>
        <p:nvSpPr>
          <p:cNvPr id="18" name="Text 16"/>
          <p:cNvSpPr txBox="1"/>
          <p:nvPr/>
        </p:nvSpPr>
        <p:spPr>
          <a:xfrm>
            <a:off x="4557674" y="4337685"/>
            <a:ext cx="3076346" cy="14778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Tests declared alongside models run on every dbt build. Testing and docs live WITH the transformation, so they never drift from it.</a:t>
            </a:r>
            <a:endParaRPr lang="en-US" sz="1200" dirty="0"/>
          </a:p>
        </p:txBody>
      </p:sp>
      <p:sp>
        <p:nvSpPr>
          <p:cNvPr id="19" name="Shape 17"/>
          <p:cNvSpPr/>
          <p:nvPr/>
        </p:nvSpPr>
        <p:spPr>
          <a:xfrm>
            <a:off x="8109509" y="3831336"/>
            <a:ext cx="3515258" cy="2148840"/>
          </a:xfrm>
          <a:prstGeom prst="roundRect">
            <a:avLst>
              <a:gd name="adj" fmla="val 2553"/>
            </a:avLst>
          </a:prstGeom>
          <a:solidFill>
            <a:srgbClr val="F4F6F7"/>
          </a:solidFill>
          <a:ln w="12700">
            <a:solidFill>
              <a:srgbClr val="DDE3E6"/>
            </a:solidFill>
            <a:prstDash val="solid"/>
          </a:ln>
        </p:spPr>
      </p:sp>
      <p:sp>
        <p:nvSpPr>
          <p:cNvPr id="20" name="Text 18"/>
          <p:cNvSpPr txBox="1"/>
          <p:nvPr/>
        </p:nvSpPr>
        <p:spPr>
          <a:xfrm>
            <a:off x="8328965" y="4014216"/>
            <a:ext cx="3076346" cy="232029"/>
          </a:xfrm>
          <a:prstGeom prst="rect">
            <a:avLst/>
          </a:prstGeom>
          <a:noFill/>
          <a:ln/>
        </p:spPr>
        <p:txBody>
          <a:bodyPr wrap="square" lIns="0" tIns="0" rIns="0" bIns="0" rtlCol="0" anchor="t"/>
          <a:lstStyle/>
          <a:p>
            <a:pPr indent="0" marL="0">
              <a:buNone/>
            </a:pPr>
            <a:r>
              <a:rPr lang="en-US" sz="1450" b="1" dirty="0">
                <a:solidFill>
                  <a:srgbClr val="D9503F"/>
                </a:solidFill>
                <a:latin typeface="Calibri" pitchFamily="34" charset="0"/>
                <a:ea typeface="Calibri" pitchFamily="34" charset="-122"/>
                <a:cs typeface="Calibri" pitchFamily="34" charset="-120"/>
              </a:rPr>
              <a:t>Order matters</a:t>
            </a:r>
            <a:endParaRPr lang="en-US" sz="1450" dirty="0"/>
          </a:p>
        </p:txBody>
      </p:sp>
      <p:sp>
        <p:nvSpPr>
          <p:cNvPr id="21" name="Text 19"/>
          <p:cNvSpPr txBox="1"/>
          <p:nvPr/>
        </p:nvSpPr>
        <p:spPr>
          <a:xfrm>
            <a:off x="8328965" y="4337685"/>
            <a:ext cx="3076346" cy="14778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Schedule freshness checks BEFORE the transform. A stale source should fail loudly, not quietly produce a confident wrong number.</a:t>
            </a:r>
            <a:endParaRPr lang="en-US" sz="1200" dirty="0"/>
          </a:p>
        </p:txBody>
      </p:sp>
      <p:sp>
        <p:nvSpPr>
          <p:cNvPr id="22" name="Shape 20"/>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3" name="Shape 21"/>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4" name="Shape 22"/>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5" name="Text 23"/>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6" name="Text 24"/>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3 · SECTION 5</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Six mistakes — all six are in the Lab 3 starter</a:t>
            </a:r>
            <a:endParaRPr lang="en-US" sz="3000" dirty="0"/>
          </a:p>
        </p:txBody>
      </p:sp>
      <p:sp>
        <p:nvSpPr>
          <p:cNvPr id="4" name="Shape 2"/>
          <p:cNvSpPr/>
          <p:nvPr/>
        </p:nvSpPr>
        <p:spPr>
          <a:xfrm>
            <a:off x="566928" y="1426464"/>
            <a:ext cx="384048" cy="384048"/>
          </a:xfrm>
          <a:prstGeom prst="ellipse">
            <a:avLst/>
          </a:prstGeom>
          <a:solidFill>
            <a:srgbClr val="D9503F"/>
          </a:solidFill>
          <a:ln w="12700">
            <a:solidFill>
              <a:srgbClr val="D9503F"/>
            </a:solidFill>
            <a:prstDash val="solid"/>
          </a:ln>
        </p:spPr>
      </p:sp>
      <p:sp>
        <p:nvSpPr>
          <p:cNvPr id="5" name="Text 3"/>
          <p:cNvSpPr txBox="1"/>
          <p:nvPr/>
        </p:nvSpPr>
        <p:spPr>
          <a:xfrm>
            <a:off x="566928" y="144018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6" name="Text 4"/>
          <p:cNvSpPr txBox="1"/>
          <p:nvPr/>
        </p:nvSpPr>
        <p:spPr>
          <a:xfrm>
            <a:off x="1133856" y="1389888"/>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WHERE date = current_date() with no lookback</a:t>
            </a:r>
            <a:endParaRPr lang="en-US" sz="1500" dirty="0"/>
          </a:p>
        </p:txBody>
      </p:sp>
      <p:sp>
        <p:nvSpPr>
          <p:cNvPr id="7" name="Text 5"/>
          <p:cNvSpPr txBox="1"/>
          <p:nvPr/>
        </p:nvSpPr>
        <p:spPr>
          <a:xfrm>
            <a:off x="1133856" y="1655064"/>
            <a:ext cx="10417759" cy="457200"/>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Silently drops late-arriving trips. The bug you just saw.</a:t>
            </a:r>
            <a:endParaRPr lang="en-US" sz="1250" dirty="0"/>
          </a:p>
        </p:txBody>
      </p:sp>
      <p:sp>
        <p:nvSpPr>
          <p:cNvPr id="8" name="Shape 6"/>
          <p:cNvSpPr/>
          <p:nvPr/>
        </p:nvSpPr>
        <p:spPr>
          <a:xfrm>
            <a:off x="566928" y="2176272"/>
            <a:ext cx="384048" cy="384048"/>
          </a:xfrm>
          <a:prstGeom prst="ellipse">
            <a:avLst/>
          </a:prstGeom>
          <a:solidFill>
            <a:srgbClr val="D9503F"/>
          </a:solidFill>
          <a:ln w="12700">
            <a:solidFill>
              <a:srgbClr val="D9503F"/>
            </a:solidFill>
            <a:prstDash val="solid"/>
          </a:ln>
        </p:spPr>
      </p:sp>
      <p:sp>
        <p:nvSpPr>
          <p:cNvPr id="9" name="Text 7"/>
          <p:cNvSpPr txBox="1"/>
          <p:nvPr/>
        </p:nvSpPr>
        <p:spPr>
          <a:xfrm>
            <a:off x="566928" y="218998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1133856" y="2139696"/>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Full-refreshing a huge table every run</a:t>
            </a:r>
            <a:endParaRPr lang="en-US" sz="1500" dirty="0"/>
          </a:p>
        </p:txBody>
      </p:sp>
      <p:sp>
        <p:nvSpPr>
          <p:cNvPr id="11" name="Text 9"/>
          <p:cNvSpPr txBox="1"/>
          <p:nvPr/>
        </p:nvSpPr>
        <p:spPr>
          <a:xfrm>
            <a:off x="1133856" y="2404872"/>
            <a:ext cx="10417759" cy="457200"/>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The incremental key or filter is wrong, so every run is a rebuild — slow and expensive, and nobody notices because the answer is right.</a:t>
            </a:r>
            <a:endParaRPr lang="en-US" sz="1250" dirty="0"/>
          </a:p>
        </p:txBody>
      </p:sp>
      <p:sp>
        <p:nvSpPr>
          <p:cNvPr id="12" name="Shape 10"/>
          <p:cNvSpPr/>
          <p:nvPr/>
        </p:nvSpPr>
        <p:spPr>
          <a:xfrm>
            <a:off x="566928" y="2926080"/>
            <a:ext cx="384048" cy="384048"/>
          </a:xfrm>
          <a:prstGeom prst="ellipse">
            <a:avLst/>
          </a:prstGeom>
          <a:solidFill>
            <a:srgbClr val="D9503F"/>
          </a:solidFill>
          <a:ln w="12700">
            <a:solidFill>
              <a:srgbClr val="D9503F"/>
            </a:solidFill>
            <a:prstDash val="solid"/>
          </a:ln>
        </p:spPr>
      </p:sp>
      <p:sp>
        <p:nvSpPr>
          <p:cNvPr id="13" name="Text 11"/>
          <p:cNvSpPr txBox="1"/>
          <p:nvPr/>
        </p:nvSpPr>
        <p:spPr>
          <a:xfrm>
            <a:off x="566928" y="293979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4" name="Text 12"/>
          <p:cNvSpPr txBox="1"/>
          <p:nvPr/>
        </p:nvSpPr>
        <p:spPr>
          <a:xfrm>
            <a:off x="1133856" y="2889504"/>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Deduplicating with DISTINCT instead of latest-row-per-key</a:t>
            </a:r>
            <a:endParaRPr lang="en-US" sz="1500" dirty="0"/>
          </a:p>
        </p:txBody>
      </p:sp>
      <p:sp>
        <p:nvSpPr>
          <p:cNvPr id="15" name="Text 13"/>
          <p:cNvSpPr txBox="1"/>
          <p:nvPr/>
        </p:nvSpPr>
        <p:spPr>
          <a:xfrm>
            <a:off x="1133856" y="3154680"/>
            <a:ext cx="10417759" cy="457200"/>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Keeps the stale version when a trip is corrected. The correction is in the table and is simply never used.</a:t>
            </a:r>
            <a:endParaRPr lang="en-US" sz="1250" dirty="0"/>
          </a:p>
        </p:txBody>
      </p:sp>
      <p:sp>
        <p:nvSpPr>
          <p:cNvPr id="16" name="Shape 14"/>
          <p:cNvSpPr/>
          <p:nvPr/>
        </p:nvSpPr>
        <p:spPr>
          <a:xfrm>
            <a:off x="566928" y="3675888"/>
            <a:ext cx="384048" cy="384048"/>
          </a:xfrm>
          <a:prstGeom prst="ellipse">
            <a:avLst/>
          </a:prstGeom>
          <a:solidFill>
            <a:srgbClr val="D9503F"/>
          </a:solidFill>
          <a:ln w="12700">
            <a:solidFill>
              <a:srgbClr val="D9503F"/>
            </a:solidFill>
            <a:prstDash val="solid"/>
          </a:ln>
        </p:spPr>
      </p:sp>
      <p:sp>
        <p:nvSpPr>
          <p:cNvPr id="17" name="Text 15"/>
          <p:cNvSpPr txBox="1"/>
          <p:nvPr/>
        </p:nvSpPr>
        <p:spPr>
          <a:xfrm>
            <a:off x="566928" y="3689604"/>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8" name="Text 16"/>
          <p:cNvSpPr txBox="1"/>
          <p:nvPr/>
        </p:nvSpPr>
        <p:spPr>
          <a:xfrm>
            <a:off x="1133856" y="3639312"/>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Casting and renaming in marts instead of staging</a:t>
            </a:r>
            <a:endParaRPr lang="en-US" sz="1500" dirty="0"/>
          </a:p>
        </p:txBody>
      </p:sp>
      <p:sp>
        <p:nvSpPr>
          <p:cNvPr id="19" name="Text 17"/>
          <p:cNvSpPr txBox="1"/>
          <p:nvPr/>
        </p:nvSpPr>
        <p:spPr>
          <a:xfrm>
            <a:off x="1133856" y="3904488"/>
            <a:ext cx="10417759" cy="457200"/>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Source quirks leak everywhere; one upstream rename breaks ten models.</a:t>
            </a:r>
            <a:endParaRPr lang="en-US" sz="1250" dirty="0"/>
          </a:p>
        </p:txBody>
      </p:sp>
      <p:sp>
        <p:nvSpPr>
          <p:cNvPr id="20" name="Shape 18"/>
          <p:cNvSpPr/>
          <p:nvPr/>
        </p:nvSpPr>
        <p:spPr>
          <a:xfrm>
            <a:off x="566928" y="4425696"/>
            <a:ext cx="384048" cy="384048"/>
          </a:xfrm>
          <a:prstGeom prst="ellipse">
            <a:avLst/>
          </a:prstGeom>
          <a:solidFill>
            <a:srgbClr val="D9503F"/>
          </a:solidFill>
          <a:ln w="12700">
            <a:solidFill>
              <a:srgbClr val="D9503F"/>
            </a:solidFill>
            <a:prstDash val="solid"/>
          </a:ln>
        </p:spPr>
      </p:sp>
      <p:sp>
        <p:nvSpPr>
          <p:cNvPr id="21" name="Text 19"/>
          <p:cNvSpPr txBox="1"/>
          <p:nvPr/>
        </p:nvSpPr>
        <p:spPr>
          <a:xfrm>
            <a:off x="566928" y="443941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2" name="Text 20"/>
          <p:cNvSpPr txBox="1"/>
          <p:nvPr/>
        </p:nvSpPr>
        <p:spPr>
          <a:xfrm>
            <a:off x="1133856" y="4389120"/>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No not_null or unique test on the silver key</a:t>
            </a:r>
            <a:endParaRPr lang="en-US" sz="1500" dirty="0"/>
          </a:p>
        </p:txBody>
      </p:sp>
      <p:sp>
        <p:nvSpPr>
          <p:cNvPr id="23" name="Text 21"/>
          <p:cNvSpPr txBox="1"/>
          <p:nvPr/>
        </p:nvSpPr>
        <p:spPr>
          <a:xfrm>
            <a:off x="1133856" y="4654296"/>
            <a:ext cx="10417759" cy="457200"/>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Duplicate trip_id slips through to features and BI, inflating both by the same invisible amount.</a:t>
            </a:r>
            <a:endParaRPr lang="en-US" sz="1250" dirty="0"/>
          </a:p>
        </p:txBody>
      </p:sp>
      <p:sp>
        <p:nvSpPr>
          <p:cNvPr id="24" name="Shape 22"/>
          <p:cNvSpPr/>
          <p:nvPr/>
        </p:nvSpPr>
        <p:spPr>
          <a:xfrm>
            <a:off x="566928" y="5175504"/>
            <a:ext cx="384048" cy="384048"/>
          </a:xfrm>
          <a:prstGeom prst="ellipse">
            <a:avLst/>
          </a:prstGeom>
          <a:solidFill>
            <a:srgbClr val="D9503F"/>
          </a:solidFill>
          <a:ln w="12700">
            <a:solidFill>
              <a:srgbClr val="D9503F"/>
            </a:solidFill>
            <a:prstDash val="solid"/>
          </a:ln>
        </p:spPr>
      </p:sp>
      <p:sp>
        <p:nvSpPr>
          <p:cNvPr id="25" name="Text 23"/>
          <p:cNvSpPr txBox="1"/>
          <p:nvPr/>
        </p:nvSpPr>
        <p:spPr>
          <a:xfrm>
            <a:off x="566928" y="518922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26" name="Text 24"/>
          <p:cNvSpPr txBox="1"/>
          <p:nvPr/>
        </p:nvSpPr>
        <p:spPr>
          <a:xfrm>
            <a:off x="1133856" y="5138928"/>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Timezone drift</a:t>
            </a:r>
            <a:endParaRPr lang="en-US" sz="1500" dirty="0"/>
          </a:p>
        </p:txBody>
      </p:sp>
      <p:sp>
        <p:nvSpPr>
          <p:cNvPr id="27" name="Text 25"/>
          <p:cNvSpPr txBox="1"/>
          <p:nvPr/>
        </p:nvSpPr>
        <p:spPr>
          <a:xfrm>
            <a:off x="1133856" y="5404104"/>
            <a:ext cx="10417759" cy="457200"/>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Mixing UTC and Asia/Riyadh timestamps, so “yesterday” means two different things in two models. Store UTC, present +03.</a:t>
            </a:r>
            <a:endParaRPr lang="en-US" sz="1250" dirty="0"/>
          </a:p>
        </p:txBody>
      </p:sp>
      <p:sp>
        <p:nvSpPr>
          <p:cNvPr id="28" name="Shape 26"/>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9" name="Shape 27"/>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30" name="Shape 28"/>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31" name="Text 29"/>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32" name="Text 30"/>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00A6A6"/>
                </a:solidFill>
                <a:latin typeface="Calibri" pitchFamily="34" charset="0"/>
                <a:ea typeface="Calibri" pitchFamily="34" charset="-122"/>
                <a:cs typeface="Calibri" pitchFamily="34" charset="-120"/>
              </a:rPr>
              <a:t>HANDS-ON LAB 3</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Build the ELT pipeline to silver.trips</a:t>
            </a:r>
            <a:endParaRPr lang="en-US" sz="3000" dirty="0"/>
          </a:p>
        </p:txBody>
      </p:sp>
      <p:sp>
        <p:nvSpPr>
          <p:cNvPr id="4" name="Shape 2"/>
          <p:cNvSpPr/>
          <p:nvPr/>
        </p:nvSpPr>
        <p:spPr>
          <a:xfrm>
            <a:off x="566928" y="1389888"/>
            <a:ext cx="3200400" cy="4736592"/>
          </a:xfrm>
          <a:prstGeom prst="roundRect">
            <a:avLst>
              <a:gd name="adj" fmla="val 1714"/>
            </a:avLst>
          </a:prstGeom>
          <a:solidFill>
            <a:srgbClr val="10202B"/>
          </a:solidFill>
          <a:ln w="12700">
            <a:solidFill>
              <a:srgbClr val="10202B"/>
            </a:solidFill>
            <a:prstDash val="solid"/>
          </a:ln>
        </p:spPr>
      </p:sp>
      <p:sp>
        <p:nvSpPr>
          <p:cNvPr id="5" name="Text 3"/>
          <p:cNvSpPr txBox="1"/>
          <p:nvPr/>
        </p:nvSpPr>
        <p:spPr>
          <a:xfrm>
            <a:off x="749808" y="1572768"/>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DURATION</a:t>
            </a:r>
            <a:endParaRPr lang="en-US" sz="900" dirty="0"/>
          </a:p>
        </p:txBody>
      </p:sp>
      <p:sp>
        <p:nvSpPr>
          <p:cNvPr id="6" name="Text 4"/>
          <p:cNvSpPr txBox="1"/>
          <p:nvPr/>
        </p:nvSpPr>
        <p:spPr>
          <a:xfrm>
            <a:off x="749808" y="1755648"/>
            <a:ext cx="2834640" cy="373888"/>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Two 50-minute blocks (3a staging · 3b silver)</a:t>
            </a:r>
            <a:endParaRPr lang="en-US" sz="1150" dirty="0"/>
          </a:p>
        </p:txBody>
      </p:sp>
      <p:sp>
        <p:nvSpPr>
          <p:cNvPr id="7" name="Text 5"/>
          <p:cNvSpPr txBox="1"/>
          <p:nvPr/>
        </p:nvSpPr>
        <p:spPr>
          <a:xfrm>
            <a:off x="749808" y="2312416"/>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CHECKPOINT</a:t>
            </a:r>
            <a:endParaRPr lang="en-US" sz="900" dirty="0"/>
          </a:p>
        </p:txBody>
      </p:sp>
      <p:sp>
        <p:nvSpPr>
          <p:cNvPr id="8" name="Text 6"/>
          <p:cNvSpPr txBox="1"/>
          <p:nvPr/>
        </p:nvSpPr>
        <p:spPr>
          <a:xfrm>
            <a:off x="749808" y="2495296"/>
            <a:ext cx="2834640" cy="21945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git checkout lab3-start</a:t>
            </a:r>
            <a:endParaRPr lang="en-US" sz="1150" dirty="0"/>
          </a:p>
        </p:txBody>
      </p:sp>
      <p:sp>
        <p:nvSpPr>
          <p:cNvPr id="9" name="Text 7"/>
          <p:cNvSpPr txBox="1"/>
          <p:nvPr/>
        </p:nvSpPr>
        <p:spPr>
          <a:xfrm>
            <a:off x="749808" y="2897632"/>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OBJECTIVE</a:t>
            </a:r>
            <a:endParaRPr lang="en-US" sz="900" dirty="0"/>
          </a:p>
        </p:txBody>
      </p:sp>
      <p:sp>
        <p:nvSpPr>
          <p:cNvPr id="10" name="Text 8"/>
          <p:cNvSpPr txBox="1"/>
          <p:nvPr/>
        </p:nvSpPr>
        <p:spPr>
          <a:xfrm>
            <a:off x="749808" y="3080512"/>
            <a:ext cx="2834640" cy="56083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A conformed, tested, incremental silver.trips built from bronze with dbt on Delta</a:t>
            </a:r>
            <a:endParaRPr lang="en-US" sz="1150" dirty="0"/>
          </a:p>
        </p:txBody>
      </p:sp>
      <p:sp>
        <p:nvSpPr>
          <p:cNvPr id="11" name="Text 9"/>
          <p:cNvSpPr txBox="1"/>
          <p:nvPr/>
        </p:nvSpPr>
        <p:spPr>
          <a:xfrm>
            <a:off x="749808" y="3824224"/>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DELIVERABLE</a:t>
            </a:r>
            <a:endParaRPr lang="en-US" sz="900" dirty="0"/>
          </a:p>
        </p:txBody>
      </p:sp>
      <p:sp>
        <p:nvSpPr>
          <p:cNvPr id="12" name="Text 10"/>
          <p:cNvSpPr txBox="1"/>
          <p:nvPr/>
        </p:nvSpPr>
        <p:spPr>
          <a:xfrm>
            <a:off x="749808" y="4007104"/>
            <a:ext cx="2834640" cy="373888"/>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silver.trips + a green dbt test run + a proven backfill</a:t>
            </a:r>
            <a:endParaRPr lang="en-US" sz="1150" dirty="0"/>
          </a:p>
        </p:txBody>
      </p:sp>
      <p:sp>
        <p:nvSpPr>
          <p:cNvPr id="13" name="Text 11"/>
          <p:cNvSpPr txBox="1"/>
          <p:nvPr/>
        </p:nvSpPr>
        <p:spPr>
          <a:xfrm>
            <a:off x="4041648" y="1408176"/>
            <a:ext cx="7583119" cy="274320"/>
          </a:xfrm>
          <a:prstGeom prst="rect">
            <a:avLst/>
          </a:prstGeom>
          <a:noFill/>
          <a:ln/>
        </p:spPr>
        <p:txBody>
          <a:bodyPr wrap="square" lIns="0" tIns="0" rIns="0" bIns="0" rtlCol="0" anchor="ctr"/>
          <a:lstStyle/>
          <a:p>
            <a:pPr indent="0" marL="0">
              <a:buNone/>
            </a:pPr>
            <a:r>
              <a:rPr lang="en-US" sz="1400" b="1" dirty="0">
                <a:solidFill>
                  <a:srgbClr val="B0763A"/>
                </a:solidFill>
                <a:latin typeface="Calibri" pitchFamily="34" charset="0"/>
                <a:ea typeface="Calibri" pitchFamily="34" charset="-122"/>
                <a:cs typeface="Calibri" pitchFamily="34" charset="-120"/>
              </a:rPr>
              <a:t>What you will do</a:t>
            </a:r>
            <a:endParaRPr lang="en-US" sz="1400" dirty="0"/>
          </a:p>
        </p:txBody>
      </p:sp>
      <p:sp>
        <p:nvSpPr>
          <p:cNvPr id="14" name="Text 12"/>
          <p:cNvSpPr txBox="1"/>
          <p:nvPr/>
        </p:nvSpPr>
        <p:spPr>
          <a:xfrm>
            <a:off x="4041648" y="1755648"/>
            <a:ext cx="7583119" cy="250317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3a — build stg_trips, stg_gps and stg_drivers: type, rename, isolate every source quirk here and nowhere else. Declare source freshness.</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3a — resolve the three date formats in drivers.csv, and the ~2% of trips carrying DD/MM/YYYY timestamps, in staging.</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3b — build silver.trips: dedup to one row per trip_id, join to the driver dimension, derive fare and duration features.</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3b — make it incremental: merge on trip_id with a 3-day lookback window; partition by pickup_date.</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3b — add at least six tests including unique and not_null on trip_id, then load the late-arrival fixture and prove the lookback catches it.</a:t>
            </a:r>
            <a:endParaRPr lang="en-US" sz="1250" dirty="0"/>
          </a:p>
        </p:txBody>
      </p:sp>
      <p:sp>
        <p:nvSpPr>
          <p:cNvPr id="15" name="Text 13"/>
          <p:cNvSpPr txBox="1"/>
          <p:nvPr/>
        </p:nvSpPr>
        <p:spPr>
          <a:xfrm>
            <a:off x="4041648" y="4350258"/>
            <a:ext cx="7583119" cy="274320"/>
          </a:xfrm>
          <a:prstGeom prst="rect">
            <a:avLst/>
          </a:prstGeom>
          <a:noFill/>
          <a:ln/>
        </p:spPr>
        <p:txBody>
          <a:bodyPr wrap="square" lIns="0" tIns="0" rIns="0" bIns="0" rtlCol="0" anchor="ctr"/>
          <a:lstStyle/>
          <a:p>
            <a:pPr indent="0" marL="0">
              <a:buNone/>
            </a:pPr>
            <a:r>
              <a:rPr lang="en-US" sz="1400" b="1" dirty="0">
                <a:solidFill>
                  <a:srgbClr val="00A6A6"/>
                </a:solidFill>
                <a:latin typeface="Calibri" pitchFamily="34" charset="0"/>
                <a:ea typeface="Calibri" pitchFamily="34" charset="-122"/>
                <a:cs typeface="Calibri" pitchFamily="34" charset="-120"/>
              </a:rPr>
              <a:t>Acceptance criteria</a:t>
            </a:r>
            <a:endParaRPr lang="en-US" sz="1400" dirty="0"/>
          </a:p>
        </p:txBody>
      </p:sp>
      <p:sp>
        <p:nvSpPr>
          <p:cNvPr id="16" name="Text 14"/>
          <p:cNvSpPr txBox="1"/>
          <p:nvPr/>
        </p:nvSpPr>
        <p:spPr>
          <a:xfrm>
            <a:off x="4041648" y="4661154"/>
            <a:ext cx="7583119" cy="141046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dbt test is green, with ≥ 6 tests including unique + not_null on trip_id.</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A second identical run changes zero rows — the pipeline is idempotent.</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data/fixtures/late_trips lands and is merged correctly without duplicating settled rows.</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silver.trips holds one row per trip_id, in UTC, with conformed units.</a:t>
            </a:r>
            <a:endParaRPr lang="en-US" sz="1200" dirty="0"/>
          </a:p>
        </p:txBody>
      </p:sp>
      <p:sp>
        <p:nvSpPr>
          <p:cNvPr id="17" name="Shape 1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8" name="Shape 1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9" name="Shape 1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0" name="Text 1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1" name="Text 1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371600"/>
            <a:ext cx="11057839" cy="274320"/>
          </a:xfrm>
          <a:prstGeom prst="rect">
            <a:avLst/>
          </a:prstGeom>
          <a:noFill/>
          <a:ln/>
        </p:spPr>
        <p:txBody>
          <a:bodyPr wrap="square" lIns="0" tIns="0" rIns="0" bIns="0" rtlCol="0" anchor="ctr"/>
          <a:lstStyle/>
          <a:p>
            <a:pPr indent="0" marL="0">
              <a:buNone/>
            </a:pPr>
            <a:r>
              <a:rPr lang="en-US" sz="1100" b="1" spc="180" kern="0" dirty="0">
                <a:solidFill>
                  <a:srgbClr val="D4A537"/>
                </a:solidFill>
                <a:latin typeface="Calibri" pitchFamily="34" charset="0"/>
                <a:ea typeface="Calibri" pitchFamily="34" charset="-122"/>
                <a:cs typeface="Calibri" pitchFamily="34" charset="-120"/>
              </a:rPr>
              <a:t>DAY 2 · CLOSE</a:t>
            </a:r>
            <a:endParaRPr lang="en-US" sz="1100" dirty="0"/>
          </a:p>
        </p:txBody>
      </p:sp>
      <p:sp>
        <p:nvSpPr>
          <p:cNvPr id="3" name="Text 1"/>
          <p:cNvSpPr txBox="1"/>
          <p:nvPr/>
        </p:nvSpPr>
        <p:spPr>
          <a:xfrm>
            <a:off x="566928" y="1783080"/>
            <a:ext cx="10509199" cy="2377440"/>
          </a:xfrm>
          <a:prstGeom prst="rect">
            <a:avLst/>
          </a:prstGeom>
          <a:noFill/>
          <a:ln/>
        </p:spPr>
        <p:txBody>
          <a:bodyPr wrap="square" lIns="0" tIns="0" rIns="0" bIns="0" rtlCol="0" anchor="t"/>
          <a:lstStyle/>
          <a:p>
            <a:pPr indent="0" marL="0">
              <a:lnSpc>
                <a:spcPct val="112000"/>
              </a:lnSpc>
              <a:buNone/>
            </a:pPr>
            <a:r>
              <a:rPr lang="en-US" sz="3200" b="1" dirty="0">
                <a:solidFill>
                  <a:srgbClr val="FFFFFF"/>
                </a:solidFill>
                <a:latin typeface="Cambria" pitchFamily="34" charset="0"/>
                <a:ea typeface="Cambria" pitchFamily="34" charset="-122"/>
                <a:cs typeface="Cambria" pitchFamily="34" charset="-120"/>
              </a:rPr>
              <a:t>You now have a table.</a:t>
            </a:r>
            <a:endParaRPr lang="en-US" sz="3200" dirty="0"/>
          </a:p>
          <a:p>
            <a:pPr indent="0" marL="0">
              <a:lnSpc>
                <a:spcPct val="112000"/>
              </a:lnSpc>
              <a:buNone/>
            </a:pPr>
            <a:r>
              <a:rPr lang="en-US" sz="3200" b="1" dirty="0">
                <a:solidFill>
                  <a:srgbClr val="FFFFFF"/>
                </a:solidFill>
                <a:latin typeface="Cambria" pitchFamily="34" charset="0"/>
                <a:ea typeface="Cambria" pitchFamily="34" charset="-122"/>
                <a:cs typeface="Cambria" pitchFamily="34" charset="-120"/>
              </a:rPr>
              <a:t>Tomorrow you make it a transaction.</a:t>
            </a:r>
            <a:endParaRPr lang="en-US" sz="3200" dirty="0"/>
          </a:p>
        </p:txBody>
      </p:sp>
      <p:sp>
        <p:nvSpPr>
          <p:cNvPr id="4" name="Text 2"/>
          <p:cNvSpPr txBox="1"/>
          <p:nvPr/>
        </p:nvSpPr>
        <p:spPr>
          <a:xfrm>
            <a:off x="566928" y="4434840"/>
            <a:ext cx="10509199" cy="1097280"/>
          </a:xfrm>
          <a:prstGeom prst="rect">
            <a:avLst/>
          </a:prstGeom>
          <a:noFill/>
          <a:ln/>
        </p:spPr>
        <p:txBody>
          <a:bodyPr wrap="square" lIns="0" tIns="0" rIns="0" bIns="0" rtlCol="0" anchor="t"/>
          <a:lstStyle/>
          <a:p>
            <a:pPr indent="0" marL="0">
              <a:buNone/>
            </a:pPr>
            <a:r>
              <a:rPr lang="en-US" sz="1500" dirty="0">
                <a:solidFill>
                  <a:srgbClr val="9FB3BE"/>
                </a:solidFill>
                <a:latin typeface="Calibri" pitchFamily="34" charset="0"/>
                <a:ea typeface="Calibri" pitchFamily="34" charset="-122"/>
                <a:cs typeface="Calibri" pitchFamily="34" charset="-120"/>
              </a:rPr>
              <a:t>silver.trips is conformed and tested — but it is still a folder of Parquet files that you HOPE is consistent.</a:t>
            </a: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Day 3 opens the transaction log and turns it into something you can audit, correct and rewind.</a:t>
            </a:r>
            <a:endParaRPr lang="en-US" sz="1500" dirty="0"/>
          </a:p>
        </p:txBody>
      </p:sp>
      <p:sp>
        <p:nvSpPr>
          <p:cNvPr id="5"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6"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7"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8"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9"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417320"/>
            <a:ext cx="11057839" cy="274320"/>
          </a:xfrm>
          <a:prstGeom prst="rect">
            <a:avLst/>
          </a:prstGeom>
          <a:noFill/>
          <a:ln/>
        </p:spPr>
        <p:txBody>
          <a:bodyPr wrap="square" lIns="0" tIns="0" rIns="0" bIns="0" rtlCol="0" anchor="ctr"/>
          <a:lstStyle/>
          <a:p>
            <a:pPr indent="0" marL="0">
              <a:buNone/>
            </a:pPr>
            <a:r>
              <a:rPr lang="en-US" sz="1150" b="1" spc="220" kern="0" dirty="0">
                <a:solidFill>
                  <a:srgbClr val="D4A537"/>
                </a:solidFill>
                <a:latin typeface="Calibri" pitchFamily="34" charset="0"/>
                <a:ea typeface="Calibri" pitchFamily="34" charset="-122"/>
                <a:cs typeface="Calibri" pitchFamily="34" charset="-120"/>
              </a:rPr>
              <a:t>DAY 3</a:t>
            </a:r>
            <a:endParaRPr lang="en-US" sz="1150" dirty="0"/>
          </a:p>
        </p:txBody>
      </p:sp>
      <p:sp>
        <p:nvSpPr>
          <p:cNvPr id="3" name="Text 1"/>
          <p:cNvSpPr txBox="1"/>
          <p:nvPr/>
        </p:nvSpPr>
        <p:spPr>
          <a:xfrm>
            <a:off x="566928" y="1783080"/>
            <a:ext cx="6081812"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Lakehouse</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table</a:t>
            </a:r>
            <a:endParaRPr lang="en-US" sz="4000" dirty="0"/>
          </a:p>
        </p:txBody>
      </p:sp>
      <p:sp>
        <p:nvSpPr>
          <p:cNvPr id="4" name="Text 2"/>
          <p:cNvSpPr txBox="1"/>
          <p:nvPr/>
        </p:nvSpPr>
        <p:spPr>
          <a:xfrm>
            <a:off x="566928" y="3200400"/>
            <a:ext cx="6081812" cy="1371600"/>
          </a:xfrm>
          <a:prstGeom prst="rect">
            <a:avLst/>
          </a:prstGeom>
          <a:noFill/>
          <a:ln/>
        </p:spPr>
        <p:txBody>
          <a:bodyPr wrap="square" lIns="0" tIns="0" rIns="0" bIns="0" rtlCol="0" anchor="t"/>
          <a:lstStyle/>
          <a:p>
            <a:pPr indent="0" marL="0">
              <a:buNone/>
            </a:pPr>
            <a:r>
              <a:rPr lang="en-US" sz="1400" dirty="0">
                <a:solidFill>
                  <a:srgbClr val="9FB3BE"/>
                </a:solidFill>
                <a:latin typeface="Calibri" pitchFamily="34" charset="0"/>
                <a:ea typeface="Calibri" pitchFamily="34" charset="-122"/>
                <a:cs typeface="Calibri" pitchFamily="34" charset="-120"/>
              </a:rPr>
              <a:t>Delta Lake is the technical heart of the course: the transaction layer that turns Masar's Parquet files into a table you can trust, audit and rewind.</a:t>
            </a:r>
            <a:endParaRPr lang="en-US" sz="1400" dirty="0"/>
          </a:p>
        </p:txBody>
      </p:sp>
      <p:sp>
        <p:nvSpPr>
          <p:cNvPr id="5" name="Shape 3"/>
          <p:cNvSpPr/>
          <p:nvPr/>
        </p:nvSpPr>
        <p:spPr>
          <a:xfrm>
            <a:off x="7201632" y="1810512"/>
            <a:ext cx="329184" cy="329184"/>
          </a:xfrm>
          <a:prstGeom prst="ellipse">
            <a:avLst/>
          </a:prstGeom>
          <a:solidFill>
            <a:srgbClr val="B0763A"/>
          </a:solidFill>
          <a:ln w="12700">
            <a:solidFill>
              <a:srgbClr val="B0763A"/>
            </a:solidFill>
            <a:prstDash val="solid"/>
          </a:ln>
        </p:spPr>
      </p:sp>
      <p:sp>
        <p:nvSpPr>
          <p:cNvPr id="6" name="Text 4"/>
          <p:cNvSpPr txBox="1"/>
          <p:nvPr/>
        </p:nvSpPr>
        <p:spPr>
          <a:xfrm>
            <a:off x="7201632" y="18242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658832" y="1783080"/>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transaction log</a:t>
            </a:r>
            <a:endParaRPr lang="en-US" sz="1300" dirty="0"/>
          </a:p>
        </p:txBody>
      </p:sp>
      <p:sp>
        <p:nvSpPr>
          <p:cNvPr id="8" name="Shape 6"/>
          <p:cNvSpPr/>
          <p:nvPr/>
        </p:nvSpPr>
        <p:spPr>
          <a:xfrm>
            <a:off x="7201632" y="2468880"/>
            <a:ext cx="329184" cy="329184"/>
          </a:xfrm>
          <a:prstGeom prst="ellipse">
            <a:avLst/>
          </a:prstGeom>
          <a:solidFill>
            <a:srgbClr val="8E9AA3"/>
          </a:solidFill>
          <a:ln w="12700">
            <a:solidFill>
              <a:srgbClr val="8E9AA3"/>
            </a:solidFill>
            <a:prstDash val="solid"/>
          </a:ln>
        </p:spPr>
      </p:sp>
      <p:sp>
        <p:nvSpPr>
          <p:cNvPr id="9" name="Text 7"/>
          <p:cNvSpPr txBox="1"/>
          <p:nvPr/>
        </p:nvSpPr>
        <p:spPr>
          <a:xfrm>
            <a:off x="7201632" y="248259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7658832" y="2441448"/>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Schema enforcement and evolution</a:t>
            </a:r>
            <a:endParaRPr lang="en-US" sz="1300" dirty="0"/>
          </a:p>
        </p:txBody>
      </p:sp>
      <p:sp>
        <p:nvSpPr>
          <p:cNvPr id="11" name="Shape 9"/>
          <p:cNvSpPr/>
          <p:nvPr/>
        </p:nvSpPr>
        <p:spPr>
          <a:xfrm>
            <a:off x="7201632" y="3127248"/>
            <a:ext cx="329184" cy="329184"/>
          </a:xfrm>
          <a:prstGeom prst="ellipse">
            <a:avLst/>
          </a:prstGeom>
          <a:solidFill>
            <a:srgbClr val="D4A537"/>
          </a:solidFill>
          <a:ln w="12700">
            <a:solidFill>
              <a:srgbClr val="D4A537"/>
            </a:solidFill>
            <a:prstDash val="solid"/>
          </a:ln>
        </p:spPr>
      </p:sp>
      <p:sp>
        <p:nvSpPr>
          <p:cNvPr id="12" name="Text 10"/>
          <p:cNvSpPr txBox="1"/>
          <p:nvPr/>
        </p:nvSpPr>
        <p:spPr>
          <a:xfrm>
            <a:off x="7201632" y="31409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3" name="Text 11"/>
          <p:cNvSpPr txBox="1"/>
          <p:nvPr/>
        </p:nvSpPr>
        <p:spPr>
          <a:xfrm>
            <a:off x="7658832" y="3099816"/>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MERGE: upserts, CDC, compliant deletes</a:t>
            </a:r>
            <a:endParaRPr lang="en-US" sz="1300" dirty="0"/>
          </a:p>
        </p:txBody>
      </p:sp>
      <p:sp>
        <p:nvSpPr>
          <p:cNvPr id="14" name="Shape 12"/>
          <p:cNvSpPr/>
          <p:nvPr/>
        </p:nvSpPr>
        <p:spPr>
          <a:xfrm>
            <a:off x="7201632" y="3785616"/>
            <a:ext cx="329184" cy="329184"/>
          </a:xfrm>
          <a:prstGeom prst="ellipse">
            <a:avLst/>
          </a:prstGeom>
          <a:solidFill>
            <a:srgbClr val="00A6A6"/>
          </a:solidFill>
          <a:ln w="12700">
            <a:solidFill>
              <a:srgbClr val="00A6A6"/>
            </a:solidFill>
            <a:prstDash val="solid"/>
          </a:ln>
        </p:spPr>
      </p:sp>
      <p:sp>
        <p:nvSpPr>
          <p:cNvPr id="15" name="Text 13"/>
          <p:cNvSpPr txBox="1"/>
          <p:nvPr/>
        </p:nvSpPr>
        <p:spPr>
          <a:xfrm>
            <a:off x="7201632" y="37993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6" name="Text 14"/>
          <p:cNvSpPr txBox="1"/>
          <p:nvPr/>
        </p:nvSpPr>
        <p:spPr>
          <a:xfrm>
            <a:off x="7658832" y="3758184"/>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Time travel</a:t>
            </a:r>
            <a:endParaRPr lang="en-US" sz="1300" dirty="0"/>
          </a:p>
        </p:txBody>
      </p:sp>
      <p:sp>
        <p:nvSpPr>
          <p:cNvPr id="17" name="Shape 15"/>
          <p:cNvSpPr/>
          <p:nvPr/>
        </p:nvSpPr>
        <p:spPr>
          <a:xfrm>
            <a:off x="7201632" y="4443984"/>
            <a:ext cx="329184" cy="329184"/>
          </a:xfrm>
          <a:prstGeom prst="ellipse">
            <a:avLst/>
          </a:prstGeom>
          <a:solidFill>
            <a:srgbClr val="D9503F"/>
          </a:solidFill>
          <a:ln w="12700">
            <a:solidFill>
              <a:srgbClr val="D9503F"/>
            </a:solidFill>
            <a:prstDash val="solid"/>
          </a:ln>
        </p:spPr>
      </p:sp>
      <p:sp>
        <p:nvSpPr>
          <p:cNvPr id="18" name="Text 16"/>
          <p:cNvSpPr txBox="1"/>
          <p:nvPr/>
        </p:nvSpPr>
        <p:spPr>
          <a:xfrm>
            <a:off x="7201632" y="44577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19" name="Text 17"/>
          <p:cNvSpPr txBox="1"/>
          <p:nvPr/>
        </p:nvSpPr>
        <p:spPr>
          <a:xfrm>
            <a:off x="7658832" y="4416552"/>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Maintenance and the small-files problem</a:t>
            </a:r>
            <a:endParaRPr lang="en-US" sz="1300" dirty="0"/>
          </a:p>
        </p:txBody>
      </p:sp>
      <p:sp>
        <p:nvSpPr>
          <p:cNvPr id="20" name="Shape 18"/>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1" name="Shape 19"/>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2" name="Shape 20"/>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3" name="Text 21"/>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4" name="Text 22"/>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4 · SECTION 1</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A Delta table is Parquet plus an ordered log</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Each commit is an atomic record of ACTIONS: which files were added, which were removed, plus schema and statistics.</a:t>
            </a:r>
            <a:endParaRPr lang="en-US" sz="1330" dirty="0"/>
          </a:p>
        </p:txBody>
      </p:sp>
      <p:sp>
        <p:nvSpPr>
          <p:cNvPr id="5" name="Shape 3"/>
          <p:cNvSpPr/>
          <p:nvPr/>
        </p:nvSpPr>
        <p:spPr>
          <a:xfrm>
            <a:off x="566928" y="2362444"/>
            <a:ext cx="2531288" cy="2240280"/>
          </a:xfrm>
          <a:prstGeom prst="roundRect">
            <a:avLst>
              <a:gd name="adj" fmla="val 2449"/>
            </a:avLst>
          </a:prstGeom>
          <a:solidFill>
            <a:srgbClr val="F4F6F7"/>
          </a:solidFill>
          <a:ln w="19050">
            <a:solidFill>
              <a:srgbClr val="8E9AA3"/>
            </a:solidFill>
            <a:prstDash val="solid"/>
          </a:ln>
        </p:spPr>
      </p:sp>
      <p:sp>
        <p:nvSpPr>
          <p:cNvPr id="6" name="Text 4"/>
          <p:cNvSpPr txBox="1"/>
          <p:nvPr/>
        </p:nvSpPr>
        <p:spPr>
          <a:xfrm>
            <a:off x="731520" y="2563612"/>
            <a:ext cx="2202104" cy="585216"/>
          </a:xfrm>
          <a:prstGeom prst="rect">
            <a:avLst/>
          </a:prstGeom>
          <a:noFill/>
          <a:ln/>
        </p:spPr>
        <p:txBody>
          <a:bodyPr wrap="square" lIns="0" tIns="0" rIns="0" bIns="0" rtlCol="0" anchor="t"/>
          <a:lstStyle/>
          <a:p>
            <a:pPr indent="0" marL="0">
              <a:buNone/>
            </a:pPr>
            <a:r>
              <a:rPr lang="en-US" sz="1350" b="1" dirty="0">
                <a:solidFill>
                  <a:srgbClr val="8E9AA3"/>
                </a:solidFill>
                <a:latin typeface="Calibri" pitchFamily="34" charset="0"/>
                <a:ea typeface="Calibri" pitchFamily="34" charset="-122"/>
                <a:cs typeface="Calibri" pitchFamily="34" charset="-120"/>
              </a:rPr>
              <a:t>Data files</a:t>
            </a:r>
            <a:endParaRPr lang="en-US" sz="1350" dirty="0"/>
          </a:p>
        </p:txBody>
      </p:sp>
      <p:sp>
        <p:nvSpPr>
          <p:cNvPr id="7" name="Text 5"/>
          <p:cNvSpPr txBox="1"/>
          <p:nvPr/>
        </p:nvSpPr>
        <p:spPr>
          <a:xfrm>
            <a:off x="731520" y="3167116"/>
            <a:ext cx="2202104" cy="127101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part-0000….snappy.parquet</a:t>
            </a: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part-0001….snappy.parquet</a:t>
            </a:r>
            <a:endParaRPr lang="en-US" sz="1150" dirty="0"/>
          </a:p>
          <a:p>
            <a:pPr indent="0" marL="0">
              <a:buNone/>
            </a:pP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Ordinary Parquet. Any engine can read them. Nothing here says which of them are current.</a:t>
            </a:r>
            <a:endParaRPr lang="en-US" sz="1150" dirty="0"/>
          </a:p>
        </p:txBody>
      </p:sp>
      <p:sp>
        <p:nvSpPr>
          <p:cNvPr id="8" name="Shape 6"/>
          <p:cNvSpPr/>
          <p:nvPr/>
        </p:nvSpPr>
        <p:spPr>
          <a:xfrm>
            <a:off x="3143936" y="3382000"/>
            <a:ext cx="219456" cy="201168"/>
          </a:xfrm>
          <a:prstGeom prst="rightArrow">
            <a:avLst/>
          </a:prstGeom>
          <a:solidFill>
            <a:srgbClr val="8E9AA3"/>
          </a:solidFill>
          <a:ln w="12700">
            <a:solidFill>
              <a:srgbClr val="8E9AA3"/>
            </a:solidFill>
            <a:prstDash val="solid"/>
          </a:ln>
        </p:spPr>
      </p:sp>
      <p:sp>
        <p:nvSpPr>
          <p:cNvPr id="9" name="Shape 7"/>
          <p:cNvSpPr/>
          <p:nvPr/>
        </p:nvSpPr>
        <p:spPr>
          <a:xfrm>
            <a:off x="3409112" y="2362444"/>
            <a:ext cx="2531288" cy="2240280"/>
          </a:xfrm>
          <a:prstGeom prst="roundRect">
            <a:avLst>
              <a:gd name="adj" fmla="val 2449"/>
            </a:avLst>
          </a:prstGeom>
          <a:solidFill>
            <a:srgbClr val="F4F6F7"/>
          </a:solidFill>
          <a:ln w="19050">
            <a:solidFill>
              <a:srgbClr val="B0763A"/>
            </a:solidFill>
            <a:prstDash val="solid"/>
          </a:ln>
        </p:spPr>
      </p:sp>
      <p:sp>
        <p:nvSpPr>
          <p:cNvPr id="10" name="Text 8"/>
          <p:cNvSpPr txBox="1"/>
          <p:nvPr/>
        </p:nvSpPr>
        <p:spPr>
          <a:xfrm>
            <a:off x="3573704" y="2563612"/>
            <a:ext cx="2202104" cy="585216"/>
          </a:xfrm>
          <a:prstGeom prst="rect">
            <a:avLst/>
          </a:prstGeom>
          <a:noFill/>
          <a:ln/>
        </p:spPr>
        <p:txBody>
          <a:bodyPr wrap="square" lIns="0" tIns="0" rIns="0" bIns="0" rtlCol="0" anchor="t"/>
          <a:lstStyle/>
          <a:p>
            <a:pPr indent="0" marL="0">
              <a:buNone/>
            </a:pPr>
            <a:r>
              <a:rPr lang="en-US" sz="1350" b="1" dirty="0">
                <a:solidFill>
                  <a:srgbClr val="B0763A"/>
                </a:solidFill>
                <a:latin typeface="Calibri" pitchFamily="34" charset="0"/>
                <a:ea typeface="Calibri" pitchFamily="34" charset="-122"/>
                <a:cs typeface="Calibri" pitchFamily="34" charset="-120"/>
              </a:rPr>
              <a:t>_delta_log/</a:t>
            </a:r>
            <a:endParaRPr lang="en-US" sz="1350" dirty="0"/>
          </a:p>
        </p:txBody>
      </p:sp>
      <p:sp>
        <p:nvSpPr>
          <p:cNvPr id="11" name="Text 9"/>
          <p:cNvSpPr txBox="1"/>
          <p:nvPr/>
        </p:nvSpPr>
        <p:spPr>
          <a:xfrm>
            <a:off x="3573704" y="3167116"/>
            <a:ext cx="2202104" cy="127101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00000000000000000000.json</a:t>
            </a: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00000000000000000001.json</a:t>
            </a: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a:t>
            </a:r>
            <a:endParaRPr lang="en-US" sz="1150" dirty="0"/>
          </a:p>
          <a:p>
            <a:pPr indent="0" marL="0">
              <a:buNone/>
            </a:pP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Ordered commit files. Each one lists add and remove actions for exactly one transaction.</a:t>
            </a:r>
            <a:endParaRPr lang="en-US" sz="1150" dirty="0"/>
          </a:p>
        </p:txBody>
      </p:sp>
      <p:sp>
        <p:nvSpPr>
          <p:cNvPr id="12" name="Shape 10"/>
          <p:cNvSpPr/>
          <p:nvPr/>
        </p:nvSpPr>
        <p:spPr>
          <a:xfrm>
            <a:off x="5986120" y="3382000"/>
            <a:ext cx="219456" cy="201168"/>
          </a:xfrm>
          <a:prstGeom prst="rightArrow">
            <a:avLst/>
          </a:prstGeom>
          <a:solidFill>
            <a:srgbClr val="8E9AA3"/>
          </a:solidFill>
          <a:ln w="12700">
            <a:solidFill>
              <a:srgbClr val="8E9AA3"/>
            </a:solidFill>
            <a:prstDash val="solid"/>
          </a:ln>
        </p:spPr>
      </p:sp>
      <p:sp>
        <p:nvSpPr>
          <p:cNvPr id="13" name="Shape 11"/>
          <p:cNvSpPr/>
          <p:nvPr/>
        </p:nvSpPr>
        <p:spPr>
          <a:xfrm>
            <a:off x="6251296" y="2362444"/>
            <a:ext cx="2531288" cy="2240280"/>
          </a:xfrm>
          <a:prstGeom prst="roundRect">
            <a:avLst>
              <a:gd name="adj" fmla="val 2449"/>
            </a:avLst>
          </a:prstGeom>
          <a:solidFill>
            <a:srgbClr val="F4F6F7"/>
          </a:solidFill>
          <a:ln w="19050">
            <a:solidFill>
              <a:srgbClr val="D4A537"/>
            </a:solidFill>
            <a:prstDash val="solid"/>
          </a:ln>
        </p:spPr>
      </p:sp>
      <p:sp>
        <p:nvSpPr>
          <p:cNvPr id="14" name="Text 12"/>
          <p:cNvSpPr txBox="1"/>
          <p:nvPr/>
        </p:nvSpPr>
        <p:spPr>
          <a:xfrm>
            <a:off x="6415888" y="2563612"/>
            <a:ext cx="2202104" cy="585216"/>
          </a:xfrm>
          <a:prstGeom prst="rect">
            <a:avLst/>
          </a:prstGeom>
          <a:noFill/>
          <a:ln/>
        </p:spPr>
        <p:txBody>
          <a:bodyPr wrap="square" lIns="0" tIns="0" rIns="0" bIns="0" rtlCol="0" anchor="t"/>
          <a:lstStyle/>
          <a:p>
            <a:pPr indent="0" marL="0">
              <a:buNone/>
            </a:pPr>
            <a:r>
              <a:rPr lang="en-US" sz="1350" b="1" dirty="0">
                <a:solidFill>
                  <a:srgbClr val="D4A537"/>
                </a:solidFill>
                <a:latin typeface="Calibri" pitchFamily="34" charset="0"/>
                <a:ea typeface="Calibri" pitchFamily="34" charset="-122"/>
                <a:cs typeface="Calibri" pitchFamily="34" charset="-120"/>
              </a:rPr>
              <a:t>Checkpoints</a:t>
            </a:r>
            <a:endParaRPr lang="en-US" sz="1350" dirty="0"/>
          </a:p>
        </p:txBody>
      </p:sp>
      <p:sp>
        <p:nvSpPr>
          <p:cNvPr id="15" name="Text 13"/>
          <p:cNvSpPr txBox="1"/>
          <p:nvPr/>
        </p:nvSpPr>
        <p:spPr>
          <a:xfrm>
            <a:off x="6415888" y="3167116"/>
            <a:ext cx="2202104" cy="127101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00000000000000000010.checkpoint.parquet</a:t>
            </a:r>
            <a:endParaRPr lang="en-US" sz="1150" dirty="0"/>
          </a:p>
          <a:p>
            <a:pPr indent="0" marL="0">
              <a:buNone/>
            </a:pP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Periodic snapshots of the replayed state so readers do not replay thousands of JSON commits.</a:t>
            </a:r>
            <a:endParaRPr lang="en-US" sz="1150" dirty="0"/>
          </a:p>
        </p:txBody>
      </p:sp>
      <p:sp>
        <p:nvSpPr>
          <p:cNvPr id="16" name="Shape 14"/>
          <p:cNvSpPr/>
          <p:nvPr/>
        </p:nvSpPr>
        <p:spPr>
          <a:xfrm>
            <a:off x="8828303" y="3382000"/>
            <a:ext cx="219456" cy="201168"/>
          </a:xfrm>
          <a:prstGeom prst="rightArrow">
            <a:avLst/>
          </a:prstGeom>
          <a:solidFill>
            <a:srgbClr val="8E9AA3"/>
          </a:solidFill>
          <a:ln w="12700">
            <a:solidFill>
              <a:srgbClr val="8E9AA3"/>
            </a:solidFill>
            <a:prstDash val="solid"/>
          </a:ln>
        </p:spPr>
      </p:sp>
      <p:sp>
        <p:nvSpPr>
          <p:cNvPr id="17" name="Shape 15"/>
          <p:cNvSpPr/>
          <p:nvPr/>
        </p:nvSpPr>
        <p:spPr>
          <a:xfrm>
            <a:off x="9093479" y="2362444"/>
            <a:ext cx="2531288" cy="2240280"/>
          </a:xfrm>
          <a:prstGeom prst="roundRect">
            <a:avLst>
              <a:gd name="adj" fmla="val 2449"/>
            </a:avLst>
          </a:prstGeom>
          <a:solidFill>
            <a:srgbClr val="F4F6F7"/>
          </a:solidFill>
          <a:ln w="19050">
            <a:solidFill>
              <a:srgbClr val="00A6A6"/>
            </a:solidFill>
            <a:prstDash val="solid"/>
          </a:ln>
        </p:spPr>
      </p:sp>
      <p:sp>
        <p:nvSpPr>
          <p:cNvPr id="18" name="Text 16"/>
          <p:cNvSpPr txBox="1"/>
          <p:nvPr/>
        </p:nvSpPr>
        <p:spPr>
          <a:xfrm>
            <a:off x="9258071" y="2563612"/>
            <a:ext cx="2202104" cy="585216"/>
          </a:xfrm>
          <a:prstGeom prst="rect">
            <a:avLst/>
          </a:prstGeom>
          <a:noFill/>
          <a:ln/>
        </p:spPr>
        <p:txBody>
          <a:bodyPr wrap="square" lIns="0" tIns="0" rIns="0" bIns="0" rtlCol="0" anchor="t"/>
          <a:lstStyle/>
          <a:p>
            <a:pPr indent="0" marL="0">
              <a:buNone/>
            </a:pPr>
            <a:r>
              <a:rPr lang="en-US" sz="1350" b="1" dirty="0">
                <a:solidFill>
                  <a:srgbClr val="00A6A6"/>
                </a:solidFill>
                <a:latin typeface="Calibri" pitchFamily="34" charset="0"/>
                <a:ea typeface="Calibri" pitchFamily="34" charset="-122"/>
                <a:cs typeface="Calibri" pitchFamily="34" charset="-120"/>
              </a:rPr>
              <a:t>The table state</a:t>
            </a:r>
            <a:endParaRPr lang="en-US" sz="1350" dirty="0"/>
          </a:p>
        </p:txBody>
      </p:sp>
      <p:sp>
        <p:nvSpPr>
          <p:cNvPr id="19" name="Text 17"/>
          <p:cNvSpPr txBox="1"/>
          <p:nvPr/>
        </p:nvSpPr>
        <p:spPr>
          <a:xfrm>
            <a:off x="9258071" y="3167116"/>
            <a:ext cx="2202104" cy="127101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 replay the log to version v.</a:t>
            </a:r>
            <a:endParaRPr lang="en-US" sz="1150" dirty="0"/>
          </a:p>
          <a:p>
            <a:pPr indent="0" marL="0">
              <a:buNone/>
            </a:pP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That single sentence is the whole trick. Everything else in this module follows from it.</a:t>
            </a:r>
            <a:endParaRPr lang="en-US" sz="1150" dirty="0"/>
          </a:p>
        </p:txBody>
      </p:sp>
      <p:sp>
        <p:nvSpPr>
          <p:cNvPr id="20" name="Text 18"/>
          <p:cNvSpPr txBox="1"/>
          <p:nvPr/>
        </p:nvSpPr>
        <p:spPr>
          <a:xfrm>
            <a:off x="566928" y="4931908"/>
            <a:ext cx="11057839" cy="621792"/>
          </a:xfrm>
          <a:prstGeom prst="rect">
            <a:avLst/>
          </a:prstGeom>
          <a:noFill/>
          <a:ln/>
        </p:spPr>
        <p:txBody>
          <a:bodyPr wrap="square" lIns="0" tIns="0" rIns="0" bIns="0" rtlCol="0" anchor="t"/>
          <a:lstStyle/>
          <a:p>
            <a:pPr indent="0" marL="0">
              <a:buNone/>
            </a:pPr>
            <a:r>
              <a:rPr lang="en-US" sz="1300" i="1" dirty="0">
                <a:solidFill>
                  <a:srgbClr val="B0763A"/>
                </a:solidFill>
                <a:latin typeface="Calibri" pitchFamily="34" charset="0"/>
                <a:ea typeface="Calibri" pitchFamily="34" charset="-122"/>
                <a:cs typeface="Calibri" pitchFamily="34" charset="-120"/>
              </a:rPr>
              <a:t>Instructor demo: open a real _delta_log/*.json live and read the add and remove actions aloud. Six minutes here saves twenty later — seeing the log demystifies the entire module.</a:t>
            </a:r>
            <a:endParaRPr lang="en-US" sz="1300" dirty="0"/>
          </a:p>
        </p:txBody>
      </p:sp>
      <p:sp>
        <p:nvSpPr>
          <p:cNvPr id="21" name="Shape 19"/>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2" name="Shape 20"/>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3" name="Shape 21"/>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4" name="Text 22"/>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5" name="Text 23"/>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4 · SECTION 1</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How the log delivers ACID on object storage</a:t>
            </a:r>
            <a:endParaRPr lang="en-US" sz="3000" dirty="0"/>
          </a:p>
        </p:txBody>
      </p:sp>
      <p:sp>
        <p:nvSpPr>
          <p:cNvPr id="4" name="Shape 2"/>
          <p:cNvSpPr/>
          <p:nvPr/>
        </p:nvSpPr>
        <p:spPr>
          <a:xfrm>
            <a:off x="566928" y="1771421"/>
            <a:ext cx="2572436" cy="2335149"/>
          </a:xfrm>
          <a:prstGeom prst="roundRect">
            <a:avLst>
              <a:gd name="adj" fmla="val 2349"/>
            </a:avLst>
          </a:prstGeom>
          <a:solidFill>
            <a:srgbClr val="F4F6F7"/>
          </a:solidFill>
          <a:ln w="12700">
            <a:solidFill>
              <a:srgbClr val="DDE3E6"/>
            </a:solidFill>
            <a:prstDash val="solid"/>
          </a:ln>
        </p:spPr>
      </p:sp>
      <p:sp>
        <p:nvSpPr>
          <p:cNvPr id="5" name="Shape 3"/>
          <p:cNvSpPr/>
          <p:nvPr/>
        </p:nvSpPr>
        <p:spPr>
          <a:xfrm>
            <a:off x="786384" y="1954301"/>
            <a:ext cx="365760" cy="365760"/>
          </a:xfrm>
          <a:prstGeom prst="ellipse">
            <a:avLst/>
          </a:prstGeom>
          <a:solidFill>
            <a:srgbClr val="B0763A"/>
          </a:solidFill>
          <a:ln w="12700">
            <a:solidFill>
              <a:srgbClr val="B0763A"/>
            </a:solidFill>
            <a:prstDash val="solid"/>
          </a:ln>
        </p:spPr>
      </p:sp>
      <p:sp>
        <p:nvSpPr>
          <p:cNvPr id="6" name="Text 4"/>
          <p:cNvSpPr txBox="1"/>
          <p:nvPr/>
        </p:nvSpPr>
        <p:spPr>
          <a:xfrm>
            <a:off x="786384" y="1968017"/>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a:t>
            </a:r>
            <a:endParaRPr lang="en-US" sz="1250" dirty="0"/>
          </a:p>
        </p:txBody>
      </p:sp>
      <p:sp>
        <p:nvSpPr>
          <p:cNvPr id="7" name="Text 5"/>
          <p:cNvSpPr txBox="1"/>
          <p:nvPr/>
        </p:nvSpPr>
        <p:spPr>
          <a:xfrm>
            <a:off x="786384" y="2448077"/>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Atomicity</a:t>
            </a:r>
            <a:endParaRPr lang="en-US" sz="1450" dirty="0"/>
          </a:p>
        </p:txBody>
      </p:sp>
      <p:sp>
        <p:nvSpPr>
          <p:cNvPr id="8" name="Text 6"/>
          <p:cNvSpPr txBox="1"/>
          <p:nvPr/>
        </p:nvSpPr>
        <p:spPr>
          <a:xfrm>
            <a:off x="786384" y="2771546"/>
            <a:ext cx="2133524" cy="1170432"/>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A write is ONE commit. Either the commit file appears — and all of its file-adds become visible at once — or it does not. There is no half-written table, ever.</a:t>
            </a:r>
            <a:endParaRPr lang="en-US" sz="1200" dirty="0"/>
          </a:p>
        </p:txBody>
      </p:sp>
      <p:sp>
        <p:nvSpPr>
          <p:cNvPr id="9" name="Shape 7"/>
          <p:cNvSpPr/>
          <p:nvPr/>
        </p:nvSpPr>
        <p:spPr>
          <a:xfrm>
            <a:off x="3395396" y="1771421"/>
            <a:ext cx="2572436" cy="2335149"/>
          </a:xfrm>
          <a:prstGeom prst="roundRect">
            <a:avLst>
              <a:gd name="adj" fmla="val 2349"/>
            </a:avLst>
          </a:prstGeom>
          <a:solidFill>
            <a:srgbClr val="F4F6F7"/>
          </a:solidFill>
          <a:ln w="12700">
            <a:solidFill>
              <a:srgbClr val="DDE3E6"/>
            </a:solidFill>
            <a:prstDash val="solid"/>
          </a:ln>
        </p:spPr>
      </p:sp>
      <p:sp>
        <p:nvSpPr>
          <p:cNvPr id="10" name="Shape 8"/>
          <p:cNvSpPr/>
          <p:nvPr/>
        </p:nvSpPr>
        <p:spPr>
          <a:xfrm>
            <a:off x="3614852" y="1954301"/>
            <a:ext cx="365760" cy="365760"/>
          </a:xfrm>
          <a:prstGeom prst="ellipse">
            <a:avLst/>
          </a:prstGeom>
          <a:solidFill>
            <a:srgbClr val="8E9AA3"/>
          </a:solidFill>
          <a:ln w="12700">
            <a:solidFill>
              <a:srgbClr val="8E9AA3"/>
            </a:solidFill>
            <a:prstDash val="solid"/>
          </a:ln>
        </p:spPr>
      </p:sp>
      <p:sp>
        <p:nvSpPr>
          <p:cNvPr id="11" name="Text 9"/>
          <p:cNvSpPr txBox="1"/>
          <p:nvPr/>
        </p:nvSpPr>
        <p:spPr>
          <a:xfrm>
            <a:off x="3614852" y="1968017"/>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t>
            </a:r>
            <a:endParaRPr lang="en-US" sz="1250" dirty="0"/>
          </a:p>
        </p:txBody>
      </p:sp>
      <p:sp>
        <p:nvSpPr>
          <p:cNvPr id="12" name="Text 10"/>
          <p:cNvSpPr txBox="1"/>
          <p:nvPr/>
        </p:nvSpPr>
        <p:spPr>
          <a:xfrm>
            <a:off x="3614852" y="2448077"/>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Consistency</a:t>
            </a:r>
            <a:endParaRPr lang="en-US" sz="1450" dirty="0"/>
          </a:p>
        </p:txBody>
      </p:sp>
      <p:sp>
        <p:nvSpPr>
          <p:cNvPr id="13" name="Text 11"/>
          <p:cNvSpPr txBox="1"/>
          <p:nvPr/>
        </p:nvSpPr>
        <p:spPr>
          <a:xfrm>
            <a:off x="3614852" y="2771546"/>
            <a:ext cx="2133524" cy="1170432"/>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Schema and CHECK constraints are validated before a commit is accepted. A source that suddenly sends fare_sar as a string fails loudly at the silver boundary.</a:t>
            </a:r>
            <a:endParaRPr lang="en-US" sz="1200" dirty="0"/>
          </a:p>
        </p:txBody>
      </p:sp>
      <p:sp>
        <p:nvSpPr>
          <p:cNvPr id="14" name="Shape 12"/>
          <p:cNvSpPr/>
          <p:nvPr/>
        </p:nvSpPr>
        <p:spPr>
          <a:xfrm>
            <a:off x="6223864" y="1771421"/>
            <a:ext cx="2572436" cy="2335149"/>
          </a:xfrm>
          <a:prstGeom prst="roundRect">
            <a:avLst>
              <a:gd name="adj" fmla="val 2349"/>
            </a:avLst>
          </a:prstGeom>
          <a:solidFill>
            <a:srgbClr val="F4F6F7"/>
          </a:solidFill>
          <a:ln w="12700">
            <a:solidFill>
              <a:srgbClr val="DDE3E6"/>
            </a:solidFill>
            <a:prstDash val="solid"/>
          </a:ln>
        </p:spPr>
      </p:sp>
      <p:sp>
        <p:nvSpPr>
          <p:cNvPr id="15" name="Shape 13"/>
          <p:cNvSpPr/>
          <p:nvPr/>
        </p:nvSpPr>
        <p:spPr>
          <a:xfrm>
            <a:off x="6443320" y="1954301"/>
            <a:ext cx="365760" cy="365760"/>
          </a:xfrm>
          <a:prstGeom prst="ellipse">
            <a:avLst/>
          </a:prstGeom>
          <a:solidFill>
            <a:srgbClr val="D4A537"/>
          </a:solidFill>
          <a:ln w="12700">
            <a:solidFill>
              <a:srgbClr val="D4A537"/>
            </a:solidFill>
            <a:prstDash val="solid"/>
          </a:ln>
        </p:spPr>
      </p:sp>
      <p:sp>
        <p:nvSpPr>
          <p:cNvPr id="16" name="Text 14"/>
          <p:cNvSpPr txBox="1"/>
          <p:nvPr/>
        </p:nvSpPr>
        <p:spPr>
          <a:xfrm>
            <a:off x="6443320" y="1968017"/>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a:t>
            </a:r>
            <a:endParaRPr lang="en-US" sz="1250" dirty="0"/>
          </a:p>
        </p:txBody>
      </p:sp>
      <p:sp>
        <p:nvSpPr>
          <p:cNvPr id="17" name="Text 15"/>
          <p:cNvSpPr txBox="1"/>
          <p:nvPr/>
        </p:nvSpPr>
        <p:spPr>
          <a:xfrm>
            <a:off x="6443320" y="2448077"/>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Isolation</a:t>
            </a:r>
            <a:endParaRPr lang="en-US" sz="1450" dirty="0"/>
          </a:p>
        </p:txBody>
      </p:sp>
      <p:sp>
        <p:nvSpPr>
          <p:cNvPr id="18" name="Text 16"/>
          <p:cNvSpPr txBox="1"/>
          <p:nvPr/>
        </p:nvSpPr>
        <p:spPr>
          <a:xfrm>
            <a:off x="6443320" y="2771546"/>
            <a:ext cx="2133524" cy="1170432"/>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Readers see a consistent snapshot — the log up to version v. A concurrent writer adding v+1 does not disturb them. This is snapshot isolation.</a:t>
            </a:r>
            <a:endParaRPr lang="en-US" sz="1200" dirty="0"/>
          </a:p>
        </p:txBody>
      </p:sp>
      <p:sp>
        <p:nvSpPr>
          <p:cNvPr id="19" name="Shape 17"/>
          <p:cNvSpPr/>
          <p:nvPr/>
        </p:nvSpPr>
        <p:spPr>
          <a:xfrm>
            <a:off x="9052331" y="1771421"/>
            <a:ext cx="2572436" cy="2335149"/>
          </a:xfrm>
          <a:prstGeom prst="roundRect">
            <a:avLst>
              <a:gd name="adj" fmla="val 2349"/>
            </a:avLst>
          </a:prstGeom>
          <a:solidFill>
            <a:srgbClr val="F4F6F7"/>
          </a:solidFill>
          <a:ln w="12700">
            <a:solidFill>
              <a:srgbClr val="DDE3E6"/>
            </a:solidFill>
            <a:prstDash val="solid"/>
          </a:ln>
        </p:spPr>
      </p:sp>
      <p:sp>
        <p:nvSpPr>
          <p:cNvPr id="20" name="Shape 18"/>
          <p:cNvSpPr/>
          <p:nvPr/>
        </p:nvSpPr>
        <p:spPr>
          <a:xfrm>
            <a:off x="9271787" y="1954301"/>
            <a:ext cx="365760" cy="365760"/>
          </a:xfrm>
          <a:prstGeom prst="ellipse">
            <a:avLst/>
          </a:prstGeom>
          <a:solidFill>
            <a:srgbClr val="00A6A6"/>
          </a:solidFill>
          <a:ln w="12700">
            <a:solidFill>
              <a:srgbClr val="00A6A6"/>
            </a:solidFill>
            <a:prstDash val="solid"/>
          </a:ln>
        </p:spPr>
      </p:sp>
      <p:sp>
        <p:nvSpPr>
          <p:cNvPr id="21" name="Text 19"/>
          <p:cNvSpPr txBox="1"/>
          <p:nvPr/>
        </p:nvSpPr>
        <p:spPr>
          <a:xfrm>
            <a:off x="9271787" y="1968017"/>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
            </a:r>
            <a:endParaRPr lang="en-US" sz="1250" dirty="0"/>
          </a:p>
        </p:txBody>
      </p:sp>
      <p:sp>
        <p:nvSpPr>
          <p:cNvPr id="22" name="Text 20"/>
          <p:cNvSpPr txBox="1"/>
          <p:nvPr/>
        </p:nvSpPr>
        <p:spPr>
          <a:xfrm>
            <a:off x="9271787" y="2448077"/>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Durability</a:t>
            </a:r>
            <a:endParaRPr lang="en-US" sz="1450" dirty="0"/>
          </a:p>
        </p:txBody>
      </p:sp>
      <p:sp>
        <p:nvSpPr>
          <p:cNvPr id="23" name="Text 21"/>
          <p:cNvSpPr txBox="1"/>
          <p:nvPr/>
        </p:nvSpPr>
        <p:spPr>
          <a:xfrm>
            <a:off x="9271787" y="2771546"/>
            <a:ext cx="2133524" cy="1170432"/>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Commits and data both live in durable object storage. There is no separate metadata service to lose, and no state that exists only in a running process.</a:t>
            </a:r>
            <a:endParaRPr lang="en-US" sz="1200" dirty="0"/>
          </a:p>
        </p:txBody>
      </p:sp>
      <p:sp>
        <p:nvSpPr>
          <p:cNvPr id="24" name="Text 22"/>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Concurrency is optimistic: a writer reads the current version, prepares its changes, then attempts to commit as the next version. If someone got there first, it retries against the new state. That is why concurrent streaming and batch writes to Masar's trips table do not corrupt it.</a:t>
            </a:r>
            <a:endParaRPr lang="en-US" sz="1200" dirty="0"/>
          </a:p>
        </p:txBody>
      </p:sp>
      <p:sp>
        <p:nvSpPr>
          <p:cNvPr id="25" name="Shape 2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6" name="Shape 2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7" name="Shape 2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8" name="Text 2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9" name="Text 2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4 · SECTION 2</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Enforce by default. Evolve on purpose.</a:t>
            </a:r>
            <a:endParaRPr lang="en-US" sz="3000" dirty="0"/>
          </a:p>
        </p:txBody>
      </p:sp>
      <p:sp>
        <p:nvSpPr>
          <p:cNvPr id="4" name="Shape 2"/>
          <p:cNvSpPr/>
          <p:nvPr/>
        </p:nvSpPr>
        <p:spPr>
          <a:xfrm>
            <a:off x="566928" y="1577226"/>
            <a:ext cx="5373472" cy="3391281"/>
          </a:xfrm>
          <a:prstGeom prst="roundRect">
            <a:avLst>
              <a:gd name="adj" fmla="val 1618"/>
            </a:avLst>
          </a:prstGeom>
          <a:solidFill>
            <a:srgbClr val="F4F6F7"/>
          </a:solidFill>
          <a:ln w="12700">
            <a:solidFill>
              <a:srgbClr val="DDE3E6"/>
            </a:solidFill>
            <a:prstDash val="solid"/>
          </a:ln>
        </p:spPr>
      </p:sp>
      <p:sp>
        <p:nvSpPr>
          <p:cNvPr id="5" name="Text 3"/>
          <p:cNvSpPr txBox="1"/>
          <p:nvPr/>
        </p:nvSpPr>
        <p:spPr>
          <a:xfrm>
            <a:off x="804672" y="1760106"/>
            <a:ext cx="4897984" cy="365760"/>
          </a:xfrm>
          <a:prstGeom prst="rect">
            <a:avLst/>
          </a:prstGeom>
          <a:noFill/>
          <a:ln/>
        </p:spPr>
        <p:txBody>
          <a:bodyPr wrap="square" lIns="0" tIns="0" rIns="0" bIns="0" rtlCol="0" anchor="ctr"/>
          <a:lstStyle/>
          <a:p>
            <a:pPr indent="0" marL="0">
              <a:buNone/>
            </a:pPr>
            <a:r>
              <a:rPr lang="en-US" sz="1600" b="1" dirty="0">
                <a:solidFill>
                  <a:srgbClr val="00A6A6"/>
                </a:solidFill>
                <a:latin typeface="Calibri" pitchFamily="34" charset="0"/>
                <a:ea typeface="Calibri" pitchFamily="34" charset="-122"/>
                <a:cs typeface="Calibri" pitchFamily="34" charset="-120"/>
              </a:rPr>
              <a:t>Schema enforcement — the default</a:t>
            </a:r>
            <a:endParaRPr lang="en-US" sz="1600" dirty="0"/>
          </a:p>
        </p:txBody>
      </p:sp>
      <p:sp>
        <p:nvSpPr>
          <p:cNvPr id="6" name="Text 4"/>
          <p:cNvSpPr txBox="1"/>
          <p:nvPr/>
        </p:nvSpPr>
        <p:spPr>
          <a:xfrm>
            <a:off x="804672" y="2144154"/>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The guarantee a raw lake lacks</a:t>
            </a:r>
            <a:endParaRPr lang="en-US" sz="1150" dirty="0"/>
          </a:p>
        </p:txBody>
      </p:sp>
      <p:sp>
        <p:nvSpPr>
          <p:cNvPr id="7" name="Text 5"/>
          <p:cNvSpPr txBox="1"/>
          <p:nvPr/>
        </p:nvSpPr>
        <p:spPr>
          <a:xfrm>
            <a:off x="804672" y="2509914"/>
            <a:ext cx="4897984" cy="2257425"/>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A write whose columns or types do not match the table is REJECTED, not silently coerced.</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This is the single property that stops a lake becoming a swamp.</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For Masar: a source that starts sending fare_sar as a string fails at the silver boundary instead of poisoning every downstream feature.</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Add CHECK constraints (fare_sar &gt; 0, dropoff_ts &gt;= pickup_ts) so the table validates itself on every write.</a:t>
            </a:r>
            <a:endParaRPr lang="en-US" sz="1250" dirty="0"/>
          </a:p>
        </p:txBody>
      </p:sp>
      <p:sp>
        <p:nvSpPr>
          <p:cNvPr id="8" name="Shape 6"/>
          <p:cNvSpPr/>
          <p:nvPr/>
        </p:nvSpPr>
        <p:spPr>
          <a:xfrm>
            <a:off x="6251296" y="1577226"/>
            <a:ext cx="5373472" cy="3391281"/>
          </a:xfrm>
          <a:prstGeom prst="roundRect">
            <a:avLst>
              <a:gd name="adj" fmla="val 1618"/>
            </a:avLst>
          </a:prstGeom>
          <a:solidFill>
            <a:srgbClr val="F4F6F7"/>
          </a:solidFill>
          <a:ln w="12700">
            <a:solidFill>
              <a:srgbClr val="DDE3E6"/>
            </a:solidFill>
            <a:prstDash val="solid"/>
          </a:ln>
        </p:spPr>
      </p:sp>
      <p:sp>
        <p:nvSpPr>
          <p:cNvPr id="9" name="Text 7"/>
          <p:cNvSpPr txBox="1"/>
          <p:nvPr/>
        </p:nvSpPr>
        <p:spPr>
          <a:xfrm>
            <a:off x="6489040" y="1760106"/>
            <a:ext cx="4897984" cy="365760"/>
          </a:xfrm>
          <a:prstGeom prst="rect">
            <a:avLst/>
          </a:prstGeom>
          <a:noFill/>
          <a:ln/>
        </p:spPr>
        <p:txBody>
          <a:bodyPr wrap="square" lIns="0" tIns="0" rIns="0" bIns="0" rtlCol="0" anchor="ctr"/>
          <a:lstStyle/>
          <a:p>
            <a:pPr indent="0" marL="0">
              <a:buNone/>
            </a:pPr>
            <a:r>
              <a:rPr lang="en-US" sz="1600" b="1" dirty="0">
                <a:solidFill>
                  <a:srgbClr val="B0763A"/>
                </a:solidFill>
                <a:latin typeface="Calibri" pitchFamily="34" charset="0"/>
                <a:ea typeface="Calibri" pitchFamily="34" charset="-122"/>
                <a:cs typeface="Calibri" pitchFamily="34" charset="-120"/>
              </a:rPr>
              <a:t>Schema evolution — opt-in and audited</a:t>
            </a:r>
            <a:endParaRPr lang="en-US" sz="1600" dirty="0"/>
          </a:p>
        </p:txBody>
      </p:sp>
      <p:sp>
        <p:nvSpPr>
          <p:cNvPr id="10" name="Text 8"/>
          <p:cNvSpPr txBox="1"/>
          <p:nvPr/>
        </p:nvSpPr>
        <p:spPr>
          <a:xfrm>
            <a:off x="6489040" y="2144154"/>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When change is intended, not discovered</a:t>
            </a:r>
            <a:endParaRPr lang="en-US" sz="1150" dirty="0"/>
          </a:p>
        </p:txBody>
      </p:sp>
      <p:sp>
        <p:nvSpPr>
          <p:cNvPr id="11" name="Text 9"/>
          <p:cNvSpPr txBox="1"/>
          <p:nvPr/>
        </p:nvSpPr>
        <p:spPr>
          <a:xfrm>
            <a:off x="6489040" y="2509914"/>
            <a:ext cx="4897984" cy="2257425"/>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mergeSchema / on_schema_change='append_new_columns' adds genuinely new columns.</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Type widening and column renames are explicit operations, logged as metadata commits.</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The principle: schema changes are EVENTS you decide and record — never accidents you find in production.</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The limit you must remember: enforcement checks TYPES. It cannot see that the meaning of a value changed. Hold that thought until tomorrow afternoon.</a:t>
            </a:r>
            <a:endParaRPr lang="en-US" sz="1250" dirty="0"/>
          </a:p>
        </p:txBody>
      </p:sp>
      <p:sp>
        <p:nvSpPr>
          <p:cNvPr id="12" name="Text 10"/>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That last bullet is the seed of the signature incident. Plant it here on Day 3; harvest it in CS-11.</a:t>
            </a:r>
            <a:endParaRPr lang="en-US" sz="1200" dirty="0"/>
          </a:p>
        </p:txBody>
      </p:sp>
      <p:sp>
        <p:nvSpPr>
          <p:cNvPr id="13" name="Shape 11"/>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4" name="Shape 12"/>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5" name="Shape 13"/>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6" name="Text 14"/>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7" name="Text 15"/>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4 · SECTION 3</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MERGE — three Masar patterns, one operation</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MERGE INTO … USING … ON … WHEN MATCHED … WHEN NOT MATCHED. Atomic, idempotent on a key, and therefore safe to retry.</a:t>
            </a:r>
            <a:endParaRPr lang="en-US" sz="1330" dirty="0"/>
          </a:p>
        </p:txBody>
      </p:sp>
      <p:sp>
        <p:nvSpPr>
          <p:cNvPr id="5" name="Shape 3"/>
          <p:cNvSpPr/>
          <p:nvPr/>
        </p:nvSpPr>
        <p:spPr>
          <a:xfrm>
            <a:off x="566928" y="1920240"/>
            <a:ext cx="384048" cy="384048"/>
          </a:xfrm>
          <a:prstGeom prst="ellipse">
            <a:avLst/>
          </a:prstGeom>
          <a:solidFill>
            <a:srgbClr val="B0763A"/>
          </a:solidFill>
          <a:ln w="12700">
            <a:solidFill>
              <a:srgbClr val="B0763A"/>
            </a:solidFill>
            <a:prstDash val="solid"/>
          </a:ln>
        </p:spPr>
      </p:sp>
      <p:sp>
        <p:nvSpPr>
          <p:cNvPr id="6" name="Text 4"/>
          <p:cNvSpPr txBox="1"/>
          <p:nvPr/>
        </p:nvSpPr>
        <p:spPr>
          <a:xfrm>
            <a:off x="566928" y="193395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1133856" y="1883664"/>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Correction upsert</a:t>
            </a:r>
            <a:endParaRPr lang="en-US" sz="1500" dirty="0"/>
          </a:p>
        </p:txBody>
      </p:sp>
      <p:sp>
        <p:nvSpPr>
          <p:cNvPr id="8" name="Text 6"/>
          <p:cNvSpPr txBox="1"/>
          <p:nvPr/>
        </p:nvSpPr>
        <p:spPr>
          <a:xfrm>
            <a:off x="1133856" y="2148840"/>
            <a:ext cx="10417759" cy="758952"/>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A re-scored or corrected trip updates its row in place, keyed on trip_id. Running the correction batch twice changes nothing the second time — that is the definition of a safe retry.</a:t>
            </a:r>
            <a:endParaRPr lang="en-US" sz="1250" dirty="0"/>
          </a:p>
        </p:txBody>
      </p:sp>
      <p:sp>
        <p:nvSpPr>
          <p:cNvPr id="9" name="Shape 7"/>
          <p:cNvSpPr/>
          <p:nvPr/>
        </p:nvSpPr>
        <p:spPr>
          <a:xfrm>
            <a:off x="566928" y="2971800"/>
            <a:ext cx="384048" cy="384048"/>
          </a:xfrm>
          <a:prstGeom prst="ellipse">
            <a:avLst/>
          </a:prstGeom>
          <a:solidFill>
            <a:srgbClr val="8E9AA3"/>
          </a:solidFill>
          <a:ln w="12700">
            <a:solidFill>
              <a:srgbClr val="8E9AA3"/>
            </a:solidFill>
            <a:prstDash val="solid"/>
          </a:ln>
        </p:spPr>
      </p:sp>
      <p:sp>
        <p:nvSpPr>
          <p:cNvPr id="10" name="Text 8"/>
          <p:cNvSpPr txBox="1"/>
          <p:nvPr/>
        </p:nvSpPr>
        <p:spPr>
          <a:xfrm>
            <a:off x="566928" y="298551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1" name="Text 9"/>
          <p:cNvSpPr txBox="1"/>
          <p:nvPr/>
        </p:nvSpPr>
        <p:spPr>
          <a:xfrm>
            <a:off x="1133856" y="2935224"/>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CDC apply</a:t>
            </a:r>
            <a:endParaRPr lang="en-US" sz="1500" dirty="0"/>
          </a:p>
        </p:txBody>
      </p:sp>
      <p:sp>
        <p:nvSpPr>
          <p:cNvPr id="12" name="Text 10"/>
          <p:cNvSpPr txBox="1"/>
          <p:nvPr/>
        </p:nvSpPr>
        <p:spPr>
          <a:xfrm>
            <a:off x="1133856" y="3200400"/>
            <a:ext cx="10417759" cy="758952"/>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A stream of change events carrying insert / update / delete flags is merged to keep silver in sync with an operational source, without ever rebuilding the table.</a:t>
            </a:r>
            <a:endParaRPr lang="en-US" sz="1250" dirty="0"/>
          </a:p>
        </p:txBody>
      </p:sp>
      <p:sp>
        <p:nvSpPr>
          <p:cNvPr id="13" name="Shape 11"/>
          <p:cNvSpPr/>
          <p:nvPr/>
        </p:nvSpPr>
        <p:spPr>
          <a:xfrm>
            <a:off x="566928" y="4023360"/>
            <a:ext cx="384048" cy="384048"/>
          </a:xfrm>
          <a:prstGeom prst="ellipse">
            <a:avLst/>
          </a:prstGeom>
          <a:solidFill>
            <a:srgbClr val="D4A537"/>
          </a:solidFill>
          <a:ln w="12700">
            <a:solidFill>
              <a:srgbClr val="D4A537"/>
            </a:solidFill>
            <a:prstDash val="solid"/>
          </a:ln>
        </p:spPr>
      </p:sp>
      <p:sp>
        <p:nvSpPr>
          <p:cNvPr id="14" name="Text 12"/>
          <p:cNvSpPr txBox="1"/>
          <p:nvPr/>
        </p:nvSpPr>
        <p:spPr>
          <a:xfrm>
            <a:off x="566928" y="403707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5" name="Text 13"/>
          <p:cNvSpPr txBox="1"/>
          <p:nvPr/>
        </p:nvSpPr>
        <p:spPr>
          <a:xfrm>
            <a:off x="1133856" y="3986784"/>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Compliant delete (PDPL)</a:t>
            </a:r>
            <a:endParaRPr lang="en-US" sz="1500" dirty="0"/>
          </a:p>
        </p:txBody>
      </p:sp>
      <p:sp>
        <p:nvSpPr>
          <p:cNvPr id="16" name="Text 14"/>
          <p:cNvSpPr txBox="1"/>
          <p:nvPr/>
        </p:nvSpPr>
        <p:spPr>
          <a:xfrm>
            <a:off x="1133856" y="4251960"/>
            <a:ext cx="10417759" cy="758952"/>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DELETE FROM silver.trips WHERE rider_id = :id removes a data subject's rows atomically, with an auditable commit — and, after VACUUM passes the retention window, physically from history too.</a:t>
            </a:r>
            <a:endParaRPr lang="en-US" sz="1250" dirty="0"/>
          </a:p>
        </p:txBody>
      </p:sp>
      <p:sp>
        <p:nvSpPr>
          <p:cNvPr id="17" name="Text 15"/>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Because MERGE is atomic and keyed, it is the backbone of every idempotent pipeline in this course. Module 3's dbt incremental merge is this operation, seen from above.</a:t>
            </a:r>
            <a:endParaRPr lang="en-US" sz="1200" dirty="0"/>
          </a:p>
        </p:txBody>
      </p:sp>
      <p:sp>
        <p:nvSpPr>
          <p:cNvPr id="18" name="Shape 16"/>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9" name="Shape 17"/>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0" name="Shape 18"/>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1" name="Text 19"/>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2" name="Text 20"/>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4 · SECTION 4</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Time travel — audit, reproducibility, recovery</a:t>
            </a:r>
            <a:endParaRPr lang="en-US" sz="3000" dirty="0"/>
          </a:p>
        </p:txBody>
      </p:sp>
      <p:sp>
        <p:nvSpPr>
          <p:cNvPr id="4" name="Shape 2"/>
          <p:cNvSpPr/>
          <p:nvPr/>
        </p:nvSpPr>
        <p:spPr>
          <a:xfrm>
            <a:off x="566928" y="1389888"/>
            <a:ext cx="6634704" cy="4736592"/>
          </a:xfrm>
          <a:prstGeom prst="roundRect">
            <a:avLst>
              <a:gd name="adj" fmla="val 1158"/>
            </a:avLst>
          </a:prstGeom>
          <a:solidFill>
            <a:srgbClr val="10202B"/>
          </a:solidFill>
          <a:ln w="12700">
            <a:solidFill>
              <a:srgbClr val="10202B"/>
            </a:solidFill>
            <a:prstDash val="solid"/>
          </a:ln>
        </p:spPr>
      </p:sp>
      <p:sp>
        <p:nvSpPr>
          <p:cNvPr id="5" name="Text 3"/>
          <p:cNvSpPr txBox="1"/>
          <p:nvPr/>
        </p:nvSpPr>
        <p:spPr>
          <a:xfrm>
            <a:off x="6012912" y="1481328"/>
            <a:ext cx="1005840" cy="219456"/>
          </a:xfrm>
          <a:prstGeom prst="rect">
            <a:avLst/>
          </a:prstGeom>
          <a:noFill/>
          <a:ln/>
        </p:spPr>
        <p:txBody>
          <a:bodyPr wrap="square" lIns="0" tIns="0" rIns="0" bIns="0" rtlCol="0" anchor="ctr"/>
          <a:lstStyle/>
          <a:p>
            <a:pPr algn="r" indent="0" marL="0">
              <a:buNone/>
            </a:pPr>
            <a:r>
              <a:rPr lang="en-US" sz="900" dirty="0">
                <a:solidFill>
                  <a:srgbClr val="9FB3BE"/>
                </a:solidFill>
                <a:latin typeface="Courier New" pitchFamily="34" charset="0"/>
                <a:ea typeface="Courier New" pitchFamily="34" charset="-122"/>
                <a:cs typeface="Courier New" pitchFamily="34" charset="-120"/>
              </a:rPr>
              <a:t>sql / python</a:t>
            </a:r>
            <a:endParaRPr lang="en-US" sz="900" dirty="0"/>
          </a:p>
        </p:txBody>
      </p:sp>
      <p:sp>
        <p:nvSpPr>
          <p:cNvPr id="6" name="Text 4"/>
          <p:cNvSpPr txBox="1"/>
          <p:nvPr/>
        </p:nvSpPr>
        <p:spPr>
          <a:xfrm>
            <a:off x="768096" y="1572768"/>
            <a:ext cx="6232368" cy="4407408"/>
          </a:xfrm>
          <a:prstGeom prst="rect">
            <a:avLst/>
          </a:prstGeom>
          <a:noFill/>
          <a:ln/>
        </p:spPr>
        <p:txBody>
          <a:bodyPr wrap="square" lIns="0" tIns="0" rIns="0" bIns="0" rtlCol="0" anchor="t"/>
          <a:lstStyle/>
          <a:p>
            <a:pPr indent="0" marL="0">
              <a:lnSpc>
                <a:spcPct val="106000"/>
              </a:lnSpc>
              <a:buNone/>
            </a:pPr>
            <a:r>
              <a:rPr lang="en-US" sz="1100" dirty="0">
                <a:solidFill>
                  <a:srgbClr val="E8F0F3"/>
                </a:solidFill>
                <a:latin typeface="Courier New" pitchFamily="34" charset="0"/>
                <a:ea typeface="Courier New" pitchFamily="34" charset="-122"/>
                <a:cs typeface="Courier New" pitchFamily="34" charset="-120"/>
              </a:rPr>
              <a:t>-- what did this table contain when the report was filed?</a:t>
            </a:r>
            <a:endParaRPr lang="en-US" sz="1100" dirty="0"/>
          </a:p>
          <a:p>
            <a:pPr indent="0" marL="0">
              <a:lnSpc>
                <a:spcPct val="106000"/>
              </a:lnSpc>
              <a:buNone/>
            </a:pPr>
            <a:r>
              <a:rPr lang="en-US" sz="1100" dirty="0">
                <a:solidFill>
                  <a:srgbClr val="E8F0F3"/>
                </a:solidFill>
                <a:latin typeface="Courier New" pitchFamily="34" charset="0"/>
                <a:ea typeface="Courier New" pitchFamily="34" charset="-122"/>
                <a:cs typeface="Courier New" pitchFamily="34" charset="-120"/>
              </a:rPr>
              <a:t>SELECT * FROM silver_trips VERSION   AS OF 42;</a:t>
            </a:r>
            <a:endParaRPr lang="en-US" sz="1100" dirty="0"/>
          </a:p>
          <a:p>
            <a:pPr indent="0" marL="0">
              <a:lnSpc>
                <a:spcPct val="106000"/>
              </a:lnSpc>
              <a:buNone/>
            </a:pPr>
            <a:r>
              <a:rPr lang="en-US" sz="1100" dirty="0">
                <a:solidFill>
                  <a:srgbClr val="E8F0F3"/>
                </a:solidFill>
                <a:latin typeface="Courier New" pitchFamily="34" charset="0"/>
                <a:ea typeface="Courier New" pitchFamily="34" charset="-122"/>
                <a:cs typeface="Courier New" pitchFamily="34" charset="-120"/>
              </a:rPr>
              <a:t>SELECT * FROM silver_trips TIMESTAMP AS OF '2026-06-15';</a:t>
            </a:r>
            <a:endParaRPr lang="en-US" sz="1100" dirty="0"/>
          </a:p>
          <a:p>
            <a:pPr indent="0" marL="0">
              <a:lnSpc>
                <a:spcPct val="106000"/>
              </a:lnSpc>
              <a:buNone/>
            </a:pPr>
            <a:endParaRPr lang="en-US" sz="1100" dirty="0"/>
          </a:p>
          <a:p>
            <a:pPr indent="0" marL="0">
              <a:lnSpc>
                <a:spcPct val="106000"/>
              </a:lnSpc>
              <a:buNone/>
            </a:pPr>
            <a:r>
              <a:rPr lang="en-US" sz="1100" dirty="0">
                <a:solidFill>
                  <a:srgbClr val="E8F0F3"/>
                </a:solidFill>
                <a:latin typeface="Courier New" pitchFamily="34" charset="0"/>
                <a:ea typeface="Courier New" pitchFamily="34" charset="-122"/>
                <a:cs typeface="Courier New" pitchFamily="34" charset="-120"/>
              </a:rPr>
              <a:t>-- what changed, and who changed it?</a:t>
            </a:r>
            <a:endParaRPr lang="en-US" sz="1100" dirty="0"/>
          </a:p>
          <a:p>
            <a:pPr indent="0" marL="0">
              <a:lnSpc>
                <a:spcPct val="106000"/>
              </a:lnSpc>
              <a:buNone/>
            </a:pPr>
            <a:r>
              <a:rPr lang="en-US" sz="1100" dirty="0">
                <a:solidFill>
                  <a:srgbClr val="E8F0F3"/>
                </a:solidFill>
                <a:latin typeface="Courier New" pitchFamily="34" charset="0"/>
                <a:ea typeface="Courier New" pitchFamily="34" charset="-122"/>
                <a:cs typeface="Courier New" pitchFamily="34" charset="-120"/>
              </a:rPr>
              <a:t>DESCRIBE HISTORY silver_trips;</a:t>
            </a:r>
            <a:endParaRPr lang="en-US" sz="1100" dirty="0"/>
          </a:p>
          <a:p>
            <a:pPr indent="0" marL="0">
              <a:lnSpc>
                <a:spcPct val="106000"/>
              </a:lnSpc>
              <a:buNone/>
            </a:pPr>
            <a:endParaRPr lang="en-US" sz="1100" dirty="0"/>
          </a:p>
          <a:p>
            <a:pPr indent="0" marL="0">
              <a:lnSpc>
                <a:spcPct val="106000"/>
              </a:lnSpc>
              <a:buNone/>
            </a:pPr>
            <a:r>
              <a:rPr lang="en-US" sz="1100" dirty="0">
                <a:solidFill>
                  <a:srgbClr val="E8F0F3"/>
                </a:solidFill>
                <a:latin typeface="Courier New" pitchFamily="34" charset="0"/>
                <a:ea typeface="Courier New" pitchFamily="34" charset="-122"/>
                <a:cs typeface="Courier New" pitchFamily="34" charset="-120"/>
              </a:rPr>
              <a:t>-- undo a bad MERGE</a:t>
            </a:r>
            <a:endParaRPr lang="en-US" sz="1100" dirty="0"/>
          </a:p>
          <a:p>
            <a:pPr indent="0" marL="0">
              <a:lnSpc>
                <a:spcPct val="106000"/>
              </a:lnSpc>
              <a:buNone/>
            </a:pPr>
            <a:r>
              <a:rPr lang="en-US" sz="1100" dirty="0">
                <a:solidFill>
                  <a:srgbClr val="E8F0F3"/>
                </a:solidFill>
                <a:latin typeface="Courier New" pitchFamily="34" charset="0"/>
                <a:ea typeface="Courier New" pitchFamily="34" charset="-122"/>
                <a:cs typeface="Courier New" pitchFamily="34" charset="-120"/>
              </a:rPr>
              <a:t>RESTORE TABLE silver_trips TO VERSION AS OF 41;</a:t>
            </a:r>
            <a:endParaRPr lang="en-US" sz="1100" dirty="0"/>
          </a:p>
          <a:p>
            <a:pPr indent="0" marL="0">
              <a:lnSpc>
                <a:spcPct val="106000"/>
              </a:lnSpc>
              <a:buNone/>
            </a:pPr>
            <a:endParaRPr lang="en-US" sz="1100" dirty="0"/>
          </a:p>
          <a:p>
            <a:pPr indent="0" marL="0">
              <a:lnSpc>
                <a:spcPct val="106000"/>
              </a:lnSpc>
              <a:buNone/>
            </a:pPr>
            <a:r>
              <a:rPr lang="en-US" sz="1100" dirty="0">
                <a:solidFill>
                  <a:srgbClr val="E8F0F3"/>
                </a:solidFill>
                <a:latin typeface="Courier New" pitchFamily="34" charset="0"/>
                <a:ea typeface="Courier New" pitchFamily="34" charset="-122"/>
                <a:cs typeface="Courier New" pitchFamily="34" charset="-120"/>
              </a:rPr>
              <a:t># reproduce a training set exactly</a:t>
            </a:r>
            <a:endParaRPr lang="en-US" sz="1100" dirty="0"/>
          </a:p>
          <a:p>
            <a:pPr indent="0" marL="0">
              <a:lnSpc>
                <a:spcPct val="106000"/>
              </a:lnSpc>
              <a:buNone/>
            </a:pPr>
            <a:r>
              <a:rPr lang="en-US" sz="1100" dirty="0">
                <a:solidFill>
                  <a:srgbClr val="E8F0F3"/>
                </a:solidFill>
                <a:latin typeface="Courier New" pitchFamily="34" charset="0"/>
                <a:ea typeface="Courier New" pitchFamily="34" charset="-122"/>
                <a:cs typeface="Courier New" pitchFamily="34" charset="-120"/>
              </a:rPr>
              <a:t>df = (spark.read.format("delta")</a:t>
            </a:r>
            <a:endParaRPr lang="en-US" sz="1100" dirty="0"/>
          </a:p>
          <a:p>
            <a:pPr indent="0" marL="0">
              <a:lnSpc>
                <a:spcPct val="106000"/>
              </a:lnSpc>
              <a:buNone/>
            </a:pPr>
            <a:r>
              <a:rPr lang="en-US" sz="1100" dirty="0">
                <a:solidFill>
                  <a:srgbClr val="E8F0F3"/>
                </a:solidFill>
                <a:latin typeface="Courier New" pitchFamily="34" charset="0"/>
                <a:ea typeface="Courier New" pitchFamily="34" charset="-122"/>
                <a:cs typeface="Courier New" pitchFamily="34" charset="-120"/>
              </a:rPr>
              <a:t>        .option("versionAsOf", model_card["delta_version"])</a:t>
            </a:r>
            <a:endParaRPr lang="en-US" sz="1100" dirty="0"/>
          </a:p>
          <a:p>
            <a:pPr indent="0" marL="0">
              <a:lnSpc>
                <a:spcPct val="106000"/>
              </a:lnSpc>
              <a:buNone/>
            </a:pPr>
            <a:r>
              <a:rPr lang="en-US" sz="1100" dirty="0">
                <a:solidFill>
                  <a:srgbClr val="E8F0F3"/>
                </a:solidFill>
                <a:latin typeface="Courier New" pitchFamily="34" charset="0"/>
                <a:ea typeface="Courier New" pitchFamily="34" charset="-122"/>
                <a:cs typeface="Courier New" pitchFamily="34" charset="-120"/>
              </a:rPr>
              <a:t>        .load("lakehouse/gold/eta_features"))</a:t>
            </a:r>
            <a:endParaRPr lang="en-US" sz="1100" dirty="0"/>
          </a:p>
        </p:txBody>
      </p:sp>
      <p:sp>
        <p:nvSpPr>
          <p:cNvPr id="7" name="Shape 5"/>
          <p:cNvSpPr/>
          <p:nvPr/>
        </p:nvSpPr>
        <p:spPr>
          <a:xfrm>
            <a:off x="7475952" y="1426464"/>
            <a:ext cx="310896" cy="310896"/>
          </a:xfrm>
          <a:prstGeom prst="ellipse">
            <a:avLst/>
          </a:prstGeom>
          <a:solidFill>
            <a:srgbClr val="B0763A"/>
          </a:solidFill>
          <a:ln w="12700">
            <a:solidFill>
              <a:srgbClr val="B0763A"/>
            </a:solidFill>
            <a:prstDash val="solid"/>
          </a:ln>
        </p:spPr>
      </p:sp>
      <p:sp>
        <p:nvSpPr>
          <p:cNvPr id="8" name="Text 6"/>
          <p:cNvSpPr txBox="1"/>
          <p:nvPr/>
        </p:nvSpPr>
        <p:spPr>
          <a:xfrm>
            <a:off x="7475952" y="14401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txBox="1"/>
          <p:nvPr/>
        </p:nvSpPr>
        <p:spPr>
          <a:xfrm>
            <a:off x="7896576" y="13990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AUDIT — prove what a regulatory report was computed from on its filing date. For many compliance teams this alone justifies Delta.</a:t>
            </a:r>
            <a:endParaRPr lang="en-US" sz="1200" dirty="0"/>
          </a:p>
        </p:txBody>
      </p:sp>
      <p:sp>
        <p:nvSpPr>
          <p:cNvPr id="10" name="Shape 8"/>
          <p:cNvSpPr/>
          <p:nvPr/>
        </p:nvSpPr>
        <p:spPr>
          <a:xfrm>
            <a:off x="7475952" y="2340864"/>
            <a:ext cx="310896" cy="310896"/>
          </a:xfrm>
          <a:prstGeom prst="ellipse">
            <a:avLst/>
          </a:prstGeom>
          <a:solidFill>
            <a:srgbClr val="00A6A6"/>
          </a:solidFill>
          <a:ln w="12700">
            <a:solidFill>
              <a:srgbClr val="00A6A6"/>
            </a:solidFill>
            <a:prstDash val="solid"/>
          </a:ln>
        </p:spPr>
      </p:sp>
      <p:sp>
        <p:nvSpPr>
          <p:cNvPr id="11" name="Text 9"/>
          <p:cNvSpPr txBox="1"/>
          <p:nvPr/>
        </p:nvSpPr>
        <p:spPr>
          <a:xfrm>
            <a:off x="7475952" y="23545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txBox="1"/>
          <p:nvPr/>
        </p:nvSpPr>
        <p:spPr>
          <a:xfrm>
            <a:off x="7896576" y="23134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REPRODUCIBILITY — retrain a model on the exact feature-table version used originally. The antidote to “the numbers changed and we do not know why”.</a:t>
            </a:r>
            <a:endParaRPr lang="en-US" sz="1200" dirty="0"/>
          </a:p>
        </p:txBody>
      </p:sp>
      <p:sp>
        <p:nvSpPr>
          <p:cNvPr id="13" name="Shape 11"/>
          <p:cNvSpPr/>
          <p:nvPr/>
        </p:nvSpPr>
        <p:spPr>
          <a:xfrm>
            <a:off x="7475952" y="3255264"/>
            <a:ext cx="310896" cy="310896"/>
          </a:xfrm>
          <a:prstGeom prst="ellipse">
            <a:avLst/>
          </a:prstGeom>
          <a:solidFill>
            <a:srgbClr val="D4A537"/>
          </a:solidFill>
          <a:ln w="12700">
            <a:solidFill>
              <a:srgbClr val="D4A537"/>
            </a:solidFill>
            <a:prstDash val="solid"/>
          </a:ln>
        </p:spPr>
      </p:sp>
      <p:sp>
        <p:nvSpPr>
          <p:cNvPr id="14" name="Text 12"/>
          <p:cNvSpPr txBox="1"/>
          <p:nvPr/>
        </p:nvSpPr>
        <p:spPr>
          <a:xfrm>
            <a:off x="7475952" y="32689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5" name="Text 13"/>
          <p:cNvSpPr txBox="1"/>
          <p:nvPr/>
        </p:nvSpPr>
        <p:spPr>
          <a:xfrm>
            <a:off x="7896576" y="32278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RECOVERY — a bad MERGE is undone with one statement, against the version you can name.</a:t>
            </a:r>
            <a:endParaRPr lang="en-US" sz="1200" dirty="0"/>
          </a:p>
        </p:txBody>
      </p:sp>
      <p:sp>
        <p:nvSpPr>
          <p:cNvPr id="16" name="Shape 14"/>
          <p:cNvSpPr/>
          <p:nvPr/>
        </p:nvSpPr>
        <p:spPr>
          <a:xfrm>
            <a:off x="7475952" y="4169664"/>
            <a:ext cx="310896" cy="310896"/>
          </a:xfrm>
          <a:prstGeom prst="ellipse">
            <a:avLst/>
          </a:prstGeom>
          <a:solidFill>
            <a:srgbClr val="D9503F"/>
          </a:solidFill>
          <a:ln w="12700">
            <a:solidFill>
              <a:srgbClr val="D9503F"/>
            </a:solidFill>
            <a:prstDash val="solid"/>
          </a:ln>
        </p:spPr>
      </p:sp>
      <p:sp>
        <p:nvSpPr>
          <p:cNvPr id="17" name="Text 15"/>
          <p:cNvSpPr txBox="1"/>
          <p:nvPr/>
        </p:nvSpPr>
        <p:spPr>
          <a:xfrm>
            <a:off x="7475952" y="41833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8" name="Text 16"/>
          <p:cNvSpPr txBox="1"/>
          <p:nvPr/>
        </p:nvSpPr>
        <p:spPr>
          <a:xfrm>
            <a:off x="7896576" y="41422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Bounded by retention: you can travel back only as far as VACUUM has not pruned. That makes retention a governance decision, not a storage one.</a:t>
            </a:r>
            <a:endParaRPr lang="en-US" sz="1200" dirty="0"/>
          </a:p>
        </p:txBody>
      </p:sp>
      <p:sp>
        <p:nvSpPr>
          <p:cNvPr id="19" name="Shape 17"/>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0" name="Shape 18"/>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1" name="Shape 19"/>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2" name="Text 20"/>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3" name="Text 21"/>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4 · SECTION 5</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The small-files problem, and what OPTIMIZE does to it</a:t>
            </a:r>
            <a:endParaRPr lang="en-US" sz="3000" dirty="0"/>
          </a:p>
        </p:txBody>
      </p:sp>
      <p:graphicFrame>
        <p:nvGraphicFramePr>
          <p:cNvPr id="4" name="Chart 0" descr=""/>
          <p:cNvGraphicFramePr/>
          <p:nvPr/>
        </p:nvGraphicFramePr>
        <p:xfrm>
          <a:off x="566928" y="1389888"/>
          <a:ext cx="6855860" cy="42976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715396" y="1435608"/>
            <a:ext cx="3909371" cy="29425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Three maintenance tools</a:t>
            </a:r>
            <a:endParaRPr lang="en-US" sz="1450" dirty="0"/>
          </a:p>
        </p:txBody>
      </p:sp>
      <p:sp>
        <p:nvSpPr>
          <p:cNvPr id="6" name="Text 3"/>
          <p:cNvSpPr txBox="1"/>
          <p:nvPr/>
        </p:nvSpPr>
        <p:spPr>
          <a:xfrm>
            <a:off x="7715396" y="1857883"/>
            <a:ext cx="3909371" cy="3756533"/>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OPTIMIZE — compacts many small files into fewer right-sized ones (roughly 128 MB–1 GB). Average file size on this table: 3 MB → 71 MB.</a:t>
            </a:r>
            <a:endParaRPr lang="en-US" sz="1200" dirty="0"/>
          </a:p>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ZORDER BY (city, pickup_ts) — co-locates related data within files so data skipping prunes more aggressively. Query time: 18 s → 4 s.</a:t>
            </a:r>
            <a:endParaRPr lang="en-US" sz="1200" dirty="0"/>
          </a:p>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VACUUM — physically deletes files no longer referenced by the log and older than the retention window (default 7 days).</a:t>
            </a:r>
            <a:endParaRPr lang="en-US" sz="1200" dirty="0"/>
          </a:p>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Streaming sinks recreate this problem every day. Schedule OPTIMIZE as a DAG task, not as a heroic intervention.</a:t>
            </a:r>
            <a:endParaRPr lang="en-US" sz="1200" dirty="0"/>
          </a:p>
        </p:txBody>
      </p:sp>
      <p:sp>
        <p:nvSpPr>
          <p:cNvPr id="7" name="Text 4"/>
          <p:cNvSpPr txBox="1"/>
          <p:nvPr/>
        </p:nvSpPr>
        <p:spPr>
          <a:xfrm>
            <a:off x="566928" y="5833872"/>
            <a:ext cx="11057839" cy="512064"/>
          </a:xfrm>
          <a:prstGeom prst="rect">
            <a:avLst/>
          </a:prstGeom>
          <a:noFill/>
          <a:ln/>
        </p:spPr>
        <p:txBody>
          <a:bodyPr wrap="square" lIns="0" tIns="0" rIns="0" bIns="0" rtlCol="0" anchor="ctr"/>
          <a:lstStyle/>
          <a:p>
            <a:pPr indent="0" marL="0">
              <a:buNone/>
            </a:pPr>
            <a:r>
              <a:rPr lang="en-US" sz="1300" i="1" dirty="0">
                <a:solidFill>
                  <a:srgbClr val="B0763A"/>
                </a:solidFill>
                <a:latin typeface="Calibri" pitchFamily="34" charset="0"/>
                <a:ea typeface="Calibri" pitchFamily="34" charset="-122"/>
                <a:cs typeface="Calibri" pitchFamily="34" charset="-120"/>
              </a:rPr>
              <a:t>Measured on the Masar silver.trips lab table. Record YOUR numbers in BENCHMARKS.md — the capstone rubric asks for the file-count reduction you achieved.</a:t>
            </a:r>
            <a:endParaRPr lang="en-US" sz="1300" dirty="0"/>
          </a:p>
        </p:txBody>
      </p:sp>
      <p:sp>
        <p:nvSpPr>
          <p:cNvPr id="8" name="Shape 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9" name="Shape 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0" name="Shape 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1" name="Text 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2" name="Text 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4 · SECTION 5</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The retention tension</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VACUUM reclaims storage by destroying the history behind it. Both directions have a real cost.</a:t>
            </a:r>
            <a:endParaRPr lang="en-US" sz="1330" dirty="0"/>
          </a:p>
        </p:txBody>
      </p:sp>
      <p:sp>
        <p:nvSpPr>
          <p:cNvPr id="5" name="Shape 3"/>
          <p:cNvSpPr/>
          <p:nvPr/>
        </p:nvSpPr>
        <p:spPr>
          <a:xfrm>
            <a:off x="566928" y="2006376"/>
            <a:ext cx="5373472" cy="3191256"/>
          </a:xfrm>
          <a:prstGeom prst="roundRect">
            <a:avLst>
              <a:gd name="adj" fmla="val 1719"/>
            </a:avLst>
          </a:prstGeom>
          <a:solidFill>
            <a:srgbClr val="F4F6F7"/>
          </a:solidFill>
          <a:ln w="12700">
            <a:solidFill>
              <a:srgbClr val="DDE3E6"/>
            </a:solidFill>
            <a:prstDash val="solid"/>
          </a:ln>
        </p:spPr>
      </p:sp>
      <p:sp>
        <p:nvSpPr>
          <p:cNvPr id="6" name="Text 4"/>
          <p:cNvSpPr txBox="1"/>
          <p:nvPr/>
        </p:nvSpPr>
        <p:spPr>
          <a:xfrm>
            <a:off x="804672" y="2189256"/>
            <a:ext cx="4897984" cy="365760"/>
          </a:xfrm>
          <a:prstGeom prst="rect">
            <a:avLst/>
          </a:prstGeom>
          <a:noFill/>
          <a:ln/>
        </p:spPr>
        <p:txBody>
          <a:bodyPr wrap="square" lIns="0" tIns="0" rIns="0" bIns="0" rtlCol="0" anchor="ctr"/>
          <a:lstStyle/>
          <a:p>
            <a:pPr indent="0" marL="0">
              <a:buNone/>
            </a:pPr>
            <a:r>
              <a:rPr lang="en-US" sz="1600" b="1" dirty="0">
                <a:solidFill>
                  <a:srgbClr val="D9503F"/>
                </a:solidFill>
                <a:latin typeface="Calibri" pitchFamily="34" charset="0"/>
                <a:ea typeface="Calibri" pitchFamily="34" charset="-122"/>
                <a:cs typeface="Calibri" pitchFamily="34" charset="-120"/>
              </a:rPr>
              <a:t>Vacuum aggressively</a:t>
            </a:r>
            <a:endParaRPr lang="en-US" sz="1600" dirty="0"/>
          </a:p>
        </p:txBody>
      </p:sp>
      <p:sp>
        <p:nvSpPr>
          <p:cNvPr id="7" name="Text 5"/>
          <p:cNvSpPr txBox="1"/>
          <p:nvPr/>
        </p:nvSpPr>
        <p:spPr>
          <a:xfrm>
            <a:off x="804672" y="2573304"/>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RETAIN 24 HOURS, or the notorious RETAIN 0</a:t>
            </a:r>
            <a:endParaRPr lang="en-US" sz="1150" dirty="0"/>
          </a:p>
        </p:txBody>
      </p:sp>
      <p:sp>
        <p:nvSpPr>
          <p:cNvPr id="8" name="Text 6"/>
          <p:cNvSpPr txBox="1"/>
          <p:nvPr/>
        </p:nvSpPr>
        <p:spPr>
          <a:xfrm>
            <a:off x="804672" y="2939064"/>
            <a:ext cx="4897984" cy="20574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Saves storage immediately.</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Destroys the audit trail: you can no longer prove what the table contained last week.</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Breaks reproducibility: model cards pointing at a version become unreadable.</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RETAIN 0 HOURS can break concurrent readers mid-query — which is why the safety check exists and why disabling it is an anti-pattern flag on the capstone rubric.</a:t>
            </a:r>
            <a:endParaRPr lang="en-US" sz="1250" dirty="0"/>
          </a:p>
        </p:txBody>
      </p:sp>
      <p:sp>
        <p:nvSpPr>
          <p:cNvPr id="9" name="Shape 7"/>
          <p:cNvSpPr/>
          <p:nvPr/>
        </p:nvSpPr>
        <p:spPr>
          <a:xfrm>
            <a:off x="6251296" y="2006376"/>
            <a:ext cx="5373472" cy="3191256"/>
          </a:xfrm>
          <a:prstGeom prst="roundRect">
            <a:avLst>
              <a:gd name="adj" fmla="val 1719"/>
            </a:avLst>
          </a:prstGeom>
          <a:solidFill>
            <a:srgbClr val="F4F6F7"/>
          </a:solidFill>
          <a:ln w="12700">
            <a:solidFill>
              <a:srgbClr val="DDE3E6"/>
            </a:solidFill>
            <a:prstDash val="solid"/>
          </a:ln>
        </p:spPr>
      </p:sp>
      <p:sp>
        <p:nvSpPr>
          <p:cNvPr id="10" name="Text 8"/>
          <p:cNvSpPr txBox="1"/>
          <p:nvPr/>
        </p:nvSpPr>
        <p:spPr>
          <a:xfrm>
            <a:off x="6489040" y="2189256"/>
            <a:ext cx="4897984" cy="365760"/>
          </a:xfrm>
          <a:prstGeom prst="rect">
            <a:avLst/>
          </a:prstGeom>
          <a:noFill/>
          <a:ln/>
        </p:spPr>
        <p:txBody>
          <a:bodyPr wrap="square" lIns="0" tIns="0" rIns="0" bIns="0" rtlCol="0" anchor="ctr"/>
          <a:lstStyle/>
          <a:p>
            <a:pPr indent="0" marL="0">
              <a:buNone/>
            </a:pPr>
            <a:r>
              <a:rPr lang="en-US" sz="1600" b="1" dirty="0">
                <a:solidFill>
                  <a:srgbClr val="D4A537"/>
                </a:solidFill>
                <a:latin typeface="Calibri" pitchFamily="34" charset="0"/>
                <a:ea typeface="Calibri" pitchFamily="34" charset="-122"/>
                <a:cs typeface="Calibri" pitchFamily="34" charset="-120"/>
              </a:rPr>
              <a:t>Vacuum conservatively</a:t>
            </a:r>
            <a:endParaRPr lang="en-US" sz="1600" dirty="0"/>
          </a:p>
        </p:txBody>
      </p:sp>
      <p:sp>
        <p:nvSpPr>
          <p:cNvPr id="11" name="Text 9"/>
          <p:cNvSpPr txBox="1"/>
          <p:nvPr/>
        </p:nvSpPr>
        <p:spPr>
          <a:xfrm>
            <a:off x="6489040" y="2573304"/>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RETAIN 30 DAYS or more</a:t>
            </a:r>
            <a:endParaRPr lang="en-US" sz="1150" dirty="0"/>
          </a:p>
        </p:txBody>
      </p:sp>
      <p:sp>
        <p:nvSpPr>
          <p:cNvPr id="12" name="Text 10"/>
          <p:cNvSpPr txBox="1"/>
          <p:nvPr/>
        </p:nvSpPr>
        <p:spPr>
          <a:xfrm>
            <a:off x="6489040" y="2939064"/>
            <a:ext cx="4897984" cy="20574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Preserves audit and reproducibility.</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Costs storage — though at object-storage prices this is usually the smaller number.</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Can retain personal data a PDPL erasure was supposed to remove: a DELETE only tombstones until VACUUM passes the retention window.</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The obligation and the audit trail pull in opposite directions. Document the decision and its owner.</a:t>
            </a:r>
            <a:endParaRPr lang="en-US" sz="1250" dirty="0"/>
          </a:p>
        </p:txBody>
      </p:sp>
      <p:sp>
        <p:nvSpPr>
          <p:cNvPr id="13" name="Text 11"/>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What the rubric asks for is not a particular number. It asks for a JUSTIFIED number: retention chosen, reasoning written down, owner named.</a:t>
            </a:r>
            <a:endParaRPr lang="en-US" sz="1200" dirty="0"/>
          </a:p>
        </p:txBody>
      </p:sp>
      <p:sp>
        <p:nvSpPr>
          <p:cNvPr id="14" name="Shape 12"/>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5" name="Shape 13"/>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6" name="Shape 14"/>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7" name="Text 15"/>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8" name="Text 16"/>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4 · SECTION 6</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Six mistakes — each one is in the Lab 4 starter</a:t>
            </a:r>
            <a:endParaRPr lang="en-US" sz="3000" dirty="0"/>
          </a:p>
        </p:txBody>
      </p:sp>
      <p:sp>
        <p:nvSpPr>
          <p:cNvPr id="4" name="Shape 2"/>
          <p:cNvSpPr/>
          <p:nvPr/>
        </p:nvSpPr>
        <p:spPr>
          <a:xfrm>
            <a:off x="566928" y="1426464"/>
            <a:ext cx="384048" cy="384048"/>
          </a:xfrm>
          <a:prstGeom prst="ellipse">
            <a:avLst/>
          </a:prstGeom>
          <a:solidFill>
            <a:srgbClr val="D9503F"/>
          </a:solidFill>
          <a:ln w="12700">
            <a:solidFill>
              <a:srgbClr val="D9503F"/>
            </a:solidFill>
            <a:prstDash val="solid"/>
          </a:ln>
        </p:spPr>
      </p:sp>
      <p:sp>
        <p:nvSpPr>
          <p:cNvPr id="5" name="Text 3"/>
          <p:cNvSpPr txBox="1"/>
          <p:nvPr/>
        </p:nvSpPr>
        <p:spPr>
          <a:xfrm>
            <a:off x="566928" y="144018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6" name="Text 4"/>
          <p:cNvSpPr txBox="1"/>
          <p:nvPr/>
        </p:nvSpPr>
        <p:spPr>
          <a:xfrm>
            <a:off x="1133856" y="1389888"/>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VACUUM … RETAIN 0 HOURS to “save space”</a:t>
            </a:r>
            <a:endParaRPr lang="en-US" sz="1500" dirty="0"/>
          </a:p>
        </p:txBody>
      </p:sp>
      <p:sp>
        <p:nvSpPr>
          <p:cNvPr id="7" name="Text 5"/>
          <p:cNvSpPr txBox="1"/>
          <p:nvPr/>
        </p:nvSpPr>
        <p:spPr>
          <a:xfrm>
            <a:off x="1133856" y="1655064"/>
            <a:ext cx="10417759" cy="420624"/>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Destroys time travel, can break concurrent readers, and is blocked by default for good reason.</a:t>
            </a:r>
            <a:endParaRPr lang="en-US" sz="1250" dirty="0"/>
          </a:p>
        </p:txBody>
      </p:sp>
      <p:sp>
        <p:nvSpPr>
          <p:cNvPr id="8" name="Shape 6"/>
          <p:cNvSpPr/>
          <p:nvPr/>
        </p:nvSpPr>
        <p:spPr>
          <a:xfrm>
            <a:off x="566928" y="2139696"/>
            <a:ext cx="384048" cy="384048"/>
          </a:xfrm>
          <a:prstGeom prst="ellipse">
            <a:avLst/>
          </a:prstGeom>
          <a:solidFill>
            <a:srgbClr val="D9503F"/>
          </a:solidFill>
          <a:ln w="12700">
            <a:solidFill>
              <a:srgbClr val="D9503F"/>
            </a:solidFill>
            <a:prstDash val="solid"/>
          </a:ln>
        </p:spPr>
      </p:sp>
      <p:sp>
        <p:nvSpPr>
          <p:cNvPr id="9" name="Text 7"/>
          <p:cNvSpPr txBox="1"/>
          <p:nvPr/>
        </p:nvSpPr>
        <p:spPr>
          <a:xfrm>
            <a:off x="566928" y="215341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1133856" y="2103120"/>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Over-partitioning by trip_id</a:t>
            </a:r>
            <a:endParaRPr lang="en-US" sz="1500" dirty="0"/>
          </a:p>
        </p:txBody>
      </p:sp>
      <p:sp>
        <p:nvSpPr>
          <p:cNvPr id="11" name="Text 9"/>
          <p:cNvSpPr txBox="1"/>
          <p:nvPr/>
        </p:nvSpPr>
        <p:spPr>
          <a:xfrm>
            <a:off x="1133856" y="2368296"/>
            <a:ext cx="10417759" cy="420624"/>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Millions of one-row files — the small-files problem, self-inflicted, on the primary key.</a:t>
            </a:r>
            <a:endParaRPr lang="en-US" sz="1250" dirty="0"/>
          </a:p>
        </p:txBody>
      </p:sp>
      <p:sp>
        <p:nvSpPr>
          <p:cNvPr id="12" name="Shape 10"/>
          <p:cNvSpPr/>
          <p:nvPr/>
        </p:nvSpPr>
        <p:spPr>
          <a:xfrm>
            <a:off x="566928" y="2852928"/>
            <a:ext cx="384048" cy="384048"/>
          </a:xfrm>
          <a:prstGeom prst="ellipse">
            <a:avLst/>
          </a:prstGeom>
          <a:solidFill>
            <a:srgbClr val="D9503F"/>
          </a:solidFill>
          <a:ln w="12700">
            <a:solidFill>
              <a:srgbClr val="D9503F"/>
            </a:solidFill>
            <a:prstDash val="solid"/>
          </a:ln>
        </p:spPr>
      </p:sp>
      <p:sp>
        <p:nvSpPr>
          <p:cNvPr id="13" name="Text 11"/>
          <p:cNvSpPr txBox="1"/>
          <p:nvPr/>
        </p:nvSpPr>
        <p:spPr>
          <a:xfrm>
            <a:off x="566928" y="2866644"/>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4" name="Text 12"/>
          <p:cNvSpPr txBox="1"/>
          <p:nvPr/>
        </p:nvSpPr>
        <p:spPr>
          <a:xfrm>
            <a:off x="1133856" y="2816352"/>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Writing raw Parquet next to a Delta table's files</a:t>
            </a:r>
            <a:endParaRPr lang="en-US" sz="1500" dirty="0"/>
          </a:p>
        </p:txBody>
      </p:sp>
      <p:sp>
        <p:nvSpPr>
          <p:cNvPr id="15" name="Text 13"/>
          <p:cNvSpPr txBox="1"/>
          <p:nvPr/>
        </p:nvSpPr>
        <p:spPr>
          <a:xfrm>
            <a:off x="1133856" y="3081528"/>
            <a:ext cx="10417759" cy="420624"/>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The log no longer describes reality. Never hand-edit files under a Delta table.</a:t>
            </a:r>
            <a:endParaRPr lang="en-US" sz="1250" dirty="0"/>
          </a:p>
        </p:txBody>
      </p:sp>
      <p:sp>
        <p:nvSpPr>
          <p:cNvPr id="16" name="Shape 14"/>
          <p:cNvSpPr/>
          <p:nvPr/>
        </p:nvSpPr>
        <p:spPr>
          <a:xfrm>
            <a:off x="566928" y="3566160"/>
            <a:ext cx="384048" cy="384048"/>
          </a:xfrm>
          <a:prstGeom prst="ellipse">
            <a:avLst/>
          </a:prstGeom>
          <a:solidFill>
            <a:srgbClr val="D9503F"/>
          </a:solidFill>
          <a:ln w="12700">
            <a:solidFill>
              <a:srgbClr val="D9503F"/>
            </a:solidFill>
            <a:prstDash val="solid"/>
          </a:ln>
        </p:spPr>
      </p:sp>
      <p:sp>
        <p:nvSpPr>
          <p:cNvPr id="17" name="Text 15"/>
          <p:cNvSpPr txBox="1"/>
          <p:nvPr/>
        </p:nvSpPr>
        <p:spPr>
          <a:xfrm>
            <a:off x="566928" y="357987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8" name="Text 16"/>
          <p:cNvSpPr txBox="1"/>
          <p:nvPr/>
        </p:nvSpPr>
        <p:spPr>
          <a:xfrm>
            <a:off x="1133856" y="3529584"/>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overwrite where a MERGE was needed</a:t>
            </a:r>
            <a:endParaRPr lang="en-US" sz="1500" dirty="0"/>
          </a:p>
        </p:txBody>
      </p:sp>
      <p:sp>
        <p:nvSpPr>
          <p:cNvPr id="19" name="Text 17"/>
          <p:cNvSpPr txBox="1"/>
          <p:nvPr/>
        </p:nvSpPr>
        <p:spPr>
          <a:xfrm>
            <a:off x="1133856" y="3794760"/>
            <a:ext cx="10417759" cy="420624"/>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Silently loses rows a concurrent writer had committed.</a:t>
            </a:r>
            <a:endParaRPr lang="en-US" sz="1250" dirty="0"/>
          </a:p>
        </p:txBody>
      </p:sp>
      <p:sp>
        <p:nvSpPr>
          <p:cNvPr id="20" name="Shape 18"/>
          <p:cNvSpPr/>
          <p:nvPr/>
        </p:nvSpPr>
        <p:spPr>
          <a:xfrm>
            <a:off x="566928" y="4279392"/>
            <a:ext cx="384048" cy="384048"/>
          </a:xfrm>
          <a:prstGeom prst="ellipse">
            <a:avLst/>
          </a:prstGeom>
          <a:solidFill>
            <a:srgbClr val="D9503F"/>
          </a:solidFill>
          <a:ln w="12700">
            <a:solidFill>
              <a:srgbClr val="D9503F"/>
            </a:solidFill>
            <a:prstDash val="solid"/>
          </a:ln>
        </p:spPr>
      </p:sp>
      <p:sp>
        <p:nvSpPr>
          <p:cNvPr id="21" name="Text 19"/>
          <p:cNvSpPr txBox="1"/>
          <p:nvPr/>
        </p:nvSpPr>
        <p:spPr>
          <a:xfrm>
            <a:off x="566928" y="429310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2" name="Text 20"/>
          <p:cNvSpPr txBox="1"/>
          <p:nvPr/>
        </p:nvSpPr>
        <p:spPr>
          <a:xfrm>
            <a:off x="1133856" y="4242816"/>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Assuming DELETE frees storage or erases history</a:t>
            </a:r>
            <a:endParaRPr lang="en-US" sz="1500" dirty="0"/>
          </a:p>
        </p:txBody>
      </p:sp>
      <p:sp>
        <p:nvSpPr>
          <p:cNvPr id="23" name="Text 21"/>
          <p:cNvSpPr txBox="1"/>
          <p:nvPr/>
        </p:nvSpPr>
        <p:spPr>
          <a:xfrm>
            <a:off x="1133856" y="4507992"/>
            <a:ext cx="10417759" cy="420624"/>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It tombstones. Nothing is physically gone until VACUUM passes retention — which matters for both cost and PDPL.</a:t>
            </a:r>
            <a:endParaRPr lang="en-US" sz="1250" dirty="0"/>
          </a:p>
        </p:txBody>
      </p:sp>
      <p:sp>
        <p:nvSpPr>
          <p:cNvPr id="24" name="Shape 22"/>
          <p:cNvSpPr/>
          <p:nvPr/>
        </p:nvSpPr>
        <p:spPr>
          <a:xfrm>
            <a:off x="566928" y="4992624"/>
            <a:ext cx="384048" cy="384048"/>
          </a:xfrm>
          <a:prstGeom prst="ellipse">
            <a:avLst/>
          </a:prstGeom>
          <a:solidFill>
            <a:srgbClr val="D9503F"/>
          </a:solidFill>
          <a:ln w="12700">
            <a:solidFill>
              <a:srgbClr val="D9503F"/>
            </a:solidFill>
            <a:prstDash val="solid"/>
          </a:ln>
        </p:spPr>
      </p:sp>
      <p:sp>
        <p:nvSpPr>
          <p:cNvPr id="25" name="Text 23"/>
          <p:cNvSpPr txBox="1"/>
          <p:nvPr/>
        </p:nvSpPr>
        <p:spPr>
          <a:xfrm>
            <a:off x="566928" y="500634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26" name="Text 24"/>
          <p:cNvSpPr txBox="1"/>
          <p:nvPr/>
        </p:nvSpPr>
        <p:spPr>
          <a:xfrm>
            <a:off x="1133856" y="4956048"/>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Ignoring OPTIMIZE on a streaming sink</a:t>
            </a:r>
            <a:endParaRPr lang="en-US" sz="1500" dirty="0"/>
          </a:p>
        </p:txBody>
      </p:sp>
      <p:sp>
        <p:nvSpPr>
          <p:cNvPr id="27" name="Text 25"/>
          <p:cNvSpPr txBox="1"/>
          <p:nvPr/>
        </p:nvSpPr>
        <p:spPr>
          <a:xfrm>
            <a:off x="1133856" y="5221224"/>
            <a:ext cx="10417759" cy="420624"/>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Read performance decays a little every day until one morning the dashboard times out.</a:t>
            </a:r>
            <a:endParaRPr lang="en-US" sz="1250" dirty="0"/>
          </a:p>
        </p:txBody>
      </p:sp>
      <p:sp>
        <p:nvSpPr>
          <p:cNvPr id="28" name="Text 26"/>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Activity ACT-05: participants physically enact the transaction log — commits, two concurrent writers, and a time-travel read. It is the fastest way to make optimistic concurrency intuitive.</a:t>
            </a:r>
            <a:endParaRPr lang="en-US" sz="1200" dirty="0"/>
          </a:p>
        </p:txBody>
      </p:sp>
      <p:sp>
        <p:nvSpPr>
          <p:cNvPr id="29" name="Shape 27"/>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30" name="Shape 28"/>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31" name="Shape 29"/>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32" name="Text 30"/>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33" name="Text 31"/>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00A6A6"/>
                </a:solidFill>
                <a:latin typeface="Calibri" pitchFamily="34" charset="0"/>
                <a:ea typeface="Calibri" pitchFamily="34" charset="-122"/>
                <a:cs typeface="Calibri" pitchFamily="34" charset="-120"/>
              </a:rPr>
              <a:t>HANDS-ON LAB 4</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Delta Lake — ACID, MERGE, time travel, maintenance</a:t>
            </a:r>
            <a:endParaRPr lang="en-US" sz="3000" dirty="0"/>
          </a:p>
        </p:txBody>
      </p:sp>
      <p:sp>
        <p:nvSpPr>
          <p:cNvPr id="4" name="Shape 2"/>
          <p:cNvSpPr/>
          <p:nvPr/>
        </p:nvSpPr>
        <p:spPr>
          <a:xfrm>
            <a:off x="566928" y="1389888"/>
            <a:ext cx="3200400" cy="4736592"/>
          </a:xfrm>
          <a:prstGeom prst="roundRect">
            <a:avLst>
              <a:gd name="adj" fmla="val 1714"/>
            </a:avLst>
          </a:prstGeom>
          <a:solidFill>
            <a:srgbClr val="10202B"/>
          </a:solidFill>
          <a:ln w="12700">
            <a:solidFill>
              <a:srgbClr val="10202B"/>
            </a:solidFill>
            <a:prstDash val="solid"/>
          </a:ln>
        </p:spPr>
      </p:sp>
      <p:sp>
        <p:nvSpPr>
          <p:cNvPr id="5" name="Text 3"/>
          <p:cNvSpPr txBox="1"/>
          <p:nvPr/>
        </p:nvSpPr>
        <p:spPr>
          <a:xfrm>
            <a:off x="749808" y="1572768"/>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DURATION</a:t>
            </a:r>
            <a:endParaRPr lang="en-US" sz="900" dirty="0"/>
          </a:p>
        </p:txBody>
      </p:sp>
      <p:sp>
        <p:nvSpPr>
          <p:cNvPr id="6" name="Text 4"/>
          <p:cNvSpPr txBox="1"/>
          <p:nvPr/>
        </p:nvSpPr>
        <p:spPr>
          <a:xfrm>
            <a:off x="749808" y="1755648"/>
            <a:ext cx="2834640" cy="373888"/>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Two 50-minute blocks (4a convert · 4b operate)</a:t>
            </a:r>
            <a:endParaRPr lang="en-US" sz="1150" dirty="0"/>
          </a:p>
        </p:txBody>
      </p:sp>
      <p:sp>
        <p:nvSpPr>
          <p:cNvPr id="7" name="Text 5"/>
          <p:cNvSpPr txBox="1"/>
          <p:nvPr/>
        </p:nvSpPr>
        <p:spPr>
          <a:xfrm>
            <a:off x="749808" y="2312416"/>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CHECKPOINT</a:t>
            </a:r>
            <a:endParaRPr lang="en-US" sz="900" dirty="0"/>
          </a:p>
        </p:txBody>
      </p:sp>
      <p:sp>
        <p:nvSpPr>
          <p:cNvPr id="8" name="Text 6"/>
          <p:cNvSpPr txBox="1"/>
          <p:nvPr/>
        </p:nvSpPr>
        <p:spPr>
          <a:xfrm>
            <a:off x="749808" y="2495296"/>
            <a:ext cx="2834640" cy="21945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git checkout lab4-start / lab4b-start</a:t>
            </a:r>
            <a:endParaRPr lang="en-US" sz="1150" dirty="0"/>
          </a:p>
        </p:txBody>
      </p:sp>
      <p:sp>
        <p:nvSpPr>
          <p:cNvPr id="9" name="Text 7"/>
          <p:cNvSpPr txBox="1"/>
          <p:nvPr/>
        </p:nvSpPr>
        <p:spPr>
          <a:xfrm>
            <a:off x="749808" y="2897632"/>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OBJECTIVE</a:t>
            </a:r>
            <a:endParaRPr lang="en-US" sz="900" dirty="0"/>
          </a:p>
        </p:txBody>
      </p:sp>
      <p:sp>
        <p:nvSpPr>
          <p:cNvPr id="10" name="Text 8"/>
          <p:cNvSpPr txBox="1"/>
          <p:nvPr/>
        </p:nvSpPr>
        <p:spPr>
          <a:xfrm>
            <a:off x="749808" y="3080512"/>
            <a:ext cx="2834640" cy="56083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silver.trips as a constrained Delta table you can correct, audit and maintain</a:t>
            </a:r>
            <a:endParaRPr lang="en-US" sz="1150" dirty="0"/>
          </a:p>
        </p:txBody>
      </p:sp>
      <p:sp>
        <p:nvSpPr>
          <p:cNvPr id="11" name="Text 9"/>
          <p:cNvSpPr txBox="1"/>
          <p:nvPr/>
        </p:nvSpPr>
        <p:spPr>
          <a:xfrm>
            <a:off x="749808" y="3824224"/>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DELIVERABLE</a:t>
            </a:r>
            <a:endParaRPr lang="en-US" sz="900" dirty="0"/>
          </a:p>
        </p:txBody>
      </p:sp>
      <p:sp>
        <p:nvSpPr>
          <p:cNvPr id="12" name="Text 10"/>
          <p:cNvSpPr txBox="1"/>
          <p:nvPr/>
        </p:nvSpPr>
        <p:spPr>
          <a:xfrm>
            <a:off x="749808" y="4007104"/>
            <a:ext cx="2834640" cy="373888"/>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Constrained Delta table + time-travel evidence + OPTIMIZE benchmark</a:t>
            </a:r>
            <a:endParaRPr lang="en-US" sz="1150" dirty="0"/>
          </a:p>
        </p:txBody>
      </p:sp>
      <p:sp>
        <p:nvSpPr>
          <p:cNvPr id="13" name="Text 11"/>
          <p:cNvSpPr txBox="1"/>
          <p:nvPr/>
        </p:nvSpPr>
        <p:spPr>
          <a:xfrm>
            <a:off x="4041648" y="1408176"/>
            <a:ext cx="7583119" cy="274320"/>
          </a:xfrm>
          <a:prstGeom prst="rect">
            <a:avLst/>
          </a:prstGeom>
          <a:noFill/>
          <a:ln/>
        </p:spPr>
        <p:txBody>
          <a:bodyPr wrap="square" lIns="0" tIns="0" rIns="0" bIns="0" rtlCol="0" anchor="ctr"/>
          <a:lstStyle/>
          <a:p>
            <a:pPr indent="0" marL="0">
              <a:buNone/>
            </a:pPr>
            <a:r>
              <a:rPr lang="en-US" sz="1400" b="1" dirty="0">
                <a:solidFill>
                  <a:srgbClr val="B0763A"/>
                </a:solidFill>
                <a:latin typeface="Calibri" pitchFamily="34" charset="0"/>
                <a:ea typeface="Calibri" pitchFamily="34" charset="-122"/>
                <a:cs typeface="Calibri" pitchFamily="34" charset="-120"/>
              </a:rPr>
              <a:t>What you will do</a:t>
            </a:r>
            <a:endParaRPr lang="en-US" sz="1400" dirty="0"/>
          </a:p>
        </p:txBody>
      </p:sp>
      <p:sp>
        <p:nvSpPr>
          <p:cNvPr id="14" name="Text 12"/>
          <p:cNvSpPr txBox="1"/>
          <p:nvPr/>
        </p:nvSpPr>
        <p:spPr>
          <a:xfrm>
            <a:off x="4041648" y="1755648"/>
            <a:ext cx="7583119" cy="250317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4a — write silver.trips as Delta with an enforced schema and CHECK constraints; then try to write a violating row and read the error.</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4a — open _delta_log/00000000000000000000.json and identify the add actions, the schema, and the statistics.</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4b — MERGE the corrections fixture on trip_id. Run it twice and prove the second run changes zero rows.</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4b — query VERSION AS OF the pre-correction version and diff the two; then demonstrate one PDPL erasure with an auditable commit.</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4b — run OPTIMIZE with ZORDER, record the file-count reduction, and set a VACUUM retention you can defend in one sentence.</a:t>
            </a:r>
            <a:endParaRPr lang="en-US" sz="1250" dirty="0"/>
          </a:p>
        </p:txBody>
      </p:sp>
      <p:sp>
        <p:nvSpPr>
          <p:cNvPr id="15" name="Text 13"/>
          <p:cNvSpPr txBox="1"/>
          <p:nvPr/>
        </p:nvSpPr>
        <p:spPr>
          <a:xfrm>
            <a:off x="4041648" y="4350258"/>
            <a:ext cx="7583119" cy="274320"/>
          </a:xfrm>
          <a:prstGeom prst="rect">
            <a:avLst/>
          </a:prstGeom>
          <a:noFill/>
          <a:ln/>
        </p:spPr>
        <p:txBody>
          <a:bodyPr wrap="square" lIns="0" tIns="0" rIns="0" bIns="0" rtlCol="0" anchor="ctr"/>
          <a:lstStyle/>
          <a:p>
            <a:pPr indent="0" marL="0">
              <a:buNone/>
            </a:pPr>
            <a:r>
              <a:rPr lang="en-US" sz="1400" b="1" dirty="0">
                <a:solidFill>
                  <a:srgbClr val="00A6A6"/>
                </a:solidFill>
                <a:latin typeface="Calibri" pitchFamily="34" charset="0"/>
                <a:ea typeface="Calibri" pitchFamily="34" charset="-122"/>
                <a:cs typeface="Calibri" pitchFamily="34" charset="-120"/>
              </a:rPr>
              <a:t>Acceptance criteria</a:t>
            </a:r>
            <a:endParaRPr lang="en-US" sz="1400" dirty="0"/>
          </a:p>
        </p:txBody>
      </p:sp>
      <p:sp>
        <p:nvSpPr>
          <p:cNvPr id="16" name="Text 14"/>
          <p:cNvSpPr txBox="1"/>
          <p:nvPr/>
        </p:nvSpPr>
        <p:spPr>
          <a:xfrm>
            <a:off x="4041648" y="4661154"/>
            <a:ext cx="7583119" cy="141046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The table rejects a schema violation and a CHECK violation, and you can show both errors.</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The MERGE is idempotent — a second identical run reports zero rows affected.</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You can name the version number that a specific report was computed from.</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OPTIMIZE reduced file count measurably and the number is recorded in BENCHMARKS.md.</a:t>
            </a:r>
            <a:endParaRPr lang="en-US" sz="1200" dirty="0"/>
          </a:p>
        </p:txBody>
      </p:sp>
      <p:sp>
        <p:nvSpPr>
          <p:cNvPr id="17" name="Shape 1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8" name="Shape 1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9" name="Shape 1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0" name="Text 1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1" name="Text 1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CASE STUDY CS-04 + PA-1</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Day 3 assessment: reproduce a disputed report</a:t>
            </a:r>
            <a:endParaRPr lang="en-US" sz="3000" dirty="0"/>
          </a:p>
        </p:txBody>
      </p:sp>
      <p:sp>
        <p:nvSpPr>
          <p:cNvPr id="4" name="Shape 2"/>
          <p:cNvSpPr/>
          <p:nvPr/>
        </p:nvSpPr>
        <p:spPr>
          <a:xfrm>
            <a:off x="566928" y="1790395"/>
            <a:ext cx="3515258" cy="2240280"/>
          </a:xfrm>
          <a:prstGeom prst="roundRect">
            <a:avLst>
              <a:gd name="adj" fmla="val 2449"/>
            </a:avLst>
          </a:prstGeom>
          <a:solidFill>
            <a:srgbClr val="F4F6F7"/>
          </a:solidFill>
          <a:ln w="12700">
            <a:solidFill>
              <a:srgbClr val="DDE3E6"/>
            </a:solidFill>
            <a:prstDash val="solid"/>
          </a:ln>
        </p:spPr>
      </p:sp>
      <p:sp>
        <p:nvSpPr>
          <p:cNvPr id="5" name="Text 3"/>
          <p:cNvSpPr txBox="1"/>
          <p:nvPr/>
        </p:nvSpPr>
        <p:spPr>
          <a:xfrm>
            <a:off x="786384" y="1973275"/>
            <a:ext cx="3076346"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CS-04 — “Aman” Payments</a:t>
            </a:r>
            <a:endParaRPr lang="en-US" sz="1450" dirty="0"/>
          </a:p>
        </p:txBody>
      </p:sp>
      <p:sp>
        <p:nvSpPr>
          <p:cNvPr id="6" name="Text 4"/>
          <p:cNvSpPr txBox="1"/>
          <p:nvPr/>
        </p:nvSpPr>
        <p:spPr>
          <a:xfrm>
            <a:off x="786384" y="2296744"/>
            <a:ext cx="3076346" cy="156933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A regulator asks what a settlement table contained three weeks ago. The team can produce the report but cannot prove the data behind it. Time travel exists — but VACUUM ran with a 24-hour retention every night to save storage.</a:t>
            </a:r>
            <a:endParaRPr lang="en-US" sz="1200" dirty="0"/>
          </a:p>
        </p:txBody>
      </p:sp>
      <p:sp>
        <p:nvSpPr>
          <p:cNvPr id="7" name="Shape 5"/>
          <p:cNvSpPr/>
          <p:nvPr/>
        </p:nvSpPr>
        <p:spPr>
          <a:xfrm>
            <a:off x="4338218" y="1790395"/>
            <a:ext cx="3515258" cy="2240280"/>
          </a:xfrm>
          <a:prstGeom prst="roundRect">
            <a:avLst>
              <a:gd name="adj" fmla="val 2449"/>
            </a:avLst>
          </a:prstGeom>
          <a:solidFill>
            <a:srgbClr val="F4F6F7"/>
          </a:solidFill>
          <a:ln w="12700">
            <a:solidFill>
              <a:srgbClr val="DDE3E6"/>
            </a:solidFill>
            <a:prstDash val="solid"/>
          </a:ln>
        </p:spPr>
      </p:sp>
      <p:sp>
        <p:nvSpPr>
          <p:cNvPr id="8" name="Text 6"/>
          <p:cNvSpPr txBox="1"/>
          <p:nvPr/>
        </p:nvSpPr>
        <p:spPr>
          <a:xfrm>
            <a:off x="4557674" y="1973275"/>
            <a:ext cx="3076346" cy="232029"/>
          </a:xfrm>
          <a:prstGeom prst="rect">
            <a:avLst/>
          </a:prstGeom>
          <a:noFill/>
          <a:ln/>
        </p:spPr>
        <p:txBody>
          <a:bodyPr wrap="square" lIns="0" tIns="0" rIns="0" bIns="0" rtlCol="0" anchor="t"/>
          <a:lstStyle/>
          <a:p>
            <a:pPr indent="0" marL="0">
              <a:buNone/>
            </a:pPr>
            <a:r>
              <a:rPr lang="en-US" sz="1450" b="1" dirty="0">
                <a:solidFill>
                  <a:srgbClr val="00A6A6"/>
                </a:solidFill>
                <a:latin typeface="Calibri" pitchFamily="34" charset="0"/>
                <a:ea typeface="Calibri" pitchFamily="34" charset="-122"/>
                <a:cs typeface="Calibri" pitchFamily="34" charset="-120"/>
              </a:rPr>
              <a:t>PA-1 — 30 minutes, scored</a:t>
            </a:r>
            <a:endParaRPr lang="en-US" sz="1450" dirty="0"/>
          </a:p>
        </p:txBody>
      </p:sp>
      <p:sp>
        <p:nvSpPr>
          <p:cNvPr id="9" name="Text 7"/>
          <p:cNvSpPr txBox="1"/>
          <p:nvPr/>
        </p:nvSpPr>
        <p:spPr>
          <a:xfrm>
            <a:off x="4557674" y="2296744"/>
            <a:ext cx="3076346" cy="156933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You are given a Delta table VACUUMed with RETAIN 0 HOURS and a non-idempotent MERGE. Restore correctness: fix retention, make the upsert idempotent, and prove time travel plus a clean second run.</a:t>
            </a:r>
            <a:endParaRPr lang="en-US" sz="1200" dirty="0"/>
          </a:p>
        </p:txBody>
      </p:sp>
      <p:sp>
        <p:nvSpPr>
          <p:cNvPr id="10" name="Shape 8"/>
          <p:cNvSpPr/>
          <p:nvPr/>
        </p:nvSpPr>
        <p:spPr>
          <a:xfrm>
            <a:off x="8109509" y="1790395"/>
            <a:ext cx="3515258" cy="2240280"/>
          </a:xfrm>
          <a:prstGeom prst="roundRect">
            <a:avLst>
              <a:gd name="adj" fmla="val 2449"/>
            </a:avLst>
          </a:prstGeom>
          <a:solidFill>
            <a:srgbClr val="F4F6F7"/>
          </a:solidFill>
          <a:ln w="12700">
            <a:solidFill>
              <a:srgbClr val="DDE3E6"/>
            </a:solidFill>
            <a:prstDash val="solid"/>
          </a:ln>
        </p:spPr>
      </p:sp>
      <p:sp>
        <p:nvSpPr>
          <p:cNvPr id="11" name="Text 9"/>
          <p:cNvSpPr txBox="1"/>
          <p:nvPr/>
        </p:nvSpPr>
        <p:spPr>
          <a:xfrm>
            <a:off x="8328965" y="1973275"/>
            <a:ext cx="3076346" cy="232029"/>
          </a:xfrm>
          <a:prstGeom prst="rect">
            <a:avLst/>
          </a:prstGeom>
          <a:noFill/>
          <a:ln/>
        </p:spPr>
        <p:txBody>
          <a:bodyPr wrap="square" lIns="0" tIns="0" rIns="0" bIns="0" rtlCol="0" anchor="t"/>
          <a:lstStyle/>
          <a:p>
            <a:pPr indent="0" marL="0">
              <a:buNone/>
            </a:pPr>
            <a:r>
              <a:rPr lang="en-US" sz="1450" b="1" dirty="0">
                <a:solidFill>
                  <a:srgbClr val="D4A537"/>
                </a:solidFill>
                <a:latin typeface="Calibri" pitchFamily="34" charset="0"/>
                <a:ea typeface="Calibri" pitchFamily="34" charset="-122"/>
                <a:cs typeface="Calibri" pitchFamily="34" charset="-120"/>
              </a:rPr>
              <a:t>How it is scored</a:t>
            </a:r>
            <a:endParaRPr lang="en-US" sz="1450" dirty="0"/>
          </a:p>
        </p:txBody>
      </p:sp>
      <p:sp>
        <p:nvSpPr>
          <p:cNvPr id="12" name="Text 10"/>
          <p:cNvSpPr txBox="1"/>
          <p:nvPr/>
        </p:nvSpPr>
        <p:spPr>
          <a:xfrm>
            <a:off x="8328965" y="2296744"/>
            <a:ext cx="3076346" cy="156933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Diagnosis notes 40% · fixes 40% · verification evidence 20%. The evidence is the part people forget: a claim without a transcript scores nothing.</a:t>
            </a:r>
            <a:endParaRPr lang="en-US" sz="1200" dirty="0"/>
          </a:p>
        </p:txBody>
      </p:sp>
      <p:sp>
        <p:nvSpPr>
          <p:cNvPr id="13" name="Text 11"/>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PA-1 is deliberately a diagnosis exercise, not a coding exercise. Participants who start typing before reading DESCRIBE HISTORY lose the band.</a:t>
            </a:r>
            <a:endParaRPr lang="en-US" sz="1200" dirty="0"/>
          </a:p>
        </p:txBody>
      </p:sp>
      <p:sp>
        <p:nvSpPr>
          <p:cNvPr id="14" name="Shape 12"/>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5" name="Shape 13"/>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6" name="Shape 14"/>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7" name="Text 15"/>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8" name="Text 16"/>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371600"/>
            <a:ext cx="11057839" cy="274320"/>
          </a:xfrm>
          <a:prstGeom prst="rect">
            <a:avLst/>
          </a:prstGeom>
          <a:noFill/>
          <a:ln/>
        </p:spPr>
        <p:txBody>
          <a:bodyPr wrap="square" lIns="0" tIns="0" rIns="0" bIns="0" rtlCol="0" anchor="ctr"/>
          <a:lstStyle/>
          <a:p>
            <a:pPr indent="0" marL="0">
              <a:buNone/>
            </a:pPr>
            <a:r>
              <a:rPr lang="en-US" sz="1100" b="1" spc="180" kern="0" dirty="0">
                <a:solidFill>
                  <a:srgbClr val="D4A537"/>
                </a:solidFill>
                <a:latin typeface="Calibri" pitchFamily="34" charset="0"/>
                <a:ea typeface="Calibri" pitchFamily="34" charset="-122"/>
                <a:cs typeface="Calibri" pitchFamily="34" charset="-120"/>
              </a:rPr>
              <a:t>DAY 3 · CLOSE</a:t>
            </a:r>
            <a:endParaRPr lang="en-US" sz="1100" dirty="0"/>
          </a:p>
        </p:txBody>
      </p:sp>
      <p:sp>
        <p:nvSpPr>
          <p:cNvPr id="3" name="Text 1"/>
          <p:cNvSpPr txBox="1"/>
          <p:nvPr/>
        </p:nvSpPr>
        <p:spPr>
          <a:xfrm>
            <a:off x="566928" y="1783080"/>
            <a:ext cx="10509199" cy="2377440"/>
          </a:xfrm>
          <a:prstGeom prst="rect">
            <a:avLst/>
          </a:prstGeom>
          <a:noFill/>
          <a:ln/>
        </p:spPr>
        <p:txBody>
          <a:bodyPr wrap="square" lIns="0" tIns="0" rIns="0" bIns="0" rtlCol="0" anchor="t"/>
          <a:lstStyle/>
          <a:p>
            <a:pPr indent="0" marL="0">
              <a:lnSpc>
                <a:spcPct val="112000"/>
              </a:lnSpc>
              <a:buNone/>
            </a:pPr>
            <a:r>
              <a:rPr lang="en-US" sz="3000" b="1" dirty="0">
                <a:solidFill>
                  <a:srgbClr val="FFFFFF"/>
                </a:solidFill>
                <a:latin typeface="Cambria" pitchFamily="34" charset="0"/>
                <a:ea typeface="Cambria" pitchFamily="34" charset="-122"/>
                <a:cs typeface="Cambria" pitchFamily="34" charset="-120"/>
              </a:rPr>
              <a:t>The table can now defend itself.</a:t>
            </a:r>
            <a:endParaRPr lang="en-US" sz="3000" dirty="0"/>
          </a:p>
          <a:p>
            <a:pPr indent="0" marL="0">
              <a:lnSpc>
                <a:spcPct val="112000"/>
              </a:lnSpc>
              <a:buNone/>
            </a:pPr>
            <a:r>
              <a:rPr lang="en-US" sz="3000" b="1" dirty="0">
                <a:solidFill>
                  <a:srgbClr val="FFFFFF"/>
                </a:solidFill>
                <a:latin typeface="Cambria" pitchFamily="34" charset="0"/>
                <a:ea typeface="Cambria" pitchFamily="34" charset="-122"/>
                <a:cs typeface="Cambria" pitchFamily="34" charset="-120"/>
              </a:rPr>
              <a:t>Tomorrow the data arrives faster than you can batch it.</a:t>
            </a:r>
            <a:endParaRPr lang="en-US" sz="3000" dirty="0"/>
          </a:p>
        </p:txBody>
      </p:sp>
      <p:sp>
        <p:nvSpPr>
          <p:cNvPr id="4" name="Text 2"/>
          <p:cNvSpPr txBox="1"/>
          <p:nvPr/>
        </p:nvSpPr>
        <p:spPr>
          <a:xfrm>
            <a:off x="566928" y="4434840"/>
            <a:ext cx="10509199" cy="1097280"/>
          </a:xfrm>
          <a:prstGeom prst="rect">
            <a:avLst/>
          </a:prstGeom>
          <a:noFill/>
          <a:ln/>
        </p:spPr>
        <p:txBody>
          <a:bodyPr wrap="square" lIns="0" tIns="0" rIns="0" bIns="0" rtlCol="0" anchor="t"/>
          <a:lstStyle/>
          <a:p>
            <a:pPr indent="0" marL="0">
              <a:buNone/>
            </a:pPr>
            <a:r>
              <a:rPr lang="en-US" sz="1500" dirty="0">
                <a:solidFill>
                  <a:srgbClr val="9FB3BE"/>
                </a:solidFill>
                <a:latin typeface="Calibri" pitchFamily="34" charset="0"/>
                <a:ea typeface="Calibri" pitchFamily="34" charset="-122"/>
                <a:cs typeface="Calibri" pitchFamily="34" charset="-120"/>
              </a:rPr>
              <a:t>You have ACID, constraints, idempotent corrections and an audit trail.</a:t>
            </a: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Day 4 adds the two things that break all of it: continuous arrival, and data that is wrong in ways no constraint can see.</a:t>
            </a:r>
            <a:endParaRPr lang="en-US" sz="1500" dirty="0"/>
          </a:p>
        </p:txBody>
      </p:sp>
      <p:sp>
        <p:nvSpPr>
          <p:cNvPr id="5"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6"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7"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8"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9"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417320"/>
            <a:ext cx="11057839" cy="274320"/>
          </a:xfrm>
          <a:prstGeom prst="rect">
            <a:avLst/>
          </a:prstGeom>
          <a:noFill/>
          <a:ln/>
        </p:spPr>
        <p:txBody>
          <a:bodyPr wrap="square" lIns="0" tIns="0" rIns="0" bIns="0" rtlCol="0" anchor="ctr"/>
          <a:lstStyle/>
          <a:p>
            <a:pPr indent="0" marL="0">
              <a:buNone/>
            </a:pPr>
            <a:r>
              <a:rPr lang="en-US" sz="1150" b="1" spc="220" kern="0" dirty="0">
                <a:solidFill>
                  <a:srgbClr val="D4A537"/>
                </a:solidFill>
                <a:latin typeface="Calibri" pitchFamily="34" charset="0"/>
                <a:ea typeface="Calibri" pitchFamily="34" charset="-122"/>
                <a:cs typeface="Calibri" pitchFamily="34" charset="-120"/>
              </a:rPr>
              <a:t>DAY 4</a:t>
            </a:r>
            <a:endParaRPr lang="en-US" sz="1150" dirty="0"/>
          </a:p>
        </p:txBody>
      </p:sp>
      <p:sp>
        <p:nvSpPr>
          <p:cNvPr id="3" name="Text 1"/>
          <p:cNvSpPr txBox="1"/>
          <p:nvPr/>
        </p:nvSpPr>
        <p:spPr>
          <a:xfrm>
            <a:off x="566928" y="1783080"/>
            <a:ext cx="6081812"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Real-time</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and trust</a:t>
            </a:r>
            <a:endParaRPr lang="en-US" sz="4000" dirty="0"/>
          </a:p>
        </p:txBody>
      </p:sp>
      <p:sp>
        <p:nvSpPr>
          <p:cNvPr id="4" name="Text 2"/>
          <p:cNvSpPr txBox="1"/>
          <p:nvPr/>
        </p:nvSpPr>
        <p:spPr>
          <a:xfrm>
            <a:off x="566928" y="3200400"/>
            <a:ext cx="6081812" cy="1371600"/>
          </a:xfrm>
          <a:prstGeom prst="rect">
            <a:avLst/>
          </a:prstGeom>
          <a:noFill/>
          <a:ln/>
        </p:spPr>
        <p:txBody>
          <a:bodyPr wrap="square" lIns="0" tIns="0" rIns="0" bIns="0" rtlCol="0" anchor="t"/>
          <a:lstStyle/>
          <a:p>
            <a:pPr indent="0" marL="0">
              <a:buNone/>
            </a:pPr>
            <a:r>
              <a:rPr lang="en-US" sz="1400" dirty="0">
                <a:solidFill>
                  <a:srgbClr val="9FB3BE"/>
                </a:solidFill>
                <a:latin typeface="Calibri" pitchFamily="34" charset="0"/>
                <a:ea typeface="Calibri" pitchFamily="34" charset="-122"/>
                <a:cs typeface="Calibri" pitchFamily="34" charset="-120"/>
              </a:rPr>
              <a:t>Continuous arrival, and the controls that decide whether what arrives can be believed.</a:t>
            </a:r>
            <a:endParaRPr lang="en-US" sz="1400" dirty="0"/>
          </a:p>
        </p:txBody>
      </p:sp>
      <p:sp>
        <p:nvSpPr>
          <p:cNvPr id="5" name="Shape 3"/>
          <p:cNvSpPr/>
          <p:nvPr/>
        </p:nvSpPr>
        <p:spPr>
          <a:xfrm>
            <a:off x="7201632" y="1810512"/>
            <a:ext cx="329184" cy="329184"/>
          </a:xfrm>
          <a:prstGeom prst="ellipse">
            <a:avLst/>
          </a:prstGeom>
          <a:solidFill>
            <a:srgbClr val="B0763A"/>
          </a:solidFill>
          <a:ln w="12700">
            <a:solidFill>
              <a:srgbClr val="B0763A"/>
            </a:solidFill>
            <a:prstDash val="solid"/>
          </a:ln>
        </p:spPr>
      </p:sp>
      <p:sp>
        <p:nvSpPr>
          <p:cNvPr id="6" name="Text 4"/>
          <p:cNvSpPr txBox="1"/>
          <p:nvPr/>
        </p:nvSpPr>
        <p:spPr>
          <a:xfrm>
            <a:off x="7201632" y="18242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658832" y="1783080"/>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M5 — Streaming and event-driven architectures</a:t>
            </a:r>
            <a:endParaRPr lang="en-US" sz="1300" dirty="0"/>
          </a:p>
        </p:txBody>
      </p:sp>
      <p:sp>
        <p:nvSpPr>
          <p:cNvPr id="8" name="Shape 6"/>
          <p:cNvSpPr/>
          <p:nvPr/>
        </p:nvSpPr>
        <p:spPr>
          <a:xfrm>
            <a:off x="7201632" y="2468880"/>
            <a:ext cx="329184" cy="329184"/>
          </a:xfrm>
          <a:prstGeom prst="ellipse">
            <a:avLst/>
          </a:prstGeom>
          <a:solidFill>
            <a:srgbClr val="8E9AA3"/>
          </a:solidFill>
          <a:ln w="12700">
            <a:solidFill>
              <a:srgbClr val="8E9AA3"/>
            </a:solidFill>
            <a:prstDash val="solid"/>
          </a:ln>
        </p:spPr>
      </p:sp>
      <p:sp>
        <p:nvSpPr>
          <p:cNvPr id="9" name="Text 7"/>
          <p:cNvSpPr txBox="1"/>
          <p:nvPr/>
        </p:nvSpPr>
        <p:spPr>
          <a:xfrm>
            <a:off x="7201632" y="248259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7658832" y="2441448"/>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CS-10 — LinkedIn and Kafka: a design exercise</a:t>
            </a:r>
            <a:endParaRPr lang="en-US" sz="1300" dirty="0"/>
          </a:p>
        </p:txBody>
      </p:sp>
      <p:sp>
        <p:nvSpPr>
          <p:cNvPr id="11" name="Shape 9"/>
          <p:cNvSpPr/>
          <p:nvPr/>
        </p:nvSpPr>
        <p:spPr>
          <a:xfrm>
            <a:off x="7201632" y="3127248"/>
            <a:ext cx="329184" cy="329184"/>
          </a:xfrm>
          <a:prstGeom prst="ellipse">
            <a:avLst/>
          </a:prstGeom>
          <a:solidFill>
            <a:srgbClr val="D4A537"/>
          </a:solidFill>
          <a:ln w="12700">
            <a:solidFill>
              <a:srgbClr val="D4A537"/>
            </a:solidFill>
            <a:prstDash val="solid"/>
          </a:ln>
        </p:spPr>
      </p:sp>
      <p:sp>
        <p:nvSpPr>
          <p:cNvPr id="12" name="Text 10"/>
          <p:cNvSpPr txBox="1"/>
          <p:nvPr/>
        </p:nvSpPr>
        <p:spPr>
          <a:xfrm>
            <a:off x="7201632" y="31409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3" name="Text 11"/>
          <p:cNvSpPr txBox="1"/>
          <p:nvPr/>
        </p:nvSpPr>
        <p:spPr>
          <a:xfrm>
            <a:off x="7658832" y="3099816"/>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Lab 5 — stream GPS into the Lakehouse</a:t>
            </a:r>
            <a:endParaRPr lang="en-US" sz="1300" dirty="0"/>
          </a:p>
        </p:txBody>
      </p:sp>
      <p:sp>
        <p:nvSpPr>
          <p:cNvPr id="14" name="Shape 12"/>
          <p:cNvSpPr/>
          <p:nvPr/>
        </p:nvSpPr>
        <p:spPr>
          <a:xfrm>
            <a:off x="7201632" y="3785616"/>
            <a:ext cx="329184" cy="329184"/>
          </a:xfrm>
          <a:prstGeom prst="ellipse">
            <a:avLst/>
          </a:prstGeom>
          <a:solidFill>
            <a:srgbClr val="00A6A6"/>
          </a:solidFill>
          <a:ln w="12700">
            <a:solidFill>
              <a:srgbClr val="00A6A6"/>
            </a:solidFill>
            <a:prstDash val="solid"/>
          </a:ln>
        </p:spPr>
      </p:sp>
      <p:sp>
        <p:nvSpPr>
          <p:cNvPr id="15" name="Text 13"/>
          <p:cNvSpPr txBox="1"/>
          <p:nvPr/>
        </p:nvSpPr>
        <p:spPr>
          <a:xfrm>
            <a:off x="7201632" y="37993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6" name="Text 14"/>
          <p:cNvSpPr txBox="1"/>
          <p:nvPr/>
        </p:nvSpPr>
        <p:spPr>
          <a:xfrm>
            <a:off x="7658832" y="3758184"/>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M6 — Quality, observability, governance</a:t>
            </a:r>
            <a:endParaRPr lang="en-US" sz="1300" dirty="0"/>
          </a:p>
        </p:txBody>
      </p:sp>
      <p:sp>
        <p:nvSpPr>
          <p:cNvPr id="17" name="Shape 15"/>
          <p:cNvSpPr/>
          <p:nvPr/>
        </p:nvSpPr>
        <p:spPr>
          <a:xfrm>
            <a:off x="7201632" y="4443984"/>
            <a:ext cx="329184" cy="329184"/>
          </a:xfrm>
          <a:prstGeom prst="ellipse">
            <a:avLst/>
          </a:prstGeom>
          <a:solidFill>
            <a:srgbClr val="D9503F"/>
          </a:solidFill>
          <a:ln w="12700">
            <a:solidFill>
              <a:srgbClr val="D9503F"/>
            </a:solidFill>
            <a:prstDash val="solid"/>
          </a:ln>
        </p:spPr>
      </p:sp>
      <p:sp>
        <p:nvSpPr>
          <p:cNvPr id="18" name="Text 16"/>
          <p:cNvSpPr txBox="1"/>
          <p:nvPr/>
        </p:nvSpPr>
        <p:spPr>
          <a:xfrm>
            <a:off x="7201632" y="44577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19" name="Text 17"/>
          <p:cNvSpPr txBox="1"/>
          <p:nvPr/>
        </p:nvSpPr>
        <p:spPr>
          <a:xfrm>
            <a:off x="7658832" y="4416552"/>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Lab 6 — the quality gate</a:t>
            </a:r>
            <a:endParaRPr lang="en-US" sz="1300" dirty="0"/>
          </a:p>
        </p:txBody>
      </p:sp>
      <p:sp>
        <p:nvSpPr>
          <p:cNvPr id="20" name="Shape 18"/>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1" name="Shape 19"/>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2" name="Shape 20"/>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3" name="Text 21"/>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4" name="Text 22"/>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5 · SECTION 1</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Batch and streaming are not rivals</a:t>
            </a:r>
            <a:endParaRPr lang="en-US" sz="3000" dirty="0"/>
          </a:p>
        </p:txBody>
      </p:sp>
      <p:sp>
        <p:nvSpPr>
          <p:cNvPr id="4" name="Text 2"/>
          <p:cNvSpPr txBox="1"/>
          <p:nvPr/>
        </p:nvSpPr>
        <p:spPr>
          <a:xfrm>
            <a:off x="566928" y="1389888"/>
            <a:ext cx="10692079" cy="439166"/>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They are tools for different latency requirements. Default to batch; reach for streaming only when a decision genuinely needs fresh data.</a:t>
            </a:r>
            <a:endParaRPr lang="en-US" sz="133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66928" y="1957070"/>
          <a:ext cx="11057839" cy="914400"/>
        </p:xfrm>
        <a:graphic>
          <a:graphicData uri="http://schemas.openxmlformats.org/drawingml/2006/table">
            <a:tbl>
              <a:tblPr/>
              <a:tblGrid>
                <a:gridCol w="2194560"/>
                <a:gridCol w="4434840"/>
                <a:gridCol w="4425696"/>
              </a:tblGrid>
              <a:tr h="591270">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Batch</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Streaming</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r>
              <a:tr h="591270">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Data</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Bounded, at rest</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Unbounded, in motion</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591270">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Latency</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Minutes to hours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Milliseconds to seconds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591270">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Cost and complexity</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Lower — no state, no ordering, no checkpoints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Higher — state, ordering, failure semantics, checkpoints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591270">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Masar fit</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Historical trips, feature builds, the morning report</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GPS pings, trip-state events, live zone demand and surge</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591270">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What goes wrong</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You find out tomorrow</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You find out in production, at 3 a.m., after a restart</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bl>
          </a:graphicData>
        </a:graphic>
      </p:graphicFrame>
      <p:sp>
        <p:nvSpPr>
          <p:cNvPr id="6" name="Text 3"/>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Structured Streaming lets the SAME Spark and Delta code serve both paths — which is why this course teaches one engine for both, and why the streaming lab reuses the bronze table you already built.</a:t>
            </a:r>
            <a:endParaRPr lang="en-US" sz="1200" dirty="0"/>
          </a:p>
        </p:txBody>
      </p:sp>
      <p:sp>
        <p:nvSpPr>
          <p:cNvPr id="7" name="Shape 4"/>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8" name="Shape 5"/>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9" name="Shape 6"/>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0" name="Text 7"/>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1" name="Text 8"/>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5 · SECTION 2</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Kafka is a durable, append-only log</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Not a queue. A log you can rewind — much like Delta history, for events in motion.</a:t>
            </a:r>
            <a:endParaRPr lang="en-US" sz="1330" dirty="0"/>
          </a:p>
        </p:txBody>
      </p:sp>
      <p:sp>
        <p:nvSpPr>
          <p:cNvPr id="5" name="Shape 3"/>
          <p:cNvSpPr/>
          <p:nvPr/>
        </p:nvSpPr>
        <p:spPr>
          <a:xfrm>
            <a:off x="566928" y="1920240"/>
            <a:ext cx="384048" cy="384048"/>
          </a:xfrm>
          <a:prstGeom prst="ellipse">
            <a:avLst/>
          </a:prstGeom>
          <a:solidFill>
            <a:srgbClr val="B0763A"/>
          </a:solidFill>
          <a:ln w="12700">
            <a:solidFill>
              <a:srgbClr val="B0763A"/>
            </a:solidFill>
            <a:prstDash val="solid"/>
          </a:ln>
        </p:spPr>
      </p:sp>
      <p:sp>
        <p:nvSpPr>
          <p:cNvPr id="6" name="Text 4"/>
          <p:cNvSpPr txBox="1"/>
          <p:nvPr/>
        </p:nvSpPr>
        <p:spPr>
          <a:xfrm>
            <a:off x="566928" y="193395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a:t>
            </a:r>
            <a:endParaRPr lang="en-US" sz="1250" dirty="0"/>
          </a:p>
        </p:txBody>
      </p:sp>
      <p:sp>
        <p:nvSpPr>
          <p:cNvPr id="7" name="Text 5"/>
          <p:cNvSpPr txBox="1"/>
          <p:nvPr/>
        </p:nvSpPr>
        <p:spPr>
          <a:xfrm>
            <a:off x="1133856" y="1883664"/>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Topic</a:t>
            </a:r>
            <a:endParaRPr lang="en-US" sz="1500" dirty="0"/>
          </a:p>
        </p:txBody>
      </p:sp>
      <p:sp>
        <p:nvSpPr>
          <p:cNvPr id="8" name="Text 6"/>
          <p:cNvSpPr txBox="1"/>
          <p:nvPr/>
        </p:nvSpPr>
        <p:spPr>
          <a:xfrm>
            <a:off x="1133856" y="2148840"/>
            <a:ext cx="10417759" cy="464515"/>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A named stream of events: masar.gps.raw, masar.trip.events.</a:t>
            </a:r>
            <a:endParaRPr lang="en-US" sz="1250" dirty="0"/>
          </a:p>
        </p:txBody>
      </p:sp>
      <p:sp>
        <p:nvSpPr>
          <p:cNvPr id="9" name="Shape 7"/>
          <p:cNvSpPr/>
          <p:nvPr/>
        </p:nvSpPr>
        <p:spPr>
          <a:xfrm>
            <a:off x="566928" y="2677363"/>
            <a:ext cx="384048" cy="384048"/>
          </a:xfrm>
          <a:prstGeom prst="ellipse">
            <a:avLst/>
          </a:prstGeom>
          <a:solidFill>
            <a:srgbClr val="8E9AA3"/>
          </a:solidFill>
          <a:ln w="12700">
            <a:solidFill>
              <a:srgbClr val="8E9AA3"/>
            </a:solidFill>
            <a:prstDash val="solid"/>
          </a:ln>
        </p:spPr>
      </p:sp>
      <p:sp>
        <p:nvSpPr>
          <p:cNvPr id="10" name="Text 8"/>
          <p:cNvSpPr txBox="1"/>
          <p:nvPr/>
        </p:nvSpPr>
        <p:spPr>
          <a:xfrm>
            <a:off x="566928" y="2691079"/>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t>
            </a:r>
            <a:endParaRPr lang="en-US" sz="1250" dirty="0"/>
          </a:p>
        </p:txBody>
      </p:sp>
      <p:sp>
        <p:nvSpPr>
          <p:cNvPr id="11" name="Text 9"/>
          <p:cNvSpPr txBox="1"/>
          <p:nvPr/>
        </p:nvSpPr>
        <p:spPr>
          <a:xfrm>
            <a:off x="1133856" y="2640787"/>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Partition</a:t>
            </a:r>
            <a:endParaRPr lang="en-US" sz="1500" dirty="0"/>
          </a:p>
        </p:txBody>
      </p:sp>
      <p:sp>
        <p:nvSpPr>
          <p:cNvPr id="12" name="Text 10"/>
          <p:cNvSpPr txBox="1"/>
          <p:nvPr/>
        </p:nvSpPr>
        <p:spPr>
          <a:xfrm>
            <a:off x="1133856" y="2905963"/>
            <a:ext cx="10417759" cy="464515"/>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A topic is split for parallelism. Events within a partition are strictly ordered; across partitions they are not. The partition KEY decides where an event lands — key by vehicle_id or trip_id and you get per-entity ordering.</a:t>
            </a:r>
            <a:endParaRPr lang="en-US" sz="1250" dirty="0"/>
          </a:p>
        </p:txBody>
      </p:sp>
      <p:sp>
        <p:nvSpPr>
          <p:cNvPr id="13" name="Shape 11"/>
          <p:cNvSpPr/>
          <p:nvPr/>
        </p:nvSpPr>
        <p:spPr>
          <a:xfrm>
            <a:off x="566928" y="3434486"/>
            <a:ext cx="384048" cy="384048"/>
          </a:xfrm>
          <a:prstGeom prst="ellipse">
            <a:avLst/>
          </a:prstGeom>
          <a:solidFill>
            <a:srgbClr val="D4A537"/>
          </a:solidFill>
          <a:ln w="12700">
            <a:solidFill>
              <a:srgbClr val="D4A537"/>
            </a:solidFill>
            <a:prstDash val="solid"/>
          </a:ln>
        </p:spPr>
      </p:sp>
      <p:sp>
        <p:nvSpPr>
          <p:cNvPr id="14" name="Text 12"/>
          <p:cNvSpPr txBox="1"/>
          <p:nvPr/>
        </p:nvSpPr>
        <p:spPr>
          <a:xfrm>
            <a:off x="566928" y="344820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a:t>
            </a:r>
            <a:endParaRPr lang="en-US" sz="1250" dirty="0"/>
          </a:p>
        </p:txBody>
      </p:sp>
      <p:sp>
        <p:nvSpPr>
          <p:cNvPr id="15" name="Text 13"/>
          <p:cNvSpPr txBox="1"/>
          <p:nvPr/>
        </p:nvSpPr>
        <p:spPr>
          <a:xfrm>
            <a:off x="1133856" y="3397910"/>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Offset</a:t>
            </a:r>
            <a:endParaRPr lang="en-US" sz="1500" dirty="0"/>
          </a:p>
        </p:txBody>
      </p:sp>
      <p:sp>
        <p:nvSpPr>
          <p:cNvPr id="16" name="Text 14"/>
          <p:cNvSpPr txBox="1"/>
          <p:nvPr/>
        </p:nvSpPr>
        <p:spPr>
          <a:xfrm>
            <a:off x="1133856" y="3663086"/>
            <a:ext cx="10417759" cy="464515"/>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Each event's position in its partition. Consumers track offsets to know what they have read — and Spark checkpoints them, which is where exactly-once comes from.</a:t>
            </a:r>
            <a:endParaRPr lang="en-US" sz="1250" dirty="0"/>
          </a:p>
        </p:txBody>
      </p:sp>
      <p:sp>
        <p:nvSpPr>
          <p:cNvPr id="17" name="Shape 15"/>
          <p:cNvSpPr/>
          <p:nvPr/>
        </p:nvSpPr>
        <p:spPr>
          <a:xfrm>
            <a:off x="566928" y="4191610"/>
            <a:ext cx="384048" cy="384048"/>
          </a:xfrm>
          <a:prstGeom prst="ellipse">
            <a:avLst/>
          </a:prstGeom>
          <a:solidFill>
            <a:srgbClr val="00A6A6"/>
          </a:solidFill>
          <a:ln w="12700">
            <a:solidFill>
              <a:srgbClr val="00A6A6"/>
            </a:solidFill>
            <a:prstDash val="solid"/>
          </a:ln>
        </p:spPr>
      </p:sp>
      <p:sp>
        <p:nvSpPr>
          <p:cNvPr id="18" name="Text 16"/>
          <p:cNvSpPr txBox="1"/>
          <p:nvPr/>
        </p:nvSpPr>
        <p:spPr>
          <a:xfrm>
            <a:off x="566928" y="420532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a:t>
            </a:r>
            <a:endParaRPr lang="en-US" sz="1250" dirty="0"/>
          </a:p>
        </p:txBody>
      </p:sp>
      <p:sp>
        <p:nvSpPr>
          <p:cNvPr id="19" name="Text 17"/>
          <p:cNvSpPr txBox="1"/>
          <p:nvPr/>
        </p:nvSpPr>
        <p:spPr>
          <a:xfrm>
            <a:off x="1133856" y="4155034"/>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Consumer group</a:t>
            </a:r>
            <a:endParaRPr lang="en-US" sz="1500" dirty="0"/>
          </a:p>
        </p:txBody>
      </p:sp>
      <p:sp>
        <p:nvSpPr>
          <p:cNvPr id="20" name="Text 18"/>
          <p:cNvSpPr txBox="1"/>
          <p:nvPr/>
        </p:nvSpPr>
        <p:spPr>
          <a:xfrm>
            <a:off x="1133856" y="4420210"/>
            <a:ext cx="10417759" cy="464515"/>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Members share partitions so they process in parallel without overlap. Add a second group and you get a second independent reader of the same events, at no cost to the first.</a:t>
            </a:r>
            <a:endParaRPr lang="en-US" sz="1250" dirty="0"/>
          </a:p>
        </p:txBody>
      </p:sp>
      <p:sp>
        <p:nvSpPr>
          <p:cNvPr id="21" name="Shape 19"/>
          <p:cNvSpPr/>
          <p:nvPr/>
        </p:nvSpPr>
        <p:spPr>
          <a:xfrm>
            <a:off x="566928" y="4948733"/>
            <a:ext cx="384048" cy="384048"/>
          </a:xfrm>
          <a:prstGeom prst="ellipse">
            <a:avLst/>
          </a:prstGeom>
          <a:solidFill>
            <a:srgbClr val="B0763A"/>
          </a:solidFill>
          <a:ln w="12700">
            <a:solidFill>
              <a:srgbClr val="B0763A"/>
            </a:solidFill>
            <a:prstDash val="solid"/>
          </a:ln>
        </p:spPr>
      </p:sp>
      <p:sp>
        <p:nvSpPr>
          <p:cNvPr id="22" name="Text 20"/>
          <p:cNvSpPr txBox="1"/>
          <p:nvPr/>
        </p:nvSpPr>
        <p:spPr>
          <a:xfrm>
            <a:off x="566928" y="4962449"/>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p>
        </p:txBody>
      </p:sp>
      <p:sp>
        <p:nvSpPr>
          <p:cNvPr id="23" name="Text 21"/>
          <p:cNvSpPr txBox="1"/>
          <p:nvPr/>
        </p:nvSpPr>
        <p:spPr>
          <a:xfrm>
            <a:off x="1133856" y="4912157"/>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Retention</a:t>
            </a:r>
            <a:endParaRPr lang="en-US" sz="1500" dirty="0"/>
          </a:p>
        </p:txBody>
      </p:sp>
      <p:sp>
        <p:nvSpPr>
          <p:cNvPr id="24" name="Text 22"/>
          <p:cNvSpPr txBox="1"/>
          <p:nvPr/>
        </p:nvSpPr>
        <p:spPr>
          <a:xfrm>
            <a:off x="1133856" y="5177333"/>
            <a:ext cx="10417759" cy="464515"/>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Kafka keeps events for a configured window, so consumers can replay. A bad window can be reprocessed rather than lost.</a:t>
            </a:r>
            <a:endParaRPr lang="en-US" sz="1250" dirty="0"/>
          </a:p>
        </p:txBody>
      </p:sp>
      <p:sp>
        <p:nvSpPr>
          <p:cNvPr id="25" name="Text 23"/>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The point is decoupling: the GPS emitter does not know or care who consumes pings. Streaming ingest, a live-demand service and an alerting job all read the same topic independently. That is event-driven architecture in one sentence.</a:t>
            </a:r>
            <a:endParaRPr lang="en-US" sz="1200" dirty="0"/>
          </a:p>
        </p:txBody>
      </p:sp>
      <p:sp>
        <p:nvSpPr>
          <p:cNvPr id="26" name="Shape 24"/>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7" name="Shape 25"/>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8" name="Shape 26"/>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9" name="Text 27"/>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30" name="Text 28"/>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CASE STUDY CS-10 · DESIGN EXERCISE · 45 MINUTES</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LinkedIn and Kafka — design it, do not demo it</a:t>
            </a:r>
            <a:endParaRPr lang="en-US" sz="3000" dirty="0"/>
          </a:p>
        </p:txBody>
      </p:sp>
      <p:sp>
        <p:nvSpPr>
          <p:cNvPr id="4" name="Text 2"/>
          <p:cNvSpPr txBox="1"/>
          <p:nvPr/>
        </p:nvSpPr>
        <p:spPr>
          <a:xfrm>
            <a:off x="566928" y="1389888"/>
            <a:ext cx="10692079" cy="439166"/>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Kafka originated at LinkedIn as a central messaging backbone connecting loosely coupled systems, at extreme volume. Teams design Masar's equivalent; they do not write producers and consumers.</a:t>
            </a:r>
            <a:endParaRPr lang="en-US" sz="1330" dirty="0"/>
          </a:p>
        </p:txBody>
      </p:sp>
      <p:sp>
        <p:nvSpPr>
          <p:cNvPr id="5" name="Shape 3"/>
          <p:cNvSpPr/>
          <p:nvPr/>
        </p:nvSpPr>
        <p:spPr>
          <a:xfrm>
            <a:off x="566928" y="2225853"/>
            <a:ext cx="2572436" cy="2331720"/>
          </a:xfrm>
          <a:prstGeom prst="roundRect">
            <a:avLst>
              <a:gd name="adj" fmla="val 2353"/>
            </a:avLst>
          </a:prstGeom>
          <a:solidFill>
            <a:srgbClr val="F4F6F7"/>
          </a:solidFill>
          <a:ln w="12700">
            <a:solidFill>
              <a:srgbClr val="DDE3E6"/>
            </a:solidFill>
            <a:prstDash val="solid"/>
          </a:ln>
        </p:spPr>
      </p:sp>
      <p:sp>
        <p:nvSpPr>
          <p:cNvPr id="6" name="Text 4"/>
          <p:cNvSpPr txBox="1"/>
          <p:nvPr/>
        </p:nvSpPr>
        <p:spPr>
          <a:xfrm>
            <a:off x="786384" y="2408733"/>
            <a:ext cx="2133524"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The payload</a:t>
            </a:r>
            <a:endParaRPr lang="en-US" sz="1450" dirty="0"/>
          </a:p>
        </p:txBody>
      </p:sp>
      <p:sp>
        <p:nvSpPr>
          <p:cNvPr id="7" name="Text 5"/>
          <p:cNvSpPr txBox="1"/>
          <p:nvPr/>
        </p:nvSpPr>
        <p:spPr>
          <a:xfrm>
            <a:off x="786384" y="2732202"/>
            <a:ext cx="2133524" cy="166077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Every Masar vehicle emits every 5 seconds:</a:t>
            </a:r>
            <a:endParaRPr lang="en-US" sz="1200" dirty="0"/>
          </a:p>
          <a:p>
            <a:pPr indent="0" marL="0">
              <a:buNone/>
            </a:pPr>
            <a:r>
              <a:rPr lang="en-US" sz="1200" dirty="0">
                <a:solidFill>
                  <a:srgbClr val="2B3A42"/>
                </a:solidFill>
                <a:latin typeface="Calibri" pitchFamily="34" charset="0"/>
                <a:ea typeface="Calibri" pitchFamily="34" charset="-122"/>
                <a:cs typeface="Calibri" pitchFamily="34" charset="-120"/>
              </a:rPr>
              <a:t>vehicle_id · latitude · longitude · speed · heading · timestamp · trip_id</a:t>
            </a:r>
            <a:endParaRPr lang="en-US" sz="1200" dirty="0"/>
          </a:p>
        </p:txBody>
      </p:sp>
      <p:sp>
        <p:nvSpPr>
          <p:cNvPr id="8" name="Shape 6"/>
          <p:cNvSpPr/>
          <p:nvPr/>
        </p:nvSpPr>
        <p:spPr>
          <a:xfrm>
            <a:off x="3395396" y="2225853"/>
            <a:ext cx="2572436" cy="2331720"/>
          </a:xfrm>
          <a:prstGeom prst="roundRect">
            <a:avLst>
              <a:gd name="adj" fmla="val 2353"/>
            </a:avLst>
          </a:prstGeom>
          <a:solidFill>
            <a:srgbClr val="F4F6F7"/>
          </a:solidFill>
          <a:ln w="12700">
            <a:solidFill>
              <a:srgbClr val="DDE3E6"/>
            </a:solidFill>
            <a:prstDash val="solid"/>
          </a:ln>
        </p:spPr>
      </p:sp>
      <p:sp>
        <p:nvSpPr>
          <p:cNvPr id="9" name="Text 7"/>
          <p:cNvSpPr txBox="1"/>
          <p:nvPr/>
        </p:nvSpPr>
        <p:spPr>
          <a:xfrm>
            <a:off x="3614852" y="2408733"/>
            <a:ext cx="2133524" cy="232029"/>
          </a:xfrm>
          <a:prstGeom prst="rect">
            <a:avLst/>
          </a:prstGeom>
          <a:noFill/>
          <a:ln/>
        </p:spPr>
        <p:txBody>
          <a:bodyPr wrap="square" lIns="0" tIns="0" rIns="0" bIns="0" rtlCol="0" anchor="t"/>
          <a:lstStyle/>
          <a:p>
            <a:pPr indent="0" marL="0">
              <a:buNone/>
            </a:pPr>
            <a:r>
              <a:rPr lang="en-US" sz="1450" b="1" dirty="0">
                <a:solidFill>
                  <a:srgbClr val="8E9AA3"/>
                </a:solidFill>
                <a:latin typeface="Calibri" pitchFamily="34" charset="0"/>
                <a:ea typeface="Calibri" pitchFamily="34" charset="-122"/>
                <a:cs typeface="Calibri" pitchFamily="34" charset="-120"/>
              </a:rPr>
              <a:t>Round 1 — late events</a:t>
            </a:r>
            <a:endParaRPr lang="en-US" sz="1450" dirty="0"/>
          </a:p>
        </p:txBody>
      </p:sp>
      <p:sp>
        <p:nvSpPr>
          <p:cNvPr id="10" name="Text 8"/>
          <p:cNvSpPr txBox="1"/>
          <p:nvPr/>
        </p:nvSpPr>
        <p:spPr>
          <a:xfrm>
            <a:off x="3614852" y="2732202"/>
            <a:ext cx="2133524" cy="166077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A phone was in a tunnel for four minutes. What is your watermark, and what does it cost you in state and in delay?</a:t>
            </a:r>
            <a:endParaRPr lang="en-US" sz="1200" dirty="0"/>
          </a:p>
        </p:txBody>
      </p:sp>
      <p:sp>
        <p:nvSpPr>
          <p:cNvPr id="11" name="Shape 9"/>
          <p:cNvSpPr/>
          <p:nvPr/>
        </p:nvSpPr>
        <p:spPr>
          <a:xfrm>
            <a:off x="6223864" y="2225853"/>
            <a:ext cx="2572436" cy="2331720"/>
          </a:xfrm>
          <a:prstGeom prst="roundRect">
            <a:avLst>
              <a:gd name="adj" fmla="val 2353"/>
            </a:avLst>
          </a:prstGeom>
          <a:solidFill>
            <a:srgbClr val="F4F6F7"/>
          </a:solidFill>
          <a:ln w="12700">
            <a:solidFill>
              <a:srgbClr val="DDE3E6"/>
            </a:solidFill>
            <a:prstDash val="solid"/>
          </a:ln>
        </p:spPr>
      </p:sp>
      <p:sp>
        <p:nvSpPr>
          <p:cNvPr id="12" name="Text 10"/>
          <p:cNvSpPr txBox="1"/>
          <p:nvPr/>
        </p:nvSpPr>
        <p:spPr>
          <a:xfrm>
            <a:off x="6443320" y="2408733"/>
            <a:ext cx="2133524" cy="232029"/>
          </a:xfrm>
          <a:prstGeom prst="rect">
            <a:avLst/>
          </a:prstGeom>
          <a:noFill/>
          <a:ln/>
        </p:spPr>
        <p:txBody>
          <a:bodyPr wrap="square" lIns="0" tIns="0" rIns="0" bIns="0" rtlCol="0" anchor="t"/>
          <a:lstStyle/>
          <a:p>
            <a:pPr indent="0" marL="0">
              <a:buNone/>
            </a:pPr>
            <a:r>
              <a:rPr lang="en-US" sz="1450" b="1" dirty="0">
                <a:solidFill>
                  <a:srgbClr val="D4A537"/>
                </a:solidFill>
                <a:latin typeface="Calibri" pitchFamily="34" charset="0"/>
                <a:ea typeface="Calibri" pitchFamily="34" charset="-122"/>
                <a:cs typeface="Calibri" pitchFamily="34" charset="-120"/>
              </a:rPr>
              <a:t>Round 2 — duplicates</a:t>
            </a:r>
            <a:endParaRPr lang="en-US" sz="1450" dirty="0"/>
          </a:p>
        </p:txBody>
      </p:sp>
      <p:sp>
        <p:nvSpPr>
          <p:cNvPr id="13" name="Text 11"/>
          <p:cNvSpPr txBox="1"/>
          <p:nvPr/>
        </p:nvSpPr>
        <p:spPr>
          <a:xfrm>
            <a:off x="6443320" y="2732202"/>
            <a:ext cx="2133524" cy="166077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The producer retried after a timeout that had actually succeeded. What is your dedup key, over what window, and where in the pipeline does it run?</a:t>
            </a:r>
            <a:endParaRPr lang="en-US" sz="1200" dirty="0"/>
          </a:p>
        </p:txBody>
      </p:sp>
      <p:sp>
        <p:nvSpPr>
          <p:cNvPr id="14" name="Shape 12"/>
          <p:cNvSpPr/>
          <p:nvPr/>
        </p:nvSpPr>
        <p:spPr>
          <a:xfrm>
            <a:off x="9052331" y="2225853"/>
            <a:ext cx="2572436" cy="2331720"/>
          </a:xfrm>
          <a:prstGeom prst="roundRect">
            <a:avLst>
              <a:gd name="adj" fmla="val 2353"/>
            </a:avLst>
          </a:prstGeom>
          <a:solidFill>
            <a:srgbClr val="F4F6F7"/>
          </a:solidFill>
          <a:ln w="12700">
            <a:solidFill>
              <a:srgbClr val="DDE3E6"/>
            </a:solidFill>
            <a:prstDash val="solid"/>
          </a:ln>
        </p:spPr>
      </p:sp>
      <p:sp>
        <p:nvSpPr>
          <p:cNvPr id="15" name="Text 13"/>
          <p:cNvSpPr txBox="1"/>
          <p:nvPr/>
        </p:nvSpPr>
        <p:spPr>
          <a:xfrm>
            <a:off x="9271787" y="2408733"/>
            <a:ext cx="2133524" cy="232029"/>
          </a:xfrm>
          <a:prstGeom prst="rect">
            <a:avLst/>
          </a:prstGeom>
          <a:noFill/>
          <a:ln/>
        </p:spPr>
        <p:txBody>
          <a:bodyPr wrap="square" lIns="0" tIns="0" rIns="0" bIns="0" rtlCol="0" anchor="t"/>
          <a:lstStyle/>
          <a:p>
            <a:pPr indent="0" marL="0">
              <a:buNone/>
            </a:pPr>
            <a:r>
              <a:rPr lang="en-US" sz="1450" b="1" dirty="0">
                <a:solidFill>
                  <a:srgbClr val="D9503F"/>
                </a:solidFill>
                <a:latin typeface="Calibri" pitchFamily="34" charset="0"/>
                <a:ea typeface="Calibri" pitchFamily="34" charset="-122"/>
                <a:cs typeface="Calibri" pitchFamily="34" charset="-120"/>
              </a:rPr>
              <a:t>Round 3 — out of order</a:t>
            </a:r>
            <a:endParaRPr lang="en-US" sz="1450" dirty="0"/>
          </a:p>
        </p:txBody>
      </p:sp>
      <p:sp>
        <p:nvSpPr>
          <p:cNvPr id="16" name="Text 14"/>
          <p:cNvSpPr txBox="1"/>
          <p:nvPr/>
        </p:nvSpPr>
        <p:spPr>
          <a:xfrm>
            <a:off x="9271787" y="2732202"/>
            <a:ext cx="2133524" cy="166077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Events arrive with timestamps that go backwards. Which aggregations break, and which clock were you using without realising it?</a:t>
            </a:r>
            <a:endParaRPr lang="en-US" sz="1200" dirty="0"/>
          </a:p>
        </p:txBody>
      </p:sp>
      <p:sp>
        <p:nvSpPr>
          <p:cNvPr id="17" name="Text 15"/>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This is pedagogically far stronger than teaching Kafka producers and consumers. Teams present a design; the scoring sheet in CS-10 rewards explicit trade-offs, not correct answers.</a:t>
            </a:r>
            <a:endParaRPr lang="en-US" sz="1200" dirty="0"/>
          </a:p>
        </p:txBody>
      </p:sp>
      <p:sp>
        <p:nvSpPr>
          <p:cNvPr id="18" name="Shape 16"/>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9" name="Shape 17"/>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0" name="Shape 18"/>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1" name="Text 19"/>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2" name="Text 20"/>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CASE STUDY CS-10</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The target architecture teams must justify</a:t>
            </a:r>
            <a:endParaRPr lang="en-US" sz="3000" dirty="0"/>
          </a:p>
        </p:txBody>
      </p:sp>
      <p:sp>
        <p:nvSpPr>
          <p:cNvPr id="4" name="Shape 2"/>
          <p:cNvSpPr/>
          <p:nvPr/>
        </p:nvSpPr>
        <p:spPr>
          <a:xfrm>
            <a:off x="566928" y="1989917"/>
            <a:ext cx="1962851" cy="2377440"/>
          </a:xfrm>
          <a:prstGeom prst="roundRect">
            <a:avLst>
              <a:gd name="adj" fmla="val 2795"/>
            </a:avLst>
          </a:prstGeom>
          <a:solidFill>
            <a:srgbClr val="F4F6F7"/>
          </a:solidFill>
          <a:ln w="19050">
            <a:solidFill>
              <a:srgbClr val="8E9AA3"/>
            </a:solidFill>
            <a:prstDash val="solid"/>
          </a:ln>
        </p:spPr>
      </p:sp>
      <p:sp>
        <p:nvSpPr>
          <p:cNvPr id="5" name="Text 3"/>
          <p:cNvSpPr txBox="1"/>
          <p:nvPr/>
        </p:nvSpPr>
        <p:spPr>
          <a:xfrm>
            <a:off x="731520" y="2191085"/>
            <a:ext cx="1633667" cy="585216"/>
          </a:xfrm>
          <a:prstGeom prst="rect">
            <a:avLst/>
          </a:prstGeom>
          <a:noFill/>
          <a:ln/>
        </p:spPr>
        <p:txBody>
          <a:bodyPr wrap="square" lIns="0" tIns="0" rIns="0" bIns="0" rtlCol="0" anchor="t"/>
          <a:lstStyle/>
          <a:p>
            <a:pPr indent="0" marL="0">
              <a:buNone/>
            </a:pPr>
            <a:r>
              <a:rPr lang="en-US" sz="1350" b="1" dirty="0">
                <a:solidFill>
                  <a:srgbClr val="8E9AA3"/>
                </a:solidFill>
                <a:latin typeface="Calibri" pitchFamily="34" charset="0"/>
                <a:ea typeface="Calibri" pitchFamily="34" charset="-122"/>
                <a:cs typeface="Calibri" pitchFamily="34" charset="-120"/>
              </a:rPr>
              <a:t>Vehicles</a:t>
            </a:r>
            <a:endParaRPr lang="en-US" sz="1350" dirty="0"/>
          </a:p>
        </p:txBody>
      </p:sp>
      <p:sp>
        <p:nvSpPr>
          <p:cNvPr id="6" name="Text 4"/>
          <p:cNvSpPr txBox="1"/>
          <p:nvPr/>
        </p:nvSpPr>
        <p:spPr>
          <a:xfrm>
            <a:off x="731520" y="2794589"/>
            <a:ext cx="1633667" cy="140817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~1 ping / 5 s / vehicle</a:t>
            </a: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15M events per day</a:t>
            </a: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Keyed by vehicle_id</a:t>
            </a:r>
            <a:endParaRPr lang="en-US" sz="1150" dirty="0"/>
          </a:p>
        </p:txBody>
      </p:sp>
      <p:sp>
        <p:nvSpPr>
          <p:cNvPr id="7" name="Shape 5"/>
          <p:cNvSpPr/>
          <p:nvPr/>
        </p:nvSpPr>
        <p:spPr>
          <a:xfrm>
            <a:off x="2575499" y="3078053"/>
            <a:ext cx="219456" cy="201168"/>
          </a:xfrm>
          <a:prstGeom prst="rightArrow">
            <a:avLst/>
          </a:prstGeom>
          <a:solidFill>
            <a:srgbClr val="8E9AA3"/>
          </a:solidFill>
          <a:ln w="12700">
            <a:solidFill>
              <a:srgbClr val="8E9AA3"/>
            </a:solidFill>
            <a:prstDash val="solid"/>
          </a:ln>
        </p:spPr>
      </p:sp>
      <p:sp>
        <p:nvSpPr>
          <p:cNvPr id="8" name="Shape 6"/>
          <p:cNvSpPr/>
          <p:nvPr/>
        </p:nvSpPr>
        <p:spPr>
          <a:xfrm>
            <a:off x="2840675" y="1989917"/>
            <a:ext cx="1962851" cy="2377440"/>
          </a:xfrm>
          <a:prstGeom prst="roundRect">
            <a:avLst>
              <a:gd name="adj" fmla="val 2795"/>
            </a:avLst>
          </a:prstGeom>
          <a:solidFill>
            <a:srgbClr val="F4F6F7"/>
          </a:solidFill>
          <a:ln w="19050">
            <a:solidFill>
              <a:srgbClr val="B0763A"/>
            </a:solidFill>
            <a:prstDash val="solid"/>
          </a:ln>
        </p:spPr>
      </p:sp>
      <p:sp>
        <p:nvSpPr>
          <p:cNvPr id="9" name="Text 7"/>
          <p:cNvSpPr txBox="1"/>
          <p:nvPr/>
        </p:nvSpPr>
        <p:spPr>
          <a:xfrm>
            <a:off x="3005267" y="2191085"/>
            <a:ext cx="1633667" cy="585216"/>
          </a:xfrm>
          <a:prstGeom prst="rect">
            <a:avLst/>
          </a:prstGeom>
          <a:noFill/>
          <a:ln/>
        </p:spPr>
        <p:txBody>
          <a:bodyPr wrap="square" lIns="0" tIns="0" rIns="0" bIns="0" rtlCol="0" anchor="t"/>
          <a:lstStyle/>
          <a:p>
            <a:pPr indent="0" marL="0">
              <a:buNone/>
            </a:pPr>
            <a:r>
              <a:rPr lang="en-US" sz="1350" b="1" dirty="0">
                <a:solidFill>
                  <a:srgbClr val="B0763A"/>
                </a:solidFill>
                <a:latin typeface="Calibri" pitchFamily="34" charset="0"/>
                <a:ea typeface="Calibri" pitchFamily="34" charset="-122"/>
                <a:cs typeface="Calibri" pitchFamily="34" charset="-120"/>
              </a:rPr>
              <a:t>Kafka</a:t>
            </a:r>
            <a:endParaRPr lang="en-US" sz="1350" dirty="0"/>
          </a:p>
        </p:txBody>
      </p:sp>
      <p:sp>
        <p:nvSpPr>
          <p:cNvPr id="10" name="Text 8"/>
          <p:cNvSpPr txBox="1"/>
          <p:nvPr/>
        </p:nvSpPr>
        <p:spPr>
          <a:xfrm>
            <a:off x="3005267" y="2794589"/>
            <a:ext cx="1633667" cy="140817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masar.gps.raw</a:t>
            </a: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Partitioned by vehicle_id → per-vehicle ordering</a:t>
            </a: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Retention long enough to replay a bad day</a:t>
            </a:r>
            <a:endParaRPr lang="en-US" sz="1150" dirty="0"/>
          </a:p>
        </p:txBody>
      </p:sp>
      <p:sp>
        <p:nvSpPr>
          <p:cNvPr id="11" name="Shape 9"/>
          <p:cNvSpPr/>
          <p:nvPr/>
        </p:nvSpPr>
        <p:spPr>
          <a:xfrm>
            <a:off x="4849246" y="3078053"/>
            <a:ext cx="219456" cy="201168"/>
          </a:xfrm>
          <a:prstGeom prst="rightArrow">
            <a:avLst/>
          </a:prstGeom>
          <a:solidFill>
            <a:srgbClr val="8E9AA3"/>
          </a:solidFill>
          <a:ln w="12700">
            <a:solidFill>
              <a:srgbClr val="8E9AA3"/>
            </a:solidFill>
            <a:prstDash val="solid"/>
          </a:ln>
        </p:spPr>
      </p:sp>
      <p:sp>
        <p:nvSpPr>
          <p:cNvPr id="12" name="Shape 10"/>
          <p:cNvSpPr/>
          <p:nvPr/>
        </p:nvSpPr>
        <p:spPr>
          <a:xfrm>
            <a:off x="5114422" y="1989917"/>
            <a:ext cx="1962851" cy="2377440"/>
          </a:xfrm>
          <a:prstGeom prst="roundRect">
            <a:avLst>
              <a:gd name="adj" fmla="val 2795"/>
            </a:avLst>
          </a:prstGeom>
          <a:solidFill>
            <a:srgbClr val="F4F6F7"/>
          </a:solidFill>
          <a:ln w="19050">
            <a:solidFill>
              <a:srgbClr val="00A6A6"/>
            </a:solidFill>
            <a:prstDash val="solid"/>
          </a:ln>
        </p:spPr>
      </p:sp>
      <p:sp>
        <p:nvSpPr>
          <p:cNvPr id="13" name="Text 11"/>
          <p:cNvSpPr txBox="1"/>
          <p:nvPr/>
        </p:nvSpPr>
        <p:spPr>
          <a:xfrm>
            <a:off x="5279014" y="2191085"/>
            <a:ext cx="1633667" cy="585216"/>
          </a:xfrm>
          <a:prstGeom prst="rect">
            <a:avLst/>
          </a:prstGeom>
          <a:noFill/>
          <a:ln/>
        </p:spPr>
        <p:txBody>
          <a:bodyPr wrap="square" lIns="0" tIns="0" rIns="0" bIns="0" rtlCol="0" anchor="t"/>
          <a:lstStyle/>
          <a:p>
            <a:pPr indent="0" marL="0">
              <a:buNone/>
            </a:pPr>
            <a:r>
              <a:rPr lang="en-US" sz="1350" b="1" dirty="0">
                <a:solidFill>
                  <a:srgbClr val="00A6A6"/>
                </a:solidFill>
                <a:latin typeface="Calibri" pitchFamily="34" charset="0"/>
                <a:ea typeface="Calibri" pitchFamily="34" charset="-122"/>
                <a:cs typeface="Calibri" pitchFamily="34" charset="-120"/>
              </a:rPr>
              <a:t>Structured Streaming</a:t>
            </a:r>
            <a:endParaRPr lang="en-US" sz="1350" dirty="0"/>
          </a:p>
        </p:txBody>
      </p:sp>
      <p:sp>
        <p:nvSpPr>
          <p:cNvPr id="14" name="Text 12"/>
          <p:cNvSpPr txBox="1"/>
          <p:nvPr/>
        </p:nvSpPr>
        <p:spPr>
          <a:xfrm>
            <a:off x="5279014" y="2794589"/>
            <a:ext cx="1633667" cy="140817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readStream → parse → writeStream</a:t>
            </a: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One dedicated checkpoint</a:t>
            </a: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Trigger sized against the small-files cost</a:t>
            </a:r>
            <a:endParaRPr lang="en-US" sz="1150" dirty="0"/>
          </a:p>
        </p:txBody>
      </p:sp>
      <p:sp>
        <p:nvSpPr>
          <p:cNvPr id="15" name="Shape 13"/>
          <p:cNvSpPr/>
          <p:nvPr/>
        </p:nvSpPr>
        <p:spPr>
          <a:xfrm>
            <a:off x="7122993" y="3078053"/>
            <a:ext cx="219456" cy="201168"/>
          </a:xfrm>
          <a:prstGeom prst="rightArrow">
            <a:avLst/>
          </a:prstGeom>
          <a:solidFill>
            <a:srgbClr val="8E9AA3"/>
          </a:solidFill>
          <a:ln w="12700">
            <a:solidFill>
              <a:srgbClr val="8E9AA3"/>
            </a:solidFill>
            <a:prstDash val="solid"/>
          </a:ln>
        </p:spPr>
      </p:sp>
      <p:sp>
        <p:nvSpPr>
          <p:cNvPr id="16" name="Shape 14"/>
          <p:cNvSpPr/>
          <p:nvPr/>
        </p:nvSpPr>
        <p:spPr>
          <a:xfrm>
            <a:off x="7388169" y="1989917"/>
            <a:ext cx="1962851" cy="2377440"/>
          </a:xfrm>
          <a:prstGeom prst="roundRect">
            <a:avLst>
              <a:gd name="adj" fmla="val 2795"/>
            </a:avLst>
          </a:prstGeom>
          <a:solidFill>
            <a:srgbClr val="F4F6F7"/>
          </a:solidFill>
          <a:ln w="19050">
            <a:solidFill>
              <a:srgbClr val="B0763A"/>
            </a:solidFill>
            <a:prstDash val="solid"/>
          </a:ln>
        </p:spPr>
      </p:sp>
      <p:sp>
        <p:nvSpPr>
          <p:cNvPr id="17" name="Text 15"/>
          <p:cNvSpPr txBox="1"/>
          <p:nvPr/>
        </p:nvSpPr>
        <p:spPr>
          <a:xfrm>
            <a:off x="7552761" y="2191085"/>
            <a:ext cx="1633667" cy="585216"/>
          </a:xfrm>
          <a:prstGeom prst="rect">
            <a:avLst/>
          </a:prstGeom>
          <a:noFill/>
          <a:ln/>
        </p:spPr>
        <p:txBody>
          <a:bodyPr wrap="square" lIns="0" tIns="0" rIns="0" bIns="0" rtlCol="0" anchor="t"/>
          <a:lstStyle/>
          <a:p>
            <a:pPr indent="0" marL="0">
              <a:buNone/>
            </a:pPr>
            <a:r>
              <a:rPr lang="en-US" sz="1350" b="1" dirty="0">
                <a:solidFill>
                  <a:srgbClr val="B0763A"/>
                </a:solidFill>
                <a:latin typeface="Calibri" pitchFamily="34" charset="0"/>
                <a:ea typeface="Calibri" pitchFamily="34" charset="-122"/>
                <a:cs typeface="Calibri" pitchFamily="34" charset="-120"/>
              </a:rPr>
              <a:t>bronze.gps_events</a:t>
            </a:r>
            <a:endParaRPr lang="en-US" sz="1350" dirty="0"/>
          </a:p>
        </p:txBody>
      </p:sp>
      <p:sp>
        <p:nvSpPr>
          <p:cNvPr id="18" name="Text 16"/>
          <p:cNvSpPr txBox="1"/>
          <p:nvPr/>
        </p:nvSpPr>
        <p:spPr>
          <a:xfrm>
            <a:off x="7552761" y="2794589"/>
            <a:ext cx="1633667" cy="140817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Delta, append-only</a:t>
            </a: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AS RECEIVED</a:t>
            </a: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No dedup, no unit conversion — that is the rule from CS-09</a:t>
            </a:r>
            <a:endParaRPr lang="en-US" sz="1150" dirty="0"/>
          </a:p>
        </p:txBody>
      </p:sp>
      <p:sp>
        <p:nvSpPr>
          <p:cNvPr id="19" name="Shape 17"/>
          <p:cNvSpPr/>
          <p:nvPr/>
        </p:nvSpPr>
        <p:spPr>
          <a:xfrm>
            <a:off x="9396740" y="3078053"/>
            <a:ext cx="219456" cy="201168"/>
          </a:xfrm>
          <a:prstGeom prst="rightArrow">
            <a:avLst/>
          </a:prstGeom>
          <a:solidFill>
            <a:srgbClr val="8E9AA3"/>
          </a:solidFill>
          <a:ln w="12700">
            <a:solidFill>
              <a:srgbClr val="8E9AA3"/>
            </a:solidFill>
            <a:prstDash val="solid"/>
          </a:ln>
        </p:spPr>
      </p:sp>
      <p:sp>
        <p:nvSpPr>
          <p:cNvPr id="20" name="Shape 18"/>
          <p:cNvSpPr/>
          <p:nvPr/>
        </p:nvSpPr>
        <p:spPr>
          <a:xfrm>
            <a:off x="9661916" y="1989917"/>
            <a:ext cx="1962851" cy="2377440"/>
          </a:xfrm>
          <a:prstGeom prst="roundRect">
            <a:avLst>
              <a:gd name="adj" fmla="val 2795"/>
            </a:avLst>
          </a:prstGeom>
          <a:solidFill>
            <a:srgbClr val="F4F6F7"/>
          </a:solidFill>
          <a:ln w="19050">
            <a:solidFill>
              <a:srgbClr val="8E9AA3"/>
            </a:solidFill>
            <a:prstDash val="solid"/>
          </a:ln>
        </p:spPr>
      </p:sp>
      <p:sp>
        <p:nvSpPr>
          <p:cNvPr id="21" name="Text 19"/>
          <p:cNvSpPr txBox="1"/>
          <p:nvPr/>
        </p:nvSpPr>
        <p:spPr>
          <a:xfrm>
            <a:off x="9826508" y="2191085"/>
            <a:ext cx="1633667" cy="585216"/>
          </a:xfrm>
          <a:prstGeom prst="rect">
            <a:avLst/>
          </a:prstGeom>
          <a:noFill/>
          <a:ln/>
        </p:spPr>
        <p:txBody>
          <a:bodyPr wrap="square" lIns="0" tIns="0" rIns="0" bIns="0" rtlCol="0" anchor="t"/>
          <a:lstStyle/>
          <a:p>
            <a:pPr indent="0" marL="0">
              <a:buNone/>
            </a:pPr>
            <a:r>
              <a:rPr lang="en-US" sz="1350" b="1" dirty="0">
                <a:solidFill>
                  <a:srgbClr val="8E9AA3"/>
                </a:solidFill>
                <a:latin typeface="Calibri" pitchFamily="34" charset="0"/>
                <a:ea typeface="Calibri" pitchFamily="34" charset="-122"/>
                <a:cs typeface="Calibri" pitchFamily="34" charset="-120"/>
              </a:rPr>
              <a:t>silver.vehicle_positions</a:t>
            </a:r>
            <a:endParaRPr lang="en-US" sz="1350" dirty="0"/>
          </a:p>
        </p:txBody>
      </p:sp>
      <p:sp>
        <p:nvSpPr>
          <p:cNvPr id="22" name="Text 20"/>
          <p:cNvSpPr txBox="1"/>
          <p:nvPr/>
        </p:nvSpPr>
        <p:spPr>
          <a:xfrm>
            <a:off x="9826508" y="2794589"/>
            <a:ext cx="1633667" cy="140817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Dedup on event_id</a:t>
            </a: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Event-time watermark</a:t>
            </a: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Conformed units</a:t>
            </a:r>
            <a:endParaRPr lang="en-US" sz="1150" dirty="0"/>
          </a:p>
          <a:p>
            <a:pPr indent="0" marL="0">
              <a:buNone/>
            </a:pPr>
            <a:r>
              <a:rPr lang="en-US" sz="1150" dirty="0">
                <a:solidFill>
                  <a:srgbClr val="2B3A42"/>
                </a:solidFill>
                <a:latin typeface="Calibri" pitchFamily="34" charset="0"/>
                <a:ea typeface="Calibri" pitchFamily="34" charset="-122"/>
                <a:cs typeface="Calibri" pitchFamily="34" charset="-120"/>
              </a:rPr>
              <a:t>Quality-gated</a:t>
            </a:r>
            <a:endParaRPr lang="en-US" sz="1150" dirty="0"/>
          </a:p>
        </p:txBody>
      </p:sp>
      <p:sp>
        <p:nvSpPr>
          <p:cNvPr id="23" name="Text 21"/>
          <p:cNvSpPr txBox="1"/>
          <p:nvPr/>
        </p:nvSpPr>
        <p:spPr>
          <a:xfrm>
            <a:off x="566928" y="4696541"/>
            <a:ext cx="11057839" cy="621792"/>
          </a:xfrm>
          <a:prstGeom prst="rect">
            <a:avLst/>
          </a:prstGeom>
          <a:noFill/>
          <a:ln/>
        </p:spPr>
        <p:txBody>
          <a:bodyPr wrap="square" lIns="0" tIns="0" rIns="0" bIns="0" rtlCol="0" anchor="t"/>
          <a:lstStyle/>
          <a:p>
            <a:pPr indent="0" marL="0">
              <a:buNone/>
            </a:pPr>
            <a:r>
              <a:rPr lang="en-US" sz="1300" i="1" dirty="0">
                <a:solidFill>
                  <a:srgbClr val="B0763A"/>
                </a:solidFill>
                <a:latin typeface="Calibri" pitchFamily="34" charset="0"/>
                <a:ea typeface="Calibri" pitchFamily="34" charset="-122"/>
                <a:cs typeface="Calibri" pitchFamily="34" charset="-120"/>
              </a:rPr>
              <a:t>…then the fan-out: silver.vehicle_positions feeds BOTH the ETA feature pipeline and the operations alerting consumer. Two consumers, one governed source — the Module 8 principle, arriving early.</a:t>
            </a:r>
            <a:endParaRPr lang="en-US" sz="1300" dirty="0"/>
          </a:p>
        </p:txBody>
      </p:sp>
      <p:sp>
        <p:nvSpPr>
          <p:cNvPr id="24" name="Shape 22"/>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5" name="Shape 23"/>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6" name="Shape 24"/>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7" name="Text 25"/>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8" name="Text 26"/>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5 · SECTION 3</a:t>
            </a:r>
            <a:endParaRPr lang="en-US" sz="1050" dirty="0"/>
          </a:p>
        </p:txBody>
      </p:sp>
      <p:sp>
        <p:nvSpPr>
          <p:cNvPr id="3" name="Text 1"/>
          <p:cNvSpPr txBox="1"/>
          <p:nvPr/>
        </p:nvSpPr>
        <p:spPr>
          <a:xfrm>
            <a:off x="566928" y="676656"/>
            <a:ext cx="10143439" cy="1045464"/>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Delivery semantics — and why exactly-once is the hard one</a:t>
            </a:r>
            <a:endParaRPr lang="en-US" sz="3000" dirty="0"/>
          </a:p>
        </p:txBody>
      </p:sp>
      <p:sp>
        <p:nvSpPr>
          <p:cNvPr id="4" name="Shape 2"/>
          <p:cNvSpPr/>
          <p:nvPr/>
        </p:nvSpPr>
        <p:spPr>
          <a:xfrm>
            <a:off x="566928" y="2200656"/>
            <a:ext cx="3515258" cy="2103120"/>
          </a:xfrm>
          <a:prstGeom prst="roundRect">
            <a:avLst>
              <a:gd name="adj" fmla="val 2609"/>
            </a:avLst>
          </a:prstGeom>
          <a:solidFill>
            <a:srgbClr val="F4F6F7"/>
          </a:solidFill>
          <a:ln w="12700">
            <a:solidFill>
              <a:srgbClr val="DDE3E6"/>
            </a:solidFill>
            <a:prstDash val="solid"/>
          </a:ln>
        </p:spPr>
      </p:sp>
      <p:sp>
        <p:nvSpPr>
          <p:cNvPr id="5" name="Text 3"/>
          <p:cNvSpPr txBox="1"/>
          <p:nvPr/>
        </p:nvSpPr>
        <p:spPr>
          <a:xfrm>
            <a:off x="786384" y="2383536"/>
            <a:ext cx="3076346" cy="232029"/>
          </a:xfrm>
          <a:prstGeom prst="rect">
            <a:avLst/>
          </a:prstGeom>
          <a:noFill/>
          <a:ln/>
        </p:spPr>
        <p:txBody>
          <a:bodyPr wrap="square" lIns="0" tIns="0" rIns="0" bIns="0" rtlCol="0" anchor="t"/>
          <a:lstStyle/>
          <a:p>
            <a:pPr indent="0" marL="0">
              <a:buNone/>
            </a:pPr>
            <a:r>
              <a:rPr lang="en-US" sz="1450" b="1" dirty="0">
                <a:solidFill>
                  <a:srgbClr val="8E9AA3"/>
                </a:solidFill>
                <a:latin typeface="Calibri" pitchFamily="34" charset="0"/>
                <a:ea typeface="Calibri" pitchFamily="34" charset="-122"/>
                <a:cs typeface="Calibri" pitchFamily="34" charset="-120"/>
              </a:rPr>
              <a:t>At-most-once</a:t>
            </a:r>
            <a:endParaRPr lang="en-US" sz="1450" dirty="0"/>
          </a:p>
        </p:txBody>
      </p:sp>
      <p:sp>
        <p:nvSpPr>
          <p:cNvPr id="6" name="Text 4"/>
          <p:cNvSpPr txBox="1"/>
          <p:nvPr/>
        </p:nvSpPr>
        <p:spPr>
          <a:xfrm>
            <a:off x="786384" y="2707005"/>
            <a:ext cx="3076346" cy="143217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Events may be lost, never duplicated. Fire and forget. Acceptable for a metrics ping; unacceptable for a trip record.</a:t>
            </a:r>
            <a:endParaRPr lang="en-US" sz="1200" dirty="0"/>
          </a:p>
        </p:txBody>
      </p:sp>
      <p:sp>
        <p:nvSpPr>
          <p:cNvPr id="7" name="Shape 5"/>
          <p:cNvSpPr/>
          <p:nvPr/>
        </p:nvSpPr>
        <p:spPr>
          <a:xfrm>
            <a:off x="4338218" y="2200656"/>
            <a:ext cx="3515258" cy="2103120"/>
          </a:xfrm>
          <a:prstGeom prst="roundRect">
            <a:avLst>
              <a:gd name="adj" fmla="val 2609"/>
            </a:avLst>
          </a:prstGeom>
          <a:solidFill>
            <a:srgbClr val="F4F6F7"/>
          </a:solidFill>
          <a:ln w="12700">
            <a:solidFill>
              <a:srgbClr val="DDE3E6"/>
            </a:solidFill>
            <a:prstDash val="solid"/>
          </a:ln>
        </p:spPr>
      </p:sp>
      <p:sp>
        <p:nvSpPr>
          <p:cNvPr id="8" name="Text 6"/>
          <p:cNvSpPr txBox="1"/>
          <p:nvPr/>
        </p:nvSpPr>
        <p:spPr>
          <a:xfrm>
            <a:off x="4557674" y="2383536"/>
            <a:ext cx="3076346"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At-least-once</a:t>
            </a:r>
            <a:endParaRPr lang="en-US" sz="1450" dirty="0"/>
          </a:p>
        </p:txBody>
      </p:sp>
      <p:sp>
        <p:nvSpPr>
          <p:cNvPr id="9" name="Text 7"/>
          <p:cNvSpPr txBox="1"/>
          <p:nvPr/>
        </p:nvSpPr>
        <p:spPr>
          <a:xfrm>
            <a:off x="4557674" y="2707005"/>
            <a:ext cx="3076346" cy="143217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Events are never lost, but may be duplicated — a retry after a failure that had actually succeeded. This is what Kafka gives you on its own.</a:t>
            </a:r>
            <a:endParaRPr lang="en-US" sz="1200" dirty="0"/>
          </a:p>
        </p:txBody>
      </p:sp>
      <p:sp>
        <p:nvSpPr>
          <p:cNvPr id="10" name="Shape 8"/>
          <p:cNvSpPr/>
          <p:nvPr/>
        </p:nvSpPr>
        <p:spPr>
          <a:xfrm>
            <a:off x="8109509" y="2200656"/>
            <a:ext cx="3515258" cy="2103120"/>
          </a:xfrm>
          <a:prstGeom prst="roundRect">
            <a:avLst>
              <a:gd name="adj" fmla="val 2609"/>
            </a:avLst>
          </a:prstGeom>
          <a:solidFill>
            <a:srgbClr val="F4F6F7"/>
          </a:solidFill>
          <a:ln w="12700">
            <a:solidFill>
              <a:srgbClr val="DDE3E6"/>
            </a:solidFill>
            <a:prstDash val="solid"/>
          </a:ln>
        </p:spPr>
      </p:sp>
      <p:sp>
        <p:nvSpPr>
          <p:cNvPr id="11" name="Text 9"/>
          <p:cNvSpPr txBox="1"/>
          <p:nvPr/>
        </p:nvSpPr>
        <p:spPr>
          <a:xfrm>
            <a:off x="8328965" y="2383536"/>
            <a:ext cx="3076346" cy="232029"/>
          </a:xfrm>
          <a:prstGeom prst="rect">
            <a:avLst/>
          </a:prstGeom>
          <a:noFill/>
          <a:ln/>
        </p:spPr>
        <p:txBody>
          <a:bodyPr wrap="square" lIns="0" tIns="0" rIns="0" bIns="0" rtlCol="0" anchor="t"/>
          <a:lstStyle/>
          <a:p>
            <a:pPr indent="0" marL="0">
              <a:buNone/>
            </a:pPr>
            <a:r>
              <a:rPr lang="en-US" sz="1450" b="1" dirty="0">
                <a:solidFill>
                  <a:srgbClr val="00A6A6"/>
                </a:solidFill>
                <a:latin typeface="Calibri" pitchFamily="34" charset="0"/>
                <a:ea typeface="Calibri" pitchFamily="34" charset="-122"/>
                <a:cs typeface="Calibri" pitchFamily="34" charset="-120"/>
              </a:rPr>
              <a:t>Exactly-once</a:t>
            </a:r>
            <a:endParaRPr lang="en-US" sz="1450" dirty="0"/>
          </a:p>
        </p:txBody>
      </p:sp>
      <p:sp>
        <p:nvSpPr>
          <p:cNvPr id="12" name="Text 10"/>
          <p:cNvSpPr txBox="1"/>
          <p:nvPr/>
        </p:nvSpPr>
        <p:spPr>
          <a:xfrm>
            <a:off x="8328965" y="2707005"/>
            <a:ext cx="3076346" cy="143217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Each event effectively processed once: no loss, no duplication. Not a source property — an END-TO-END property.</a:t>
            </a:r>
            <a:endParaRPr lang="en-US" sz="1200" dirty="0"/>
          </a:p>
        </p:txBody>
      </p:sp>
      <p:sp>
        <p:nvSpPr>
          <p:cNvPr id="13" name="Text 11"/>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Do not chase exactly-once in the source alone. It is achieved by combining an at-least-once, replayable source with an idempotent, transactional sink.</a:t>
            </a:r>
            <a:endParaRPr lang="en-US" sz="1200" dirty="0"/>
          </a:p>
        </p:txBody>
      </p:sp>
      <p:sp>
        <p:nvSpPr>
          <p:cNvPr id="14" name="Shape 12"/>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5" name="Shape 13"/>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6" name="Shape 14"/>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7" name="Text 15"/>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8" name="Text 16"/>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371600"/>
            <a:ext cx="11057839" cy="274320"/>
          </a:xfrm>
          <a:prstGeom prst="rect">
            <a:avLst/>
          </a:prstGeom>
          <a:noFill/>
          <a:ln/>
        </p:spPr>
        <p:txBody>
          <a:bodyPr wrap="square" lIns="0" tIns="0" rIns="0" bIns="0" rtlCol="0" anchor="ctr"/>
          <a:lstStyle/>
          <a:p>
            <a:pPr indent="0" marL="0">
              <a:buNone/>
            </a:pPr>
            <a:r>
              <a:rPr lang="en-US" sz="1100" b="1" spc="180" kern="0" dirty="0">
                <a:solidFill>
                  <a:srgbClr val="D4A537"/>
                </a:solidFill>
                <a:latin typeface="Calibri" pitchFamily="34" charset="0"/>
                <a:ea typeface="Calibri" pitchFamily="34" charset="-122"/>
                <a:cs typeface="Calibri" pitchFamily="34" charset="-120"/>
              </a:rPr>
              <a:t>MODULE 5 · THE ELEGANT PART</a:t>
            </a:r>
            <a:endParaRPr lang="en-US" sz="1100" dirty="0"/>
          </a:p>
        </p:txBody>
      </p:sp>
      <p:sp>
        <p:nvSpPr>
          <p:cNvPr id="3" name="Text 1"/>
          <p:cNvSpPr txBox="1"/>
          <p:nvPr/>
        </p:nvSpPr>
        <p:spPr>
          <a:xfrm>
            <a:off x="566928" y="1783080"/>
            <a:ext cx="10509199" cy="2377440"/>
          </a:xfrm>
          <a:prstGeom prst="rect">
            <a:avLst/>
          </a:prstGeom>
          <a:noFill/>
          <a:ln/>
        </p:spPr>
        <p:txBody>
          <a:bodyPr wrap="square" lIns="0" tIns="0" rIns="0" bIns="0" rtlCol="0" anchor="t"/>
          <a:lstStyle/>
          <a:p>
            <a:pPr indent="0" marL="0">
              <a:lnSpc>
                <a:spcPct val="112000"/>
              </a:lnSpc>
              <a:buNone/>
            </a:pPr>
            <a:r>
              <a:rPr lang="en-US" sz="2900" b="1" dirty="0">
                <a:solidFill>
                  <a:srgbClr val="FFFFFF"/>
                </a:solidFill>
                <a:latin typeface="Cambria" pitchFamily="34" charset="0"/>
                <a:ea typeface="Cambria" pitchFamily="34" charset="-122"/>
                <a:cs typeface="Cambria" pitchFamily="34" charset="-120"/>
              </a:rPr>
              <a:t>Structured Streaming + Delta</a:t>
            </a:r>
            <a:endParaRPr lang="en-US" sz="2900" dirty="0"/>
          </a:p>
          <a:p>
            <a:pPr indent="0" marL="0">
              <a:lnSpc>
                <a:spcPct val="112000"/>
              </a:lnSpc>
              <a:buNone/>
            </a:pPr>
            <a:r>
              <a:rPr lang="en-US" sz="2900" b="1" dirty="0">
                <a:solidFill>
                  <a:srgbClr val="FFFFFF"/>
                </a:solidFill>
                <a:latin typeface="Cambria" pitchFamily="34" charset="0"/>
                <a:ea typeface="Cambria" pitchFamily="34" charset="-122"/>
                <a:cs typeface="Cambria" pitchFamily="34" charset="-120"/>
              </a:rPr>
              <a:t>gives you exactly-once for free.</a:t>
            </a:r>
            <a:endParaRPr lang="en-US" sz="2900" dirty="0"/>
          </a:p>
        </p:txBody>
      </p:sp>
      <p:sp>
        <p:nvSpPr>
          <p:cNvPr id="4" name="Text 2"/>
          <p:cNvSpPr txBox="1"/>
          <p:nvPr/>
        </p:nvSpPr>
        <p:spPr>
          <a:xfrm>
            <a:off x="566928" y="4434840"/>
            <a:ext cx="10509199" cy="1097280"/>
          </a:xfrm>
          <a:prstGeom prst="rect">
            <a:avLst/>
          </a:prstGeom>
          <a:noFill/>
          <a:ln/>
        </p:spPr>
        <p:txBody>
          <a:bodyPr wrap="square" lIns="0" tIns="0" rIns="0" bIns="0" rtlCol="0" anchor="t"/>
          <a:lstStyle/>
          <a:p>
            <a:pPr indent="0" marL="0">
              <a:buNone/>
            </a:pPr>
            <a:r>
              <a:rPr lang="en-US" sz="1500" dirty="0">
                <a:solidFill>
                  <a:srgbClr val="9FB3BE"/>
                </a:solidFill>
                <a:latin typeface="Calibri" pitchFamily="34" charset="0"/>
                <a:ea typeface="Calibri" pitchFamily="34" charset="-122"/>
                <a:cs typeface="Calibri" pitchFamily="34" charset="-120"/>
              </a:rPr>
              <a:t>Spark records the exact Kafka offsets processed in each CHECKPOINT.</a:t>
            </a: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Delta commits that batch's output ATOMICALLY.</a:t>
            </a:r>
            <a:endParaRPr lang="en-US" sz="1500" dirty="0"/>
          </a:p>
          <a:p>
            <a:pPr indent="0" marL="0">
              <a:buNone/>
            </a:pP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If the job crashes and restarts, it resumes from the checkpointed offset, and the half-done Delta batch either committed fully or not at all.</a:t>
            </a: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No duplicates. No loss. Idempotency (Day 2) and ACID (Day 3) paying off again.</a:t>
            </a:r>
            <a:endParaRPr lang="en-US" sz="1500" dirty="0"/>
          </a:p>
        </p:txBody>
      </p:sp>
      <p:sp>
        <p:nvSpPr>
          <p:cNvPr id="5"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6"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7"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8"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9"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5 · SECTION 4</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Two clocks, and the one that is correct</a:t>
            </a:r>
            <a:endParaRPr lang="en-US" sz="3000" dirty="0"/>
          </a:p>
        </p:txBody>
      </p:sp>
      <p:sp>
        <p:nvSpPr>
          <p:cNvPr id="4" name="Shape 2"/>
          <p:cNvSpPr/>
          <p:nvPr/>
        </p:nvSpPr>
        <p:spPr>
          <a:xfrm>
            <a:off x="566928" y="1621231"/>
            <a:ext cx="5373472" cy="3191256"/>
          </a:xfrm>
          <a:prstGeom prst="roundRect">
            <a:avLst>
              <a:gd name="adj" fmla="val 1719"/>
            </a:avLst>
          </a:prstGeom>
          <a:solidFill>
            <a:srgbClr val="F4F6F7"/>
          </a:solidFill>
          <a:ln w="12700">
            <a:solidFill>
              <a:srgbClr val="DDE3E6"/>
            </a:solidFill>
            <a:prstDash val="solid"/>
          </a:ln>
        </p:spPr>
      </p:sp>
      <p:sp>
        <p:nvSpPr>
          <p:cNvPr id="5" name="Text 3"/>
          <p:cNvSpPr txBox="1"/>
          <p:nvPr/>
        </p:nvSpPr>
        <p:spPr>
          <a:xfrm>
            <a:off x="804672" y="1804111"/>
            <a:ext cx="4897984" cy="365760"/>
          </a:xfrm>
          <a:prstGeom prst="rect">
            <a:avLst/>
          </a:prstGeom>
          <a:noFill/>
          <a:ln/>
        </p:spPr>
        <p:txBody>
          <a:bodyPr wrap="square" lIns="0" tIns="0" rIns="0" bIns="0" rtlCol="0" anchor="ctr"/>
          <a:lstStyle/>
          <a:p>
            <a:pPr indent="0" marL="0">
              <a:buNone/>
            </a:pPr>
            <a:r>
              <a:rPr lang="en-US" sz="1600" b="1" dirty="0">
                <a:solidFill>
                  <a:srgbClr val="D9503F"/>
                </a:solidFill>
                <a:latin typeface="Calibri" pitchFamily="34" charset="0"/>
                <a:ea typeface="Calibri" pitchFamily="34" charset="-122"/>
                <a:cs typeface="Calibri" pitchFamily="34" charset="-120"/>
              </a:rPr>
              <a:t>Processing time</a:t>
            </a:r>
            <a:endParaRPr lang="en-US" sz="1600" dirty="0"/>
          </a:p>
        </p:txBody>
      </p:sp>
      <p:sp>
        <p:nvSpPr>
          <p:cNvPr id="6" name="Text 4"/>
          <p:cNvSpPr txBox="1"/>
          <p:nvPr/>
        </p:nvSpPr>
        <p:spPr>
          <a:xfrm>
            <a:off x="804672" y="2188159"/>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When the system received it</a:t>
            </a:r>
            <a:endParaRPr lang="en-US" sz="1150" dirty="0"/>
          </a:p>
        </p:txBody>
      </p:sp>
      <p:sp>
        <p:nvSpPr>
          <p:cNvPr id="7" name="Text 5"/>
          <p:cNvSpPr txBox="1"/>
          <p:nvPr/>
        </p:nvSpPr>
        <p:spPr>
          <a:xfrm>
            <a:off x="804672" y="2553919"/>
            <a:ext cx="4897984" cy="20574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Easy: it is always available, and it never goes backwards.</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Wrong for anything that asks WHEN SOMETHING HAPPENED.</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A batch of pings released from a tunnel all carry the same processing time — so a five-minute demand window shows a spike that never occurred.</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Aggregating on processing time is mistake #2 in the Lab 5 starter, and it is deliberately invisible until you look at a specific window.</a:t>
            </a:r>
            <a:endParaRPr lang="en-US" sz="1250" dirty="0"/>
          </a:p>
        </p:txBody>
      </p:sp>
      <p:sp>
        <p:nvSpPr>
          <p:cNvPr id="8" name="Shape 6"/>
          <p:cNvSpPr/>
          <p:nvPr/>
        </p:nvSpPr>
        <p:spPr>
          <a:xfrm>
            <a:off x="6251296" y="1621231"/>
            <a:ext cx="5373472" cy="3191256"/>
          </a:xfrm>
          <a:prstGeom prst="roundRect">
            <a:avLst>
              <a:gd name="adj" fmla="val 1719"/>
            </a:avLst>
          </a:prstGeom>
          <a:solidFill>
            <a:srgbClr val="F4F6F7"/>
          </a:solidFill>
          <a:ln w="12700">
            <a:solidFill>
              <a:srgbClr val="DDE3E6"/>
            </a:solidFill>
            <a:prstDash val="solid"/>
          </a:ln>
        </p:spPr>
      </p:sp>
      <p:sp>
        <p:nvSpPr>
          <p:cNvPr id="9" name="Text 7"/>
          <p:cNvSpPr txBox="1"/>
          <p:nvPr/>
        </p:nvSpPr>
        <p:spPr>
          <a:xfrm>
            <a:off x="6489040" y="1804111"/>
            <a:ext cx="4897984" cy="365760"/>
          </a:xfrm>
          <a:prstGeom prst="rect">
            <a:avLst/>
          </a:prstGeom>
          <a:noFill/>
          <a:ln/>
        </p:spPr>
        <p:txBody>
          <a:bodyPr wrap="square" lIns="0" tIns="0" rIns="0" bIns="0" rtlCol="0" anchor="ctr"/>
          <a:lstStyle/>
          <a:p>
            <a:pPr indent="0" marL="0">
              <a:buNone/>
            </a:pPr>
            <a:r>
              <a:rPr lang="en-US" sz="1600" b="1" dirty="0">
                <a:solidFill>
                  <a:srgbClr val="00A6A6"/>
                </a:solidFill>
                <a:latin typeface="Calibri" pitchFamily="34" charset="0"/>
                <a:ea typeface="Calibri" pitchFamily="34" charset="-122"/>
                <a:cs typeface="Calibri" pitchFamily="34" charset="-120"/>
              </a:rPr>
              <a:t>Event time</a:t>
            </a:r>
            <a:endParaRPr lang="en-US" sz="1600" dirty="0"/>
          </a:p>
        </p:txBody>
      </p:sp>
      <p:sp>
        <p:nvSpPr>
          <p:cNvPr id="10" name="Text 8"/>
          <p:cNvSpPr txBox="1"/>
          <p:nvPr/>
        </p:nvSpPr>
        <p:spPr>
          <a:xfrm>
            <a:off x="6489040" y="2188159"/>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When the event actually happened</a:t>
            </a:r>
            <a:endParaRPr lang="en-US" sz="1150" dirty="0"/>
          </a:p>
        </p:txBody>
      </p:sp>
      <p:sp>
        <p:nvSpPr>
          <p:cNvPr id="11" name="Text 9"/>
          <p:cNvSpPr txBox="1"/>
          <p:nvPr/>
        </p:nvSpPr>
        <p:spPr>
          <a:xfrm>
            <a:off x="6489040" y="2553919"/>
            <a:ext cx="4897984" cy="20574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The GPS ping's own timestamp. What every business question is actually about.</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Requires handling lateness: network delay, device buffering, retries.</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WATERMARK = “I will wait up to N minutes for late events; beyond that I finalise the window and drop stragglers.”</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It bounds the state Spark must keep — you cannot hold every window open forever — while tolerating realistic lateness.</a:t>
            </a:r>
            <a:endParaRPr lang="en-US" sz="1250" dirty="0"/>
          </a:p>
        </p:txBody>
      </p:sp>
      <p:sp>
        <p:nvSpPr>
          <p:cNvPr id="12" name="Text 10"/>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Choosing the watermark is a trade-off with no default answer: longer tolerates more lateness but holds more state and delays results; shorter is cheaper and drops more data. For Masar GPS a few minutes is typical. Activity ACT-07 makes teams triage twelve late events against a watermark they chose themselves.</a:t>
            </a:r>
            <a:endParaRPr lang="en-US" sz="1200" dirty="0"/>
          </a:p>
        </p:txBody>
      </p:sp>
      <p:sp>
        <p:nvSpPr>
          <p:cNvPr id="13" name="Shape 11"/>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4" name="Shape 12"/>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5" name="Shape 13"/>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6" name="Text 14"/>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7" name="Text 15"/>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5 · SECTION 5</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The ingestion pattern — simple, and robust because of it</a:t>
            </a:r>
            <a:endParaRPr lang="en-US" sz="3000" dirty="0"/>
          </a:p>
        </p:txBody>
      </p:sp>
      <p:sp>
        <p:nvSpPr>
          <p:cNvPr id="4" name="Shape 2"/>
          <p:cNvSpPr/>
          <p:nvPr/>
        </p:nvSpPr>
        <p:spPr>
          <a:xfrm>
            <a:off x="566928" y="1389888"/>
            <a:ext cx="6634704" cy="4736592"/>
          </a:xfrm>
          <a:prstGeom prst="roundRect">
            <a:avLst>
              <a:gd name="adj" fmla="val 1158"/>
            </a:avLst>
          </a:prstGeom>
          <a:solidFill>
            <a:srgbClr val="10202B"/>
          </a:solidFill>
          <a:ln w="12700">
            <a:solidFill>
              <a:srgbClr val="10202B"/>
            </a:solidFill>
            <a:prstDash val="solid"/>
          </a:ln>
        </p:spPr>
      </p:sp>
      <p:sp>
        <p:nvSpPr>
          <p:cNvPr id="5" name="Text 3"/>
          <p:cNvSpPr txBox="1"/>
          <p:nvPr/>
        </p:nvSpPr>
        <p:spPr>
          <a:xfrm>
            <a:off x="6012912" y="1481328"/>
            <a:ext cx="1005840" cy="219456"/>
          </a:xfrm>
          <a:prstGeom prst="rect">
            <a:avLst/>
          </a:prstGeom>
          <a:noFill/>
          <a:ln/>
        </p:spPr>
        <p:txBody>
          <a:bodyPr wrap="square" lIns="0" tIns="0" rIns="0" bIns="0" rtlCol="0" anchor="ctr"/>
          <a:lstStyle/>
          <a:p>
            <a:pPr algn="r" indent="0" marL="0">
              <a:buNone/>
            </a:pPr>
            <a:r>
              <a:rPr lang="en-US" sz="900" dirty="0">
                <a:solidFill>
                  <a:srgbClr val="9FB3BE"/>
                </a:solidFill>
                <a:latin typeface="Courier New" pitchFamily="34" charset="0"/>
                <a:ea typeface="Courier New" pitchFamily="34" charset="-122"/>
                <a:cs typeface="Courier New" pitchFamily="34" charset="-120"/>
              </a:rPr>
              <a:t>python · pyspark</a:t>
            </a:r>
            <a:endParaRPr lang="en-US" sz="900" dirty="0"/>
          </a:p>
        </p:txBody>
      </p:sp>
      <p:sp>
        <p:nvSpPr>
          <p:cNvPr id="6" name="Text 4"/>
          <p:cNvSpPr txBox="1"/>
          <p:nvPr/>
        </p:nvSpPr>
        <p:spPr>
          <a:xfrm>
            <a:off x="768096" y="1572768"/>
            <a:ext cx="6232368" cy="4407408"/>
          </a:xfrm>
          <a:prstGeom prst="rect">
            <a:avLst/>
          </a:prstGeom>
          <a:noFill/>
          <a:ln/>
        </p:spPr>
        <p:txBody>
          <a:bodyPr wrap="square" lIns="0" tIns="0" rIns="0" bIns="0" rtlCol="0" anchor="t"/>
          <a:lstStyle/>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raw = (spark.readStream.format("kafka")</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.option("kafka.bootstrap.servers", BROKER)</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.option("subscribe", "masar.gps.raw")</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.option("startingOffsets", "earliest")</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.load())</a:t>
            </a:r>
            <a:endParaRPr lang="en-US" sz="1000" dirty="0"/>
          </a:p>
          <a:p>
            <a:pPr indent="0" marL="0">
              <a:lnSpc>
                <a:spcPct val="106000"/>
              </a:lnSpc>
              <a:buNone/>
            </a:pP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parsed = raw.select(</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from_json(col("value").cast("string"), GPS_SCHEMA).alias("e"))</a:t>
            </a:r>
            <a:endParaRPr lang="en-US" sz="1000" dirty="0"/>
          </a:p>
          <a:p>
            <a:pPr indent="0" marL="0">
              <a:lnSpc>
                <a:spcPct val="106000"/>
              </a:lnSpc>
              <a:buNone/>
            </a:pP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events = (parsed.select("e.*")</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.withColumn("_ingested_at", current_timestamp())</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.withColumn("_source_topic", lit("masar.gps.raw")))</a:t>
            </a:r>
            <a:endParaRPr lang="en-US" sz="1000" dirty="0"/>
          </a:p>
          <a:p>
            <a:pPr indent="0" marL="0">
              <a:lnSpc>
                <a:spcPct val="106000"/>
              </a:lnSpc>
              <a:buNone/>
            </a:pP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(events.writeStream</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.format("delta")</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.outputMode("append")</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.option("checkpointLocation",</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"lakehouse/_checkpoints/gps_bronze")   # ONE per query</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.trigger(processingTime="30 seconds")</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.start("lakehouse/bronze/gps_events"))</a:t>
            </a:r>
            <a:endParaRPr lang="en-US" sz="1000" dirty="0"/>
          </a:p>
        </p:txBody>
      </p:sp>
      <p:sp>
        <p:nvSpPr>
          <p:cNvPr id="7" name="Shape 5"/>
          <p:cNvSpPr/>
          <p:nvPr/>
        </p:nvSpPr>
        <p:spPr>
          <a:xfrm>
            <a:off x="7475952" y="1426464"/>
            <a:ext cx="310896" cy="310896"/>
          </a:xfrm>
          <a:prstGeom prst="ellipse">
            <a:avLst/>
          </a:prstGeom>
          <a:solidFill>
            <a:srgbClr val="B0763A"/>
          </a:solidFill>
          <a:ln w="12700">
            <a:solidFill>
              <a:srgbClr val="B0763A"/>
            </a:solidFill>
            <a:prstDash val="solid"/>
          </a:ln>
        </p:spPr>
      </p:sp>
      <p:sp>
        <p:nvSpPr>
          <p:cNvPr id="8" name="Text 6"/>
          <p:cNvSpPr txBox="1"/>
          <p:nvPr/>
        </p:nvSpPr>
        <p:spPr>
          <a:xfrm>
            <a:off x="7475952" y="14401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txBox="1"/>
          <p:nvPr/>
        </p:nvSpPr>
        <p:spPr>
          <a:xfrm>
            <a:off x="7896576" y="13990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readStream / writeStream are the streaming analogues of read / write — almost the same DataFrame code as batch.</a:t>
            </a:r>
            <a:endParaRPr lang="en-US" sz="1200" dirty="0"/>
          </a:p>
        </p:txBody>
      </p:sp>
      <p:sp>
        <p:nvSpPr>
          <p:cNvPr id="10" name="Shape 8"/>
          <p:cNvSpPr/>
          <p:nvPr/>
        </p:nvSpPr>
        <p:spPr>
          <a:xfrm>
            <a:off x="7475952" y="2340864"/>
            <a:ext cx="310896" cy="310896"/>
          </a:xfrm>
          <a:prstGeom prst="ellipse">
            <a:avLst/>
          </a:prstGeom>
          <a:solidFill>
            <a:srgbClr val="00A6A6"/>
          </a:solidFill>
          <a:ln w="12700">
            <a:solidFill>
              <a:srgbClr val="00A6A6"/>
            </a:solidFill>
            <a:prstDash val="solid"/>
          </a:ln>
        </p:spPr>
      </p:sp>
      <p:sp>
        <p:nvSpPr>
          <p:cNvPr id="11" name="Text 9"/>
          <p:cNvSpPr txBox="1"/>
          <p:nvPr/>
        </p:nvSpPr>
        <p:spPr>
          <a:xfrm>
            <a:off x="7475952" y="23545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txBox="1"/>
          <p:nvPr/>
        </p:nvSpPr>
        <p:spPr>
          <a:xfrm>
            <a:off x="7896576" y="23134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checkpointLocation is MANDATORY and must be dedicated. Never share one between two queries; losing it means reprocessing or duplication.</a:t>
            </a:r>
            <a:endParaRPr lang="en-US" sz="1200" dirty="0"/>
          </a:p>
        </p:txBody>
      </p:sp>
      <p:sp>
        <p:nvSpPr>
          <p:cNvPr id="13" name="Shape 11"/>
          <p:cNvSpPr/>
          <p:nvPr/>
        </p:nvSpPr>
        <p:spPr>
          <a:xfrm>
            <a:off x="7475952" y="3255264"/>
            <a:ext cx="310896" cy="310896"/>
          </a:xfrm>
          <a:prstGeom prst="ellipse">
            <a:avLst/>
          </a:prstGeom>
          <a:solidFill>
            <a:srgbClr val="D4A537"/>
          </a:solidFill>
          <a:ln w="12700">
            <a:solidFill>
              <a:srgbClr val="D4A537"/>
            </a:solidFill>
            <a:prstDash val="solid"/>
          </a:ln>
        </p:spPr>
      </p:sp>
      <p:sp>
        <p:nvSpPr>
          <p:cNvPr id="14" name="Text 12"/>
          <p:cNvSpPr txBox="1"/>
          <p:nvPr/>
        </p:nvSpPr>
        <p:spPr>
          <a:xfrm>
            <a:off x="7475952" y="32689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5" name="Text 13"/>
          <p:cNvSpPr txBox="1"/>
          <p:nvPr/>
        </p:nvSpPr>
        <p:spPr>
          <a:xfrm>
            <a:off x="7896576" y="32278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Trigger sizes the micro-batch. Too small and you manufacture the small-files problem from Day 3 — schedule OPTIMIZE on the sink.</a:t>
            </a:r>
            <a:endParaRPr lang="en-US" sz="1200" dirty="0"/>
          </a:p>
        </p:txBody>
      </p:sp>
      <p:sp>
        <p:nvSpPr>
          <p:cNvPr id="16" name="Shape 14"/>
          <p:cNvSpPr/>
          <p:nvPr/>
        </p:nvSpPr>
        <p:spPr>
          <a:xfrm>
            <a:off x="7475952" y="4169664"/>
            <a:ext cx="310896" cy="310896"/>
          </a:xfrm>
          <a:prstGeom prst="ellipse">
            <a:avLst/>
          </a:prstGeom>
          <a:solidFill>
            <a:srgbClr val="D9503F"/>
          </a:solidFill>
          <a:ln w="12700">
            <a:solidFill>
              <a:srgbClr val="D9503F"/>
            </a:solidFill>
            <a:prstDash val="solid"/>
          </a:ln>
        </p:spPr>
      </p:sp>
      <p:sp>
        <p:nvSpPr>
          <p:cNvPr id="17" name="Text 15"/>
          <p:cNvSpPr txBox="1"/>
          <p:nvPr/>
        </p:nvSpPr>
        <p:spPr>
          <a:xfrm>
            <a:off x="7475952" y="41833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8" name="Text 16"/>
          <p:cNvSpPr txBox="1"/>
          <p:nvPr/>
        </p:nvSpPr>
        <p:spPr>
          <a:xfrm>
            <a:off x="7896576" y="41422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Land raw into bronze, refine in batch. Heavy transforms do not have to be streaming just because the arrival is.</a:t>
            </a:r>
            <a:endParaRPr lang="en-US" sz="1200" dirty="0"/>
          </a:p>
        </p:txBody>
      </p:sp>
      <p:sp>
        <p:nvSpPr>
          <p:cNvPr id="19" name="Shape 17"/>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0" name="Shape 18"/>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1" name="Shape 19"/>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2" name="Text 20"/>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3" name="Text 21"/>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00A6A6"/>
                </a:solidFill>
                <a:latin typeface="Calibri" pitchFamily="34" charset="0"/>
                <a:ea typeface="Calibri" pitchFamily="34" charset="-122"/>
                <a:cs typeface="Calibri" pitchFamily="34" charset="-120"/>
              </a:rPr>
              <a:t>HANDS-ON LAB 5</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Stream GPS pings into the Lakehouse</a:t>
            </a:r>
            <a:endParaRPr lang="en-US" sz="3000" dirty="0"/>
          </a:p>
        </p:txBody>
      </p:sp>
      <p:sp>
        <p:nvSpPr>
          <p:cNvPr id="4" name="Shape 2"/>
          <p:cNvSpPr/>
          <p:nvPr/>
        </p:nvSpPr>
        <p:spPr>
          <a:xfrm>
            <a:off x="566928" y="1389888"/>
            <a:ext cx="3200400" cy="4736592"/>
          </a:xfrm>
          <a:prstGeom prst="roundRect">
            <a:avLst>
              <a:gd name="adj" fmla="val 1714"/>
            </a:avLst>
          </a:prstGeom>
          <a:solidFill>
            <a:srgbClr val="10202B"/>
          </a:solidFill>
          <a:ln w="12700">
            <a:solidFill>
              <a:srgbClr val="10202B"/>
            </a:solidFill>
            <a:prstDash val="solid"/>
          </a:ln>
        </p:spPr>
      </p:sp>
      <p:sp>
        <p:nvSpPr>
          <p:cNvPr id="5" name="Text 3"/>
          <p:cNvSpPr txBox="1"/>
          <p:nvPr/>
        </p:nvSpPr>
        <p:spPr>
          <a:xfrm>
            <a:off x="749808" y="1572768"/>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DURATION</a:t>
            </a:r>
            <a:endParaRPr lang="en-US" sz="900" dirty="0"/>
          </a:p>
        </p:txBody>
      </p:sp>
      <p:sp>
        <p:nvSpPr>
          <p:cNvPr id="6" name="Text 4"/>
          <p:cNvSpPr txBox="1"/>
          <p:nvPr/>
        </p:nvSpPr>
        <p:spPr>
          <a:xfrm>
            <a:off x="749808" y="1755648"/>
            <a:ext cx="2834640" cy="21945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50 minutes</a:t>
            </a:r>
            <a:endParaRPr lang="en-US" sz="1150" dirty="0"/>
          </a:p>
        </p:txBody>
      </p:sp>
      <p:sp>
        <p:nvSpPr>
          <p:cNvPr id="7" name="Text 5"/>
          <p:cNvSpPr txBox="1"/>
          <p:nvPr/>
        </p:nvSpPr>
        <p:spPr>
          <a:xfrm>
            <a:off x="749808" y="2157984"/>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CHECKPOINT</a:t>
            </a:r>
            <a:endParaRPr lang="en-US" sz="900" dirty="0"/>
          </a:p>
        </p:txBody>
      </p:sp>
      <p:sp>
        <p:nvSpPr>
          <p:cNvPr id="8" name="Text 6"/>
          <p:cNvSpPr txBox="1"/>
          <p:nvPr/>
        </p:nvSpPr>
        <p:spPr>
          <a:xfrm>
            <a:off x="749808" y="2340864"/>
            <a:ext cx="2834640" cy="21945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git checkout lab5-start</a:t>
            </a:r>
            <a:endParaRPr lang="en-US" sz="1150" dirty="0"/>
          </a:p>
        </p:txBody>
      </p:sp>
      <p:sp>
        <p:nvSpPr>
          <p:cNvPr id="9" name="Text 7"/>
          <p:cNvSpPr txBox="1"/>
          <p:nvPr/>
        </p:nvSpPr>
        <p:spPr>
          <a:xfrm>
            <a:off x="749808" y="2743200"/>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OBJECTIVE</a:t>
            </a:r>
            <a:endParaRPr lang="en-US" sz="900" dirty="0"/>
          </a:p>
        </p:txBody>
      </p:sp>
      <p:sp>
        <p:nvSpPr>
          <p:cNvPr id="10" name="Text 8"/>
          <p:cNvSpPr txBox="1"/>
          <p:nvPr/>
        </p:nvSpPr>
        <p:spPr>
          <a:xfrm>
            <a:off x="749808" y="2926080"/>
            <a:ext cx="2834640" cy="56083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Exactly-once GPS ingestion into Delta bronze, then event-time demand with a watermark</a:t>
            </a:r>
            <a:endParaRPr lang="en-US" sz="1150" dirty="0"/>
          </a:p>
        </p:txBody>
      </p:sp>
      <p:sp>
        <p:nvSpPr>
          <p:cNvPr id="11" name="Text 9"/>
          <p:cNvSpPr txBox="1"/>
          <p:nvPr/>
        </p:nvSpPr>
        <p:spPr>
          <a:xfrm>
            <a:off x="749808" y="3669792"/>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DELIVERABLE</a:t>
            </a:r>
            <a:endParaRPr lang="en-US" sz="900" dirty="0"/>
          </a:p>
        </p:txBody>
      </p:sp>
      <p:sp>
        <p:nvSpPr>
          <p:cNvPr id="12" name="Text 10"/>
          <p:cNvSpPr txBox="1"/>
          <p:nvPr/>
        </p:nvSpPr>
        <p:spPr>
          <a:xfrm>
            <a:off x="749808" y="3852672"/>
            <a:ext cx="2834640" cy="373888"/>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bronze.gps_events + silver.vehicle_positions + a kill/restart proof</a:t>
            </a:r>
            <a:endParaRPr lang="en-US" sz="1150" dirty="0"/>
          </a:p>
        </p:txBody>
      </p:sp>
      <p:sp>
        <p:nvSpPr>
          <p:cNvPr id="13" name="Text 11"/>
          <p:cNvSpPr txBox="1"/>
          <p:nvPr/>
        </p:nvSpPr>
        <p:spPr>
          <a:xfrm>
            <a:off x="4041648" y="1408176"/>
            <a:ext cx="7583119" cy="274320"/>
          </a:xfrm>
          <a:prstGeom prst="rect">
            <a:avLst/>
          </a:prstGeom>
          <a:noFill/>
          <a:ln/>
        </p:spPr>
        <p:txBody>
          <a:bodyPr wrap="square" lIns="0" tIns="0" rIns="0" bIns="0" rtlCol="0" anchor="ctr"/>
          <a:lstStyle/>
          <a:p>
            <a:pPr indent="0" marL="0">
              <a:buNone/>
            </a:pPr>
            <a:r>
              <a:rPr lang="en-US" sz="1400" b="1" dirty="0">
                <a:solidFill>
                  <a:srgbClr val="B0763A"/>
                </a:solidFill>
                <a:latin typeface="Calibri" pitchFamily="34" charset="0"/>
                <a:ea typeface="Calibri" pitchFamily="34" charset="-122"/>
                <a:cs typeface="Calibri" pitchFamily="34" charset="-120"/>
              </a:rPr>
              <a:t>What you will do</a:t>
            </a:r>
            <a:endParaRPr lang="en-US" sz="1400" dirty="0"/>
          </a:p>
        </p:txBody>
      </p:sp>
      <p:sp>
        <p:nvSpPr>
          <p:cNvPr id="14" name="Text 12"/>
          <p:cNvSpPr txBox="1"/>
          <p:nvPr/>
        </p:nvSpPr>
        <p:spPr>
          <a:xfrm>
            <a:off x="4041648" y="1755648"/>
            <a:ext cx="7583119" cy="250317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docker compose up -d kafka redis, then run the GPS producer against masar.gps.raw keyed by vehicle_id.</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Build the Structured Streaming ingest into bronze.gps_events with its own dedicated checkpoint.</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KILL the job mid-stream. Restart it. Count rows. Prove zero duplicates — this is the module's thesis made visible.</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Build silver.vehicle_positions: dedup on event_id within the watermark, conform units, and handle the out-of-order and late fixtures in data/fixtures/late_pings/.</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Compute event-time windowed zone demand with a watermark, then re-run it on processing time and compare the two windows side by side.</a:t>
            </a:r>
            <a:endParaRPr lang="en-US" sz="1250" dirty="0"/>
          </a:p>
        </p:txBody>
      </p:sp>
      <p:sp>
        <p:nvSpPr>
          <p:cNvPr id="15" name="Text 13"/>
          <p:cNvSpPr txBox="1"/>
          <p:nvPr/>
        </p:nvSpPr>
        <p:spPr>
          <a:xfrm>
            <a:off x="4041648" y="4350258"/>
            <a:ext cx="7583119" cy="274320"/>
          </a:xfrm>
          <a:prstGeom prst="rect">
            <a:avLst/>
          </a:prstGeom>
          <a:noFill/>
          <a:ln/>
        </p:spPr>
        <p:txBody>
          <a:bodyPr wrap="square" lIns="0" tIns="0" rIns="0" bIns="0" rtlCol="0" anchor="ctr"/>
          <a:lstStyle/>
          <a:p>
            <a:pPr indent="0" marL="0">
              <a:buNone/>
            </a:pPr>
            <a:r>
              <a:rPr lang="en-US" sz="1400" b="1" dirty="0">
                <a:solidFill>
                  <a:srgbClr val="00A6A6"/>
                </a:solidFill>
                <a:latin typeface="Calibri" pitchFamily="34" charset="0"/>
                <a:ea typeface="Calibri" pitchFamily="34" charset="-122"/>
                <a:cs typeface="Calibri" pitchFamily="34" charset="-120"/>
              </a:rPr>
              <a:t>Acceptance criteria</a:t>
            </a:r>
            <a:endParaRPr lang="en-US" sz="1400" dirty="0"/>
          </a:p>
        </p:txBody>
      </p:sp>
      <p:sp>
        <p:nvSpPr>
          <p:cNvPr id="16" name="Text 14"/>
          <p:cNvSpPr txBox="1"/>
          <p:nvPr/>
        </p:nvSpPr>
        <p:spPr>
          <a:xfrm>
            <a:off x="4041648" y="4661154"/>
            <a:ext cx="7583119" cy="141046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Restarting the query produces zero duplicate rows, and you have the row counts to show it.</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The event-time aggregation attributes late pings to the correct window; the processing-time version does not.</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One dedicated checkpoint per query — no sharing.</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You can state your watermark and defend the number.</a:t>
            </a:r>
            <a:endParaRPr lang="en-US" sz="1200" dirty="0"/>
          </a:p>
        </p:txBody>
      </p:sp>
      <p:sp>
        <p:nvSpPr>
          <p:cNvPr id="17" name="Shape 1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8" name="Shape 1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9" name="Shape 1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0" name="Text 1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1" name="Text 1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417320"/>
            <a:ext cx="11057839" cy="274320"/>
          </a:xfrm>
          <a:prstGeom prst="rect">
            <a:avLst/>
          </a:prstGeom>
          <a:noFill/>
          <a:ln/>
        </p:spPr>
        <p:txBody>
          <a:bodyPr wrap="square" lIns="0" tIns="0" rIns="0" bIns="0" rtlCol="0" anchor="ctr"/>
          <a:lstStyle/>
          <a:p>
            <a:pPr indent="0" marL="0">
              <a:buNone/>
            </a:pPr>
            <a:r>
              <a:rPr lang="en-US" sz="1150" b="1" spc="220" kern="0" dirty="0">
                <a:solidFill>
                  <a:srgbClr val="D4A537"/>
                </a:solidFill>
                <a:latin typeface="Calibri" pitchFamily="34" charset="0"/>
                <a:ea typeface="Calibri" pitchFamily="34" charset="-122"/>
                <a:cs typeface="Calibri" pitchFamily="34" charset="-120"/>
              </a:rPr>
              <a:t>MODULE 6</a:t>
            </a:r>
            <a:endParaRPr lang="en-US" sz="1150" dirty="0"/>
          </a:p>
        </p:txBody>
      </p:sp>
      <p:sp>
        <p:nvSpPr>
          <p:cNvPr id="3" name="Text 1"/>
          <p:cNvSpPr txBox="1"/>
          <p:nvPr/>
        </p:nvSpPr>
        <p:spPr>
          <a:xfrm>
            <a:off x="566928" y="1783080"/>
            <a:ext cx="6081812"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Quality, observability</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and governance</a:t>
            </a:r>
            <a:endParaRPr lang="en-US" sz="4000" dirty="0"/>
          </a:p>
        </p:txBody>
      </p:sp>
      <p:sp>
        <p:nvSpPr>
          <p:cNvPr id="4" name="Text 2"/>
          <p:cNvSpPr txBox="1"/>
          <p:nvPr/>
        </p:nvSpPr>
        <p:spPr>
          <a:xfrm>
            <a:off x="566928" y="3200400"/>
            <a:ext cx="6081812" cy="1371600"/>
          </a:xfrm>
          <a:prstGeom prst="rect">
            <a:avLst/>
          </a:prstGeom>
          <a:noFill/>
          <a:ln/>
        </p:spPr>
        <p:txBody>
          <a:bodyPr wrap="square" lIns="0" tIns="0" rIns="0" bIns="0" rtlCol="0" anchor="t"/>
          <a:lstStyle/>
          <a:p>
            <a:pPr indent="0" marL="0">
              <a:buNone/>
            </a:pPr>
            <a:r>
              <a:rPr lang="en-US" sz="1400" dirty="0">
                <a:solidFill>
                  <a:srgbClr val="9FB3BE"/>
                </a:solidFill>
                <a:latin typeface="Calibri" pitchFamily="34" charset="0"/>
                <a:ea typeface="Calibri" pitchFamily="34" charset="-122"/>
                <a:cs typeface="Calibri" pitchFamily="34" charset="-120"/>
              </a:rPr>
              <a:t>A pipeline that runs is not the same as a pipeline you can trust. This module makes trust explicit.</a:t>
            </a:r>
            <a:endParaRPr lang="en-US" sz="1400" dirty="0"/>
          </a:p>
        </p:txBody>
      </p:sp>
      <p:sp>
        <p:nvSpPr>
          <p:cNvPr id="5" name="Shape 3"/>
          <p:cNvSpPr/>
          <p:nvPr/>
        </p:nvSpPr>
        <p:spPr>
          <a:xfrm>
            <a:off x="7201632" y="1810512"/>
            <a:ext cx="329184" cy="329184"/>
          </a:xfrm>
          <a:prstGeom prst="ellipse">
            <a:avLst/>
          </a:prstGeom>
          <a:solidFill>
            <a:srgbClr val="B0763A"/>
          </a:solidFill>
          <a:ln w="12700">
            <a:solidFill>
              <a:srgbClr val="B0763A"/>
            </a:solidFill>
            <a:prstDash val="solid"/>
          </a:ln>
        </p:spPr>
      </p:sp>
      <p:sp>
        <p:nvSpPr>
          <p:cNvPr id="6" name="Text 4"/>
          <p:cNvSpPr txBox="1"/>
          <p:nvPr/>
        </p:nvSpPr>
        <p:spPr>
          <a:xfrm>
            <a:off x="7201632" y="18242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658832" y="1783080"/>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data-quality pyramid</a:t>
            </a:r>
            <a:endParaRPr lang="en-US" sz="1300" dirty="0"/>
          </a:p>
        </p:txBody>
      </p:sp>
      <p:sp>
        <p:nvSpPr>
          <p:cNvPr id="8" name="Shape 6"/>
          <p:cNvSpPr/>
          <p:nvPr/>
        </p:nvSpPr>
        <p:spPr>
          <a:xfrm>
            <a:off x="7201632" y="2468880"/>
            <a:ext cx="329184" cy="329184"/>
          </a:xfrm>
          <a:prstGeom prst="ellipse">
            <a:avLst/>
          </a:prstGeom>
          <a:solidFill>
            <a:srgbClr val="8E9AA3"/>
          </a:solidFill>
          <a:ln w="12700">
            <a:solidFill>
              <a:srgbClr val="8E9AA3"/>
            </a:solidFill>
            <a:prstDash val="solid"/>
          </a:ln>
        </p:spPr>
      </p:sp>
      <p:sp>
        <p:nvSpPr>
          <p:cNvPr id="9" name="Text 7"/>
          <p:cNvSpPr txBox="1"/>
          <p:nvPr/>
        </p:nvSpPr>
        <p:spPr>
          <a:xfrm>
            <a:off x="7201632" y="248259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7658832" y="2441448"/>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Quality as code</a:t>
            </a:r>
            <a:endParaRPr lang="en-US" sz="1300" dirty="0"/>
          </a:p>
        </p:txBody>
      </p:sp>
      <p:sp>
        <p:nvSpPr>
          <p:cNvPr id="11" name="Shape 9"/>
          <p:cNvSpPr/>
          <p:nvPr/>
        </p:nvSpPr>
        <p:spPr>
          <a:xfrm>
            <a:off x="7201632" y="3127248"/>
            <a:ext cx="329184" cy="329184"/>
          </a:xfrm>
          <a:prstGeom prst="ellipse">
            <a:avLst/>
          </a:prstGeom>
          <a:solidFill>
            <a:srgbClr val="D4A537"/>
          </a:solidFill>
          <a:ln w="12700">
            <a:solidFill>
              <a:srgbClr val="D4A537"/>
            </a:solidFill>
            <a:prstDash val="solid"/>
          </a:ln>
        </p:spPr>
      </p:sp>
      <p:sp>
        <p:nvSpPr>
          <p:cNvPr id="12" name="Text 10"/>
          <p:cNvSpPr txBox="1"/>
          <p:nvPr/>
        </p:nvSpPr>
        <p:spPr>
          <a:xfrm>
            <a:off x="7201632" y="31409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3" name="Text 11"/>
          <p:cNvSpPr txBox="1"/>
          <p:nvPr/>
        </p:nvSpPr>
        <p:spPr>
          <a:xfrm>
            <a:off x="7658832" y="3099816"/>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Fail-fast vs quarantine</a:t>
            </a:r>
            <a:endParaRPr lang="en-US" sz="1300" dirty="0"/>
          </a:p>
        </p:txBody>
      </p:sp>
      <p:sp>
        <p:nvSpPr>
          <p:cNvPr id="14" name="Shape 12"/>
          <p:cNvSpPr/>
          <p:nvPr/>
        </p:nvSpPr>
        <p:spPr>
          <a:xfrm>
            <a:off x="7201632" y="3785616"/>
            <a:ext cx="329184" cy="329184"/>
          </a:xfrm>
          <a:prstGeom prst="ellipse">
            <a:avLst/>
          </a:prstGeom>
          <a:solidFill>
            <a:srgbClr val="00A6A6"/>
          </a:solidFill>
          <a:ln w="12700">
            <a:solidFill>
              <a:srgbClr val="00A6A6"/>
            </a:solidFill>
            <a:prstDash val="solid"/>
          </a:ln>
        </p:spPr>
      </p:sp>
      <p:sp>
        <p:nvSpPr>
          <p:cNvPr id="15" name="Text 13"/>
          <p:cNvSpPr txBox="1"/>
          <p:nvPr/>
        </p:nvSpPr>
        <p:spPr>
          <a:xfrm>
            <a:off x="7201632" y="37993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6" name="Text 14"/>
          <p:cNvSpPr txBox="1"/>
          <p:nvPr/>
        </p:nvSpPr>
        <p:spPr>
          <a:xfrm>
            <a:off x="7658832" y="3758184"/>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four observability signals</a:t>
            </a:r>
            <a:endParaRPr lang="en-US" sz="1300" dirty="0"/>
          </a:p>
        </p:txBody>
      </p:sp>
      <p:sp>
        <p:nvSpPr>
          <p:cNvPr id="17" name="Shape 15"/>
          <p:cNvSpPr/>
          <p:nvPr/>
        </p:nvSpPr>
        <p:spPr>
          <a:xfrm>
            <a:off x="7201632" y="4443984"/>
            <a:ext cx="329184" cy="329184"/>
          </a:xfrm>
          <a:prstGeom prst="ellipse">
            <a:avLst/>
          </a:prstGeom>
          <a:solidFill>
            <a:srgbClr val="D9503F"/>
          </a:solidFill>
          <a:ln w="12700">
            <a:solidFill>
              <a:srgbClr val="D9503F"/>
            </a:solidFill>
            <a:prstDash val="solid"/>
          </a:ln>
        </p:spPr>
      </p:sp>
      <p:sp>
        <p:nvSpPr>
          <p:cNvPr id="18" name="Text 16"/>
          <p:cNvSpPr txBox="1"/>
          <p:nvPr/>
        </p:nvSpPr>
        <p:spPr>
          <a:xfrm>
            <a:off x="7201632" y="44577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19" name="Text 17"/>
          <p:cNvSpPr txBox="1"/>
          <p:nvPr/>
        </p:nvSpPr>
        <p:spPr>
          <a:xfrm>
            <a:off x="7658832" y="4416552"/>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PDPL as a first-class constraint</a:t>
            </a:r>
            <a:endParaRPr lang="en-US" sz="1300" dirty="0"/>
          </a:p>
        </p:txBody>
      </p:sp>
      <p:sp>
        <p:nvSpPr>
          <p:cNvPr id="20" name="Shape 18"/>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1" name="Shape 19"/>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2" name="Shape 20"/>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3" name="Text 21"/>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4" name="Text 22"/>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6 · SECTION 1</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The data-quality testing pyramid</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Cheap checks run on every batch at the promotion boundary. Expensive statistical checks run on a schedule.</a:t>
            </a:r>
            <a:endParaRPr lang="en-US" sz="133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66928" y="1883664"/>
          <a:ext cx="11057839" cy="914400"/>
        </p:xfrm>
        <a:graphic>
          <a:graphicData uri="http://schemas.openxmlformats.org/drawingml/2006/table">
            <a:tbl>
              <a:tblPr/>
              <a:tblGrid>
                <a:gridCol w="1920240"/>
                <a:gridCol w="3017520"/>
                <a:gridCol w="4206240"/>
                <a:gridCol w="1911096"/>
              </a:tblGrid>
              <a:tr h="60350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Level</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checks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Masar example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r>
              <a:tr h="603504">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Schema</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Columns, types, nullability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trip_id present; fare_sar numeric</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Every load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603504">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Constraint / range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Value bounds, sets, uniqueness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fare_sar &gt; 0 · city in the KSA set · unique trip_id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Every load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603504">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Referential</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Keys resolve to dimensions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Every driver_id exists in silver.drivers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Every load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603504">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Distribution</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Statistical shape versus a baseline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Mean fare within ±20% of last week; null rates stable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Daily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603504">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Reconciliation</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Totals match a source of truth</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Daily trip count matches the operations system</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Daily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bl>
          </a:graphicData>
        </a:graphic>
      </p:graphicFrame>
      <p:sp>
        <p:nvSpPr>
          <p:cNvPr id="6" name="Text 3"/>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Enforce quality where data is PROMOTED — bronze to silver — so bad data never reaches a consumer. The bottom three catch broken rows; the top two catch broken meaning. Remember which is which.</a:t>
            </a:r>
            <a:endParaRPr lang="en-US" sz="1200" dirty="0"/>
          </a:p>
        </p:txBody>
      </p:sp>
      <p:sp>
        <p:nvSpPr>
          <p:cNvPr id="7" name="Shape 4"/>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8" name="Shape 5"/>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9" name="Shape 6"/>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0" name="Text 7"/>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1" name="Text 8"/>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6 · SECTION 3</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Quality gates are decisions, not alarms</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When a batch fails expectations there are two correct responses, chosen by severity. Choosing neither is the actual mistake.</a:t>
            </a:r>
            <a:endParaRPr lang="en-US" sz="1330" dirty="0"/>
          </a:p>
        </p:txBody>
      </p:sp>
      <p:sp>
        <p:nvSpPr>
          <p:cNvPr id="5" name="Shape 3"/>
          <p:cNvSpPr/>
          <p:nvPr/>
        </p:nvSpPr>
        <p:spPr>
          <a:xfrm>
            <a:off x="566928" y="2094387"/>
            <a:ext cx="5373472" cy="2791206"/>
          </a:xfrm>
          <a:prstGeom prst="roundRect">
            <a:avLst>
              <a:gd name="adj" fmla="val 1966"/>
            </a:avLst>
          </a:prstGeom>
          <a:solidFill>
            <a:srgbClr val="F4F6F7"/>
          </a:solidFill>
          <a:ln w="12700">
            <a:solidFill>
              <a:srgbClr val="DDE3E6"/>
            </a:solidFill>
            <a:prstDash val="solid"/>
          </a:ln>
        </p:spPr>
      </p:sp>
      <p:sp>
        <p:nvSpPr>
          <p:cNvPr id="6" name="Text 4"/>
          <p:cNvSpPr txBox="1"/>
          <p:nvPr/>
        </p:nvSpPr>
        <p:spPr>
          <a:xfrm>
            <a:off x="804672" y="2277267"/>
            <a:ext cx="4897984" cy="365760"/>
          </a:xfrm>
          <a:prstGeom prst="rect">
            <a:avLst/>
          </a:prstGeom>
          <a:noFill/>
          <a:ln/>
        </p:spPr>
        <p:txBody>
          <a:bodyPr wrap="square" lIns="0" tIns="0" rIns="0" bIns="0" rtlCol="0" anchor="ctr"/>
          <a:lstStyle/>
          <a:p>
            <a:pPr indent="0" marL="0">
              <a:buNone/>
            </a:pPr>
            <a:r>
              <a:rPr lang="en-US" sz="1600" b="1" dirty="0">
                <a:solidFill>
                  <a:srgbClr val="D9503F"/>
                </a:solidFill>
                <a:latin typeface="Calibri" pitchFamily="34" charset="0"/>
                <a:ea typeface="Calibri" pitchFamily="34" charset="-122"/>
                <a:cs typeface="Calibri" pitchFamily="34" charset="-120"/>
              </a:rPr>
              <a:t>Fail-fast — block the batch</a:t>
            </a:r>
            <a:endParaRPr lang="en-US" sz="1600" dirty="0"/>
          </a:p>
        </p:txBody>
      </p:sp>
      <p:sp>
        <p:nvSpPr>
          <p:cNvPr id="7" name="Text 5"/>
          <p:cNvSpPr txBox="1"/>
          <p:nvPr/>
        </p:nvSpPr>
        <p:spPr>
          <a:xfrm>
            <a:off x="804672" y="2661315"/>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Promoting anything is worse than promoting nothing</a:t>
            </a:r>
            <a:endParaRPr lang="en-US" sz="1150" dirty="0"/>
          </a:p>
        </p:txBody>
      </p:sp>
      <p:sp>
        <p:nvSpPr>
          <p:cNvPr id="8" name="Text 6"/>
          <p:cNvSpPr txBox="1"/>
          <p:nvPr/>
        </p:nvSpPr>
        <p:spPr>
          <a:xfrm>
            <a:off x="804672" y="3027075"/>
            <a:ext cx="4897984" cy="165735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Null or duplicate trip_id — the business key is unusable.</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The schema does not match the contract.</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Volume collapsed to a fraction of expectation — the feed is broken, not the data.</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Reconciliation against the operations system fails by more than tolerance.</a:t>
            </a:r>
            <a:endParaRPr lang="en-US" sz="1250" dirty="0"/>
          </a:p>
        </p:txBody>
      </p:sp>
      <p:sp>
        <p:nvSpPr>
          <p:cNvPr id="9" name="Shape 7"/>
          <p:cNvSpPr/>
          <p:nvPr/>
        </p:nvSpPr>
        <p:spPr>
          <a:xfrm>
            <a:off x="6251296" y="2094387"/>
            <a:ext cx="5373472" cy="2791206"/>
          </a:xfrm>
          <a:prstGeom prst="roundRect">
            <a:avLst>
              <a:gd name="adj" fmla="val 1966"/>
            </a:avLst>
          </a:prstGeom>
          <a:solidFill>
            <a:srgbClr val="F4F6F7"/>
          </a:solidFill>
          <a:ln w="12700">
            <a:solidFill>
              <a:srgbClr val="DDE3E6"/>
            </a:solidFill>
            <a:prstDash val="solid"/>
          </a:ln>
        </p:spPr>
      </p:sp>
      <p:sp>
        <p:nvSpPr>
          <p:cNvPr id="10" name="Text 8"/>
          <p:cNvSpPr txBox="1"/>
          <p:nvPr/>
        </p:nvSpPr>
        <p:spPr>
          <a:xfrm>
            <a:off x="6489040" y="2277267"/>
            <a:ext cx="4897984" cy="365760"/>
          </a:xfrm>
          <a:prstGeom prst="rect">
            <a:avLst/>
          </a:prstGeom>
          <a:noFill/>
          <a:ln/>
        </p:spPr>
        <p:txBody>
          <a:bodyPr wrap="square" lIns="0" tIns="0" rIns="0" bIns="0" rtlCol="0" anchor="ctr"/>
          <a:lstStyle/>
          <a:p>
            <a:pPr indent="0" marL="0">
              <a:buNone/>
            </a:pPr>
            <a:r>
              <a:rPr lang="en-US" sz="1600" b="1" dirty="0">
                <a:solidFill>
                  <a:srgbClr val="D4A537"/>
                </a:solidFill>
                <a:latin typeface="Calibri" pitchFamily="34" charset="0"/>
                <a:ea typeface="Calibri" pitchFamily="34" charset="-122"/>
                <a:cs typeface="Calibri" pitchFamily="34" charset="-120"/>
              </a:rPr>
              <a:t>Quarantine — isolate the rows</a:t>
            </a:r>
            <a:endParaRPr lang="en-US" sz="1600" dirty="0"/>
          </a:p>
        </p:txBody>
      </p:sp>
      <p:sp>
        <p:nvSpPr>
          <p:cNvPr id="11" name="Text 9"/>
          <p:cNvSpPr txBox="1"/>
          <p:nvPr/>
        </p:nvSpPr>
        <p:spPr>
          <a:xfrm>
            <a:off x="6489040" y="2661315"/>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Blocking the batch would needlessly starve consumers</a:t>
            </a:r>
            <a:endParaRPr lang="en-US" sz="1150" dirty="0"/>
          </a:p>
        </p:txBody>
      </p:sp>
      <p:sp>
        <p:nvSpPr>
          <p:cNvPr id="12" name="Text 10"/>
          <p:cNvSpPr txBox="1"/>
          <p:nvPr/>
        </p:nvSpPr>
        <p:spPr>
          <a:xfrm>
            <a:off x="6489040" y="3027075"/>
            <a:ext cx="4897984" cy="165735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A small fraction of trips with a bad dropoff_geohash.</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A handful of out-of-range fares among 42,000 valid ones.</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Route failures to silver.trips_quarantine, promote the good rows, record both, alert proportionately.</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Quarantine is not a bin. Somebody owns it, and unresolved rows age into an alert of their own.</a:t>
            </a:r>
            <a:endParaRPr lang="en-US" sz="1250" dirty="0"/>
          </a:p>
        </p:txBody>
      </p:sp>
      <p:sp>
        <p:nvSpPr>
          <p:cNvPr id="13" name="Text 11"/>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The anti-pattern that fails the capstone rubric: alerting without acting — a failing check emails somebody and promotes the bad data anyway. Activity ACT-08 has teams rule on ten real defect scenarios from the shipped fixtures.</a:t>
            </a:r>
            <a:endParaRPr lang="en-US" sz="1200" dirty="0"/>
          </a:p>
        </p:txBody>
      </p:sp>
      <p:sp>
        <p:nvSpPr>
          <p:cNvPr id="14" name="Shape 12"/>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5" name="Shape 13"/>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6" name="Shape 14"/>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7" name="Text 15"/>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8" name="Text 16"/>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6 · SECTION 4</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Four signals row-level checks cannot see</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Quality checks the content. Observability checks the pipeline's health over time.</a:t>
            </a:r>
            <a:endParaRPr lang="en-US" sz="1330" dirty="0"/>
          </a:p>
        </p:txBody>
      </p:sp>
      <p:sp>
        <p:nvSpPr>
          <p:cNvPr id="5" name="Shape 3"/>
          <p:cNvSpPr/>
          <p:nvPr/>
        </p:nvSpPr>
        <p:spPr>
          <a:xfrm>
            <a:off x="566928" y="2128647"/>
            <a:ext cx="2572436" cy="2524125"/>
          </a:xfrm>
          <a:prstGeom prst="roundRect">
            <a:avLst>
              <a:gd name="adj" fmla="val 2174"/>
            </a:avLst>
          </a:prstGeom>
          <a:solidFill>
            <a:srgbClr val="F4F6F7"/>
          </a:solidFill>
          <a:ln w="12700">
            <a:solidFill>
              <a:srgbClr val="DDE3E6"/>
            </a:solidFill>
            <a:prstDash val="solid"/>
          </a:ln>
        </p:spPr>
      </p:sp>
      <p:sp>
        <p:nvSpPr>
          <p:cNvPr id="6" name="Shape 4"/>
          <p:cNvSpPr/>
          <p:nvPr/>
        </p:nvSpPr>
        <p:spPr>
          <a:xfrm>
            <a:off x="786384" y="2311527"/>
            <a:ext cx="365760" cy="365760"/>
          </a:xfrm>
          <a:prstGeom prst="ellipse">
            <a:avLst/>
          </a:prstGeom>
          <a:solidFill>
            <a:srgbClr val="B0763A"/>
          </a:solidFill>
          <a:ln w="12700">
            <a:solidFill>
              <a:srgbClr val="B0763A"/>
            </a:solidFill>
            <a:prstDash val="solid"/>
          </a:ln>
        </p:spPr>
      </p:sp>
      <p:sp>
        <p:nvSpPr>
          <p:cNvPr id="7" name="Text 5"/>
          <p:cNvSpPr txBox="1"/>
          <p:nvPr/>
        </p:nvSpPr>
        <p:spPr>
          <a:xfrm>
            <a:off x="786384" y="2325243"/>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txBox="1"/>
          <p:nvPr/>
        </p:nvSpPr>
        <p:spPr>
          <a:xfrm>
            <a:off x="786384" y="2805303"/>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Freshness</a:t>
            </a:r>
            <a:endParaRPr lang="en-US" sz="1450" dirty="0"/>
          </a:p>
        </p:txBody>
      </p:sp>
      <p:sp>
        <p:nvSpPr>
          <p:cNvPr id="9" name="Text 7"/>
          <p:cNvSpPr txBox="1"/>
          <p:nvPr/>
        </p:nvSpPr>
        <p:spPr>
          <a:xfrm>
            <a:off x="786384" y="3128772"/>
            <a:ext cx="2133524" cy="135940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When did this table last update? Alert when max(_ingested_at) is older than the SLA. A stale silver.trips means an upstream break — and every row in it is still individually valid.</a:t>
            </a:r>
            <a:endParaRPr lang="en-US" sz="1200" dirty="0"/>
          </a:p>
        </p:txBody>
      </p:sp>
      <p:sp>
        <p:nvSpPr>
          <p:cNvPr id="10" name="Shape 8"/>
          <p:cNvSpPr/>
          <p:nvPr/>
        </p:nvSpPr>
        <p:spPr>
          <a:xfrm>
            <a:off x="3395396" y="2128647"/>
            <a:ext cx="2572436" cy="2524125"/>
          </a:xfrm>
          <a:prstGeom prst="roundRect">
            <a:avLst>
              <a:gd name="adj" fmla="val 2174"/>
            </a:avLst>
          </a:prstGeom>
          <a:solidFill>
            <a:srgbClr val="F4F6F7"/>
          </a:solidFill>
          <a:ln w="12700">
            <a:solidFill>
              <a:srgbClr val="DDE3E6"/>
            </a:solidFill>
            <a:prstDash val="solid"/>
          </a:ln>
        </p:spPr>
      </p:sp>
      <p:sp>
        <p:nvSpPr>
          <p:cNvPr id="11" name="Shape 9"/>
          <p:cNvSpPr/>
          <p:nvPr/>
        </p:nvSpPr>
        <p:spPr>
          <a:xfrm>
            <a:off x="3614852" y="2311527"/>
            <a:ext cx="365760" cy="365760"/>
          </a:xfrm>
          <a:prstGeom prst="ellipse">
            <a:avLst/>
          </a:prstGeom>
          <a:solidFill>
            <a:srgbClr val="8E9AA3"/>
          </a:solidFill>
          <a:ln w="12700">
            <a:solidFill>
              <a:srgbClr val="8E9AA3"/>
            </a:solidFill>
            <a:prstDash val="solid"/>
          </a:ln>
        </p:spPr>
      </p:sp>
      <p:sp>
        <p:nvSpPr>
          <p:cNvPr id="12" name="Text 10"/>
          <p:cNvSpPr txBox="1"/>
          <p:nvPr/>
        </p:nvSpPr>
        <p:spPr>
          <a:xfrm>
            <a:off x="3614852" y="2325243"/>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txBox="1"/>
          <p:nvPr/>
        </p:nvSpPr>
        <p:spPr>
          <a:xfrm>
            <a:off x="3614852" y="2805303"/>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Volume</a:t>
            </a:r>
            <a:endParaRPr lang="en-US" sz="1450" dirty="0"/>
          </a:p>
        </p:txBody>
      </p:sp>
      <p:sp>
        <p:nvSpPr>
          <p:cNvPr id="14" name="Text 12"/>
          <p:cNvSpPr txBox="1"/>
          <p:nvPr/>
        </p:nvSpPr>
        <p:spPr>
          <a:xfrm>
            <a:off x="3614852" y="3128772"/>
            <a:ext cx="2133524" cy="135940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How many rows arrived versus expected? A sudden drop is a feed outage; a spike is duplication. Both are invisible to every row-level test you have.</a:t>
            </a:r>
            <a:endParaRPr lang="en-US" sz="1200" dirty="0"/>
          </a:p>
        </p:txBody>
      </p:sp>
      <p:sp>
        <p:nvSpPr>
          <p:cNvPr id="15" name="Shape 13"/>
          <p:cNvSpPr/>
          <p:nvPr/>
        </p:nvSpPr>
        <p:spPr>
          <a:xfrm>
            <a:off x="6223864" y="2128647"/>
            <a:ext cx="2572436" cy="2524125"/>
          </a:xfrm>
          <a:prstGeom prst="roundRect">
            <a:avLst>
              <a:gd name="adj" fmla="val 2174"/>
            </a:avLst>
          </a:prstGeom>
          <a:solidFill>
            <a:srgbClr val="F4F6F7"/>
          </a:solidFill>
          <a:ln w="12700">
            <a:solidFill>
              <a:srgbClr val="DDE3E6"/>
            </a:solidFill>
            <a:prstDash val="solid"/>
          </a:ln>
        </p:spPr>
      </p:sp>
      <p:sp>
        <p:nvSpPr>
          <p:cNvPr id="16" name="Shape 14"/>
          <p:cNvSpPr/>
          <p:nvPr/>
        </p:nvSpPr>
        <p:spPr>
          <a:xfrm>
            <a:off x="6443320" y="2311527"/>
            <a:ext cx="365760" cy="365760"/>
          </a:xfrm>
          <a:prstGeom prst="ellipse">
            <a:avLst/>
          </a:prstGeom>
          <a:solidFill>
            <a:srgbClr val="D4A537"/>
          </a:solidFill>
          <a:ln w="12700">
            <a:solidFill>
              <a:srgbClr val="D4A537"/>
            </a:solidFill>
            <a:prstDash val="solid"/>
          </a:ln>
        </p:spPr>
      </p:sp>
      <p:sp>
        <p:nvSpPr>
          <p:cNvPr id="17" name="Text 15"/>
          <p:cNvSpPr txBox="1"/>
          <p:nvPr/>
        </p:nvSpPr>
        <p:spPr>
          <a:xfrm>
            <a:off x="6443320" y="2325243"/>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txBox="1"/>
          <p:nvPr/>
        </p:nvSpPr>
        <p:spPr>
          <a:xfrm>
            <a:off x="6443320" y="2805303"/>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Schema drift</a:t>
            </a:r>
            <a:endParaRPr lang="en-US" sz="1450" dirty="0"/>
          </a:p>
        </p:txBody>
      </p:sp>
      <p:sp>
        <p:nvSpPr>
          <p:cNvPr id="19" name="Text 17"/>
          <p:cNvSpPr txBox="1"/>
          <p:nvPr/>
        </p:nvSpPr>
        <p:spPr>
          <a:xfrm>
            <a:off x="6443320" y="3128772"/>
            <a:ext cx="2133524" cy="135940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Did a source add, rename or retype a column? Detect and alert BEFORE enforcement rejects a whole batch at 3 a.m.</a:t>
            </a:r>
            <a:endParaRPr lang="en-US" sz="1200" dirty="0"/>
          </a:p>
        </p:txBody>
      </p:sp>
      <p:sp>
        <p:nvSpPr>
          <p:cNvPr id="20" name="Shape 18"/>
          <p:cNvSpPr/>
          <p:nvPr/>
        </p:nvSpPr>
        <p:spPr>
          <a:xfrm>
            <a:off x="9052331" y="2128647"/>
            <a:ext cx="2572436" cy="2524125"/>
          </a:xfrm>
          <a:prstGeom prst="roundRect">
            <a:avLst>
              <a:gd name="adj" fmla="val 2174"/>
            </a:avLst>
          </a:prstGeom>
          <a:solidFill>
            <a:srgbClr val="F4F6F7"/>
          </a:solidFill>
          <a:ln w="12700">
            <a:solidFill>
              <a:srgbClr val="DDE3E6"/>
            </a:solidFill>
            <a:prstDash val="solid"/>
          </a:ln>
        </p:spPr>
      </p:sp>
      <p:sp>
        <p:nvSpPr>
          <p:cNvPr id="21" name="Shape 19"/>
          <p:cNvSpPr/>
          <p:nvPr/>
        </p:nvSpPr>
        <p:spPr>
          <a:xfrm>
            <a:off x="9271787" y="2311527"/>
            <a:ext cx="365760" cy="365760"/>
          </a:xfrm>
          <a:prstGeom prst="ellipse">
            <a:avLst/>
          </a:prstGeom>
          <a:solidFill>
            <a:srgbClr val="D9503F"/>
          </a:solidFill>
          <a:ln w="12700">
            <a:solidFill>
              <a:srgbClr val="D9503F"/>
            </a:solidFill>
            <a:prstDash val="solid"/>
          </a:ln>
        </p:spPr>
      </p:sp>
      <p:sp>
        <p:nvSpPr>
          <p:cNvPr id="22" name="Text 20"/>
          <p:cNvSpPr txBox="1"/>
          <p:nvPr/>
        </p:nvSpPr>
        <p:spPr>
          <a:xfrm>
            <a:off x="9271787" y="2325243"/>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1"/>
          <p:cNvSpPr txBox="1"/>
          <p:nvPr/>
        </p:nvSpPr>
        <p:spPr>
          <a:xfrm>
            <a:off x="9271787" y="2805303"/>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Distribution drift</a:t>
            </a:r>
            <a:endParaRPr lang="en-US" sz="1450" dirty="0"/>
          </a:p>
        </p:txBody>
      </p:sp>
      <p:sp>
        <p:nvSpPr>
          <p:cNvPr id="24" name="Text 22"/>
          <p:cNvSpPr txBox="1"/>
          <p:nvPr/>
        </p:nvSpPr>
        <p:spPr>
          <a:xfrm>
            <a:off x="9271787" y="3128772"/>
            <a:ext cx="2133524" cy="135940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Did the statistical shape shift — mean fare, null rates, category mix? Drift is the leading indicator of model degradation, and the only one of the four that catches a change in MEANING.</a:t>
            </a:r>
            <a:endParaRPr lang="en-US" sz="1200" dirty="0"/>
          </a:p>
        </p:txBody>
      </p:sp>
      <p:sp>
        <p:nvSpPr>
          <p:cNvPr id="25" name="Text 23"/>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Together these turn “the model got worse and we do not know why” into “the fare_sar distribution shifted on 12 June when the source changed currency handling.” Hold on to signal 4. You will need it this afternoon.</a:t>
            </a:r>
            <a:endParaRPr lang="en-US" sz="1200" dirty="0"/>
          </a:p>
        </p:txBody>
      </p:sp>
      <p:sp>
        <p:nvSpPr>
          <p:cNvPr id="26" name="Shape 24"/>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7" name="Shape 25"/>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8" name="Shape 26"/>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9" name="Text 27"/>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30" name="Text 28"/>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6 · SECTION 5</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Governance in four parts</a:t>
            </a:r>
            <a:endParaRPr lang="en-US" sz="3000" dirty="0"/>
          </a:p>
        </p:txBody>
      </p:sp>
      <p:sp>
        <p:nvSpPr>
          <p:cNvPr id="4" name="Shape 2"/>
          <p:cNvSpPr/>
          <p:nvPr/>
        </p:nvSpPr>
        <p:spPr>
          <a:xfrm>
            <a:off x="566928" y="1426464"/>
            <a:ext cx="384048" cy="384048"/>
          </a:xfrm>
          <a:prstGeom prst="ellipse">
            <a:avLst/>
          </a:prstGeom>
          <a:solidFill>
            <a:srgbClr val="B0763A"/>
          </a:solidFill>
          <a:ln w="12700">
            <a:solidFill>
              <a:srgbClr val="B0763A"/>
            </a:solidFill>
            <a:prstDash val="solid"/>
          </a:ln>
        </p:spPr>
      </p:sp>
      <p:sp>
        <p:nvSpPr>
          <p:cNvPr id="5" name="Text 3"/>
          <p:cNvSpPr txBox="1"/>
          <p:nvPr/>
        </p:nvSpPr>
        <p:spPr>
          <a:xfrm>
            <a:off x="566928" y="144018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6" name="Text 4"/>
          <p:cNvSpPr txBox="1"/>
          <p:nvPr/>
        </p:nvSpPr>
        <p:spPr>
          <a:xfrm>
            <a:off x="1133856" y="1389888"/>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Catalog</a:t>
            </a:r>
            <a:endParaRPr lang="en-US" sz="1500" dirty="0"/>
          </a:p>
        </p:txBody>
      </p:sp>
      <p:sp>
        <p:nvSpPr>
          <p:cNvPr id="7" name="Text 5"/>
          <p:cNvSpPr txBox="1"/>
          <p:nvPr/>
        </p:nvSpPr>
        <p:spPr>
          <a:xfrm>
            <a:off x="1133856" y="1655064"/>
            <a:ext cx="10417759" cy="566928"/>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A searchable registry of tables, owners, descriptions and classifications. Nobody should have to ask “does this table exist and can I trust it?”</a:t>
            </a:r>
            <a:endParaRPr lang="en-US" sz="1250" dirty="0"/>
          </a:p>
        </p:txBody>
      </p:sp>
      <p:sp>
        <p:nvSpPr>
          <p:cNvPr id="8" name="Shape 6"/>
          <p:cNvSpPr/>
          <p:nvPr/>
        </p:nvSpPr>
        <p:spPr>
          <a:xfrm>
            <a:off x="566928" y="2286000"/>
            <a:ext cx="384048" cy="384048"/>
          </a:xfrm>
          <a:prstGeom prst="ellipse">
            <a:avLst/>
          </a:prstGeom>
          <a:solidFill>
            <a:srgbClr val="8E9AA3"/>
          </a:solidFill>
          <a:ln w="12700">
            <a:solidFill>
              <a:srgbClr val="8E9AA3"/>
            </a:solidFill>
            <a:prstDash val="solid"/>
          </a:ln>
        </p:spPr>
      </p:sp>
      <p:sp>
        <p:nvSpPr>
          <p:cNvPr id="9" name="Text 7"/>
          <p:cNvSpPr txBox="1"/>
          <p:nvPr/>
        </p:nvSpPr>
        <p:spPr>
          <a:xfrm>
            <a:off x="566928" y="229971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1133856" y="2249424"/>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Lineage</a:t>
            </a:r>
            <a:endParaRPr lang="en-US" sz="1500" dirty="0"/>
          </a:p>
        </p:txBody>
      </p:sp>
      <p:sp>
        <p:nvSpPr>
          <p:cNvPr id="11" name="Text 9"/>
          <p:cNvSpPr txBox="1"/>
          <p:nvPr/>
        </p:nvSpPr>
        <p:spPr>
          <a:xfrm>
            <a:off x="1133856" y="2514600"/>
            <a:ext cx="10417759" cy="566928"/>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Source → bronze → silver → gold → dashboard and feature. Needed for impact analysis (“if I change stg_trips, what breaks?”) and for audit (“where did this KPI come from?”). dbt docs and Delta history supply most of it for free.</a:t>
            </a:r>
            <a:endParaRPr lang="en-US" sz="1250" dirty="0"/>
          </a:p>
        </p:txBody>
      </p:sp>
      <p:sp>
        <p:nvSpPr>
          <p:cNvPr id="12" name="Shape 10"/>
          <p:cNvSpPr/>
          <p:nvPr/>
        </p:nvSpPr>
        <p:spPr>
          <a:xfrm>
            <a:off x="566928" y="3145536"/>
            <a:ext cx="384048" cy="384048"/>
          </a:xfrm>
          <a:prstGeom prst="ellipse">
            <a:avLst/>
          </a:prstGeom>
          <a:solidFill>
            <a:srgbClr val="D4A537"/>
          </a:solidFill>
          <a:ln w="12700">
            <a:solidFill>
              <a:srgbClr val="D4A537"/>
            </a:solidFill>
            <a:prstDash val="solid"/>
          </a:ln>
        </p:spPr>
      </p:sp>
      <p:sp>
        <p:nvSpPr>
          <p:cNvPr id="13" name="Text 11"/>
          <p:cNvSpPr txBox="1"/>
          <p:nvPr/>
        </p:nvSpPr>
        <p:spPr>
          <a:xfrm>
            <a:off x="566928" y="315925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4" name="Text 12"/>
          <p:cNvSpPr txBox="1"/>
          <p:nvPr/>
        </p:nvSpPr>
        <p:spPr>
          <a:xfrm>
            <a:off x="1133856" y="3108960"/>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Access control</a:t>
            </a:r>
            <a:endParaRPr lang="en-US" sz="1500" dirty="0"/>
          </a:p>
        </p:txBody>
      </p:sp>
      <p:sp>
        <p:nvSpPr>
          <p:cNvPr id="15" name="Text 13"/>
          <p:cNvSpPr txBox="1"/>
          <p:nvPr/>
        </p:nvSpPr>
        <p:spPr>
          <a:xfrm>
            <a:off x="1133856" y="3374136"/>
            <a:ext cx="10417759" cy="566928"/>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Least privilege at table and ideally column level: analysts see gold, data scientists see silver, raw rider IDs and precise GPS are restricted or masked.</a:t>
            </a:r>
            <a:endParaRPr lang="en-US" sz="1250" dirty="0"/>
          </a:p>
        </p:txBody>
      </p:sp>
      <p:sp>
        <p:nvSpPr>
          <p:cNvPr id="16" name="Shape 14"/>
          <p:cNvSpPr/>
          <p:nvPr/>
        </p:nvSpPr>
        <p:spPr>
          <a:xfrm>
            <a:off x="566928" y="4005072"/>
            <a:ext cx="384048" cy="384048"/>
          </a:xfrm>
          <a:prstGeom prst="ellipse">
            <a:avLst/>
          </a:prstGeom>
          <a:solidFill>
            <a:srgbClr val="00A6A6"/>
          </a:solidFill>
          <a:ln w="12700">
            <a:solidFill>
              <a:srgbClr val="00A6A6"/>
            </a:solidFill>
            <a:prstDash val="solid"/>
          </a:ln>
        </p:spPr>
      </p:sp>
      <p:sp>
        <p:nvSpPr>
          <p:cNvPr id="17" name="Text 15"/>
          <p:cNvSpPr txBox="1"/>
          <p:nvPr/>
        </p:nvSpPr>
        <p:spPr>
          <a:xfrm>
            <a:off x="566928" y="401878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8" name="Text 16"/>
          <p:cNvSpPr txBox="1"/>
          <p:nvPr/>
        </p:nvSpPr>
        <p:spPr>
          <a:xfrm>
            <a:off x="1133856" y="3968496"/>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Classification</a:t>
            </a:r>
            <a:endParaRPr lang="en-US" sz="1500" dirty="0"/>
          </a:p>
        </p:txBody>
      </p:sp>
      <p:sp>
        <p:nvSpPr>
          <p:cNvPr id="19" name="Text 17"/>
          <p:cNvSpPr txBox="1"/>
          <p:nvPr/>
        </p:nvSpPr>
        <p:spPr>
          <a:xfrm>
            <a:off x="1133856" y="4233672"/>
            <a:ext cx="10417759" cy="566928"/>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rider_id, device_id and lat/lon are personal data. Classification is a table property enforced automatically — not a spreadsheet somebody maintains.</a:t>
            </a:r>
            <a:endParaRPr lang="en-US" sz="1250" dirty="0"/>
          </a:p>
        </p:txBody>
      </p:sp>
      <p:sp>
        <p:nvSpPr>
          <p:cNvPr id="20" name="Text 18"/>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Most of this comes free from what you already built: dbt docs supplies lineage, Delta history supplies the audit trail, and the medallion contracts supply the access boundaries. Governance is data-in, not paperwork.</a:t>
            </a:r>
            <a:endParaRPr lang="en-US" sz="1200" dirty="0"/>
          </a:p>
        </p:txBody>
      </p:sp>
      <p:sp>
        <p:nvSpPr>
          <p:cNvPr id="21" name="Shape 19"/>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2" name="Shape 20"/>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3" name="Shape 21"/>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4" name="Text 22"/>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5" name="Text 23"/>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6 · SECTION 5</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Saudi PDPL as a first-class engineering constraint</a:t>
            </a:r>
            <a:endParaRPr lang="en-US" sz="3000" dirty="0"/>
          </a:p>
        </p:txBody>
      </p:sp>
      <p:sp>
        <p:nvSpPr>
          <p:cNvPr id="4" name="Text 2"/>
          <p:cNvSpPr txBox="1"/>
          <p:nvPr/>
        </p:nvSpPr>
        <p:spPr>
          <a:xfrm>
            <a:off x="566928" y="1389888"/>
            <a:ext cx="10692079" cy="439166"/>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Governance is where PDPL stops being a legal abstraction and becomes table policies, masking, and a retention job on a schedule.</a:t>
            </a:r>
            <a:endParaRPr lang="en-US" sz="1330" dirty="0"/>
          </a:p>
        </p:txBody>
      </p:sp>
      <p:sp>
        <p:nvSpPr>
          <p:cNvPr id="5" name="Shape 3"/>
          <p:cNvSpPr/>
          <p:nvPr/>
        </p:nvSpPr>
        <p:spPr>
          <a:xfrm>
            <a:off x="566928" y="1957070"/>
            <a:ext cx="3515258" cy="1956689"/>
          </a:xfrm>
          <a:prstGeom prst="roundRect">
            <a:avLst>
              <a:gd name="adj" fmla="val 2804"/>
            </a:avLst>
          </a:prstGeom>
          <a:solidFill>
            <a:srgbClr val="F4F6F7"/>
          </a:solidFill>
          <a:ln w="12700">
            <a:solidFill>
              <a:srgbClr val="DDE3E6"/>
            </a:solidFill>
            <a:prstDash val="solid"/>
          </a:ln>
        </p:spPr>
      </p:sp>
      <p:sp>
        <p:nvSpPr>
          <p:cNvPr id="6" name="Text 4"/>
          <p:cNvSpPr txBox="1"/>
          <p:nvPr/>
        </p:nvSpPr>
        <p:spPr>
          <a:xfrm>
            <a:off x="786384" y="2139950"/>
            <a:ext cx="3076346"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Lawful basis and purpose limitation</a:t>
            </a:r>
            <a:endParaRPr lang="en-US" sz="1450" dirty="0"/>
          </a:p>
        </p:txBody>
      </p:sp>
      <p:sp>
        <p:nvSpPr>
          <p:cNvPr id="7" name="Text 5"/>
          <p:cNvSpPr txBox="1"/>
          <p:nvPr/>
        </p:nvSpPr>
        <p:spPr>
          <a:xfrm>
            <a:off x="786384" y="2463419"/>
            <a:ext cx="3076346" cy="128574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Personal data is collected for a stated purpose. “We might need it later” is not a purpose. This is an architecture constraint, applied at ingestion design time.</a:t>
            </a:r>
            <a:endParaRPr lang="en-US" sz="1200" dirty="0"/>
          </a:p>
        </p:txBody>
      </p:sp>
      <p:sp>
        <p:nvSpPr>
          <p:cNvPr id="8" name="Shape 6"/>
          <p:cNvSpPr/>
          <p:nvPr/>
        </p:nvSpPr>
        <p:spPr>
          <a:xfrm>
            <a:off x="4338218" y="1957070"/>
            <a:ext cx="3515258" cy="1956689"/>
          </a:xfrm>
          <a:prstGeom prst="roundRect">
            <a:avLst>
              <a:gd name="adj" fmla="val 2804"/>
            </a:avLst>
          </a:prstGeom>
          <a:solidFill>
            <a:srgbClr val="F4F6F7"/>
          </a:solidFill>
          <a:ln w="12700">
            <a:solidFill>
              <a:srgbClr val="DDE3E6"/>
            </a:solidFill>
            <a:prstDash val="solid"/>
          </a:ln>
        </p:spPr>
      </p:sp>
      <p:sp>
        <p:nvSpPr>
          <p:cNvPr id="9" name="Text 7"/>
          <p:cNvSpPr txBox="1"/>
          <p:nvPr/>
        </p:nvSpPr>
        <p:spPr>
          <a:xfrm>
            <a:off x="4557674" y="2139950"/>
            <a:ext cx="3076346" cy="232029"/>
          </a:xfrm>
          <a:prstGeom prst="rect">
            <a:avLst/>
          </a:prstGeom>
          <a:noFill/>
          <a:ln/>
        </p:spPr>
        <p:txBody>
          <a:bodyPr wrap="square" lIns="0" tIns="0" rIns="0" bIns="0" rtlCol="0" anchor="t"/>
          <a:lstStyle/>
          <a:p>
            <a:pPr indent="0" marL="0">
              <a:buNone/>
            </a:pPr>
            <a:r>
              <a:rPr lang="en-US" sz="1450" b="1" dirty="0">
                <a:solidFill>
                  <a:srgbClr val="8E9AA3"/>
                </a:solidFill>
                <a:latin typeface="Calibri" pitchFamily="34" charset="0"/>
                <a:ea typeface="Calibri" pitchFamily="34" charset="-122"/>
                <a:cs typeface="Calibri" pitchFamily="34" charset="-120"/>
              </a:rPr>
              <a:t>Data minimisation</a:t>
            </a:r>
            <a:endParaRPr lang="en-US" sz="1450" dirty="0"/>
          </a:p>
        </p:txBody>
      </p:sp>
      <p:sp>
        <p:nvSpPr>
          <p:cNvPr id="10" name="Text 8"/>
          <p:cNvSpPr txBox="1"/>
          <p:nvPr/>
        </p:nvSpPr>
        <p:spPr>
          <a:xfrm>
            <a:off x="4557674" y="2463419"/>
            <a:ext cx="3076346" cy="128574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Do not keep precise GPS if a geohash suffices for the feature. The safest personal data is the data you never collected — or already deleted.</a:t>
            </a:r>
            <a:endParaRPr lang="en-US" sz="1200" dirty="0"/>
          </a:p>
        </p:txBody>
      </p:sp>
      <p:sp>
        <p:nvSpPr>
          <p:cNvPr id="11" name="Shape 9"/>
          <p:cNvSpPr/>
          <p:nvPr/>
        </p:nvSpPr>
        <p:spPr>
          <a:xfrm>
            <a:off x="8109509" y="1957070"/>
            <a:ext cx="3515258" cy="1956689"/>
          </a:xfrm>
          <a:prstGeom prst="roundRect">
            <a:avLst>
              <a:gd name="adj" fmla="val 2804"/>
            </a:avLst>
          </a:prstGeom>
          <a:solidFill>
            <a:srgbClr val="F4F6F7"/>
          </a:solidFill>
          <a:ln w="12700">
            <a:solidFill>
              <a:srgbClr val="DDE3E6"/>
            </a:solidFill>
            <a:prstDash val="solid"/>
          </a:ln>
        </p:spPr>
      </p:sp>
      <p:sp>
        <p:nvSpPr>
          <p:cNvPr id="12" name="Text 10"/>
          <p:cNvSpPr txBox="1"/>
          <p:nvPr/>
        </p:nvSpPr>
        <p:spPr>
          <a:xfrm>
            <a:off x="8328965" y="2139950"/>
            <a:ext cx="3076346" cy="232029"/>
          </a:xfrm>
          <a:prstGeom prst="rect">
            <a:avLst/>
          </a:prstGeom>
          <a:noFill/>
          <a:ln/>
        </p:spPr>
        <p:txBody>
          <a:bodyPr wrap="square" lIns="0" tIns="0" rIns="0" bIns="0" rtlCol="0" anchor="t"/>
          <a:lstStyle/>
          <a:p>
            <a:pPr indent="0" marL="0">
              <a:buNone/>
            </a:pPr>
            <a:r>
              <a:rPr lang="en-US" sz="1450" b="1" dirty="0">
                <a:solidFill>
                  <a:srgbClr val="D4A537"/>
                </a:solidFill>
                <a:latin typeface="Calibri" pitchFamily="34" charset="0"/>
                <a:ea typeface="Calibri" pitchFamily="34" charset="-122"/>
                <a:cs typeface="Calibri" pitchFamily="34" charset="-120"/>
              </a:rPr>
              <a:t>Retention limits</a:t>
            </a:r>
            <a:endParaRPr lang="en-US" sz="1450" dirty="0"/>
          </a:p>
        </p:txBody>
      </p:sp>
      <p:sp>
        <p:nvSpPr>
          <p:cNvPr id="13" name="Text 11"/>
          <p:cNvSpPr txBox="1"/>
          <p:nvPr/>
        </p:nvSpPr>
        <p:spPr>
          <a:xfrm>
            <a:off x="8328965" y="2463419"/>
            <a:ext cx="3076346" cy="128574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Delete when the purpose ends. This ties directly to VACUUM retention from Day 3, which is why retention is one decision, not two.</a:t>
            </a:r>
            <a:endParaRPr lang="en-US" sz="1200" dirty="0"/>
          </a:p>
        </p:txBody>
      </p:sp>
      <p:sp>
        <p:nvSpPr>
          <p:cNvPr id="14" name="Shape 12"/>
          <p:cNvSpPr/>
          <p:nvPr/>
        </p:nvSpPr>
        <p:spPr>
          <a:xfrm>
            <a:off x="566928" y="4169791"/>
            <a:ext cx="3515258" cy="1956689"/>
          </a:xfrm>
          <a:prstGeom prst="roundRect">
            <a:avLst>
              <a:gd name="adj" fmla="val 2804"/>
            </a:avLst>
          </a:prstGeom>
          <a:solidFill>
            <a:srgbClr val="F4F6F7"/>
          </a:solidFill>
          <a:ln w="12700">
            <a:solidFill>
              <a:srgbClr val="DDE3E6"/>
            </a:solidFill>
            <a:prstDash val="solid"/>
          </a:ln>
        </p:spPr>
      </p:sp>
      <p:sp>
        <p:nvSpPr>
          <p:cNvPr id="15" name="Text 13"/>
          <p:cNvSpPr txBox="1"/>
          <p:nvPr/>
        </p:nvSpPr>
        <p:spPr>
          <a:xfrm>
            <a:off x="786384" y="4352671"/>
            <a:ext cx="3076346" cy="232029"/>
          </a:xfrm>
          <a:prstGeom prst="rect">
            <a:avLst/>
          </a:prstGeom>
          <a:noFill/>
          <a:ln/>
        </p:spPr>
        <p:txBody>
          <a:bodyPr wrap="square" lIns="0" tIns="0" rIns="0" bIns="0" rtlCol="0" anchor="t"/>
          <a:lstStyle/>
          <a:p>
            <a:pPr indent="0" marL="0">
              <a:buNone/>
            </a:pPr>
            <a:r>
              <a:rPr lang="en-US" sz="1450" b="1" dirty="0">
                <a:solidFill>
                  <a:srgbClr val="00A6A6"/>
                </a:solidFill>
                <a:latin typeface="Calibri" pitchFamily="34" charset="0"/>
                <a:ea typeface="Calibri" pitchFamily="34" charset="-122"/>
                <a:cs typeface="Calibri" pitchFamily="34" charset="-120"/>
              </a:rPr>
              <a:t>Data-subject rights</a:t>
            </a:r>
            <a:endParaRPr lang="en-US" sz="1450" dirty="0"/>
          </a:p>
        </p:txBody>
      </p:sp>
      <p:sp>
        <p:nvSpPr>
          <p:cNvPr id="16" name="Text 14"/>
          <p:cNvSpPr txBox="1"/>
          <p:nvPr/>
        </p:nvSpPr>
        <p:spPr>
          <a:xfrm>
            <a:off x="786384" y="4676140"/>
            <a:ext cx="3076346" cy="128574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Access and erasure. Erasure is the MERGE DELETE from Module 4 plus a VACUUM that actually passes the retention window — with an auditable commit as the evidence.</a:t>
            </a:r>
            <a:endParaRPr lang="en-US" sz="1200" dirty="0"/>
          </a:p>
        </p:txBody>
      </p:sp>
      <p:sp>
        <p:nvSpPr>
          <p:cNvPr id="17" name="Shape 15"/>
          <p:cNvSpPr/>
          <p:nvPr/>
        </p:nvSpPr>
        <p:spPr>
          <a:xfrm>
            <a:off x="4338218" y="4169791"/>
            <a:ext cx="3515258" cy="1956689"/>
          </a:xfrm>
          <a:prstGeom prst="roundRect">
            <a:avLst>
              <a:gd name="adj" fmla="val 2804"/>
            </a:avLst>
          </a:prstGeom>
          <a:solidFill>
            <a:srgbClr val="F4F6F7"/>
          </a:solidFill>
          <a:ln w="12700">
            <a:solidFill>
              <a:srgbClr val="DDE3E6"/>
            </a:solidFill>
            <a:prstDash val="solid"/>
          </a:ln>
        </p:spPr>
      </p:sp>
      <p:sp>
        <p:nvSpPr>
          <p:cNvPr id="18" name="Text 16"/>
          <p:cNvSpPr txBox="1"/>
          <p:nvPr/>
        </p:nvSpPr>
        <p:spPr>
          <a:xfrm>
            <a:off x="4557674" y="4352671"/>
            <a:ext cx="3076346"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Cross-border transfer</a:t>
            </a:r>
            <a:endParaRPr lang="en-US" sz="1450" dirty="0"/>
          </a:p>
        </p:txBody>
      </p:sp>
      <p:sp>
        <p:nvSpPr>
          <p:cNvPr id="19" name="Text 17"/>
          <p:cNvSpPr txBox="1"/>
          <p:nvPr/>
        </p:nvSpPr>
        <p:spPr>
          <a:xfrm>
            <a:off x="4557674" y="4676140"/>
            <a:ext cx="3076346" cy="128574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Controls on where data physically goes. Relevant the moment a managed service or an online store sits in another region.</a:t>
            </a:r>
            <a:endParaRPr lang="en-US" sz="1200" dirty="0"/>
          </a:p>
        </p:txBody>
      </p:sp>
      <p:sp>
        <p:nvSpPr>
          <p:cNvPr id="20" name="Shape 18"/>
          <p:cNvSpPr/>
          <p:nvPr/>
        </p:nvSpPr>
        <p:spPr>
          <a:xfrm>
            <a:off x="8109509" y="4169791"/>
            <a:ext cx="3515258" cy="1956689"/>
          </a:xfrm>
          <a:prstGeom prst="roundRect">
            <a:avLst>
              <a:gd name="adj" fmla="val 2804"/>
            </a:avLst>
          </a:prstGeom>
          <a:solidFill>
            <a:srgbClr val="F4F6F7"/>
          </a:solidFill>
          <a:ln w="12700">
            <a:solidFill>
              <a:srgbClr val="DDE3E6"/>
            </a:solidFill>
            <a:prstDash val="solid"/>
          </a:ln>
        </p:spPr>
      </p:sp>
      <p:sp>
        <p:nvSpPr>
          <p:cNvPr id="21" name="Text 19"/>
          <p:cNvSpPr txBox="1"/>
          <p:nvPr/>
        </p:nvSpPr>
        <p:spPr>
          <a:xfrm>
            <a:off x="8328965" y="4352671"/>
            <a:ext cx="3076346" cy="232029"/>
          </a:xfrm>
          <a:prstGeom prst="rect">
            <a:avLst/>
          </a:prstGeom>
          <a:noFill/>
          <a:ln/>
        </p:spPr>
        <p:txBody>
          <a:bodyPr wrap="square" lIns="0" tIns="0" rIns="0" bIns="0" rtlCol="0" anchor="t"/>
          <a:lstStyle/>
          <a:p>
            <a:pPr indent="0" marL="0">
              <a:buNone/>
            </a:pPr>
            <a:r>
              <a:rPr lang="en-US" sz="1450" b="1" dirty="0">
                <a:solidFill>
                  <a:srgbClr val="D9503F"/>
                </a:solidFill>
                <a:latin typeface="Calibri" pitchFamily="34" charset="0"/>
                <a:ea typeface="Calibri" pitchFamily="34" charset="-122"/>
                <a:cs typeface="Calibri" pitchFamily="34" charset="-120"/>
              </a:rPr>
              <a:t>The rule for this course</a:t>
            </a:r>
            <a:endParaRPr lang="en-US" sz="1450" dirty="0"/>
          </a:p>
        </p:txBody>
      </p:sp>
      <p:sp>
        <p:nvSpPr>
          <p:cNvPr id="22" name="Text 20"/>
          <p:cNvSpPr txBox="1"/>
          <p:nvPr/>
        </p:nvSpPr>
        <p:spPr>
          <a:xfrm>
            <a:off x="8328965" y="4676140"/>
            <a:ext cx="3076346" cy="128574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Rider identifiers and precise GPS are personal data from Day 1, not a Day 4 afterthought. Never emit raw rider_id into BI output or the online store — it is an automatic rubric flag.</a:t>
            </a:r>
            <a:endParaRPr lang="en-US" sz="1200" dirty="0"/>
          </a:p>
        </p:txBody>
      </p:sp>
      <p:sp>
        <p:nvSpPr>
          <p:cNvPr id="23" name="Shape 21"/>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4" name="Shape 22"/>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5" name="Shape 23"/>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6" name="Text 24"/>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7" name="Text 25"/>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00A6A6"/>
                </a:solidFill>
                <a:latin typeface="Calibri" pitchFamily="34" charset="0"/>
                <a:ea typeface="Calibri" pitchFamily="34" charset="-122"/>
                <a:cs typeface="Calibri" pitchFamily="34" charset="-120"/>
              </a:rPr>
              <a:t>HANDS-ON LAB 6</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Quality gate and governance on silver.trips</a:t>
            </a:r>
            <a:endParaRPr lang="en-US" sz="3000" dirty="0"/>
          </a:p>
        </p:txBody>
      </p:sp>
      <p:sp>
        <p:nvSpPr>
          <p:cNvPr id="4" name="Shape 2"/>
          <p:cNvSpPr/>
          <p:nvPr/>
        </p:nvSpPr>
        <p:spPr>
          <a:xfrm>
            <a:off x="566928" y="1389888"/>
            <a:ext cx="3200400" cy="4736592"/>
          </a:xfrm>
          <a:prstGeom prst="roundRect">
            <a:avLst>
              <a:gd name="adj" fmla="val 1714"/>
            </a:avLst>
          </a:prstGeom>
          <a:solidFill>
            <a:srgbClr val="10202B"/>
          </a:solidFill>
          <a:ln w="12700">
            <a:solidFill>
              <a:srgbClr val="10202B"/>
            </a:solidFill>
            <a:prstDash val="solid"/>
          </a:ln>
        </p:spPr>
      </p:sp>
      <p:sp>
        <p:nvSpPr>
          <p:cNvPr id="5" name="Text 3"/>
          <p:cNvSpPr txBox="1"/>
          <p:nvPr/>
        </p:nvSpPr>
        <p:spPr>
          <a:xfrm>
            <a:off x="749808" y="1572768"/>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DURATION</a:t>
            </a:r>
            <a:endParaRPr lang="en-US" sz="900" dirty="0"/>
          </a:p>
        </p:txBody>
      </p:sp>
      <p:sp>
        <p:nvSpPr>
          <p:cNvPr id="6" name="Text 4"/>
          <p:cNvSpPr txBox="1"/>
          <p:nvPr/>
        </p:nvSpPr>
        <p:spPr>
          <a:xfrm>
            <a:off x="749808" y="1755648"/>
            <a:ext cx="2834640" cy="21945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50 minutes</a:t>
            </a:r>
            <a:endParaRPr lang="en-US" sz="1150" dirty="0"/>
          </a:p>
        </p:txBody>
      </p:sp>
      <p:sp>
        <p:nvSpPr>
          <p:cNvPr id="7" name="Text 5"/>
          <p:cNvSpPr txBox="1"/>
          <p:nvPr/>
        </p:nvSpPr>
        <p:spPr>
          <a:xfrm>
            <a:off x="749808" y="2157984"/>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CHECKPOINT</a:t>
            </a:r>
            <a:endParaRPr lang="en-US" sz="900" dirty="0"/>
          </a:p>
        </p:txBody>
      </p:sp>
      <p:sp>
        <p:nvSpPr>
          <p:cNvPr id="8" name="Text 6"/>
          <p:cNvSpPr txBox="1"/>
          <p:nvPr/>
        </p:nvSpPr>
        <p:spPr>
          <a:xfrm>
            <a:off x="749808" y="2340864"/>
            <a:ext cx="2834640" cy="21945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git checkout lab6-start</a:t>
            </a:r>
            <a:endParaRPr lang="en-US" sz="1150" dirty="0"/>
          </a:p>
        </p:txBody>
      </p:sp>
      <p:sp>
        <p:nvSpPr>
          <p:cNvPr id="9" name="Text 7"/>
          <p:cNvSpPr txBox="1"/>
          <p:nvPr/>
        </p:nvSpPr>
        <p:spPr>
          <a:xfrm>
            <a:off x="749808" y="2743200"/>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OBJECTIVE</a:t>
            </a:r>
            <a:endParaRPr lang="en-US" sz="900" dirty="0"/>
          </a:p>
        </p:txBody>
      </p:sp>
      <p:sp>
        <p:nvSpPr>
          <p:cNvPr id="10" name="Text 8"/>
          <p:cNvSpPr txBox="1"/>
          <p:nvPr/>
        </p:nvSpPr>
        <p:spPr>
          <a:xfrm>
            <a:off x="749808" y="2926080"/>
            <a:ext cx="2834640" cy="56083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A gate that ACTS: fail-fast on integrity, quarantine on partial, with governance controls applied</a:t>
            </a:r>
            <a:endParaRPr lang="en-US" sz="1150" dirty="0"/>
          </a:p>
        </p:txBody>
      </p:sp>
      <p:sp>
        <p:nvSpPr>
          <p:cNvPr id="11" name="Text 9"/>
          <p:cNvSpPr txBox="1"/>
          <p:nvPr/>
        </p:nvSpPr>
        <p:spPr>
          <a:xfrm>
            <a:off x="749808" y="3669792"/>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DELIVERABLE</a:t>
            </a:r>
            <a:endParaRPr lang="en-US" sz="900" dirty="0"/>
          </a:p>
        </p:txBody>
      </p:sp>
      <p:sp>
        <p:nvSpPr>
          <p:cNvPr id="12" name="Text 10"/>
          <p:cNvSpPr txBox="1"/>
          <p:nvPr/>
        </p:nvSpPr>
        <p:spPr>
          <a:xfrm>
            <a:off x="749808" y="3852672"/>
            <a:ext cx="2834640" cy="373888"/>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GX suite + quarantine table + data docs + a PDPL retention job</a:t>
            </a:r>
            <a:endParaRPr lang="en-US" sz="1150" dirty="0"/>
          </a:p>
        </p:txBody>
      </p:sp>
      <p:sp>
        <p:nvSpPr>
          <p:cNvPr id="13" name="Text 11"/>
          <p:cNvSpPr txBox="1"/>
          <p:nvPr/>
        </p:nvSpPr>
        <p:spPr>
          <a:xfrm>
            <a:off x="4041648" y="1408176"/>
            <a:ext cx="7583119" cy="274320"/>
          </a:xfrm>
          <a:prstGeom prst="rect">
            <a:avLst/>
          </a:prstGeom>
          <a:noFill/>
          <a:ln/>
        </p:spPr>
        <p:txBody>
          <a:bodyPr wrap="square" lIns="0" tIns="0" rIns="0" bIns="0" rtlCol="0" anchor="ctr"/>
          <a:lstStyle/>
          <a:p>
            <a:pPr indent="0" marL="0">
              <a:buNone/>
            </a:pPr>
            <a:r>
              <a:rPr lang="en-US" sz="1400" b="1" dirty="0">
                <a:solidFill>
                  <a:srgbClr val="B0763A"/>
                </a:solidFill>
                <a:latin typeface="Calibri" pitchFamily="34" charset="0"/>
                <a:ea typeface="Calibri" pitchFamily="34" charset="-122"/>
                <a:cs typeface="Calibri" pitchFamily="34" charset="-120"/>
              </a:rPr>
              <a:t>What you will do</a:t>
            </a:r>
            <a:endParaRPr lang="en-US" sz="1400" dirty="0"/>
          </a:p>
        </p:txBody>
      </p:sp>
      <p:sp>
        <p:nvSpPr>
          <p:cNvPr id="14" name="Text 12"/>
          <p:cNvSpPr txBox="1"/>
          <p:nvPr/>
        </p:nvSpPr>
        <p:spPr>
          <a:xfrm>
            <a:off x="4041648" y="1755648"/>
            <a:ext cx="7583119" cy="250317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Write a Great Expectations suite for silver.trips: schema, ranges, uniqueness, referential integrity to silver.drivers.</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Wire the gate into promotion: fail-fast on null or duplicate trip_id, quarantine out-of-range rows into silver.trips_quarantine.</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Run the dirty batch fixture through it. Confirm the good rows promote, the bad rows quarantine, and both are recorded.</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Add the four observability checks — freshness, volume, schema drift, distribution drift — and make one of them fire.</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Classify every column as public / internal / personal / sensitive-personal, then run the PDPL retention and erasure job and keep the commit as evidence.</a:t>
            </a:r>
            <a:endParaRPr lang="en-US" sz="1250" dirty="0"/>
          </a:p>
        </p:txBody>
      </p:sp>
      <p:sp>
        <p:nvSpPr>
          <p:cNvPr id="15" name="Text 13"/>
          <p:cNvSpPr txBox="1"/>
          <p:nvPr/>
        </p:nvSpPr>
        <p:spPr>
          <a:xfrm>
            <a:off x="4041648" y="4350258"/>
            <a:ext cx="7583119" cy="274320"/>
          </a:xfrm>
          <a:prstGeom prst="rect">
            <a:avLst/>
          </a:prstGeom>
          <a:noFill/>
          <a:ln/>
        </p:spPr>
        <p:txBody>
          <a:bodyPr wrap="square" lIns="0" tIns="0" rIns="0" bIns="0" rtlCol="0" anchor="ctr"/>
          <a:lstStyle/>
          <a:p>
            <a:pPr indent="0" marL="0">
              <a:buNone/>
            </a:pPr>
            <a:r>
              <a:rPr lang="en-US" sz="1400" b="1" dirty="0">
                <a:solidFill>
                  <a:srgbClr val="00A6A6"/>
                </a:solidFill>
                <a:latin typeface="Calibri" pitchFamily="34" charset="0"/>
                <a:ea typeface="Calibri" pitchFamily="34" charset="-122"/>
                <a:cs typeface="Calibri" pitchFamily="34" charset="-120"/>
              </a:rPr>
              <a:t>Acceptance criteria</a:t>
            </a:r>
            <a:endParaRPr lang="en-US" sz="1400" dirty="0"/>
          </a:p>
        </p:txBody>
      </p:sp>
      <p:sp>
        <p:nvSpPr>
          <p:cNvPr id="16" name="Text 14"/>
          <p:cNvSpPr txBox="1"/>
          <p:nvPr/>
        </p:nvSpPr>
        <p:spPr>
          <a:xfrm>
            <a:off x="4041648" y="4661154"/>
            <a:ext cx="7583119" cy="141046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The gate BLOCKS on an integrity failure and QUARANTINES on a partial one — demonstrated, not described.</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Data docs are generated and readable by a non-engineer.</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The erasure request in data/fixtures/erasure_request/ is honoured with an auditable Delta commit.</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A drift check fires on a batch where every individual row is valid.</a:t>
            </a:r>
            <a:endParaRPr lang="en-US" sz="1200" dirty="0"/>
          </a:p>
        </p:txBody>
      </p:sp>
      <p:sp>
        <p:nvSpPr>
          <p:cNvPr id="17" name="Shape 1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8" name="Shape 1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9" name="Shape 1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0" name="Text 1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1" name="Text 1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371600"/>
            <a:ext cx="11057839" cy="274320"/>
          </a:xfrm>
          <a:prstGeom prst="rect">
            <a:avLst/>
          </a:prstGeom>
          <a:noFill/>
          <a:ln/>
        </p:spPr>
        <p:txBody>
          <a:bodyPr wrap="square" lIns="0" tIns="0" rIns="0" bIns="0" rtlCol="0" anchor="ctr"/>
          <a:lstStyle/>
          <a:p>
            <a:pPr indent="0" marL="0">
              <a:buNone/>
            </a:pPr>
            <a:r>
              <a:rPr lang="en-US" sz="1100" b="1" spc="180" kern="0" dirty="0">
                <a:solidFill>
                  <a:srgbClr val="D4A537"/>
                </a:solidFill>
                <a:latin typeface="Calibri" pitchFamily="34" charset="0"/>
                <a:ea typeface="Calibri" pitchFamily="34" charset="-122"/>
                <a:cs typeface="Calibri" pitchFamily="34" charset="-120"/>
              </a:rPr>
              <a:t>DAY 4 · BEFORE WE CLOSE</a:t>
            </a:r>
            <a:endParaRPr lang="en-US" sz="1100" dirty="0"/>
          </a:p>
        </p:txBody>
      </p:sp>
      <p:sp>
        <p:nvSpPr>
          <p:cNvPr id="3" name="Text 1"/>
          <p:cNvSpPr txBox="1"/>
          <p:nvPr/>
        </p:nvSpPr>
        <p:spPr>
          <a:xfrm>
            <a:off x="566928" y="1783080"/>
            <a:ext cx="10509199" cy="2377440"/>
          </a:xfrm>
          <a:prstGeom prst="rect">
            <a:avLst/>
          </a:prstGeom>
          <a:noFill/>
          <a:ln/>
        </p:spPr>
        <p:txBody>
          <a:bodyPr wrap="square" lIns="0" tIns="0" rIns="0" bIns="0" rtlCol="0" anchor="t"/>
          <a:lstStyle/>
          <a:p>
            <a:pPr indent="0" marL="0">
              <a:lnSpc>
                <a:spcPct val="112000"/>
              </a:lnSpc>
              <a:buNone/>
            </a:pPr>
            <a:r>
              <a:rPr lang="en-US" sz="3000" b="1" dirty="0">
                <a:solidFill>
                  <a:srgbClr val="FFFFFF"/>
                </a:solidFill>
                <a:latin typeface="Cambria" pitchFamily="34" charset="0"/>
                <a:ea typeface="Cambria" pitchFamily="34" charset="-122"/>
                <a:cs typeface="Cambria" pitchFamily="34" charset="-120"/>
              </a:rPr>
              <a:t>Every control you built today</a:t>
            </a:r>
            <a:endParaRPr lang="en-US" sz="3000" dirty="0"/>
          </a:p>
          <a:p>
            <a:pPr indent="0" marL="0">
              <a:lnSpc>
                <a:spcPct val="112000"/>
              </a:lnSpc>
              <a:buNone/>
            </a:pPr>
            <a:r>
              <a:rPr lang="en-US" sz="3000" b="1" dirty="0">
                <a:solidFill>
                  <a:srgbClr val="FFFFFF"/>
                </a:solidFill>
                <a:latin typeface="Cambria" pitchFamily="34" charset="0"/>
                <a:ea typeface="Cambria" pitchFamily="34" charset="-122"/>
                <a:cs typeface="Cambria" pitchFamily="34" charset="-120"/>
              </a:rPr>
              <a:t>checks that values are well-formed.</a:t>
            </a:r>
            <a:endParaRPr lang="en-US" sz="3000" dirty="0"/>
          </a:p>
        </p:txBody>
      </p:sp>
      <p:sp>
        <p:nvSpPr>
          <p:cNvPr id="4" name="Text 2"/>
          <p:cNvSpPr txBox="1"/>
          <p:nvPr/>
        </p:nvSpPr>
        <p:spPr>
          <a:xfrm>
            <a:off x="566928" y="4434840"/>
            <a:ext cx="10509199" cy="1097280"/>
          </a:xfrm>
          <a:prstGeom prst="rect">
            <a:avLst/>
          </a:prstGeom>
          <a:noFill/>
          <a:ln/>
        </p:spPr>
        <p:txBody>
          <a:bodyPr wrap="square" lIns="0" tIns="0" rIns="0" bIns="0" rtlCol="0" anchor="t"/>
          <a:lstStyle/>
          <a:p>
            <a:pPr indent="0" marL="0">
              <a:buNone/>
            </a:pPr>
            <a:r>
              <a:rPr lang="en-US" sz="1500" dirty="0">
                <a:solidFill>
                  <a:srgbClr val="9FB3BE"/>
                </a:solidFill>
                <a:latin typeface="Calibri" pitchFamily="34" charset="0"/>
                <a:ea typeface="Calibri" pitchFamily="34" charset="-122"/>
                <a:cs typeface="Calibri" pitchFamily="34" charset="-120"/>
              </a:rPr>
              <a:t>Schema enforcement checks types. Range checks check bounds. Referential checks check keys.</a:t>
            </a:r>
            <a:endParaRPr lang="en-US" sz="1500" dirty="0"/>
          </a:p>
          <a:p>
            <a:pPr indent="0" marL="0">
              <a:buNone/>
            </a:pP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None of them checks whether a number still MEANS what it meant yesterday.</a:t>
            </a:r>
            <a:endParaRPr lang="en-US" sz="1500" dirty="0"/>
          </a:p>
          <a:p>
            <a:pPr indent="0" marL="0">
              <a:buNone/>
            </a:pP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Tomorrow morning starts with an incident.</a:t>
            </a:r>
            <a:endParaRPr lang="en-US" sz="1500" dirty="0"/>
          </a:p>
        </p:txBody>
      </p:sp>
      <p:sp>
        <p:nvSpPr>
          <p:cNvPr id="5"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6"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7"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8"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9"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417320"/>
            <a:ext cx="11057839" cy="274320"/>
          </a:xfrm>
          <a:prstGeom prst="rect">
            <a:avLst/>
          </a:prstGeom>
          <a:noFill/>
          <a:ln/>
        </p:spPr>
        <p:txBody>
          <a:bodyPr wrap="square" lIns="0" tIns="0" rIns="0" bIns="0" rtlCol="0" anchor="ctr"/>
          <a:lstStyle/>
          <a:p>
            <a:pPr indent="0" marL="0">
              <a:buNone/>
            </a:pPr>
            <a:r>
              <a:rPr lang="en-US" sz="1150" b="1" spc="220" kern="0" dirty="0">
                <a:solidFill>
                  <a:srgbClr val="D4A537"/>
                </a:solidFill>
                <a:latin typeface="Calibri" pitchFamily="34" charset="0"/>
                <a:ea typeface="Calibri" pitchFamily="34" charset="-122"/>
                <a:cs typeface="Calibri" pitchFamily="34" charset="-120"/>
              </a:rPr>
              <a:t>SIGNATURE CASE STUDY · CS-11 · 90 MINUTES</a:t>
            </a:r>
            <a:endParaRPr lang="en-US" sz="1150" dirty="0"/>
          </a:p>
        </p:txBody>
      </p:sp>
      <p:sp>
        <p:nvSpPr>
          <p:cNvPr id="3" name="Text 1"/>
          <p:cNvSpPr txBox="1"/>
          <p:nvPr/>
        </p:nvSpPr>
        <p:spPr>
          <a:xfrm>
            <a:off x="566928" y="1783080"/>
            <a:ext cx="6081812"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Masar National</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Mobility Data Incident</a:t>
            </a:r>
            <a:endParaRPr lang="en-US" sz="4000" dirty="0"/>
          </a:p>
        </p:txBody>
      </p:sp>
      <p:sp>
        <p:nvSpPr>
          <p:cNvPr id="4" name="Text 2"/>
          <p:cNvSpPr txBox="1"/>
          <p:nvPr/>
        </p:nvSpPr>
        <p:spPr>
          <a:xfrm>
            <a:off x="566928" y="3200400"/>
            <a:ext cx="6081812" cy="1371600"/>
          </a:xfrm>
          <a:prstGeom prst="rect">
            <a:avLst/>
          </a:prstGeom>
          <a:noFill/>
          <a:ln/>
        </p:spPr>
        <p:txBody>
          <a:bodyPr wrap="square" lIns="0" tIns="0" rIns="0" bIns="0" rtlCol="0" anchor="t"/>
          <a:lstStyle/>
          <a:p>
            <a:pPr indent="0" marL="0">
              <a:buNone/>
            </a:pPr>
            <a:r>
              <a:rPr lang="en-US" sz="1400" dirty="0">
                <a:solidFill>
                  <a:srgbClr val="9FB3BE"/>
                </a:solidFill>
                <a:latin typeface="Calibri" pitchFamily="34" charset="0"/>
                <a:ea typeface="Calibri" pitchFamily="34" charset="-122"/>
                <a:cs typeface="Calibri" pitchFamily="34" charset="-120"/>
              </a:rPr>
              <a:t>Teams investigate the Lakehouse and reconstruct what happened. Facilitator releases evidence in six stages. Nobody is told the answer.</a:t>
            </a:r>
            <a:endParaRPr lang="en-US" sz="1400" dirty="0"/>
          </a:p>
        </p:txBody>
      </p:sp>
      <p:sp>
        <p:nvSpPr>
          <p:cNvPr id="5" name="Shape 3"/>
          <p:cNvSpPr/>
          <p:nvPr/>
        </p:nvSpPr>
        <p:spPr>
          <a:xfrm>
            <a:off x="7201632" y="1810512"/>
            <a:ext cx="329184" cy="329184"/>
          </a:xfrm>
          <a:prstGeom prst="ellipse">
            <a:avLst/>
          </a:prstGeom>
          <a:solidFill>
            <a:srgbClr val="B0763A"/>
          </a:solidFill>
          <a:ln w="12700">
            <a:solidFill>
              <a:srgbClr val="B0763A"/>
            </a:solidFill>
            <a:prstDash val="solid"/>
          </a:ln>
        </p:spPr>
      </p:sp>
      <p:sp>
        <p:nvSpPr>
          <p:cNvPr id="6" name="Text 4"/>
          <p:cNvSpPr txBox="1"/>
          <p:nvPr/>
        </p:nvSpPr>
        <p:spPr>
          <a:xfrm>
            <a:off x="7201632" y="18242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658832" y="1783080"/>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08:00 — the page</a:t>
            </a:r>
            <a:endParaRPr lang="en-US" sz="1300" dirty="0"/>
          </a:p>
        </p:txBody>
      </p:sp>
      <p:sp>
        <p:nvSpPr>
          <p:cNvPr id="8" name="Shape 6"/>
          <p:cNvSpPr/>
          <p:nvPr/>
        </p:nvSpPr>
        <p:spPr>
          <a:xfrm>
            <a:off x="7201632" y="2468880"/>
            <a:ext cx="329184" cy="329184"/>
          </a:xfrm>
          <a:prstGeom prst="ellipse">
            <a:avLst/>
          </a:prstGeom>
          <a:solidFill>
            <a:srgbClr val="8E9AA3"/>
          </a:solidFill>
          <a:ln w="12700">
            <a:solidFill>
              <a:srgbClr val="8E9AA3"/>
            </a:solidFill>
            <a:prstDash val="solid"/>
          </a:ln>
        </p:spPr>
      </p:sp>
      <p:sp>
        <p:nvSpPr>
          <p:cNvPr id="9" name="Text 7"/>
          <p:cNvSpPr txBox="1"/>
          <p:nvPr/>
        </p:nvSpPr>
        <p:spPr>
          <a:xfrm>
            <a:off x="7201632" y="248259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7658832" y="2441448"/>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evidence pack, P1–P6</a:t>
            </a:r>
            <a:endParaRPr lang="en-US" sz="1300" dirty="0"/>
          </a:p>
        </p:txBody>
      </p:sp>
      <p:sp>
        <p:nvSpPr>
          <p:cNvPr id="11" name="Shape 9"/>
          <p:cNvSpPr/>
          <p:nvPr/>
        </p:nvSpPr>
        <p:spPr>
          <a:xfrm>
            <a:off x="7201632" y="3127248"/>
            <a:ext cx="329184" cy="329184"/>
          </a:xfrm>
          <a:prstGeom prst="ellipse">
            <a:avLst/>
          </a:prstGeom>
          <a:solidFill>
            <a:srgbClr val="D4A537"/>
          </a:solidFill>
          <a:ln w="12700">
            <a:solidFill>
              <a:srgbClr val="D4A537"/>
            </a:solidFill>
            <a:prstDash val="solid"/>
          </a:ln>
        </p:spPr>
      </p:sp>
      <p:sp>
        <p:nvSpPr>
          <p:cNvPr id="12" name="Text 10"/>
          <p:cNvSpPr txBox="1"/>
          <p:nvPr/>
        </p:nvSpPr>
        <p:spPr>
          <a:xfrm>
            <a:off x="7201632" y="31409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3" name="Text 11"/>
          <p:cNvSpPr txBox="1"/>
          <p:nvPr/>
        </p:nvSpPr>
        <p:spPr>
          <a:xfrm>
            <a:off x="7658832" y="3099816"/>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chain</a:t>
            </a:r>
            <a:endParaRPr lang="en-US" sz="1300" dirty="0"/>
          </a:p>
        </p:txBody>
      </p:sp>
      <p:sp>
        <p:nvSpPr>
          <p:cNvPr id="14" name="Shape 12"/>
          <p:cNvSpPr/>
          <p:nvPr/>
        </p:nvSpPr>
        <p:spPr>
          <a:xfrm>
            <a:off x="7201632" y="3785616"/>
            <a:ext cx="329184" cy="329184"/>
          </a:xfrm>
          <a:prstGeom prst="ellipse">
            <a:avLst/>
          </a:prstGeom>
          <a:solidFill>
            <a:srgbClr val="00A6A6"/>
          </a:solidFill>
          <a:ln w="12700">
            <a:solidFill>
              <a:srgbClr val="00A6A6"/>
            </a:solidFill>
            <a:prstDash val="solid"/>
          </a:ln>
        </p:spPr>
      </p:sp>
      <p:sp>
        <p:nvSpPr>
          <p:cNvPr id="15" name="Text 13"/>
          <p:cNvSpPr txBox="1"/>
          <p:nvPr/>
        </p:nvSpPr>
        <p:spPr>
          <a:xfrm>
            <a:off x="7201632" y="37993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6" name="Text 14"/>
          <p:cNvSpPr txBox="1"/>
          <p:nvPr/>
        </p:nvSpPr>
        <p:spPr>
          <a:xfrm>
            <a:off x="7658832" y="3758184"/>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Five conclusions</a:t>
            </a:r>
            <a:endParaRPr lang="en-US" sz="1300" dirty="0"/>
          </a:p>
        </p:txBody>
      </p:sp>
      <p:sp>
        <p:nvSpPr>
          <p:cNvPr id="17" name="Shape 15"/>
          <p:cNvSpPr/>
          <p:nvPr/>
        </p:nvSpPr>
        <p:spPr>
          <a:xfrm>
            <a:off x="7201632" y="4443984"/>
            <a:ext cx="329184" cy="329184"/>
          </a:xfrm>
          <a:prstGeom prst="ellipse">
            <a:avLst/>
          </a:prstGeom>
          <a:solidFill>
            <a:srgbClr val="D9503F"/>
          </a:solidFill>
          <a:ln w="12700">
            <a:solidFill>
              <a:srgbClr val="D9503F"/>
            </a:solidFill>
            <a:prstDash val="solid"/>
          </a:ln>
        </p:spPr>
      </p:sp>
      <p:sp>
        <p:nvSpPr>
          <p:cNvPr id="18" name="Text 16"/>
          <p:cNvSpPr txBox="1"/>
          <p:nvPr/>
        </p:nvSpPr>
        <p:spPr>
          <a:xfrm>
            <a:off x="7201632" y="44577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19" name="Text 17"/>
          <p:cNvSpPr txBox="1"/>
          <p:nvPr/>
        </p:nvSpPr>
        <p:spPr>
          <a:xfrm>
            <a:off x="7658832" y="4416552"/>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Remediation and the blameless review</a:t>
            </a:r>
            <a:endParaRPr lang="en-US" sz="1300" dirty="0"/>
          </a:p>
        </p:txBody>
      </p:sp>
      <p:sp>
        <p:nvSpPr>
          <p:cNvPr id="20" name="Shape 18"/>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1" name="Shape 19"/>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2" name="Shape 20"/>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3" name="Text 21"/>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4" name="Text 22"/>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371600"/>
            <a:ext cx="11057839" cy="274320"/>
          </a:xfrm>
          <a:prstGeom prst="rect">
            <a:avLst/>
          </a:prstGeom>
          <a:noFill/>
          <a:ln/>
        </p:spPr>
        <p:txBody>
          <a:bodyPr wrap="square" lIns="0" tIns="0" rIns="0" bIns="0" rtlCol="0" anchor="ctr"/>
          <a:lstStyle/>
          <a:p>
            <a:pPr indent="0" marL="0">
              <a:buNone/>
            </a:pPr>
            <a:r>
              <a:rPr lang="en-US" sz="1100" b="1" spc="180" kern="0" dirty="0">
                <a:solidFill>
                  <a:srgbClr val="D4A537"/>
                </a:solidFill>
                <a:latin typeface="Calibri" pitchFamily="34" charset="0"/>
                <a:ea typeface="Calibri" pitchFamily="34" charset="-122"/>
                <a:cs typeface="Calibri" pitchFamily="34" charset="-120"/>
              </a:rPr>
              <a:t>08:00, THURSDAY</a:t>
            </a:r>
            <a:endParaRPr lang="en-US" sz="1100" dirty="0"/>
          </a:p>
        </p:txBody>
      </p:sp>
      <p:sp>
        <p:nvSpPr>
          <p:cNvPr id="3" name="Text 1"/>
          <p:cNvSpPr txBox="1"/>
          <p:nvPr/>
        </p:nvSpPr>
        <p:spPr>
          <a:xfrm>
            <a:off x="566928" y="1783080"/>
            <a:ext cx="10509199" cy="2377440"/>
          </a:xfrm>
          <a:prstGeom prst="rect">
            <a:avLst/>
          </a:prstGeom>
          <a:noFill/>
          <a:ln/>
        </p:spPr>
        <p:txBody>
          <a:bodyPr wrap="square" lIns="0" tIns="0" rIns="0" bIns="0" rtlCol="0" anchor="t"/>
          <a:lstStyle/>
          <a:p>
            <a:pPr indent="0" marL="0">
              <a:lnSpc>
                <a:spcPct val="112000"/>
              </a:lnSpc>
              <a:buNone/>
            </a:pPr>
            <a:r>
              <a:rPr lang="en-US" sz="3200" b="1" dirty="0">
                <a:solidFill>
                  <a:srgbClr val="FFFFFF"/>
                </a:solidFill>
                <a:latin typeface="Cambria" pitchFamily="34" charset="0"/>
                <a:ea typeface="Cambria" pitchFamily="34" charset="-122"/>
                <a:cs typeface="Cambria" pitchFamily="34" charset="-120"/>
              </a:rPr>
              <a:t>Demand-forecasting accuracy has</a:t>
            </a:r>
            <a:endParaRPr lang="en-US" sz="3200" dirty="0"/>
          </a:p>
          <a:p>
            <a:pPr indent="0" marL="0">
              <a:lnSpc>
                <a:spcPct val="112000"/>
              </a:lnSpc>
              <a:buNone/>
            </a:pPr>
            <a:r>
              <a:rPr lang="en-US" sz="3200" b="1" dirty="0">
                <a:solidFill>
                  <a:srgbClr val="FFFFFF"/>
                </a:solidFill>
                <a:latin typeface="Cambria" pitchFamily="34" charset="0"/>
                <a:ea typeface="Cambria" pitchFamily="34" charset="-122"/>
                <a:cs typeface="Cambria" pitchFamily="34" charset="-120"/>
              </a:rPr>
              <a:t>deteriorated by 18% overnight.</a:t>
            </a:r>
            <a:endParaRPr lang="en-US" sz="3200" dirty="0"/>
          </a:p>
          <a:p>
            <a:pPr indent="0" marL="0">
              <a:lnSpc>
                <a:spcPct val="112000"/>
              </a:lnSpc>
              <a:buNone/>
            </a:pPr>
            <a:endParaRPr lang="en-US" sz="3200" dirty="0"/>
          </a:p>
          <a:p>
            <a:pPr indent="0" marL="0">
              <a:lnSpc>
                <a:spcPct val="112000"/>
              </a:lnSpc>
              <a:buNone/>
            </a:pPr>
            <a:r>
              <a:rPr lang="en-US" sz="3200" b="1" dirty="0">
                <a:solidFill>
                  <a:srgbClr val="FFFFFF"/>
                </a:solidFill>
                <a:latin typeface="Cambria" pitchFamily="34" charset="0"/>
                <a:ea typeface="Cambria" pitchFamily="34" charset="-122"/>
                <a:cs typeface="Cambria" pitchFamily="34" charset="-120"/>
              </a:rPr>
              <a:t>The BI dashboard looks completely normal.</a:t>
            </a:r>
            <a:endParaRPr lang="en-US" sz="3200" dirty="0"/>
          </a:p>
        </p:txBody>
      </p:sp>
      <p:sp>
        <p:nvSpPr>
          <p:cNvPr id="4" name="Text 2"/>
          <p:cNvSpPr txBox="1"/>
          <p:nvPr/>
        </p:nvSpPr>
        <p:spPr>
          <a:xfrm>
            <a:off x="566928" y="4434840"/>
            <a:ext cx="10509199" cy="1097280"/>
          </a:xfrm>
          <a:prstGeom prst="rect">
            <a:avLst/>
          </a:prstGeom>
          <a:noFill/>
          <a:ln/>
        </p:spPr>
        <p:txBody>
          <a:bodyPr wrap="square" lIns="0" tIns="0" rIns="0" bIns="0" rtlCol="0" anchor="t"/>
          <a:lstStyle/>
          <a:p>
            <a:pPr indent="0" marL="0">
              <a:buNone/>
            </a:pPr>
            <a:r>
              <a:rPr lang="en-US" sz="1500" dirty="0">
                <a:solidFill>
                  <a:srgbClr val="9FB3BE"/>
                </a:solidFill>
                <a:latin typeface="Calibri" pitchFamily="34" charset="0"/>
                <a:ea typeface="Calibri" pitchFamily="34" charset="-122"/>
                <a:cs typeface="Calibri" pitchFamily="34" charset="-120"/>
              </a:rPr>
              <a:t>Trip counts: normal. Revenue: normal. Freshness: green. Volume: green. Schema validation: passing.</a:t>
            </a: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Every quality check you built yesterday is passing right now.</a:t>
            </a:r>
            <a:endParaRPr lang="en-US" sz="1500" dirty="0"/>
          </a:p>
          <a:p>
            <a:pPr indent="0" marL="0">
              <a:buNone/>
            </a:pP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You have 60 minutes. What do you look at first?</a:t>
            </a:r>
            <a:endParaRPr lang="en-US" sz="1500" dirty="0"/>
          </a:p>
        </p:txBody>
      </p:sp>
      <p:sp>
        <p:nvSpPr>
          <p:cNvPr id="5"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6"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7"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8"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9"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CS-11 · EVIDENCE PACK</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Six evidence packets, released one at a time</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Do not hand out all six. Release the next packet only when a team asks a question it would answer.</a:t>
            </a:r>
            <a:endParaRPr lang="en-US" sz="1330" dirty="0"/>
          </a:p>
        </p:txBody>
      </p:sp>
      <p:sp>
        <p:nvSpPr>
          <p:cNvPr id="5" name="Shape 3"/>
          <p:cNvSpPr/>
          <p:nvPr/>
        </p:nvSpPr>
        <p:spPr>
          <a:xfrm>
            <a:off x="566928" y="1883664"/>
            <a:ext cx="3515258" cy="1746504"/>
          </a:xfrm>
          <a:prstGeom prst="roundRect">
            <a:avLst>
              <a:gd name="adj" fmla="val 3141"/>
            </a:avLst>
          </a:prstGeom>
          <a:solidFill>
            <a:srgbClr val="F4F6F7"/>
          </a:solidFill>
          <a:ln w="12700">
            <a:solidFill>
              <a:srgbClr val="DDE3E6"/>
            </a:solidFill>
            <a:prstDash val="solid"/>
          </a:ln>
        </p:spPr>
      </p:sp>
      <p:sp>
        <p:nvSpPr>
          <p:cNvPr id="6" name="Shape 4"/>
          <p:cNvSpPr/>
          <p:nvPr/>
        </p:nvSpPr>
        <p:spPr>
          <a:xfrm>
            <a:off x="786384" y="2066544"/>
            <a:ext cx="365760" cy="365760"/>
          </a:xfrm>
          <a:prstGeom prst="ellipse">
            <a:avLst/>
          </a:prstGeom>
          <a:solidFill>
            <a:srgbClr val="D9503F"/>
          </a:solidFill>
          <a:ln w="12700">
            <a:solidFill>
              <a:srgbClr val="D9503F"/>
            </a:solidFill>
            <a:prstDash val="solid"/>
          </a:ln>
        </p:spPr>
      </p:sp>
      <p:sp>
        <p:nvSpPr>
          <p:cNvPr id="7" name="Text 5"/>
          <p:cNvSpPr txBox="1"/>
          <p:nvPr/>
        </p:nvSpPr>
        <p:spPr>
          <a:xfrm>
            <a:off x="786384" y="208026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P1</a:t>
            </a:r>
            <a:endParaRPr lang="en-US" sz="1250" dirty="0"/>
          </a:p>
        </p:txBody>
      </p:sp>
      <p:sp>
        <p:nvSpPr>
          <p:cNvPr id="8" name="Text 6"/>
          <p:cNvSpPr txBox="1"/>
          <p:nvPr/>
        </p:nvSpPr>
        <p:spPr>
          <a:xfrm>
            <a:off x="786384" y="2560320"/>
            <a:ext cx="3076346"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Model monitoring chart</a:t>
            </a:r>
            <a:endParaRPr lang="en-US" sz="1450" dirty="0"/>
          </a:p>
        </p:txBody>
      </p:sp>
      <p:sp>
        <p:nvSpPr>
          <p:cNvPr id="9" name="Text 7"/>
          <p:cNvSpPr txBox="1"/>
          <p:nvPr/>
        </p:nvSpPr>
        <p:spPr>
          <a:xfrm>
            <a:off x="786384" y="2883789"/>
            <a:ext cx="3076346" cy="581787"/>
          </a:xfrm>
          <a:prstGeom prst="rect">
            <a:avLst/>
          </a:prstGeom>
          <a:noFill/>
          <a:ln/>
        </p:spPr>
        <p:txBody>
          <a:bodyPr wrap="square" lIns="0" tIns="0" rIns="0" bIns="0" rtlCol="0" anchor="t"/>
          <a:lstStyle/>
          <a:p>
            <a:pPr indent="0" marL="0">
              <a:buNone/>
            </a:pPr>
            <a:r>
              <a:rPr lang="en-US" sz="1050" dirty="0">
                <a:solidFill>
                  <a:srgbClr val="2B3A42"/>
                </a:solidFill>
                <a:latin typeface="Calibri" pitchFamily="34" charset="0"/>
                <a:ea typeface="Calibri" pitchFamily="34" charset="-122"/>
                <a:cs typeface="Calibri" pitchFamily="34" charset="-120"/>
              </a:rPr>
              <a:t>Hourly ETA-model MAE for 14 days. Flat, then a step change at 05:00 on 5 June. No gradual drift — a cliff.</a:t>
            </a:r>
            <a:endParaRPr lang="en-US" sz="1050" dirty="0"/>
          </a:p>
        </p:txBody>
      </p:sp>
      <p:sp>
        <p:nvSpPr>
          <p:cNvPr id="10" name="Shape 8"/>
          <p:cNvSpPr/>
          <p:nvPr/>
        </p:nvSpPr>
        <p:spPr>
          <a:xfrm>
            <a:off x="4338218" y="1883664"/>
            <a:ext cx="3515258" cy="1746504"/>
          </a:xfrm>
          <a:prstGeom prst="roundRect">
            <a:avLst>
              <a:gd name="adj" fmla="val 3141"/>
            </a:avLst>
          </a:prstGeom>
          <a:solidFill>
            <a:srgbClr val="F4F6F7"/>
          </a:solidFill>
          <a:ln w="12700">
            <a:solidFill>
              <a:srgbClr val="DDE3E6"/>
            </a:solidFill>
            <a:prstDash val="solid"/>
          </a:ln>
        </p:spPr>
      </p:sp>
      <p:sp>
        <p:nvSpPr>
          <p:cNvPr id="11" name="Shape 9"/>
          <p:cNvSpPr/>
          <p:nvPr/>
        </p:nvSpPr>
        <p:spPr>
          <a:xfrm>
            <a:off x="4557674" y="2066544"/>
            <a:ext cx="365760" cy="365760"/>
          </a:xfrm>
          <a:prstGeom prst="ellipse">
            <a:avLst/>
          </a:prstGeom>
          <a:solidFill>
            <a:srgbClr val="8E9AA3"/>
          </a:solidFill>
          <a:ln w="12700">
            <a:solidFill>
              <a:srgbClr val="8E9AA3"/>
            </a:solidFill>
            <a:prstDash val="solid"/>
          </a:ln>
        </p:spPr>
      </p:sp>
      <p:sp>
        <p:nvSpPr>
          <p:cNvPr id="12" name="Text 10"/>
          <p:cNvSpPr txBox="1"/>
          <p:nvPr/>
        </p:nvSpPr>
        <p:spPr>
          <a:xfrm>
            <a:off x="4557674" y="208026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P2</a:t>
            </a:r>
            <a:endParaRPr lang="en-US" sz="1250" dirty="0"/>
          </a:p>
        </p:txBody>
      </p:sp>
      <p:sp>
        <p:nvSpPr>
          <p:cNvPr id="13" name="Text 11"/>
          <p:cNvSpPr txBox="1"/>
          <p:nvPr/>
        </p:nvSpPr>
        <p:spPr>
          <a:xfrm>
            <a:off x="4557674" y="2560320"/>
            <a:ext cx="3076346"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The BI dashboard</a:t>
            </a:r>
            <a:endParaRPr lang="en-US" sz="1450" dirty="0"/>
          </a:p>
        </p:txBody>
      </p:sp>
      <p:sp>
        <p:nvSpPr>
          <p:cNvPr id="14" name="Text 12"/>
          <p:cNvSpPr txBox="1"/>
          <p:nvPr/>
        </p:nvSpPr>
        <p:spPr>
          <a:xfrm>
            <a:off x="4557674" y="2883789"/>
            <a:ext cx="3076346" cy="581787"/>
          </a:xfrm>
          <a:prstGeom prst="rect">
            <a:avLst/>
          </a:prstGeom>
          <a:noFill/>
          <a:ln/>
        </p:spPr>
        <p:txBody>
          <a:bodyPr wrap="square" lIns="0" tIns="0" rIns="0" bIns="0" rtlCol="0" anchor="t"/>
          <a:lstStyle/>
          <a:p>
            <a:pPr indent="0" marL="0">
              <a:buNone/>
            </a:pPr>
            <a:r>
              <a:rPr lang="en-US" sz="1050" dirty="0">
                <a:solidFill>
                  <a:srgbClr val="2B3A42"/>
                </a:solidFill>
                <a:latin typeface="Calibri" pitchFamily="34" charset="0"/>
                <a:ea typeface="Calibri" pitchFamily="34" charset="-122"/>
                <a:cs typeface="Calibri" pitchFamily="34" charset="-120"/>
              </a:rPr>
              <a:t>Trips per zone, revenue, utilisation, cancellations — all normal for a Thursday. This is the packet that makes teams doubt themselves.</a:t>
            </a:r>
            <a:endParaRPr lang="en-US" sz="1050" dirty="0"/>
          </a:p>
        </p:txBody>
      </p:sp>
      <p:sp>
        <p:nvSpPr>
          <p:cNvPr id="15" name="Shape 13"/>
          <p:cNvSpPr/>
          <p:nvPr/>
        </p:nvSpPr>
        <p:spPr>
          <a:xfrm>
            <a:off x="8109509" y="1883664"/>
            <a:ext cx="3515258" cy="1746504"/>
          </a:xfrm>
          <a:prstGeom prst="roundRect">
            <a:avLst>
              <a:gd name="adj" fmla="val 3141"/>
            </a:avLst>
          </a:prstGeom>
          <a:solidFill>
            <a:srgbClr val="F4F6F7"/>
          </a:solidFill>
          <a:ln w="12700">
            <a:solidFill>
              <a:srgbClr val="DDE3E6"/>
            </a:solidFill>
            <a:prstDash val="solid"/>
          </a:ln>
        </p:spPr>
      </p:sp>
      <p:sp>
        <p:nvSpPr>
          <p:cNvPr id="16" name="Shape 14"/>
          <p:cNvSpPr/>
          <p:nvPr/>
        </p:nvSpPr>
        <p:spPr>
          <a:xfrm>
            <a:off x="8328965" y="2066544"/>
            <a:ext cx="365760" cy="365760"/>
          </a:xfrm>
          <a:prstGeom prst="ellipse">
            <a:avLst/>
          </a:prstGeom>
          <a:solidFill>
            <a:srgbClr val="B0763A"/>
          </a:solidFill>
          <a:ln w="12700">
            <a:solidFill>
              <a:srgbClr val="B0763A"/>
            </a:solidFill>
            <a:prstDash val="solid"/>
          </a:ln>
        </p:spPr>
      </p:sp>
      <p:sp>
        <p:nvSpPr>
          <p:cNvPr id="17" name="Text 15"/>
          <p:cNvSpPr txBox="1"/>
          <p:nvPr/>
        </p:nvSpPr>
        <p:spPr>
          <a:xfrm>
            <a:off x="8328965" y="208026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P3</a:t>
            </a:r>
            <a:endParaRPr lang="en-US" sz="1250" dirty="0"/>
          </a:p>
        </p:txBody>
      </p:sp>
      <p:sp>
        <p:nvSpPr>
          <p:cNvPr id="18" name="Text 16"/>
          <p:cNvSpPr txBox="1"/>
          <p:nvPr/>
        </p:nvSpPr>
        <p:spPr>
          <a:xfrm>
            <a:off x="8328965" y="2560320"/>
            <a:ext cx="3076346"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Delta commit history</a:t>
            </a:r>
            <a:endParaRPr lang="en-US" sz="1450" dirty="0"/>
          </a:p>
        </p:txBody>
      </p:sp>
      <p:sp>
        <p:nvSpPr>
          <p:cNvPr id="19" name="Text 17"/>
          <p:cNvSpPr txBox="1"/>
          <p:nvPr/>
        </p:nvSpPr>
        <p:spPr>
          <a:xfrm>
            <a:off x="8328965" y="2883789"/>
            <a:ext cx="3076346" cy="581787"/>
          </a:xfrm>
          <a:prstGeom prst="rect">
            <a:avLst/>
          </a:prstGeom>
          <a:noFill/>
          <a:ln/>
        </p:spPr>
        <p:txBody>
          <a:bodyPr wrap="square" lIns="0" tIns="0" rIns="0" bIns="0" rtlCol="0" anchor="t"/>
          <a:lstStyle/>
          <a:p>
            <a:pPr indent="0" marL="0">
              <a:buNone/>
            </a:pPr>
            <a:r>
              <a:rPr lang="en-US" sz="1050" dirty="0">
                <a:solidFill>
                  <a:srgbClr val="2B3A42"/>
                </a:solidFill>
                <a:latin typeface="Calibri" pitchFamily="34" charset="0"/>
                <a:ea typeface="Calibri" pitchFamily="34" charset="-122"/>
                <a:cs typeface="Calibri" pitchFamily="34" charset="-120"/>
              </a:rPr>
              <a:t>DESCRIBE HISTORY on bronze.gps_events and silver.vehicle_positions. Steady commits, no failures. Version 808 is the last before 05:00.</a:t>
            </a:r>
            <a:endParaRPr lang="en-US" sz="1050" dirty="0"/>
          </a:p>
        </p:txBody>
      </p:sp>
      <p:sp>
        <p:nvSpPr>
          <p:cNvPr id="20" name="Shape 18"/>
          <p:cNvSpPr/>
          <p:nvPr/>
        </p:nvSpPr>
        <p:spPr>
          <a:xfrm>
            <a:off x="566928" y="3886200"/>
            <a:ext cx="3515258" cy="1746504"/>
          </a:xfrm>
          <a:prstGeom prst="roundRect">
            <a:avLst>
              <a:gd name="adj" fmla="val 3141"/>
            </a:avLst>
          </a:prstGeom>
          <a:solidFill>
            <a:srgbClr val="F4F6F7"/>
          </a:solidFill>
          <a:ln w="12700">
            <a:solidFill>
              <a:srgbClr val="DDE3E6"/>
            </a:solidFill>
            <a:prstDash val="solid"/>
          </a:ln>
        </p:spPr>
      </p:sp>
      <p:sp>
        <p:nvSpPr>
          <p:cNvPr id="21" name="Shape 19"/>
          <p:cNvSpPr/>
          <p:nvPr/>
        </p:nvSpPr>
        <p:spPr>
          <a:xfrm>
            <a:off x="786384" y="4069080"/>
            <a:ext cx="365760" cy="365760"/>
          </a:xfrm>
          <a:prstGeom prst="ellipse">
            <a:avLst/>
          </a:prstGeom>
          <a:solidFill>
            <a:srgbClr val="D4A537"/>
          </a:solidFill>
          <a:ln w="12700">
            <a:solidFill>
              <a:srgbClr val="D4A537"/>
            </a:solidFill>
            <a:prstDash val="solid"/>
          </a:ln>
        </p:spPr>
      </p:sp>
      <p:sp>
        <p:nvSpPr>
          <p:cNvPr id="22" name="Text 20"/>
          <p:cNvSpPr txBox="1"/>
          <p:nvPr/>
        </p:nvSpPr>
        <p:spPr>
          <a:xfrm>
            <a:off x="786384" y="408279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P4</a:t>
            </a:r>
            <a:endParaRPr lang="en-US" sz="1250" dirty="0"/>
          </a:p>
        </p:txBody>
      </p:sp>
      <p:sp>
        <p:nvSpPr>
          <p:cNvPr id="23" name="Text 21"/>
          <p:cNvSpPr txBox="1"/>
          <p:nvPr/>
        </p:nvSpPr>
        <p:spPr>
          <a:xfrm>
            <a:off x="786384" y="4562856"/>
            <a:ext cx="3076346"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The schema diff</a:t>
            </a:r>
            <a:endParaRPr lang="en-US" sz="1450" dirty="0"/>
          </a:p>
        </p:txBody>
      </p:sp>
      <p:sp>
        <p:nvSpPr>
          <p:cNvPr id="24" name="Text 22"/>
          <p:cNvSpPr txBox="1"/>
          <p:nvPr/>
        </p:nvSpPr>
        <p:spPr>
          <a:xfrm>
            <a:off x="786384" y="4886325"/>
            <a:ext cx="3076346" cy="581787"/>
          </a:xfrm>
          <a:prstGeom prst="rect">
            <a:avLst/>
          </a:prstGeom>
          <a:noFill/>
          <a:ln/>
        </p:spPr>
        <p:txBody>
          <a:bodyPr wrap="square" lIns="0" tIns="0" rIns="0" bIns="0" rtlCol="0" anchor="t"/>
          <a:lstStyle/>
          <a:p>
            <a:pPr indent="0" marL="0">
              <a:buNone/>
            </a:pPr>
            <a:r>
              <a:rPr lang="en-US" sz="1050" dirty="0">
                <a:solidFill>
                  <a:srgbClr val="2B3A42"/>
                </a:solidFill>
                <a:latin typeface="Calibri" pitchFamily="34" charset="0"/>
                <a:ea typeface="Calibri" pitchFamily="34" charset="-122"/>
                <a:cs typeface="Calibri" pitchFamily="34" charset="-120"/>
              </a:rPr>
              <a:t>bronze.gps_events schema at v807 versus v812. IDENTICAL — same columns, types and nullability. Nothing to report.</a:t>
            </a:r>
            <a:endParaRPr lang="en-US" sz="1050" dirty="0"/>
          </a:p>
        </p:txBody>
      </p:sp>
      <p:sp>
        <p:nvSpPr>
          <p:cNvPr id="25" name="Shape 23"/>
          <p:cNvSpPr/>
          <p:nvPr/>
        </p:nvSpPr>
        <p:spPr>
          <a:xfrm>
            <a:off x="4338218" y="3886200"/>
            <a:ext cx="3515258" cy="1746504"/>
          </a:xfrm>
          <a:prstGeom prst="roundRect">
            <a:avLst>
              <a:gd name="adj" fmla="val 3141"/>
            </a:avLst>
          </a:prstGeom>
          <a:solidFill>
            <a:srgbClr val="F4F6F7"/>
          </a:solidFill>
          <a:ln w="12700">
            <a:solidFill>
              <a:srgbClr val="DDE3E6"/>
            </a:solidFill>
            <a:prstDash val="solid"/>
          </a:ln>
        </p:spPr>
      </p:sp>
      <p:sp>
        <p:nvSpPr>
          <p:cNvPr id="26" name="Shape 24"/>
          <p:cNvSpPr/>
          <p:nvPr/>
        </p:nvSpPr>
        <p:spPr>
          <a:xfrm>
            <a:off x="4557674" y="4069080"/>
            <a:ext cx="365760" cy="365760"/>
          </a:xfrm>
          <a:prstGeom prst="ellipse">
            <a:avLst/>
          </a:prstGeom>
          <a:solidFill>
            <a:srgbClr val="00A6A6"/>
          </a:solidFill>
          <a:ln w="12700">
            <a:solidFill>
              <a:srgbClr val="00A6A6"/>
            </a:solidFill>
            <a:prstDash val="solid"/>
          </a:ln>
        </p:spPr>
      </p:sp>
      <p:sp>
        <p:nvSpPr>
          <p:cNvPr id="27" name="Text 25"/>
          <p:cNvSpPr txBox="1"/>
          <p:nvPr/>
        </p:nvSpPr>
        <p:spPr>
          <a:xfrm>
            <a:off x="4557674" y="408279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P5</a:t>
            </a:r>
            <a:endParaRPr lang="en-US" sz="1250" dirty="0"/>
          </a:p>
        </p:txBody>
      </p:sp>
      <p:sp>
        <p:nvSpPr>
          <p:cNvPr id="28" name="Text 26"/>
          <p:cNvSpPr txBox="1"/>
          <p:nvPr/>
        </p:nvSpPr>
        <p:spPr>
          <a:xfrm>
            <a:off x="4557674" y="4562856"/>
            <a:ext cx="3076346"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Producer release notes</a:t>
            </a:r>
            <a:endParaRPr lang="en-US" sz="1450" dirty="0"/>
          </a:p>
        </p:txBody>
      </p:sp>
      <p:sp>
        <p:nvSpPr>
          <p:cNvPr id="29" name="Text 27"/>
          <p:cNvSpPr txBox="1"/>
          <p:nvPr/>
        </p:nvSpPr>
        <p:spPr>
          <a:xfrm>
            <a:off x="4557674" y="4886325"/>
            <a:ext cx="3076346" cy="581787"/>
          </a:xfrm>
          <a:prstGeom prst="rect">
            <a:avLst/>
          </a:prstGeom>
          <a:noFill/>
          <a:ln/>
        </p:spPr>
        <p:txBody>
          <a:bodyPr wrap="square" lIns="0" tIns="0" rIns="0" bIns="0" rtlCol="0" anchor="t"/>
          <a:lstStyle/>
          <a:p>
            <a:pPr indent="0" marL="0">
              <a:buNone/>
            </a:pPr>
            <a:r>
              <a:rPr lang="en-US" sz="1050" dirty="0">
                <a:solidFill>
                  <a:srgbClr val="2B3A42"/>
                </a:solidFill>
                <a:latin typeface="Calibri" pitchFamily="34" charset="0"/>
                <a:ea typeface="Calibri" pitchFamily="34" charset="-122"/>
                <a:cs typeface="Calibri" pitchFamily="34" charset="-120"/>
              </a:rPr>
              <a:t>Telemetry agent 2.5.0, rolled out to 62% of vehicles overnight. Bullet four: “telemetry now reported in SI base units.”</a:t>
            </a:r>
            <a:endParaRPr lang="en-US" sz="1050" dirty="0"/>
          </a:p>
        </p:txBody>
      </p:sp>
      <p:sp>
        <p:nvSpPr>
          <p:cNvPr id="30" name="Shape 28"/>
          <p:cNvSpPr/>
          <p:nvPr/>
        </p:nvSpPr>
        <p:spPr>
          <a:xfrm>
            <a:off x="8109509" y="3886200"/>
            <a:ext cx="3515258" cy="1746504"/>
          </a:xfrm>
          <a:prstGeom prst="roundRect">
            <a:avLst>
              <a:gd name="adj" fmla="val 3141"/>
            </a:avLst>
          </a:prstGeom>
          <a:solidFill>
            <a:srgbClr val="F4F6F7"/>
          </a:solidFill>
          <a:ln w="12700">
            <a:solidFill>
              <a:srgbClr val="DDE3E6"/>
            </a:solidFill>
            <a:prstDash val="solid"/>
          </a:ln>
        </p:spPr>
      </p:sp>
      <p:sp>
        <p:nvSpPr>
          <p:cNvPr id="31" name="Shape 29"/>
          <p:cNvSpPr/>
          <p:nvPr/>
        </p:nvSpPr>
        <p:spPr>
          <a:xfrm>
            <a:off x="8328965" y="4069080"/>
            <a:ext cx="365760" cy="365760"/>
          </a:xfrm>
          <a:prstGeom prst="ellipse">
            <a:avLst/>
          </a:prstGeom>
          <a:solidFill>
            <a:srgbClr val="D9503F"/>
          </a:solidFill>
          <a:ln w="12700">
            <a:solidFill>
              <a:srgbClr val="D9503F"/>
            </a:solidFill>
            <a:prstDash val="solid"/>
          </a:ln>
        </p:spPr>
      </p:sp>
      <p:sp>
        <p:nvSpPr>
          <p:cNvPr id="32" name="Text 30"/>
          <p:cNvSpPr txBox="1"/>
          <p:nvPr/>
        </p:nvSpPr>
        <p:spPr>
          <a:xfrm>
            <a:off x="8328965" y="408279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P6</a:t>
            </a:r>
            <a:endParaRPr lang="en-US" sz="1250" dirty="0"/>
          </a:p>
        </p:txBody>
      </p:sp>
      <p:sp>
        <p:nvSpPr>
          <p:cNvPr id="33" name="Text 31"/>
          <p:cNvSpPr txBox="1"/>
          <p:nvPr/>
        </p:nvSpPr>
        <p:spPr>
          <a:xfrm>
            <a:off x="8328965" y="4562856"/>
            <a:ext cx="3076346"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Feature distributions</a:t>
            </a:r>
            <a:endParaRPr lang="en-US" sz="1450" dirty="0"/>
          </a:p>
        </p:txBody>
      </p:sp>
      <p:sp>
        <p:nvSpPr>
          <p:cNvPr id="34" name="Text 32"/>
          <p:cNvSpPr txBox="1"/>
          <p:nvPr/>
        </p:nvSpPr>
        <p:spPr>
          <a:xfrm>
            <a:off x="8328965" y="4886325"/>
            <a:ext cx="3076346" cy="581787"/>
          </a:xfrm>
          <a:prstGeom prst="rect">
            <a:avLst/>
          </a:prstGeom>
          <a:noFill/>
          <a:ln/>
        </p:spPr>
        <p:txBody>
          <a:bodyPr wrap="square" lIns="0" tIns="0" rIns="0" bIns="0" rtlCol="0" anchor="t"/>
          <a:lstStyle/>
          <a:p>
            <a:pPr indent="0" marL="0">
              <a:buNone/>
            </a:pPr>
            <a:r>
              <a:rPr lang="en-US" sz="1050" dirty="0">
                <a:solidFill>
                  <a:srgbClr val="2B3A42"/>
                </a:solidFill>
                <a:latin typeface="Calibri" pitchFamily="34" charset="0"/>
                <a:ea typeface="Calibri" pitchFamily="34" charset="-122"/>
                <a:cs typeface="Calibri" pitchFamily="34" charset="-120"/>
              </a:rPr>
              <a:t>Histograms of rolling_avg_speed_10m before and after. Not shifted — BIMODAL. Two populations, one about 3.6× lower.</a:t>
            </a:r>
            <a:endParaRPr lang="en-US" sz="1050" dirty="0"/>
          </a:p>
        </p:txBody>
      </p:sp>
      <p:sp>
        <p:nvSpPr>
          <p:cNvPr id="35" name="Text 33"/>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Fixture: data/fixtures/incident_speed_unit/gps_2026-06-05_v250.ndjson — the decisive query is one GROUP BY away, but teams rarely reach for it before P5.</a:t>
            </a:r>
            <a:endParaRPr lang="en-US" sz="1200" dirty="0"/>
          </a:p>
        </p:txBody>
      </p:sp>
      <p:sp>
        <p:nvSpPr>
          <p:cNvPr id="36" name="Shape 34"/>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37" name="Shape 35"/>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38" name="Shape 36"/>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39" name="Text 37"/>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40" name="Text 38"/>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D4A537"/>
                </a:solidFill>
                <a:latin typeface="Calibri" pitchFamily="34" charset="0"/>
                <a:ea typeface="Calibri" pitchFamily="34" charset="-122"/>
                <a:cs typeface="Calibri" pitchFamily="34" charset="-120"/>
              </a:rPr>
              <a:t>CS-11 · THE CHAIN</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How a passing pipeline produced a failing model</a:t>
            </a:r>
            <a:endParaRPr lang="en-US" sz="3000" dirty="0"/>
          </a:p>
        </p:txBody>
      </p:sp>
      <p:sp>
        <p:nvSpPr>
          <p:cNvPr id="4" name="Shape 2"/>
          <p:cNvSpPr/>
          <p:nvPr/>
        </p:nvSpPr>
        <p:spPr>
          <a:xfrm>
            <a:off x="566928" y="2021007"/>
            <a:ext cx="1962851" cy="2286000"/>
          </a:xfrm>
          <a:prstGeom prst="roundRect">
            <a:avLst>
              <a:gd name="adj" fmla="val 2795"/>
            </a:avLst>
          </a:prstGeom>
          <a:solidFill>
            <a:srgbClr val="1C333F"/>
          </a:solidFill>
          <a:ln w="19050">
            <a:solidFill>
              <a:srgbClr val="D9503F"/>
            </a:solidFill>
            <a:prstDash val="solid"/>
          </a:ln>
        </p:spPr>
      </p:sp>
      <p:sp>
        <p:nvSpPr>
          <p:cNvPr id="5" name="Text 3"/>
          <p:cNvSpPr txBox="1"/>
          <p:nvPr/>
        </p:nvSpPr>
        <p:spPr>
          <a:xfrm>
            <a:off x="731520" y="2222175"/>
            <a:ext cx="1633667" cy="585216"/>
          </a:xfrm>
          <a:prstGeom prst="rect">
            <a:avLst/>
          </a:prstGeom>
          <a:noFill/>
          <a:ln/>
        </p:spPr>
        <p:txBody>
          <a:bodyPr wrap="square" lIns="0" tIns="0" rIns="0" bIns="0" rtlCol="0" anchor="t"/>
          <a:lstStyle/>
          <a:p>
            <a:pPr indent="0" marL="0">
              <a:buNone/>
            </a:pPr>
            <a:r>
              <a:rPr lang="en-US" sz="1350" b="1" dirty="0">
                <a:solidFill>
                  <a:srgbClr val="D9503F"/>
                </a:solidFill>
                <a:latin typeface="Calibri" pitchFamily="34" charset="0"/>
                <a:ea typeface="Calibri" pitchFamily="34" charset="-122"/>
                <a:cs typeface="Calibri" pitchFamily="34" charset="-120"/>
              </a:rPr>
              <a:t>1 · Producer changed</a:t>
            </a:r>
            <a:endParaRPr lang="en-US" sz="1350" dirty="0"/>
          </a:p>
        </p:txBody>
      </p:sp>
      <p:sp>
        <p:nvSpPr>
          <p:cNvPr id="6" name="Text 4"/>
          <p:cNvSpPr txBox="1"/>
          <p:nvPr/>
        </p:nvSpPr>
        <p:spPr>
          <a:xfrm>
            <a:off x="731520" y="2825679"/>
            <a:ext cx="1633667" cy="1316736"/>
          </a:xfrm>
          <a:prstGeom prst="rect">
            <a:avLst/>
          </a:prstGeom>
          <a:noFill/>
          <a:ln/>
        </p:spPr>
        <p:txBody>
          <a:bodyPr wrap="square" lIns="0" tIns="0" rIns="0" bIns="0" rtlCol="0" anchor="t"/>
          <a:lstStyle/>
          <a:p>
            <a:pPr indent="0" marL="0">
              <a:buNone/>
            </a:pPr>
            <a:r>
              <a:rPr lang="en-US" sz="1150" dirty="0">
                <a:solidFill>
                  <a:srgbClr val="9FB3BE"/>
                </a:solidFill>
                <a:latin typeface="Calibri" pitchFamily="34" charset="0"/>
                <a:ea typeface="Calibri" pitchFamily="34" charset="-122"/>
                <a:cs typeface="Calibri" pitchFamily="34" charset="-120"/>
              </a:rPr>
              <a:t>Telemetry agent 2.5.0 emits speed in metres per second. The field is still called speed_kmh. The type is still double.</a:t>
            </a:r>
            <a:endParaRPr lang="en-US" sz="1150" dirty="0"/>
          </a:p>
        </p:txBody>
      </p:sp>
      <p:sp>
        <p:nvSpPr>
          <p:cNvPr id="7" name="Shape 5"/>
          <p:cNvSpPr/>
          <p:nvPr/>
        </p:nvSpPr>
        <p:spPr>
          <a:xfrm>
            <a:off x="2575499" y="3063423"/>
            <a:ext cx="219456" cy="201168"/>
          </a:xfrm>
          <a:prstGeom prst="rightArrow">
            <a:avLst/>
          </a:prstGeom>
          <a:solidFill>
            <a:srgbClr val="9FB3BE"/>
          </a:solidFill>
          <a:ln w="12700">
            <a:solidFill>
              <a:srgbClr val="9FB3BE"/>
            </a:solidFill>
            <a:prstDash val="solid"/>
          </a:ln>
        </p:spPr>
      </p:sp>
      <p:sp>
        <p:nvSpPr>
          <p:cNvPr id="8" name="Shape 6"/>
          <p:cNvSpPr/>
          <p:nvPr/>
        </p:nvSpPr>
        <p:spPr>
          <a:xfrm>
            <a:off x="2840675" y="2021007"/>
            <a:ext cx="1962851" cy="2286000"/>
          </a:xfrm>
          <a:prstGeom prst="roundRect">
            <a:avLst>
              <a:gd name="adj" fmla="val 2795"/>
            </a:avLst>
          </a:prstGeom>
          <a:solidFill>
            <a:srgbClr val="1C333F"/>
          </a:solidFill>
          <a:ln w="19050">
            <a:solidFill>
              <a:srgbClr val="D4A537"/>
            </a:solidFill>
            <a:prstDash val="solid"/>
          </a:ln>
        </p:spPr>
      </p:sp>
      <p:sp>
        <p:nvSpPr>
          <p:cNvPr id="9" name="Text 7"/>
          <p:cNvSpPr txBox="1"/>
          <p:nvPr/>
        </p:nvSpPr>
        <p:spPr>
          <a:xfrm>
            <a:off x="3005267" y="2222175"/>
            <a:ext cx="1633667" cy="585216"/>
          </a:xfrm>
          <a:prstGeom prst="rect">
            <a:avLst/>
          </a:prstGeom>
          <a:noFill/>
          <a:ln/>
        </p:spPr>
        <p:txBody>
          <a:bodyPr wrap="square" lIns="0" tIns="0" rIns="0" bIns="0" rtlCol="0" anchor="t"/>
          <a:lstStyle/>
          <a:p>
            <a:pPr indent="0" marL="0">
              <a:buNone/>
            </a:pPr>
            <a:r>
              <a:rPr lang="en-US" sz="1350" b="1" dirty="0">
                <a:solidFill>
                  <a:srgbClr val="D4A537"/>
                </a:solidFill>
                <a:latin typeface="Calibri" pitchFamily="34" charset="0"/>
                <a:ea typeface="Calibri" pitchFamily="34" charset="-122"/>
                <a:cs typeface="Calibri" pitchFamily="34" charset="-120"/>
              </a:rPr>
              <a:t>2 · Validation passed</a:t>
            </a:r>
            <a:endParaRPr lang="en-US" sz="1350" dirty="0"/>
          </a:p>
        </p:txBody>
      </p:sp>
      <p:sp>
        <p:nvSpPr>
          <p:cNvPr id="10" name="Text 8"/>
          <p:cNvSpPr txBox="1"/>
          <p:nvPr/>
        </p:nvSpPr>
        <p:spPr>
          <a:xfrm>
            <a:off x="3005267" y="2825679"/>
            <a:ext cx="1633667" cy="1316736"/>
          </a:xfrm>
          <a:prstGeom prst="rect">
            <a:avLst/>
          </a:prstGeom>
          <a:noFill/>
          <a:ln/>
        </p:spPr>
        <p:txBody>
          <a:bodyPr wrap="square" lIns="0" tIns="0" rIns="0" bIns="0" rtlCol="0" anchor="t"/>
          <a:lstStyle/>
          <a:p>
            <a:pPr indent="0" marL="0">
              <a:buNone/>
            </a:pPr>
            <a:r>
              <a:rPr lang="en-US" sz="1150" dirty="0">
                <a:solidFill>
                  <a:srgbClr val="9FB3BE"/>
                </a:solidFill>
                <a:latin typeface="Calibri" pitchFamily="34" charset="0"/>
                <a:ea typeface="Calibri" pitchFamily="34" charset="-122"/>
                <a:cs typeface="Calibri" pitchFamily="34" charset="-120"/>
              </a:rPr>
              <a:t>Schema enforcement compares NAMES and TYPES. Both unchanged. The batch is accepted, correctly, by a control working exactly as designed.</a:t>
            </a:r>
            <a:endParaRPr lang="en-US" sz="1150" dirty="0"/>
          </a:p>
        </p:txBody>
      </p:sp>
      <p:sp>
        <p:nvSpPr>
          <p:cNvPr id="11" name="Shape 9"/>
          <p:cNvSpPr/>
          <p:nvPr/>
        </p:nvSpPr>
        <p:spPr>
          <a:xfrm>
            <a:off x="4849246" y="3063423"/>
            <a:ext cx="219456" cy="201168"/>
          </a:xfrm>
          <a:prstGeom prst="rightArrow">
            <a:avLst/>
          </a:prstGeom>
          <a:solidFill>
            <a:srgbClr val="9FB3BE"/>
          </a:solidFill>
          <a:ln w="12700">
            <a:solidFill>
              <a:srgbClr val="9FB3BE"/>
            </a:solidFill>
            <a:prstDash val="solid"/>
          </a:ln>
        </p:spPr>
      </p:sp>
      <p:sp>
        <p:nvSpPr>
          <p:cNvPr id="12" name="Shape 10"/>
          <p:cNvSpPr/>
          <p:nvPr/>
        </p:nvSpPr>
        <p:spPr>
          <a:xfrm>
            <a:off x="5114422" y="2021007"/>
            <a:ext cx="1962851" cy="2286000"/>
          </a:xfrm>
          <a:prstGeom prst="roundRect">
            <a:avLst>
              <a:gd name="adj" fmla="val 2795"/>
            </a:avLst>
          </a:prstGeom>
          <a:solidFill>
            <a:srgbClr val="1C333F"/>
          </a:solidFill>
          <a:ln w="19050">
            <a:solidFill>
              <a:srgbClr val="8E9AA3"/>
            </a:solidFill>
            <a:prstDash val="solid"/>
          </a:ln>
        </p:spPr>
      </p:sp>
      <p:sp>
        <p:nvSpPr>
          <p:cNvPr id="13" name="Text 11"/>
          <p:cNvSpPr txBox="1"/>
          <p:nvPr/>
        </p:nvSpPr>
        <p:spPr>
          <a:xfrm>
            <a:off x="5279014" y="2222175"/>
            <a:ext cx="1633667" cy="585216"/>
          </a:xfrm>
          <a:prstGeom prst="rect">
            <a:avLst/>
          </a:prstGeom>
          <a:noFill/>
          <a:ln/>
        </p:spPr>
        <p:txBody>
          <a:bodyPr wrap="square" lIns="0" tIns="0" rIns="0" bIns="0" rtlCol="0" anchor="t"/>
          <a:lstStyle/>
          <a:p>
            <a:pPr indent="0" marL="0">
              <a:buNone/>
            </a:pPr>
            <a:r>
              <a:rPr lang="en-US" sz="1350" b="1" dirty="0">
                <a:solidFill>
                  <a:srgbClr val="8E9AA3"/>
                </a:solidFill>
                <a:latin typeface="Calibri" pitchFamily="34" charset="0"/>
                <a:ea typeface="Calibri" pitchFamily="34" charset="-122"/>
                <a:cs typeface="Calibri" pitchFamily="34" charset="-120"/>
              </a:rPr>
              <a:t>3 · Silver continued</a:t>
            </a:r>
            <a:endParaRPr lang="en-US" sz="1350" dirty="0"/>
          </a:p>
        </p:txBody>
      </p:sp>
      <p:sp>
        <p:nvSpPr>
          <p:cNvPr id="14" name="Text 12"/>
          <p:cNvSpPr txBox="1"/>
          <p:nvPr/>
        </p:nvSpPr>
        <p:spPr>
          <a:xfrm>
            <a:off x="5279014" y="2825679"/>
            <a:ext cx="1633667" cy="1316736"/>
          </a:xfrm>
          <a:prstGeom prst="rect">
            <a:avLst/>
          </a:prstGeom>
          <a:noFill/>
          <a:ln/>
        </p:spPr>
        <p:txBody>
          <a:bodyPr wrap="square" lIns="0" tIns="0" rIns="0" bIns="0" rtlCol="0" anchor="t"/>
          <a:lstStyle/>
          <a:p>
            <a:pPr indent="0" marL="0">
              <a:buNone/>
            </a:pPr>
            <a:r>
              <a:rPr lang="en-US" sz="1150" dirty="0">
                <a:solidFill>
                  <a:srgbClr val="9FB3BE"/>
                </a:solidFill>
                <a:latin typeface="Calibri" pitchFamily="34" charset="0"/>
                <a:ea typeface="Calibri" pitchFamily="34" charset="-122"/>
                <a:cs typeface="Calibri" pitchFamily="34" charset="-120"/>
              </a:rPr>
              <a:t>Dedup, conform, gate — all pass. Range checks on speed were set wide enough to admit both populations. Every row is individually plausible.</a:t>
            </a:r>
            <a:endParaRPr lang="en-US" sz="1150" dirty="0"/>
          </a:p>
        </p:txBody>
      </p:sp>
      <p:sp>
        <p:nvSpPr>
          <p:cNvPr id="15" name="Shape 13"/>
          <p:cNvSpPr/>
          <p:nvPr/>
        </p:nvSpPr>
        <p:spPr>
          <a:xfrm>
            <a:off x="7122993" y="3063423"/>
            <a:ext cx="219456" cy="201168"/>
          </a:xfrm>
          <a:prstGeom prst="rightArrow">
            <a:avLst/>
          </a:prstGeom>
          <a:solidFill>
            <a:srgbClr val="9FB3BE"/>
          </a:solidFill>
          <a:ln w="12700">
            <a:solidFill>
              <a:srgbClr val="9FB3BE"/>
            </a:solidFill>
            <a:prstDash val="solid"/>
          </a:ln>
        </p:spPr>
      </p:sp>
      <p:sp>
        <p:nvSpPr>
          <p:cNvPr id="16" name="Shape 14"/>
          <p:cNvSpPr/>
          <p:nvPr/>
        </p:nvSpPr>
        <p:spPr>
          <a:xfrm>
            <a:off x="7388169" y="2021007"/>
            <a:ext cx="1962851" cy="2286000"/>
          </a:xfrm>
          <a:prstGeom prst="roundRect">
            <a:avLst>
              <a:gd name="adj" fmla="val 2795"/>
            </a:avLst>
          </a:prstGeom>
          <a:solidFill>
            <a:srgbClr val="1C333F"/>
          </a:solidFill>
          <a:ln w="19050">
            <a:solidFill>
              <a:srgbClr val="B0763A"/>
            </a:solidFill>
            <a:prstDash val="solid"/>
          </a:ln>
        </p:spPr>
      </p:sp>
      <p:sp>
        <p:nvSpPr>
          <p:cNvPr id="17" name="Text 15"/>
          <p:cNvSpPr txBox="1"/>
          <p:nvPr/>
        </p:nvSpPr>
        <p:spPr>
          <a:xfrm>
            <a:off x="7552761" y="2222175"/>
            <a:ext cx="1633667" cy="585216"/>
          </a:xfrm>
          <a:prstGeom prst="rect">
            <a:avLst/>
          </a:prstGeom>
          <a:noFill/>
          <a:ln/>
        </p:spPr>
        <p:txBody>
          <a:bodyPr wrap="square" lIns="0" tIns="0" rIns="0" bIns="0" rtlCol="0" anchor="t"/>
          <a:lstStyle/>
          <a:p>
            <a:pPr indent="0" marL="0">
              <a:buNone/>
            </a:pPr>
            <a:r>
              <a:rPr lang="en-US" sz="1350" b="1" dirty="0">
                <a:solidFill>
                  <a:srgbClr val="B0763A"/>
                </a:solidFill>
                <a:latin typeface="Calibri" pitchFamily="34" charset="0"/>
                <a:ea typeface="Calibri" pitchFamily="34" charset="-122"/>
                <a:cs typeface="Calibri" pitchFamily="34" charset="-120"/>
              </a:rPr>
              <a:t>4 · Feature corrupted</a:t>
            </a:r>
            <a:endParaRPr lang="en-US" sz="1350" dirty="0"/>
          </a:p>
        </p:txBody>
      </p:sp>
      <p:sp>
        <p:nvSpPr>
          <p:cNvPr id="18" name="Text 16"/>
          <p:cNvSpPr txBox="1"/>
          <p:nvPr/>
        </p:nvSpPr>
        <p:spPr>
          <a:xfrm>
            <a:off x="7552761" y="2825679"/>
            <a:ext cx="1633667" cy="1316736"/>
          </a:xfrm>
          <a:prstGeom prst="rect">
            <a:avLst/>
          </a:prstGeom>
          <a:noFill/>
          <a:ln/>
        </p:spPr>
        <p:txBody>
          <a:bodyPr wrap="square" lIns="0" tIns="0" rIns="0" bIns="0" rtlCol="0" anchor="t"/>
          <a:lstStyle/>
          <a:p>
            <a:pPr indent="0" marL="0">
              <a:buNone/>
            </a:pPr>
            <a:r>
              <a:rPr lang="en-US" sz="1150" dirty="0">
                <a:solidFill>
                  <a:srgbClr val="9FB3BE"/>
                </a:solidFill>
                <a:latin typeface="Calibri" pitchFamily="34" charset="0"/>
                <a:ea typeface="Calibri" pitchFamily="34" charset="-122"/>
                <a:cs typeface="Calibri" pitchFamily="34" charset="-120"/>
              </a:rPr>
              <a:t>rolling_avg_speed_10m now averages two incompatible units together. The number is precise, stable, and meaningless.</a:t>
            </a:r>
            <a:endParaRPr lang="en-US" sz="1150" dirty="0"/>
          </a:p>
        </p:txBody>
      </p:sp>
      <p:sp>
        <p:nvSpPr>
          <p:cNvPr id="19" name="Shape 17"/>
          <p:cNvSpPr/>
          <p:nvPr/>
        </p:nvSpPr>
        <p:spPr>
          <a:xfrm>
            <a:off x="9396740" y="3063423"/>
            <a:ext cx="219456" cy="201168"/>
          </a:xfrm>
          <a:prstGeom prst="rightArrow">
            <a:avLst/>
          </a:prstGeom>
          <a:solidFill>
            <a:srgbClr val="9FB3BE"/>
          </a:solidFill>
          <a:ln w="12700">
            <a:solidFill>
              <a:srgbClr val="9FB3BE"/>
            </a:solidFill>
            <a:prstDash val="solid"/>
          </a:ln>
        </p:spPr>
      </p:sp>
      <p:sp>
        <p:nvSpPr>
          <p:cNvPr id="20" name="Shape 18"/>
          <p:cNvSpPr/>
          <p:nvPr/>
        </p:nvSpPr>
        <p:spPr>
          <a:xfrm>
            <a:off x="9661916" y="2021007"/>
            <a:ext cx="1962851" cy="2286000"/>
          </a:xfrm>
          <a:prstGeom prst="roundRect">
            <a:avLst>
              <a:gd name="adj" fmla="val 2795"/>
            </a:avLst>
          </a:prstGeom>
          <a:solidFill>
            <a:srgbClr val="1C333F"/>
          </a:solidFill>
          <a:ln w="19050">
            <a:solidFill>
              <a:srgbClr val="D9503F"/>
            </a:solidFill>
            <a:prstDash val="solid"/>
          </a:ln>
        </p:spPr>
      </p:sp>
      <p:sp>
        <p:nvSpPr>
          <p:cNvPr id="21" name="Text 19"/>
          <p:cNvSpPr txBox="1"/>
          <p:nvPr/>
        </p:nvSpPr>
        <p:spPr>
          <a:xfrm>
            <a:off x="9826508" y="2222175"/>
            <a:ext cx="1633667" cy="585216"/>
          </a:xfrm>
          <a:prstGeom prst="rect">
            <a:avLst/>
          </a:prstGeom>
          <a:noFill/>
          <a:ln/>
        </p:spPr>
        <p:txBody>
          <a:bodyPr wrap="square" lIns="0" tIns="0" rIns="0" bIns="0" rtlCol="0" anchor="t"/>
          <a:lstStyle/>
          <a:p>
            <a:pPr indent="0" marL="0">
              <a:buNone/>
            </a:pPr>
            <a:r>
              <a:rPr lang="en-US" sz="1350" b="1" dirty="0">
                <a:solidFill>
                  <a:srgbClr val="D9503F"/>
                </a:solidFill>
                <a:latin typeface="Calibri" pitchFamily="34" charset="0"/>
                <a:ea typeface="Calibri" pitchFamily="34" charset="-122"/>
                <a:cs typeface="Calibri" pitchFamily="34" charset="-120"/>
              </a:rPr>
              <a:t>5 · AI degraded</a:t>
            </a:r>
            <a:endParaRPr lang="en-US" sz="1350" dirty="0"/>
          </a:p>
        </p:txBody>
      </p:sp>
      <p:sp>
        <p:nvSpPr>
          <p:cNvPr id="22" name="Text 20"/>
          <p:cNvSpPr txBox="1"/>
          <p:nvPr/>
        </p:nvSpPr>
        <p:spPr>
          <a:xfrm>
            <a:off x="9826508" y="2825679"/>
            <a:ext cx="1633667" cy="1316736"/>
          </a:xfrm>
          <a:prstGeom prst="rect">
            <a:avLst/>
          </a:prstGeom>
          <a:noFill/>
          <a:ln/>
        </p:spPr>
        <p:txBody>
          <a:bodyPr wrap="square" lIns="0" tIns="0" rIns="0" bIns="0" rtlCol="0" anchor="t"/>
          <a:lstStyle/>
          <a:p>
            <a:pPr indent="0" marL="0">
              <a:buNone/>
            </a:pPr>
            <a:r>
              <a:rPr lang="en-US" sz="1150" dirty="0">
                <a:solidFill>
                  <a:srgbClr val="9FB3BE"/>
                </a:solidFill>
                <a:latin typeface="Calibri" pitchFamily="34" charset="0"/>
                <a:ea typeface="Calibri" pitchFamily="34" charset="-122"/>
                <a:cs typeface="Calibri" pitchFamily="34" charset="-120"/>
              </a:rPr>
              <a:t>The ETA feature distribution shifts. Predictions degrade 18%. BI never touches speed, so BI shows nothing at all.</a:t>
            </a:r>
            <a:endParaRPr lang="en-US" sz="1150" dirty="0"/>
          </a:p>
        </p:txBody>
      </p:sp>
      <p:sp>
        <p:nvSpPr>
          <p:cNvPr id="23" name="Text 21"/>
          <p:cNvSpPr txBox="1"/>
          <p:nvPr/>
        </p:nvSpPr>
        <p:spPr>
          <a:xfrm>
            <a:off x="566928" y="4636191"/>
            <a:ext cx="11057839" cy="621792"/>
          </a:xfrm>
          <a:prstGeom prst="rect">
            <a:avLst/>
          </a:prstGeom>
          <a:noFill/>
          <a:ln/>
        </p:spPr>
        <p:txBody>
          <a:bodyPr wrap="square" lIns="0" tIns="0" rIns="0" bIns="0" rtlCol="0" anchor="t"/>
          <a:lstStyle/>
          <a:p>
            <a:pPr indent="0" marL="0">
              <a:buNone/>
            </a:pPr>
            <a:r>
              <a:rPr lang="en-US" sz="1300" i="1" dirty="0">
                <a:solidFill>
                  <a:srgbClr val="D4A537"/>
                </a:solidFill>
                <a:latin typeface="Calibri" pitchFamily="34" charset="0"/>
                <a:ea typeface="Calibri" pitchFamily="34" charset="-122"/>
                <a:cs typeface="Calibri" pitchFamily="34" charset="-120"/>
              </a:rPr>
              <a:t>Notice where the failure is NOT: there is no bug, no outage, no failed job, no rejected row, no red alert. Every component did its job. The platform was operationally perfect and analytically fatal.</a:t>
            </a:r>
            <a:endParaRPr lang="en-US" sz="1300" dirty="0"/>
          </a:p>
        </p:txBody>
      </p:sp>
      <p:sp>
        <p:nvSpPr>
          <p:cNvPr id="24" name="Shape 22"/>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5" name="Shape 23"/>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6" name="Shape 24"/>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7" name="Text 25"/>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8" name="Text 26"/>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CS-11 · THE FIVE CONCLUSIONS</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What teams must reach on their own</a:t>
            </a:r>
            <a:endParaRPr lang="en-US" sz="3000" dirty="0"/>
          </a:p>
        </p:txBody>
      </p:sp>
      <p:sp>
        <p:nvSpPr>
          <p:cNvPr id="4" name="Shape 2"/>
          <p:cNvSpPr/>
          <p:nvPr/>
        </p:nvSpPr>
        <p:spPr>
          <a:xfrm>
            <a:off x="566928" y="1426464"/>
            <a:ext cx="384048" cy="384048"/>
          </a:xfrm>
          <a:prstGeom prst="ellipse">
            <a:avLst/>
          </a:prstGeom>
          <a:solidFill>
            <a:srgbClr val="D9503F"/>
          </a:solidFill>
          <a:ln w="12700">
            <a:solidFill>
              <a:srgbClr val="D9503F"/>
            </a:solidFill>
            <a:prstDash val="solid"/>
          </a:ln>
        </p:spPr>
      </p:sp>
      <p:sp>
        <p:nvSpPr>
          <p:cNvPr id="5" name="Text 3"/>
          <p:cNvSpPr txBox="1"/>
          <p:nvPr/>
        </p:nvSpPr>
        <p:spPr>
          <a:xfrm>
            <a:off x="566928" y="144018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6" name="Text 4"/>
          <p:cNvSpPr txBox="1"/>
          <p:nvPr/>
        </p:nvSpPr>
        <p:spPr>
          <a:xfrm>
            <a:off x="1133856" y="1389888"/>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Schema validation cannot detect semantic change</a:t>
            </a:r>
            <a:endParaRPr lang="en-US" sz="1500" dirty="0"/>
          </a:p>
        </p:txBody>
      </p:sp>
      <p:sp>
        <p:nvSpPr>
          <p:cNvPr id="7" name="Text 5"/>
          <p:cNvSpPr txBox="1"/>
          <p:nvPr/>
        </p:nvSpPr>
        <p:spPr>
          <a:xfrm>
            <a:off x="1133856" y="1655064"/>
            <a:ext cx="10417759" cy="566928"/>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It compares names and types. A unit change is a change of MEANING inside an unchanged type. No type system you have will catch it.</a:t>
            </a:r>
            <a:endParaRPr lang="en-US" sz="1250" dirty="0"/>
          </a:p>
        </p:txBody>
      </p:sp>
      <p:sp>
        <p:nvSpPr>
          <p:cNvPr id="8" name="Shape 6"/>
          <p:cNvSpPr/>
          <p:nvPr/>
        </p:nvSpPr>
        <p:spPr>
          <a:xfrm>
            <a:off x="566928" y="2286000"/>
            <a:ext cx="384048" cy="384048"/>
          </a:xfrm>
          <a:prstGeom prst="ellipse">
            <a:avLst/>
          </a:prstGeom>
          <a:solidFill>
            <a:srgbClr val="8E9AA3"/>
          </a:solidFill>
          <a:ln w="12700">
            <a:solidFill>
              <a:srgbClr val="8E9AA3"/>
            </a:solidFill>
            <a:prstDash val="solid"/>
          </a:ln>
        </p:spPr>
      </p:sp>
      <p:sp>
        <p:nvSpPr>
          <p:cNvPr id="9" name="Text 7"/>
          <p:cNvSpPr txBox="1"/>
          <p:nvPr/>
        </p:nvSpPr>
        <p:spPr>
          <a:xfrm>
            <a:off x="566928" y="229971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1133856" y="2249424"/>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BI did not expose the failure because BI does not use the field</a:t>
            </a:r>
            <a:endParaRPr lang="en-US" sz="1500" dirty="0"/>
          </a:p>
        </p:txBody>
      </p:sp>
      <p:sp>
        <p:nvSpPr>
          <p:cNvPr id="11" name="Text 9"/>
          <p:cNvSpPr txBox="1"/>
          <p:nvPr/>
        </p:nvSpPr>
        <p:spPr>
          <a:xfrm>
            <a:off x="1133856" y="2514600"/>
            <a:ext cx="10417759" cy="566928"/>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Dashboards report counts and revenue. Speed appears nowhere. A green dashboard is evidence about the dashboard, not about the platform.</a:t>
            </a:r>
            <a:endParaRPr lang="en-US" sz="1250" dirty="0"/>
          </a:p>
        </p:txBody>
      </p:sp>
      <p:sp>
        <p:nvSpPr>
          <p:cNvPr id="12" name="Shape 10"/>
          <p:cNvSpPr/>
          <p:nvPr/>
        </p:nvSpPr>
        <p:spPr>
          <a:xfrm>
            <a:off x="566928" y="3145536"/>
            <a:ext cx="384048" cy="384048"/>
          </a:xfrm>
          <a:prstGeom prst="ellipse">
            <a:avLst/>
          </a:prstGeom>
          <a:solidFill>
            <a:srgbClr val="00A6A6"/>
          </a:solidFill>
          <a:ln w="12700">
            <a:solidFill>
              <a:srgbClr val="00A6A6"/>
            </a:solidFill>
            <a:prstDash val="solid"/>
          </a:ln>
        </p:spPr>
      </p:sp>
      <p:sp>
        <p:nvSpPr>
          <p:cNvPr id="13" name="Text 11"/>
          <p:cNvSpPr txBox="1"/>
          <p:nvPr/>
        </p:nvSpPr>
        <p:spPr>
          <a:xfrm>
            <a:off x="566928" y="315925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4" name="Text 12"/>
          <p:cNvSpPr txBox="1"/>
          <p:nvPr/>
        </p:nvSpPr>
        <p:spPr>
          <a:xfrm>
            <a:off x="1133856" y="3108960"/>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AI was disproportionately affected</a:t>
            </a:r>
            <a:endParaRPr lang="en-US" sz="1500" dirty="0"/>
          </a:p>
        </p:txBody>
      </p:sp>
      <p:sp>
        <p:nvSpPr>
          <p:cNvPr id="15" name="Text 13"/>
          <p:cNvSpPr txBox="1"/>
          <p:nvPr/>
        </p:nvSpPr>
        <p:spPr>
          <a:xfrm>
            <a:off x="1133856" y="3374136"/>
            <a:ext cx="10417759" cy="566928"/>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Models consume derived, aggregated features that silently blend populations. BI reads facts; AI reads statistics — and statistics hide the very heterogeneity that broke it.</a:t>
            </a:r>
            <a:endParaRPr lang="en-US" sz="1250" dirty="0"/>
          </a:p>
        </p:txBody>
      </p:sp>
      <p:sp>
        <p:nvSpPr>
          <p:cNvPr id="16" name="Shape 14"/>
          <p:cNvSpPr/>
          <p:nvPr/>
        </p:nvSpPr>
        <p:spPr>
          <a:xfrm>
            <a:off x="566928" y="4005072"/>
            <a:ext cx="384048" cy="384048"/>
          </a:xfrm>
          <a:prstGeom prst="ellipse">
            <a:avLst/>
          </a:prstGeom>
          <a:solidFill>
            <a:srgbClr val="D4A537"/>
          </a:solidFill>
          <a:ln w="12700">
            <a:solidFill>
              <a:srgbClr val="D4A537"/>
            </a:solidFill>
            <a:prstDash val="solid"/>
          </a:ln>
        </p:spPr>
      </p:sp>
      <p:sp>
        <p:nvSpPr>
          <p:cNvPr id="17" name="Text 15"/>
          <p:cNvSpPr txBox="1"/>
          <p:nvPr/>
        </p:nvSpPr>
        <p:spPr>
          <a:xfrm>
            <a:off x="566928" y="401878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8" name="Text 16"/>
          <p:cNvSpPr txBox="1"/>
          <p:nvPr/>
        </p:nvSpPr>
        <p:spPr>
          <a:xfrm>
            <a:off x="1133856" y="3968496"/>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Observability must include FEATURE DISTRIBUTIONS</a:t>
            </a:r>
            <a:endParaRPr lang="en-US" sz="1500" dirty="0"/>
          </a:p>
        </p:txBody>
      </p:sp>
      <p:sp>
        <p:nvSpPr>
          <p:cNvPr id="19" name="Text 17"/>
          <p:cNvSpPr txBox="1"/>
          <p:nvPr/>
        </p:nvSpPr>
        <p:spPr>
          <a:xfrm>
            <a:off x="1133856" y="4233672"/>
            <a:ext cx="10417759" cy="566928"/>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Freshness, volume and schema were all green. Only distribution drift on rolling_avg_speed_10m — segmented by producer_version — would have fired.</a:t>
            </a:r>
            <a:endParaRPr lang="en-US" sz="1250" dirty="0"/>
          </a:p>
        </p:txBody>
      </p:sp>
      <p:sp>
        <p:nvSpPr>
          <p:cNvPr id="20" name="Shape 18"/>
          <p:cNvSpPr/>
          <p:nvPr/>
        </p:nvSpPr>
        <p:spPr>
          <a:xfrm>
            <a:off x="566928" y="4864608"/>
            <a:ext cx="384048" cy="384048"/>
          </a:xfrm>
          <a:prstGeom prst="ellipse">
            <a:avLst/>
          </a:prstGeom>
          <a:solidFill>
            <a:srgbClr val="B0763A"/>
          </a:solidFill>
          <a:ln w="12700">
            <a:solidFill>
              <a:srgbClr val="B0763A"/>
            </a:solidFill>
            <a:prstDash val="solid"/>
          </a:ln>
        </p:spPr>
      </p:sp>
      <p:sp>
        <p:nvSpPr>
          <p:cNvPr id="21" name="Text 19"/>
          <p:cNvSpPr txBox="1"/>
          <p:nvPr/>
        </p:nvSpPr>
        <p:spPr>
          <a:xfrm>
            <a:off x="566928" y="4878324"/>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2" name="Text 20"/>
          <p:cNvSpPr txBox="1"/>
          <p:nvPr/>
        </p:nvSpPr>
        <p:spPr>
          <a:xfrm>
            <a:off x="1133856" y="4828032"/>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Data contracts must specify semantics and units, not merely types</a:t>
            </a:r>
            <a:endParaRPr lang="en-US" sz="1500" dirty="0"/>
          </a:p>
        </p:txBody>
      </p:sp>
      <p:sp>
        <p:nvSpPr>
          <p:cNvPr id="23" name="Text 21"/>
          <p:cNvSpPr txBox="1"/>
          <p:nvPr/>
        </p:nvSpPr>
        <p:spPr>
          <a:xfrm>
            <a:off x="1133856" y="5093208"/>
            <a:ext cx="10417759" cy="566928"/>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speed_kmh: double is not a contract. speed_kmh: double, unit=km/h, range 0–180, producer_version pinned — that is a contract.</a:t>
            </a:r>
            <a:endParaRPr lang="en-US" sz="1250" dirty="0"/>
          </a:p>
        </p:txBody>
      </p:sp>
      <p:sp>
        <p:nvSpPr>
          <p:cNvPr id="24" name="Shape 22"/>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5" name="Shape 23"/>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6" name="Shape 24"/>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7" name="Text 25"/>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8" name="Text 26"/>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CS-11 · THE DECISIVE QUERY</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One GROUP BY ends the investigation</a:t>
            </a:r>
            <a:endParaRPr lang="en-US" sz="3000" dirty="0"/>
          </a:p>
        </p:txBody>
      </p:sp>
      <p:graphicFrame>
        <p:nvGraphicFramePr>
          <p:cNvPr id="4" name="Chart 0" descr=""/>
          <p:cNvGraphicFramePr/>
          <p:nvPr/>
        </p:nvGraphicFramePr>
        <p:xfrm>
          <a:off x="566928" y="1389888"/>
          <a:ext cx="6855860" cy="42976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715396" y="1435608"/>
            <a:ext cx="3909371" cy="921639"/>
          </a:xfrm>
          <a:prstGeom prst="rect">
            <a:avLst/>
          </a:prstGeom>
          <a:noFill/>
          <a:ln/>
        </p:spPr>
        <p:txBody>
          <a:bodyPr wrap="square" lIns="0" tIns="0" rIns="0" bIns="0" rtlCol="0" anchor="t"/>
          <a:lstStyle/>
          <a:p>
            <a:pPr indent="0" marL="0">
              <a:buNone/>
            </a:pPr>
            <a:r>
              <a:rPr lang="en-US" sz="1050" dirty="0">
                <a:solidFill>
                  <a:srgbClr val="B0763A"/>
                </a:solidFill>
                <a:latin typeface="Courier New" pitchFamily="34" charset="0"/>
                <a:ea typeface="Courier New" pitchFamily="34" charset="-122"/>
                <a:cs typeface="Courier New" pitchFamily="34" charset="-120"/>
              </a:rPr>
              <a:t>SELECT producer_version,</a:t>
            </a:r>
            <a:endParaRPr lang="en-US" sz="1050" dirty="0"/>
          </a:p>
          <a:p>
            <a:pPr indent="0" marL="0">
              <a:buNone/>
            </a:pPr>
            <a:r>
              <a:rPr lang="en-US" sz="1050" dirty="0">
                <a:solidFill>
                  <a:srgbClr val="B0763A"/>
                </a:solidFill>
                <a:latin typeface="Courier New" pitchFamily="34" charset="0"/>
                <a:ea typeface="Courier New" pitchFamily="34" charset="-122"/>
                <a:cs typeface="Courier New" pitchFamily="34" charset="-120"/>
              </a:rPr>
              <a:t>       avg(speed_kmh)</a:t>
            </a:r>
            <a:endParaRPr lang="en-US" sz="1050" dirty="0"/>
          </a:p>
          <a:p>
            <a:pPr indent="0" marL="0">
              <a:buNone/>
            </a:pPr>
            <a:r>
              <a:rPr lang="en-US" sz="1050" dirty="0">
                <a:solidFill>
                  <a:srgbClr val="B0763A"/>
                </a:solidFill>
                <a:latin typeface="Courier New" pitchFamily="34" charset="0"/>
                <a:ea typeface="Courier New" pitchFamily="34" charset="-122"/>
                <a:cs typeface="Courier New" pitchFamily="34" charset="-120"/>
              </a:rPr>
              <a:t>  FROM bronze.gps_events</a:t>
            </a:r>
            <a:endParaRPr lang="en-US" sz="1050" dirty="0"/>
          </a:p>
          <a:p>
            <a:pPr indent="0" marL="0">
              <a:buNone/>
            </a:pPr>
            <a:r>
              <a:rPr lang="en-US" sz="1050" dirty="0">
                <a:solidFill>
                  <a:srgbClr val="B0763A"/>
                </a:solidFill>
                <a:latin typeface="Courier New" pitchFamily="34" charset="0"/>
                <a:ea typeface="Courier New" pitchFamily="34" charset="-122"/>
                <a:cs typeface="Courier New" pitchFamily="34" charset="-120"/>
              </a:rPr>
              <a:t> WHERE ts &gt;= '2026-06-05'</a:t>
            </a:r>
            <a:endParaRPr lang="en-US" sz="1050" dirty="0"/>
          </a:p>
          <a:p>
            <a:pPr indent="0" marL="0">
              <a:buNone/>
            </a:pPr>
            <a:r>
              <a:rPr lang="en-US" sz="1050" dirty="0">
                <a:solidFill>
                  <a:srgbClr val="B0763A"/>
                </a:solidFill>
                <a:latin typeface="Courier New" pitchFamily="34" charset="0"/>
                <a:ea typeface="Courier New" pitchFamily="34" charset="-122"/>
                <a:cs typeface="Courier New" pitchFamily="34" charset="-120"/>
              </a:rPr>
              <a:t> GROUP BY producer_version</a:t>
            </a:r>
            <a:endParaRPr lang="en-US" sz="1050" dirty="0"/>
          </a:p>
        </p:txBody>
      </p:sp>
      <p:sp>
        <p:nvSpPr>
          <p:cNvPr id="6" name="Text 3"/>
          <p:cNvSpPr txBox="1"/>
          <p:nvPr/>
        </p:nvSpPr>
        <p:spPr>
          <a:xfrm>
            <a:off x="7715396" y="2485263"/>
            <a:ext cx="3909371" cy="3129153"/>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3.60× — and 3.6 is what you get when kilometres per hour are read as metres per second.</a:t>
            </a:r>
            <a:endParaRPr lang="en-US" sz="1200" dirty="0"/>
          </a:p>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The ratio IS the diagnosis. Nothing else in a mobility platform produces exactly that factor.</a:t>
            </a:r>
            <a:endParaRPr lang="en-US" sz="1200" dirty="0"/>
          </a:p>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producer_version was in bronze all along, carried by the landing job as part of the payload — because bronze landed the data AS RECEIVED.</a:t>
            </a:r>
            <a:endParaRPr lang="en-US" sz="1200" dirty="0"/>
          </a:p>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This is the return on the CS-09 rule: if landing had normalised units before persistence, this evidence would not exist.</a:t>
            </a:r>
            <a:endParaRPr lang="en-US" sz="1200" dirty="0"/>
          </a:p>
        </p:txBody>
      </p:sp>
      <p:sp>
        <p:nvSpPr>
          <p:cNvPr id="7" name="Text 4"/>
          <p:cNvSpPr txBox="1"/>
          <p:nvPr/>
        </p:nvSpPr>
        <p:spPr>
          <a:xfrm>
            <a:off x="566928" y="5833872"/>
            <a:ext cx="11057839" cy="512064"/>
          </a:xfrm>
          <a:prstGeom prst="rect">
            <a:avLst/>
          </a:prstGeom>
          <a:noFill/>
          <a:ln/>
        </p:spPr>
        <p:txBody>
          <a:bodyPr wrap="square" lIns="0" tIns="0" rIns="0" bIns="0" rtlCol="0" anchor="ctr"/>
          <a:lstStyle/>
          <a:p>
            <a:pPr indent="0" marL="0">
              <a:buNone/>
            </a:pPr>
            <a:r>
              <a:rPr lang="en-US" sz="1300" i="1" dirty="0">
                <a:solidFill>
                  <a:srgbClr val="B0763A"/>
                </a:solidFill>
                <a:latin typeface="Calibri" pitchFamily="34" charset="0"/>
                <a:ea typeface="Calibri" pitchFamily="34" charset="-122"/>
                <a:cs typeface="Calibri" pitchFamily="34" charset="-120"/>
              </a:rPr>
              <a:t>The independent confirmation: reconcile against metered distance ÷ duration from silver.trips, which never touched the telemetry unit.</a:t>
            </a:r>
            <a:endParaRPr lang="en-US" sz="1300" dirty="0"/>
          </a:p>
        </p:txBody>
      </p:sp>
      <p:sp>
        <p:nvSpPr>
          <p:cNvPr id="8" name="Shape 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9" name="Shape 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0" name="Shape 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1" name="Text 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2" name="Text 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CS-11 · REMEDIATION</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Four controls, each with a done-test</a:t>
            </a:r>
            <a:endParaRPr lang="en-US" sz="3000" dirty="0"/>
          </a:p>
        </p:txBody>
      </p:sp>
      <p:sp>
        <p:nvSpPr>
          <p:cNvPr id="4" name="Shape 2"/>
          <p:cNvSpPr/>
          <p:nvPr/>
        </p:nvSpPr>
        <p:spPr>
          <a:xfrm>
            <a:off x="566928" y="1544650"/>
            <a:ext cx="2572436" cy="3469005"/>
          </a:xfrm>
          <a:prstGeom prst="roundRect">
            <a:avLst>
              <a:gd name="adj" fmla="val 2133"/>
            </a:avLst>
          </a:prstGeom>
          <a:solidFill>
            <a:srgbClr val="F4F6F7"/>
          </a:solidFill>
          <a:ln w="12700">
            <a:solidFill>
              <a:srgbClr val="DDE3E6"/>
            </a:solidFill>
            <a:prstDash val="solid"/>
          </a:ln>
        </p:spPr>
      </p:sp>
      <p:sp>
        <p:nvSpPr>
          <p:cNvPr id="5" name="Shape 3"/>
          <p:cNvSpPr/>
          <p:nvPr/>
        </p:nvSpPr>
        <p:spPr>
          <a:xfrm>
            <a:off x="786384" y="1727530"/>
            <a:ext cx="365760" cy="365760"/>
          </a:xfrm>
          <a:prstGeom prst="ellipse">
            <a:avLst/>
          </a:prstGeom>
          <a:solidFill>
            <a:srgbClr val="00A6A6"/>
          </a:solidFill>
          <a:ln w="12700">
            <a:solidFill>
              <a:srgbClr val="00A6A6"/>
            </a:solidFill>
            <a:prstDash val="solid"/>
          </a:ln>
        </p:spPr>
      </p:sp>
      <p:sp>
        <p:nvSpPr>
          <p:cNvPr id="6" name="Text 4"/>
          <p:cNvSpPr txBox="1"/>
          <p:nvPr/>
        </p:nvSpPr>
        <p:spPr>
          <a:xfrm>
            <a:off x="786384" y="174124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86384" y="2221306"/>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Roll back and pin</a:t>
            </a:r>
            <a:endParaRPr lang="en-US" sz="1450" dirty="0"/>
          </a:p>
        </p:txBody>
      </p:sp>
      <p:sp>
        <p:nvSpPr>
          <p:cNvPr id="8" name="Text 6"/>
          <p:cNvSpPr txBox="1"/>
          <p:nvPr/>
        </p:nvSpPr>
        <p:spPr>
          <a:xfrm>
            <a:off x="786384" y="2544775"/>
            <a:ext cx="2133524" cy="230428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RESTORE silver.vehicle_positions and the derived features TO VERSION AS OF 808 — the last trusted commit. Pin the model to that version BEFORE restoring, so the training set stays reproducible.</a:t>
            </a:r>
            <a:endParaRPr lang="en-US" sz="1200" dirty="0"/>
          </a:p>
          <a:p>
            <a:pPr indent="0" marL="0">
              <a:buNone/>
            </a:pPr>
            <a:endParaRPr lang="en-US" sz="1200" dirty="0"/>
          </a:p>
          <a:p>
            <a:pPr indent="0" marL="0">
              <a:buNone/>
            </a:pPr>
            <a:r>
              <a:rPr lang="en-US" sz="1200" dirty="0">
                <a:solidFill>
                  <a:srgbClr val="2B3A42"/>
                </a:solidFill>
                <a:latin typeface="Calibri" pitchFamily="34" charset="0"/>
                <a:ea typeface="Calibri" pitchFamily="34" charset="-122"/>
                <a:cs typeface="Calibri" pitchFamily="34" charset="-120"/>
              </a:rPr>
              <a:t>Done-test: the ETA MAE returns to baseline on a replayed hour.</a:t>
            </a:r>
            <a:endParaRPr lang="en-US" sz="1200" dirty="0"/>
          </a:p>
        </p:txBody>
      </p:sp>
      <p:sp>
        <p:nvSpPr>
          <p:cNvPr id="9" name="Shape 7"/>
          <p:cNvSpPr/>
          <p:nvPr/>
        </p:nvSpPr>
        <p:spPr>
          <a:xfrm>
            <a:off x="3395396" y="1544650"/>
            <a:ext cx="2572436" cy="3469005"/>
          </a:xfrm>
          <a:prstGeom prst="roundRect">
            <a:avLst>
              <a:gd name="adj" fmla="val 2133"/>
            </a:avLst>
          </a:prstGeom>
          <a:solidFill>
            <a:srgbClr val="F4F6F7"/>
          </a:solidFill>
          <a:ln w="12700">
            <a:solidFill>
              <a:srgbClr val="DDE3E6"/>
            </a:solidFill>
            <a:prstDash val="solid"/>
          </a:ln>
        </p:spPr>
      </p:sp>
      <p:sp>
        <p:nvSpPr>
          <p:cNvPr id="10" name="Shape 8"/>
          <p:cNvSpPr/>
          <p:nvPr/>
        </p:nvSpPr>
        <p:spPr>
          <a:xfrm>
            <a:off x="3614852" y="1727530"/>
            <a:ext cx="365760" cy="365760"/>
          </a:xfrm>
          <a:prstGeom prst="ellipse">
            <a:avLst/>
          </a:prstGeom>
          <a:solidFill>
            <a:srgbClr val="B0763A"/>
          </a:solidFill>
          <a:ln w="12700">
            <a:solidFill>
              <a:srgbClr val="B0763A"/>
            </a:solidFill>
            <a:prstDash val="solid"/>
          </a:ln>
        </p:spPr>
      </p:sp>
      <p:sp>
        <p:nvSpPr>
          <p:cNvPr id="11" name="Text 9"/>
          <p:cNvSpPr txBox="1"/>
          <p:nvPr/>
        </p:nvSpPr>
        <p:spPr>
          <a:xfrm>
            <a:off x="3614852" y="174124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txBox="1"/>
          <p:nvPr/>
        </p:nvSpPr>
        <p:spPr>
          <a:xfrm>
            <a:off x="3614852" y="2221306"/>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Unit-aware data contract</a:t>
            </a:r>
            <a:endParaRPr lang="en-US" sz="1450" dirty="0"/>
          </a:p>
        </p:txBody>
      </p:sp>
      <p:sp>
        <p:nvSpPr>
          <p:cNvPr id="13" name="Text 11"/>
          <p:cNvSpPr txBox="1"/>
          <p:nvPr/>
        </p:nvSpPr>
        <p:spPr>
          <a:xfrm>
            <a:off x="3614852" y="2544775"/>
            <a:ext cx="2133524" cy="230428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The contract declares unit, valid range and expected producer versions per field. A batch from an undeclared producer version is quarantined, not promoted.</a:t>
            </a:r>
            <a:endParaRPr lang="en-US" sz="1200" dirty="0"/>
          </a:p>
          <a:p>
            <a:pPr indent="0" marL="0">
              <a:buNone/>
            </a:pPr>
            <a:endParaRPr lang="en-US" sz="1200" dirty="0"/>
          </a:p>
          <a:p>
            <a:pPr indent="0" marL="0">
              <a:buNone/>
            </a:pPr>
            <a:r>
              <a:rPr lang="en-US" sz="1200" dirty="0">
                <a:solidFill>
                  <a:srgbClr val="2B3A42"/>
                </a:solidFill>
                <a:latin typeface="Calibri" pitchFamily="34" charset="0"/>
                <a:ea typeface="Calibri" pitchFamily="34" charset="-122"/>
                <a:cs typeface="Calibri" pitchFamily="34" charset="-120"/>
              </a:rPr>
              <a:t>Done-test: replaying the 2.5.0 batch is now blocked at the gate.</a:t>
            </a:r>
            <a:endParaRPr lang="en-US" sz="1200" dirty="0"/>
          </a:p>
        </p:txBody>
      </p:sp>
      <p:sp>
        <p:nvSpPr>
          <p:cNvPr id="14" name="Shape 12"/>
          <p:cNvSpPr/>
          <p:nvPr/>
        </p:nvSpPr>
        <p:spPr>
          <a:xfrm>
            <a:off x="6223864" y="1544650"/>
            <a:ext cx="2572436" cy="3469005"/>
          </a:xfrm>
          <a:prstGeom prst="roundRect">
            <a:avLst>
              <a:gd name="adj" fmla="val 2133"/>
            </a:avLst>
          </a:prstGeom>
          <a:solidFill>
            <a:srgbClr val="F4F6F7"/>
          </a:solidFill>
          <a:ln w="12700">
            <a:solidFill>
              <a:srgbClr val="DDE3E6"/>
            </a:solidFill>
            <a:prstDash val="solid"/>
          </a:ln>
        </p:spPr>
      </p:sp>
      <p:sp>
        <p:nvSpPr>
          <p:cNvPr id="15" name="Shape 13"/>
          <p:cNvSpPr/>
          <p:nvPr/>
        </p:nvSpPr>
        <p:spPr>
          <a:xfrm>
            <a:off x="6443320" y="1727530"/>
            <a:ext cx="365760" cy="365760"/>
          </a:xfrm>
          <a:prstGeom prst="ellipse">
            <a:avLst/>
          </a:prstGeom>
          <a:solidFill>
            <a:srgbClr val="D4A537"/>
          </a:solidFill>
          <a:ln w="12700">
            <a:solidFill>
              <a:srgbClr val="D4A537"/>
            </a:solidFill>
            <a:prstDash val="solid"/>
          </a:ln>
        </p:spPr>
      </p:sp>
      <p:sp>
        <p:nvSpPr>
          <p:cNvPr id="16" name="Text 14"/>
          <p:cNvSpPr txBox="1"/>
          <p:nvPr/>
        </p:nvSpPr>
        <p:spPr>
          <a:xfrm>
            <a:off x="6443320" y="174124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txBox="1"/>
          <p:nvPr/>
        </p:nvSpPr>
        <p:spPr>
          <a:xfrm>
            <a:off x="6443320" y="2221306"/>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Segmented drift monitor</a:t>
            </a:r>
            <a:endParaRPr lang="en-US" sz="1450" dirty="0"/>
          </a:p>
        </p:txBody>
      </p:sp>
      <p:sp>
        <p:nvSpPr>
          <p:cNvPr id="18" name="Text 16"/>
          <p:cNvSpPr txBox="1"/>
          <p:nvPr/>
        </p:nvSpPr>
        <p:spPr>
          <a:xfrm>
            <a:off x="6443320" y="2544775"/>
            <a:ext cx="2133524" cy="230428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PSI or KS on rolling_avg_speed_10m, computed per producer_version, not just in aggregate — aggregate drift on a bimodal split can look mild.</a:t>
            </a:r>
            <a:endParaRPr lang="en-US" sz="1200" dirty="0"/>
          </a:p>
          <a:p>
            <a:pPr indent="0" marL="0">
              <a:buNone/>
            </a:pPr>
            <a:endParaRPr lang="en-US" sz="1200" dirty="0"/>
          </a:p>
          <a:p>
            <a:pPr indent="0" marL="0">
              <a:buNone/>
            </a:pPr>
            <a:r>
              <a:rPr lang="en-US" sz="1200" dirty="0">
                <a:solidFill>
                  <a:srgbClr val="2B3A42"/>
                </a:solidFill>
                <a:latin typeface="Calibri" pitchFamily="34" charset="0"/>
                <a:ea typeface="Calibri" pitchFamily="34" charset="-122"/>
                <a:cs typeface="Calibri" pitchFamily="34" charset="-120"/>
              </a:rPr>
              <a:t>Done-test: the monitor fires on the historical batch.</a:t>
            </a:r>
            <a:endParaRPr lang="en-US" sz="1200" dirty="0"/>
          </a:p>
        </p:txBody>
      </p:sp>
      <p:sp>
        <p:nvSpPr>
          <p:cNvPr id="19" name="Shape 17"/>
          <p:cNvSpPr/>
          <p:nvPr/>
        </p:nvSpPr>
        <p:spPr>
          <a:xfrm>
            <a:off x="9052331" y="1544650"/>
            <a:ext cx="2572436" cy="3469005"/>
          </a:xfrm>
          <a:prstGeom prst="roundRect">
            <a:avLst>
              <a:gd name="adj" fmla="val 2133"/>
            </a:avLst>
          </a:prstGeom>
          <a:solidFill>
            <a:srgbClr val="F4F6F7"/>
          </a:solidFill>
          <a:ln w="12700">
            <a:solidFill>
              <a:srgbClr val="DDE3E6"/>
            </a:solidFill>
            <a:prstDash val="solid"/>
          </a:ln>
        </p:spPr>
      </p:sp>
      <p:sp>
        <p:nvSpPr>
          <p:cNvPr id="20" name="Shape 18"/>
          <p:cNvSpPr/>
          <p:nvPr/>
        </p:nvSpPr>
        <p:spPr>
          <a:xfrm>
            <a:off x="9271787" y="1727530"/>
            <a:ext cx="365760" cy="365760"/>
          </a:xfrm>
          <a:prstGeom prst="ellipse">
            <a:avLst/>
          </a:prstGeom>
          <a:solidFill>
            <a:srgbClr val="D9503F"/>
          </a:solidFill>
          <a:ln w="12700">
            <a:solidFill>
              <a:srgbClr val="D9503F"/>
            </a:solidFill>
            <a:prstDash val="solid"/>
          </a:ln>
        </p:spPr>
      </p:sp>
      <p:sp>
        <p:nvSpPr>
          <p:cNvPr id="21" name="Text 19"/>
          <p:cNvSpPr txBox="1"/>
          <p:nvPr/>
        </p:nvSpPr>
        <p:spPr>
          <a:xfrm>
            <a:off x="9271787" y="174124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txBox="1"/>
          <p:nvPr/>
        </p:nvSpPr>
        <p:spPr>
          <a:xfrm>
            <a:off x="9271787" y="2221306"/>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Producer-version gate</a:t>
            </a:r>
            <a:endParaRPr lang="en-US" sz="1450" dirty="0"/>
          </a:p>
        </p:txBody>
      </p:sp>
      <p:sp>
        <p:nvSpPr>
          <p:cNvPr id="23" name="Text 21"/>
          <p:cNvSpPr txBox="1"/>
          <p:nvPr/>
        </p:nvSpPr>
        <p:spPr>
          <a:xfrm>
            <a:off x="9271787" y="2544775"/>
            <a:ext cx="2133524" cy="2304288"/>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An unknown producer_version is an event that requires a human decision before its data reaches silver.</a:t>
            </a:r>
            <a:endParaRPr lang="en-US" sz="1200" dirty="0"/>
          </a:p>
          <a:p>
            <a:pPr indent="0" marL="0">
              <a:buNone/>
            </a:pPr>
            <a:endParaRPr lang="en-US" sz="1200" dirty="0"/>
          </a:p>
          <a:p>
            <a:pPr indent="0" marL="0">
              <a:buNone/>
            </a:pPr>
            <a:r>
              <a:rPr lang="en-US" sz="1200" dirty="0">
                <a:solidFill>
                  <a:srgbClr val="2B3A42"/>
                </a:solidFill>
                <a:latin typeface="Calibri" pitchFamily="34" charset="0"/>
                <a:ea typeface="Calibri" pitchFamily="34" charset="-122"/>
                <a:cs typeface="Calibri" pitchFamily="34" charset="-120"/>
              </a:rPr>
              <a:t>Done-test: a synthetic 2.6.0 batch halts promotion and raises exactly one proportionate alert.</a:t>
            </a:r>
            <a:endParaRPr lang="en-US" sz="1200" dirty="0"/>
          </a:p>
        </p:txBody>
      </p:sp>
      <p:sp>
        <p:nvSpPr>
          <p:cNvPr id="24" name="Text 22"/>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Close with the blameless post-incident review template in labs/case_studies/CS-11. The producer team did nothing wrong — they improved consistency and documented it. The contract was the missing artefact.</a:t>
            </a:r>
            <a:endParaRPr lang="en-US" sz="1200" dirty="0"/>
          </a:p>
        </p:txBody>
      </p:sp>
      <p:sp>
        <p:nvSpPr>
          <p:cNvPr id="25" name="Shape 2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6" name="Shape 2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7" name="Shape 2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8" name="Text 2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9" name="Text 2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371600"/>
            <a:ext cx="11057839" cy="274320"/>
          </a:xfrm>
          <a:prstGeom prst="rect">
            <a:avLst/>
          </a:prstGeom>
          <a:noFill/>
          <a:ln/>
        </p:spPr>
        <p:txBody>
          <a:bodyPr wrap="square" lIns="0" tIns="0" rIns="0" bIns="0" rtlCol="0" anchor="ctr"/>
          <a:lstStyle/>
          <a:p>
            <a:pPr indent="0" marL="0">
              <a:buNone/>
            </a:pPr>
            <a:r>
              <a:rPr lang="en-US" sz="1100" b="1" spc="180" kern="0" dirty="0">
                <a:solidFill>
                  <a:srgbClr val="D4A537"/>
                </a:solidFill>
                <a:latin typeface="Calibri" pitchFamily="34" charset="0"/>
                <a:ea typeface="Calibri" pitchFamily="34" charset="-122"/>
                <a:cs typeface="Calibri" pitchFamily="34" charset="-120"/>
              </a:rPr>
              <a:t>CS-11 · THE SENTENCE TO LEAVE WITH</a:t>
            </a:r>
            <a:endParaRPr lang="en-US" sz="1100" dirty="0"/>
          </a:p>
        </p:txBody>
      </p:sp>
      <p:sp>
        <p:nvSpPr>
          <p:cNvPr id="3" name="Text 1"/>
          <p:cNvSpPr txBox="1"/>
          <p:nvPr/>
        </p:nvSpPr>
        <p:spPr>
          <a:xfrm>
            <a:off x="566928" y="1783080"/>
            <a:ext cx="10509199" cy="2377440"/>
          </a:xfrm>
          <a:prstGeom prst="rect">
            <a:avLst/>
          </a:prstGeom>
          <a:noFill/>
          <a:ln/>
        </p:spPr>
        <p:txBody>
          <a:bodyPr wrap="square" lIns="0" tIns="0" rIns="0" bIns="0" rtlCol="0" anchor="t"/>
          <a:lstStyle/>
          <a:p>
            <a:pPr indent="0" marL="0">
              <a:lnSpc>
                <a:spcPct val="112000"/>
              </a:lnSpc>
              <a:buNone/>
            </a:pPr>
            <a:r>
              <a:rPr lang="en-US" sz="3300" b="1" dirty="0">
                <a:solidFill>
                  <a:srgbClr val="FFFFFF"/>
                </a:solidFill>
                <a:latin typeface="Cambria" pitchFamily="34" charset="0"/>
                <a:ea typeface="Cambria" pitchFamily="34" charset="-122"/>
                <a:cs typeface="Cambria" pitchFamily="34" charset="-120"/>
              </a:rPr>
              <a:t>A type says what shape a value has.</a:t>
            </a:r>
            <a:endParaRPr lang="en-US" sz="3300" dirty="0"/>
          </a:p>
          <a:p>
            <a:pPr indent="0" marL="0">
              <a:lnSpc>
                <a:spcPct val="112000"/>
              </a:lnSpc>
              <a:buNone/>
            </a:pPr>
            <a:r>
              <a:rPr lang="en-US" sz="3300" b="1" dirty="0">
                <a:solidFill>
                  <a:srgbClr val="FFFFFF"/>
                </a:solidFill>
                <a:latin typeface="Cambria" pitchFamily="34" charset="0"/>
                <a:ea typeface="Cambria" pitchFamily="34" charset="-122"/>
                <a:cs typeface="Cambria" pitchFamily="34" charset="-120"/>
              </a:rPr>
              <a:t>A contract says what a value means.</a:t>
            </a:r>
            <a:endParaRPr lang="en-US" sz="3300" dirty="0"/>
          </a:p>
          <a:p>
            <a:pPr indent="0" marL="0">
              <a:lnSpc>
                <a:spcPct val="112000"/>
              </a:lnSpc>
              <a:buNone/>
            </a:pPr>
            <a:endParaRPr lang="en-US" sz="3300" dirty="0"/>
          </a:p>
          <a:p>
            <a:pPr indent="0" marL="0">
              <a:lnSpc>
                <a:spcPct val="112000"/>
              </a:lnSpc>
              <a:buNone/>
            </a:pPr>
            <a:r>
              <a:rPr lang="en-US" sz="3300" b="1" dirty="0">
                <a:solidFill>
                  <a:srgbClr val="FFFFFF"/>
                </a:solidFill>
                <a:latin typeface="Cambria" pitchFamily="34" charset="0"/>
                <a:ea typeface="Cambria" pitchFamily="34" charset="-122"/>
                <a:cs typeface="Cambria" pitchFamily="34" charset="-120"/>
              </a:rPr>
              <a:t>AI consumes meaning.</a:t>
            </a:r>
            <a:endParaRPr lang="en-US" sz="3300" dirty="0"/>
          </a:p>
        </p:txBody>
      </p:sp>
      <p:sp>
        <p:nvSpPr>
          <p:cNvPr id="4" name="Text 2"/>
          <p:cNvSpPr txBox="1"/>
          <p:nvPr/>
        </p:nvSpPr>
        <p:spPr>
          <a:xfrm>
            <a:off x="566928" y="4434840"/>
            <a:ext cx="10509199" cy="1097280"/>
          </a:xfrm>
          <a:prstGeom prst="rect">
            <a:avLst/>
          </a:prstGeom>
          <a:noFill/>
          <a:ln/>
        </p:spPr>
        <p:txBody>
          <a:bodyPr wrap="square" lIns="0" tIns="0" rIns="0" bIns="0" rtlCol="0" anchor="t"/>
          <a:lstStyle/>
          <a:p>
            <a:pPr indent="0" marL="0">
              <a:buNone/>
            </a:pPr>
            <a:r>
              <a:rPr lang="en-US" sz="1500" dirty="0">
                <a:solidFill>
                  <a:srgbClr val="9FB3BE"/>
                </a:solidFill>
                <a:latin typeface="Calibri" pitchFamily="34" charset="0"/>
                <a:ea typeface="Calibri" pitchFamily="34" charset="-122"/>
                <a:cs typeface="Calibri" pitchFamily="34" charset="-120"/>
              </a:rPr>
              <a:t>Every control on Days 3 and 4 protects shape. Only two things protect meaning: a contract that states units and provenance,</a:t>
            </a: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and a monitor that watches the distribution of what your model actually consumes.</a:t>
            </a:r>
            <a:endParaRPr lang="en-US" sz="1500" dirty="0"/>
          </a:p>
        </p:txBody>
      </p:sp>
      <p:sp>
        <p:nvSpPr>
          <p:cNvPr id="5"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6"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7"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8"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9"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417320"/>
            <a:ext cx="11057839" cy="274320"/>
          </a:xfrm>
          <a:prstGeom prst="rect">
            <a:avLst/>
          </a:prstGeom>
          <a:noFill/>
          <a:ln/>
        </p:spPr>
        <p:txBody>
          <a:bodyPr wrap="square" lIns="0" tIns="0" rIns="0" bIns="0" rtlCol="0" anchor="ctr"/>
          <a:lstStyle/>
          <a:p>
            <a:pPr indent="0" marL="0">
              <a:buNone/>
            </a:pPr>
            <a:r>
              <a:rPr lang="en-US" sz="1150" b="1" spc="220" kern="0" dirty="0">
                <a:solidFill>
                  <a:srgbClr val="D4A537"/>
                </a:solidFill>
                <a:latin typeface="Calibri" pitchFamily="34" charset="0"/>
                <a:ea typeface="Calibri" pitchFamily="34" charset="-122"/>
                <a:cs typeface="Calibri" pitchFamily="34" charset="-120"/>
              </a:rPr>
              <a:t>DAY 5</a:t>
            </a:r>
            <a:endParaRPr lang="en-US" sz="1150" dirty="0"/>
          </a:p>
        </p:txBody>
      </p:sp>
      <p:sp>
        <p:nvSpPr>
          <p:cNvPr id="3" name="Text 1"/>
          <p:cNvSpPr txBox="1"/>
          <p:nvPr/>
        </p:nvSpPr>
        <p:spPr>
          <a:xfrm>
            <a:off x="566928" y="1783080"/>
            <a:ext cx="6081812"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Build and serve</a:t>
            </a:r>
            <a:endParaRPr lang="en-US" sz="4000" dirty="0"/>
          </a:p>
        </p:txBody>
      </p:sp>
      <p:sp>
        <p:nvSpPr>
          <p:cNvPr id="4" name="Text 2"/>
          <p:cNvSpPr txBox="1"/>
          <p:nvPr/>
        </p:nvSpPr>
        <p:spPr>
          <a:xfrm>
            <a:off x="566928" y="3200400"/>
            <a:ext cx="6081812" cy="1371600"/>
          </a:xfrm>
          <a:prstGeom prst="rect">
            <a:avLst/>
          </a:prstGeom>
          <a:noFill/>
          <a:ln/>
        </p:spPr>
        <p:txBody>
          <a:bodyPr wrap="square" lIns="0" tIns="0" rIns="0" bIns="0" rtlCol="0" anchor="t"/>
          <a:lstStyle/>
          <a:p>
            <a:pPr indent="0" marL="0">
              <a:buNone/>
            </a:pPr>
            <a:r>
              <a:rPr lang="en-US" sz="1400" dirty="0">
                <a:solidFill>
                  <a:srgbClr val="9FB3BE"/>
                </a:solidFill>
                <a:latin typeface="Calibri" pitchFamily="34" charset="0"/>
                <a:ea typeface="Calibri" pitchFamily="34" charset="-122"/>
                <a:cs typeface="Calibri" pitchFamily="34" charset="-120"/>
              </a:rPr>
              <a:t>Everything from Modules 1–6 becomes one orchestrated, idempotent, observable platform — and then it is consumed.</a:t>
            </a:r>
            <a:endParaRPr lang="en-US" sz="1400" dirty="0"/>
          </a:p>
        </p:txBody>
      </p:sp>
      <p:sp>
        <p:nvSpPr>
          <p:cNvPr id="5" name="Shape 3"/>
          <p:cNvSpPr/>
          <p:nvPr/>
        </p:nvSpPr>
        <p:spPr>
          <a:xfrm>
            <a:off x="7201632" y="1810512"/>
            <a:ext cx="329184" cy="329184"/>
          </a:xfrm>
          <a:prstGeom prst="ellipse">
            <a:avLst/>
          </a:prstGeom>
          <a:solidFill>
            <a:srgbClr val="B0763A"/>
          </a:solidFill>
          <a:ln w="12700">
            <a:solidFill>
              <a:srgbClr val="B0763A"/>
            </a:solidFill>
            <a:prstDash val="solid"/>
          </a:ln>
        </p:spPr>
      </p:sp>
      <p:sp>
        <p:nvSpPr>
          <p:cNvPr id="6" name="Text 4"/>
          <p:cNvSpPr txBox="1"/>
          <p:nvPr/>
        </p:nvSpPr>
        <p:spPr>
          <a:xfrm>
            <a:off x="7201632" y="18242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658832" y="1783080"/>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M7 — Assembling the Mini-Lakehouse</a:t>
            </a:r>
            <a:endParaRPr lang="en-US" sz="1300" dirty="0"/>
          </a:p>
        </p:txBody>
      </p:sp>
      <p:sp>
        <p:nvSpPr>
          <p:cNvPr id="8" name="Shape 6"/>
          <p:cNvSpPr/>
          <p:nvPr/>
        </p:nvSpPr>
        <p:spPr>
          <a:xfrm>
            <a:off x="7201632" y="2468880"/>
            <a:ext cx="329184" cy="329184"/>
          </a:xfrm>
          <a:prstGeom prst="ellipse">
            <a:avLst/>
          </a:prstGeom>
          <a:solidFill>
            <a:srgbClr val="8E9AA3"/>
          </a:solidFill>
          <a:ln w="12700">
            <a:solidFill>
              <a:srgbClr val="8E9AA3"/>
            </a:solidFill>
            <a:prstDash val="solid"/>
          </a:ln>
        </p:spPr>
      </p:sp>
      <p:sp>
        <p:nvSpPr>
          <p:cNvPr id="9" name="Text 7"/>
          <p:cNvSpPr txBox="1"/>
          <p:nvPr/>
        </p:nvSpPr>
        <p:spPr>
          <a:xfrm>
            <a:off x="7201632" y="248259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7658832" y="2441448"/>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Lab 7 — orchestrate the full DAG</a:t>
            </a:r>
            <a:endParaRPr lang="en-US" sz="1300" dirty="0"/>
          </a:p>
        </p:txBody>
      </p:sp>
      <p:sp>
        <p:nvSpPr>
          <p:cNvPr id="11" name="Shape 9"/>
          <p:cNvSpPr/>
          <p:nvPr/>
        </p:nvSpPr>
        <p:spPr>
          <a:xfrm>
            <a:off x="7201632" y="3127248"/>
            <a:ext cx="329184" cy="329184"/>
          </a:xfrm>
          <a:prstGeom prst="ellipse">
            <a:avLst/>
          </a:prstGeom>
          <a:solidFill>
            <a:srgbClr val="D4A537"/>
          </a:solidFill>
          <a:ln w="12700">
            <a:solidFill>
              <a:srgbClr val="D4A537"/>
            </a:solidFill>
            <a:prstDash val="solid"/>
          </a:ln>
        </p:spPr>
      </p:sp>
      <p:sp>
        <p:nvSpPr>
          <p:cNvPr id="12" name="Text 10"/>
          <p:cNvSpPr txBox="1"/>
          <p:nvPr/>
        </p:nvSpPr>
        <p:spPr>
          <a:xfrm>
            <a:off x="7201632" y="31409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3" name="Text 11"/>
          <p:cNvSpPr txBox="1"/>
          <p:nvPr/>
        </p:nvSpPr>
        <p:spPr>
          <a:xfrm>
            <a:off x="7658832" y="3099816"/>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M8 — Serving AI and BI</a:t>
            </a:r>
            <a:endParaRPr lang="en-US" sz="1300" dirty="0"/>
          </a:p>
        </p:txBody>
      </p:sp>
      <p:sp>
        <p:nvSpPr>
          <p:cNvPr id="14" name="Shape 12"/>
          <p:cNvSpPr/>
          <p:nvPr/>
        </p:nvSpPr>
        <p:spPr>
          <a:xfrm>
            <a:off x="7201632" y="3785616"/>
            <a:ext cx="329184" cy="329184"/>
          </a:xfrm>
          <a:prstGeom prst="ellipse">
            <a:avLst/>
          </a:prstGeom>
          <a:solidFill>
            <a:srgbClr val="00A6A6"/>
          </a:solidFill>
          <a:ln w="12700">
            <a:solidFill>
              <a:srgbClr val="00A6A6"/>
            </a:solidFill>
            <a:prstDash val="solid"/>
          </a:ln>
        </p:spPr>
      </p:sp>
      <p:sp>
        <p:nvSpPr>
          <p:cNvPr id="15" name="Text 13"/>
          <p:cNvSpPr txBox="1"/>
          <p:nvPr/>
        </p:nvSpPr>
        <p:spPr>
          <a:xfrm>
            <a:off x="7201632" y="37993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6" name="Text 14"/>
          <p:cNvSpPr txBox="1"/>
          <p:nvPr/>
        </p:nvSpPr>
        <p:spPr>
          <a:xfrm>
            <a:off x="7658832" y="3758184"/>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Lab 8 — the leakage drill</a:t>
            </a:r>
            <a:endParaRPr lang="en-US" sz="1300" dirty="0"/>
          </a:p>
        </p:txBody>
      </p:sp>
      <p:sp>
        <p:nvSpPr>
          <p:cNvPr id="17" name="Shape 15"/>
          <p:cNvSpPr/>
          <p:nvPr/>
        </p:nvSpPr>
        <p:spPr>
          <a:xfrm>
            <a:off x="7201632" y="4443984"/>
            <a:ext cx="329184" cy="329184"/>
          </a:xfrm>
          <a:prstGeom prst="ellipse">
            <a:avLst/>
          </a:prstGeom>
          <a:solidFill>
            <a:srgbClr val="D9503F"/>
          </a:solidFill>
          <a:ln w="12700">
            <a:solidFill>
              <a:srgbClr val="D9503F"/>
            </a:solidFill>
            <a:prstDash val="solid"/>
          </a:ln>
        </p:spPr>
      </p:sp>
      <p:sp>
        <p:nvSpPr>
          <p:cNvPr id="18" name="Text 16"/>
          <p:cNvSpPr txBox="1"/>
          <p:nvPr/>
        </p:nvSpPr>
        <p:spPr>
          <a:xfrm>
            <a:off x="7201632" y="44577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19" name="Text 17"/>
          <p:cNvSpPr txBox="1"/>
          <p:nvPr/>
        </p:nvSpPr>
        <p:spPr>
          <a:xfrm>
            <a:off x="7658832" y="4416552"/>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Capstone build and demos</a:t>
            </a:r>
            <a:endParaRPr lang="en-US" sz="1300" dirty="0"/>
          </a:p>
        </p:txBody>
      </p:sp>
      <p:sp>
        <p:nvSpPr>
          <p:cNvPr id="20" name="Shape 18"/>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1" name="Shape 19"/>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2" name="Shape 20"/>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3" name="Text 21"/>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4" name="Text 22"/>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417320"/>
            <a:ext cx="11057839" cy="274320"/>
          </a:xfrm>
          <a:prstGeom prst="rect">
            <a:avLst/>
          </a:prstGeom>
          <a:noFill/>
          <a:ln/>
        </p:spPr>
        <p:txBody>
          <a:bodyPr wrap="square" lIns="0" tIns="0" rIns="0" bIns="0" rtlCol="0" anchor="ctr"/>
          <a:lstStyle/>
          <a:p>
            <a:pPr indent="0" marL="0">
              <a:buNone/>
            </a:pPr>
            <a:r>
              <a:rPr lang="en-US" sz="1150" b="1" spc="220" kern="0" dirty="0">
                <a:solidFill>
                  <a:srgbClr val="D4A537"/>
                </a:solidFill>
                <a:latin typeface="Calibri" pitchFamily="34" charset="0"/>
                <a:ea typeface="Calibri" pitchFamily="34" charset="-122"/>
                <a:cs typeface="Calibri" pitchFamily="34" charset="-120"/>
              </a:rPr>
              <a:t>MODULE 7</a:t>
            </a:r>
            <a:endParaRPr lang="en-US" sz="1150" dirty="0"/>
          </a:p>
        </p:txBody>
      </p:sp>
      <p:sp>
        <p:nvSpPr>
          <p:cNvPr id="3" name="Text 1"/>
          <p:cNvSpPr txBox="1"/>
          <p:nvPr/>
        </p:nvSpPr>
        <p:spPr>
          <a:xfrm>
            <a:off x="566928" y="1783080"/>
            <a:ext cx="6081812"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Building a</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Mini-Lakehouse</a:t>
            </a:r>
            <a:endParaRPr lang="en-US" sz="4000" dirty="0"/>
          </a:p>
        </p:txBody>
      </p:sp>
      <p:sp>
        <p:nvSpPr>
          <p:cNvPr id="4" name="Text 2"/>
          <p:cNvSpPr txBox="1"/>
          <p:nvPr/>
        </p:nvSpPr>
        <p:spPr>
          <a:xfrm>
            <a:off x="566928" y="3200400"/>
            <a:ext cx="6081812" cy="1371600"/>
          </a:xfrm>
          <a:prstGeom prst="rect">
            <a:avLst/>
          </a:prstGeom>
          <a:noFill/>
          <a:ln/>
        </p:spPr>
        <p:txBody>
          <a:bodyPr wrap="square" lIns="0" tIns="0" rIns="0" bIns="0" rtlCol="0" anchor="t"/>
          <a:lstStyle/>
          <a:p>
            <a:pPr indent="0" marL="0">
              <a:buNone/>
            </a:pPr>
            <a:r>
              <a:rPr lang="en-US" sz="1400" dirty="0">
                <a:solidFill>
                  <a:srgbClr val="9FB3BE"/>
                </a:solidFill>
                <a:latin typeface="Calibri" pitchFamily="34" charset="0"/>
                <a:ea typeface="Calibri" pitchFamily="34" charset="-122"/>
                <a:cs typeface="Calibri" pitchFamily="34" charset="-120"/>
              </a:rPr>
              <a:t>The integration module. The new work here is not logic — it is wiring, contracts and orchestration.</a:t>
            </a:r>
            <a:endParaRPr lang="en-US" sz="1400" dirty="0"/>
          </a:p>
        </p:txBody>
      </p:sp>
      <p:sp>
        <p:nvSpPr>
          <p:cNvPr id="5" name="Shape 3"/>
          <p:cNvSpPr/>
          <p:nvPr/>
        </p:nvSpPr>
        <p:spPr>
          <a:xfrm>
            <a:off x="7201632" y="1810512"/>
            <a:ext cx="329184" cy="329184"/>
          </a:xfrm>
          <a:prstGeom prst="ellipse">
            <a:avLst/>
          </a:prstGeom>
          <a:solidFill>
            <a:srgbClr val="B0763A"/>
          </a:solidFill>
          <a:ln w="12700">
            <a:solidFill>
              <a:srgbClr val="B0763A"/>
            </a:solidFill>
            <a:prstDash val="solid"/>
          </a:ln>
        </p:spPr>
      </p:sp>
      <p:sp>
        <p:nvSpPr>
          <p:cNvPr id="6" name="Text 4"/>
          <p:cNvSpPr txBox="1"/>
          <p:nvPr/>
        </p:nvSpPr>
        <p:spPr>
          <a:xfrm>
            <a:off x="7201632" y="18242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658832" y="1783080"/>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architecture, assembled</a:t>
            </a:r>
            <a:endParaRPr lang="en-US" sz="1300" dirty="0"/>
          </a:p>
        </p:txBody>
      </p:sp>
      <p:sp>
        <p:nvSpPr>
          <p:cNvPr id="8" name="Shape 6"/>
          <p:cNvSpPr/>
          <p:nvPr/>
        </p:nvSpPr>
        <p:spPr>
          <a:xfrm>
            <a:off x="7201632" y="2468880"/>
            <a:ext cx="329184" cy="329184"/>
          </a:xfrm>
          <a:prstGeom prst="ellipse">
            <a:avLst/>
          </a:prstGeom>
          <a:solidFill>
            <a:srgbClr val="8E9AA3"/>
          </a:solidFill>
          <a:ln w="12700">
            <a:solidFill>
              <a:srgbClr val="8E9AA3"/>
            </a:solidFill>
            <a:prstDash val="solid"/>
          </a:ln>
        </p:spPr>
      </p:sp>
      <p:sp>
        <p:nvSpPr>
          <p:cNvPr id="9" name="Text 7"/>
          <p:cNvSpPr txBox="1"/>
          <p:nvPr/>
        </p:nvSpPr>
        <p:spPr>
          <a:xfrm>
            <a:off x="7201632" y="248259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7658832" y="2441448"/>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Layer contracts</a:t>
            </a:r>
            <a:endParaRPr lang="en-US" sz="1300" dirty="0"/>
          </a:p>
        </p:txBody>
      </p:sp>
      <p:sp>
        <p:nvSpPr>
          <p:cNvPr id="11" name="Shape 9"/>
          <p:cNvSpPr/>
          <p:nvPr/>
        </p:nvSpPr>
        <p:spPr>
          <a:xfrm>
            <a:off x="7201632" y="3127248"/>
            <a:ext cx="329184" cy="329184"/>
          </a:xfrm>
          <a:prstGeom prst="ellipse">
            <a:avLst/>
          </a:prstGeom>
          <a:solidFill>
            <a:srgbClr val="D4A537"/>
          </a:solidFill>
          <a:ln w="12700">
            <a:solidFill>
              <a:srgbClr val="D4A537"/>
            </a:solidFill>
            <a:prstDash val="solid"/>
          </a:ln>
        </p:spPr>
      </p:sp>
      <p:sp>
        <p:nvSpPr>
          <p:cNvPr id="12" name="Text 10"/>
          <p:cNvSpPr txBox="1"/>
          <p:nvPr/>
        </p:nvSpPr>
        <p:spPr>
          <a:xfrm>
            <a:off x="7201632" y="31409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3" name="Text 11"/>
          <p:cNvSpPr txBox="1"/>
          <p:nvPr/>
        </p:nvSpPr>
        <p:spPr>
          <a:xfrm>
            <a:off x="7658832" y="3099816"/>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DAGs, dependencies, idempotency</a:t>
            </a:r>
            <a:endParaRPr lang="en-US" sz="1300" dirty="0"/>
          </a:p>
        </p:txBody>
      </p:sp>
      <p:sp>
        <p:nvSpPr>
          <p:cNvPr id="14" name="Shape 12"/>
          <p:cNvSpPr/>
          <p:nvPr/>
        </p:nvSpPr>
        <p:spPr>
          <a:xfrm>
            <a:off x="7201632" y="3785616"/>
            <a:ext cx="329184" cy="329184"/>
          </a:xfrm>
          <a:prstGeom prst="ellipse">
            <a:avLst/>
          </a:prstGeom>
          <a:solidFill>
            <a:srgbClr val="00A6A6"/>
          </a:solidFill>
          <a:ln w="12700">
            <a:solidFill>
              <a:srgbClr val="00A6A6"/>
            </a:solidFill>
            <a:prstDash val="solid"/>
          </a:ln>
        </p:spPr>
      </p:sp>
      <p:sp>
        <p:nvSpPr>
          <p:cNvPr id="15" name="Text 13"/>
          <p:cNvSpPr txBox="1"/>
          <p:nvPr/>
        </p:nvSpPr>
        <p:spPr>
          <a:xfrm>
            <a:off x="7201632" y="37993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6" name="Text 14"/>
          <p:cNvSpPr txBox="1"/>
          <p:nvPr/>
        </p:nvSpPr>
        <p:spPr>
          <a:xfrm>
            <a:off x="7658832" y="3758184"/>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Building gold for two consumers</a:t>
            </a:r>
            <a:endParaRPr lang="en-US" sz="1300" dirty="0"/>
          </a:p>
        </p:txBody>
      </p:sp>
      <p:sp>
        <p:nvSpPr>
          <p:cNvPr id="17" name="Shape 1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8" name="Shape 1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9" name="Shape 1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0" name="Text 1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1" name="Text 1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7 · SECTION 1</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The Masar Mini-Lakehouse, assembled</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Every node here is something you already built. M7 wires them together and makes the whole thing runnable by one command.</a:t>
            </a:r>
            <a:endParaRPr lang="en-US" sz="1330" dirty="0"/>
          </a:p>
        </p:txBody>
      </p:sp>
      <p:sp>
        <p:nvSpPr>
          <p:cNvPr id="5" name="Shape 3"/>
          <p:cNvSpPr/>
          <p:nvPr/>
        </p:nvSpPr>
        <p:spPr>
          <a:xfrm>
            <a:off x="566928" y="1883664"/>
            <a:ext cx="1828800" cy="3520440"/>
          </a:xfrm>
          <a:prstGeom prst="roundRect">
            <a:avLst>
              <a:gd name="adj" fmla="val 3000"/>
            </a:avLst>
          </a:prstGeom>
          <a:solidFill>
            <a:srgbClr val="F4F6F7"/>
          </a:solidFill>
          <a:ln w="12700">
            <a:solidFill>
              <a:srgbClr val="DDE3E6"/>
            </a:solidFill>
            <a:prstDash val="solid"/>
          </a:ln>
        </p:spPr>
      </p:sp>
      <p:sp>
        <p:nvSpPr>
          <p:cNvPr id="6" name="Text 4"/>
          <p:cNvSpPr txBox="1"/>
          <p:nvPr/>
        </p:nvSpPr>
        <p:spPr>
          <a:xfrm>
            <a:off x="694944" y="2029968"/>
            <a:ext cx="1572768" cy="237744"/>
          </a:xfrm>
          <a:prstGeom prst="rect">
            <a:avLst/>
          </a:prstGeom>
          <a:noFill/>
          <a:ln/>
        </p:spPr>
        <p:txBody>
          <a:bodyPr wrap="square" lIns="0" tIns="0" rIns="0" bIns="0" rtlCol="0" anchor="ctr"/>
          <a:lstStyle/>
          <a:p>
            <a:pPr indent="0" marL="0">
              <a:buNone/>
            </a:pPr>
            <a:r>
              <a:rPr lang="en-US" sz="1050" b="1" spc="120" kern="0" dirty="0">
                <a:solidFill>
                  <a:srgbClr val="6B7C86"/>
                </a:solidFill>
                <a:latin typeface="Calibri" pitchFamily="34" charset="0"/>
                <a:ea typeface="Calibri" pitchFamily="34" charset="-122"/>
                <a:cs typeface="Calibri" pitchFamily="34" charset="-120"/>
              </a:rPr>
              <a:t>SOURCES</a:t>
            </a:r>
            <a:endParaRPr lang="en-US" sz="1050" dirty="0"/>
          </a:p>
        </p:txBody>
      </p:sp>
      <p:sp>
        <p:nvSpPr>
          <p:cNvPr id="7" name="Text 5"/>
          <p:cNvSpPr txBox="1"/>
          <p:nvPr/>
        </p:nvSpPr>
        <p:spPr>
          <a:xfrm>
            <a:off x="694944" y="2340864"/>
            <a:ext cx="1572768" cy="2916936"/>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B3A42"/>
                </a:solidFill>
                <a:latin typeface="Calibri" pitchFamily="34" charset="0"/>
                <a:ea typeface="Calibri" pitchFamily="34" charset="-122"/>
                <a:cs typeface="Calibri" pitchFamily="34" charset="-120"/>
              </a:rPr>
              <a:t>trips CSV (M1)</a:t>
            </a:r>
            <a:endParaRPr lang="en-US" sz="1100" dirty="0"/>
          </a:p>
          <a:p>
            <a:pPr marL="342900" indent="-342900">
              <a:spcAft>
                <a:spcPts val="600"/>
              </a:spcAft>
              <a:buSzPct val="100000"/>
              <a:buChar char="•"/>
            </a:pPr>
            <a:r>
              <a:rPr lang="en-US" sz="1100" dirty="0">
                <a:solidFill>
                  <a:srgbClr val="2B3A42"/>
                </a:solidFill>
                <a:latin typeface="Calibri" pitchFamily="34" charset="0"/>
                <a:ea typeface="Calibri" pitchFamily="34" charset="-122"/>
                <a:cs typeface="Calibri" pitchFamily="34" charset="-120"/>
              </a:rPr>
              <a:t>drivers / vehicles</a:t>
            </a:r>
            <a:endParaRPr lang="en-US" sz="1100" dirty="0"/>
          </a:p>
          <a:p>
            <a:pPr marL="342900" indent="-342900">
              <a:spcAft>
                <a:spcPts val="600"/>
              </a:spcAft>
              <a:buSzPct val="100000"/>
              <a:buChar char="•"/>
            </a:pPr>
            <a:r>
              <a:rPr lang="en-US" sz="1100" dirty="0">
                <a:solidFill>
                  <a:srgbClr val="2B3A42"/>
                </a:solidFill>
                <a:latin typeface="Calibri" pitchFamily="34" charset="0"/>
                <a:ea typeface="Calibri" pitchFamily="34" charset="-122"/>
                <a:cs typeface="Calibri" pitchFamily="34" charset="-120"/>
              </a:rPr>
              <a:t>payments</a:t>
            </a:r>
            <a:endParaRPr lang="en-US" sz="1100" dirty="0"/>
          </a:p>
          <a:p>
            <a:pPr marL="342900" indent="-342900">
              <a:spcAft>
                <a:spcPts val="600"/>
              </a:spcAft>
              <a:buSzPct val="100000"/>
              <a:buChar char="•"/>
            </a:pPr>
            <a:r>
              <a:rPr lang="en-US" sz="1100" dirty="0">
                <a:solidFill>
                  <a:srgbClr val="2B3A42"/>
                </a:solidFill>
                <a:latin typeface="Calibri" pitchFamily="34" charset="0"/>
                <a:ea typeface="Calibri" pitchFamily="34" charset="-122"/>
                <a:cs typeface="Calibri" pitchFamily="34" charset="-120"/>
              </a:rPr>
              <a:t>GPS via Kafka (M5)</a:t>
            </a:r>
            <a:endParaRPr lang="en-US" sz="1100" dirty="0"/>
          </a:p>
          <a:p>
            <a:pPr marL="342900" indent="-342900">
              <a:spcAft>
                <a:spcPts val="600"/>
              </a:spcAft>
              <a:buSzPct val="100000"/>
              <a:buChar char="•"/>
            </a:pPr>
            <a:r>
              <a:rPr lang="en-US" sz="1100" dirty="0">
                <a:solidFill>
                  <a:srgbClr val="2B3A42"/>
                </a:solidFill>
                <a:latin typeface="Calibri" pitchFamily="34" charset="0"/>
                <a:ea typeface="Calibri" pitchFamily="34" charset="-122"/>
                <a:cs typeface="Calibri" pitchFamily="34" charset="-120"/>
              </a:rPr>
              <a:t>zones + weather</a:t>
            </a:r>
            <a:endParaRPr lang="en-US" sz="1100" dirty="0"/>
          </a:p>
        </p:txBody>
      </p:sp>
      <p:sp>
        <p:nvSpPr>
          <p:cNvPr id="8" name="Shape 6"/>
          <p:cNvSpPr/>
          <p:nvPr/>
        </p:nvSpPr>
        <p:spPr>
          <a:xfrm>
            <a:off x="2596896" y="1883664"/>
            <a:ext cx="6997903" cy="1051560"/>
          </a:xfrm>
          <a:prstGeom prst="roundRect">
            <a:avLst>
              <a:gd name="adj" fmla="val 5217"/>
            </a:avLst>
          </a:prstGeom>
          <a:solidFill>
            <a:srgbClr val="F4F6F7"/>
          </a:solidFill>
          <a:ln w="22225">
            <a:solidFill>
              <a:srgbClr val="B0763A"/>
            </a:solidFill>
            <a:prstDash val="solid"/>
          </a:ln>
        </p:spPr>
      </p:sp>
      <p:sp>
        <p:nvSpPr>
          <p:cNvPr id="9" name="Text 7"/>
          <p:cNvSpPr txBox="1"/>
          <p:nvPr/>
        </p:nvSpPr>
        <p:spPr>
          <a:xfrm>
            <a:off x="2779776" y="2011680"/>
            <a:ext cx="1371600" cy="292608"/>
          </a:xfrm>
          <a:prstGeom prst="rect">
            <a:avLst/>
          </a:prstGeom>
          <a:noFill/>
          <a:ln/>
        </p:spPr>
        <p:txBody>
          <a:bodyPr wrap="square" lIns="0" tIns="0" rIns="0" bIns="0" rtlCol="0" anchor="ctr"/>
          <a:lstStyle/>
          <a:p>
            <a:pPr indent="0" marL="0">
              <a:buNone/>
            </a:pPr>
            <a:r>
              <a:rPr lang="en-US" sz="1300" b="1" spc="140" kern="0" dirty="0">
                <a:solidFill>
                  <a:srgbClr val="B0763A"/>
                </a:solidFill>
                <a:latin typeface="Calibri" pitchFamily="34" charset="0"/>
                <a:ea typeface="Calibri" pitchFamily="34" charset="-122"/>
                <a:cs typeface="Calibri" pitchFamily="34" charset="-120"/>
              </a:rPr>
              <a:t>BRONZE</a:t>
            </a:r>
            <a:endParaRPr lang="en-US" sz="1300" dirty="0"/>
          </a:p>
        </p:txBody>
      </p:sp>
      <p:sp>
        <p:nvSpPr>
          <p:cNvPr id="10" name="Text 8"/>
          <p:cNvSpPr txBox="1"/>
          <p:nvPr/>
        </p:nvSpPr>
        <p:spPr>
          <a:xfrm>
            <a:off x="4197096" y="1993392"/>
            <a:ext cx="5214823" cy="310896"/>
          </a:xfrm>
          <a:prstGeom prst="rect">
            <a:avLst/>
          </a:prstGeom>
          <a:noFill/>
          <a:ln/>
        </p:spPr>
        <p:txBody>
          <a:bodyPr wrap="square" lIns="0" tIns="0" rIns="0" bIns="0" rtlCol="0" anchor="ctr"/>
          <a:lstStyle/>
          <a:p>
            <a:pPr indent="0" marL="0">
              <a:buNone/>
            </a:pPr>
            <a:r>
              <a:rPr lang="en-US" sz="1100" dirty="0">
                <a:solidFill>
                  <a:srgbClr val="10202B"/>
                </a:solidFill>
                <a:latin typeface="Courier New" pitchFamily="34" charset="0"/>
                <a:ea typeface="Courier New" pitchFamily="34" charset="-122"/>
                <a:cs typeface="Courier New" pitchFamily="34" charset="-120"/>
              </a:rPr>
              <a:t>land_bronze.py (M1) · ingest_gps_stream.py (M5)</a:t>
            </a:r>
            <a:endParaRPr lang="en-US" sz="1100" dirty="0"/>
          </a:p>
        </p:txBody>
      </p:sp>
      <p:sp>
        <p:nvSpPr>
          <p:cNvPr id="11" name="Text 9"/>
          <p:cNvSpPr txBox="1"/>
          <p:nvPr/>
        </p:nvSpPr>
        <p:spPr>
          <a:xfrm>
            <a:off x="2779776" y="2340864"/>
            <a:ext cx="6632143" cy="502920"/>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Append-only, lineage columns, as-received. Batch and stream land side by side into the same layer.</a:t>
            </a:r>
            <a:endParaRPr lang="en-US" sz="1150" dirty="0"/>
          </a:p>
        </p:txBody>
      </p:sp>
      <p:sp>
        <p:nvSpPr>
          <p:cNvPr id="12" name="Shape 10"/>
          <p:cNvSpPr/>
          <p:nvPr/>
        </p:nvSpPr>
        <p:spPr>
          <a:xfrm>
            <a:off x="5995264" y="2939796"/>
            <a:ext cx="201168" cy="173736"/>
          </a:xfrm>
          <a:prstGeom prst="downArrow">
            <a:avLst/>
          </a:prstGeom>
          <a:solidFill>
            <a:srgbClr val="8E9AA3"/>
          </a:solidFill>
          <a:ln w="12700">
            <a:solidFill>
              <a:srgbClr val="8E9AA3"/>
            </a:solidFill>
            <a:prstDash val="solid"/>
          </a:ln>
        </p:spPr>
      </p:sp>
      <p:sp>
        <p:nvSpPr>
          <p:cNvPr id="13" name="Shape 11"/>
          <p:cNvSpPr/>
          <p:nvPr/>
        </p:nvSpPr>
        <p:spPr>
          <a:xfrm>
            <a:off x="2596896" y="3118104"/>
            <a:ext cx="6997903" cy="1051560"/>
          </a:xfrm>
          <a:prstGeom prst="roundRect">
            <a:avLst>
              <a:gd name="adj" fmla="val 5217"/>
            </a:avLst>
          </a:prstGeom>
          <a:solidFill>
            <a:srgbClr val="F4F6F7"/>
          </a:solidFill>
          <a:ln w="22225">
            <a:solidFill>
              <a:srgbClr val="8E9AA3"/>
            </a:solidFill>
            <a:prstDash val="solid"/>
          </a:ln>
        </p:spPr>
      </p:sp>
      <p:sp>
        <p:nvSpPr>
          <p:cNvPr id="14" name="Text 12"/>
          <p:cNvSpPr txBox="1"/>
          <p:nvPr/>
        </p:nvSpPr>
        <p:spPr>
          <a:xfrm>
            <a:off x="2779776" y="3246120"/>
            <a:ext cx="1371600" cy="292608"/>
          </a:xfrm>
          <a:prstGeom prst="rect">
            <a:avLst/>
          </a:prstGeom>
          <a:noFill/>
          <a:ln/>
        </p:spPr>
        <p:txBody>
          <a:bodyPr wrap="square" lIns="0" tIns="0" rIns="0" bIns="0" rtlCol="0" anchor="ctr"/>
          <a:lstStyle/>
          <a:p>
            <a:pPr indent="0" marL="0">
              <a:buNone/>
            </a:pPr>
            <a:r>
              <a:rPr lang="en-US" sz="1300" b="1" spc="140" kern="0" dirty="0">
                <a:solidFill>
                  <a:srgbClr val="8E9AA3"/>
                </a:solidFill>
                <a:latin typeface="Calibri" pitchFamily="34" charset="0"/>
                <a:ea typeface="Calibri" pitchFamily="34" charset="-122"/>
                <a:cs typeface="Calibri" pitchFamily="34" charset="-120"/>
              </a:rPr>
              <a:t>SILVER</a:t>
            </a:r>
            <a:endParaRPr lang="en-US" sz="1300" dirty="0"/>
          </a:p>
        </p:txBody>
      </p:sp>
      <p:sp>
        <p:nvSpPr>
          <p:cNvPr id="15" name="Text 13"/>
          <p:cNvSpPr txBox="1"/>
          <p:nvPr/>
        </p:nvSpPr>
        <p:spPr>
          <a:xfrm>
            <a:off x="4197096" y="3227832"/>
            <a:ext cx="5214823" cy="310896"/>
          </a:xfrm>
          <a:prstGeom prst="rect">
            <a:avLst/>
          </a:prstGeom>
          <a:noFill/>
          <a:ln/>
        </p:spPr>
        <p:txBody>
          <a:bodyPr wrap="square" lIns="0" tIns="0" rIns="0" bIns="0" rtlCol="0" anchor="ctr"/>
          <a:lstStyle/>
          <a:p>
            <a:pPr indent="0" marL="0">
              <a:buNone/>
            </a:pPr>
            <a:r>
              <a:rPr lang="en-US" sz="1100" dirty="0">
                <a:solidFill>
                  <a:srgbClr val="10202B"/>
                </a:solidFill>
                <a:latin typeface="Courier New" pitchFamily="34" charset="0"/>
                <a:ea typeface="Courier New" pitchFamily="34" charset="-122"/>
                <a:cs typeface="Courier New" pitchFamily="34" charset="-120"/>
              </a:rPr>
              <a:t>silver.trips (M3, M4) · silver.vehicle_positions (M5)</a:t>
            </a:r>
            <a:endParaRPr lang="en-US" sz="1100" dirty="0"/>
          </a:p>
        </p:txBody>
      </p:sp>
      <p:sp>
        <p:nvSpPr>
          <p:cNvPr id="16" name="Text 14"/>
          <p:cNvSpPr txBox="1"/>
          <p:nvPr/>
        </p:nvSpPr>
        <p:spPr>
          <a:xfrm>
            <a:off x="2779776" y="3575304"/>
            <a:ext cx="6632143" cy="502920"/>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Quality gate (M6) then ELT: one row per trip_id, constrained Delta, conformed units and timezone.</a:t>
            </a:r>
            <a:endParaRPr lang="en-US" sz="1150" dirty="0"/>
          </a:p>
        </p:txBody>
      </p:sp>
      <p:sp>
        <p:nvSpPr>
          <p:cNvPr id="17" name="Shape 15"/>
          <p:cNvSpPr/>
          <p:nvPr/>
        </p:nvSpPr>
        <p:spPr>
          <a:xfrm>
            <a:off x="5995264" y="4174236"/>
            <a:ext cx="201168" cy="173736"/>
          </a:xfrm>
          <a:prstGeom prst="downArrow">
            <a:avLst/>
          </a:prstGeom>
          <a:solidFill>
            <a:srgbClr val="8E9AA3"/>
          </a:solidFill>
          <a:ln w="12700">
            <a:solidFill>
              <a:srgbClr val="8E9AA3"/>
            </a:solidFill>
            <a:prstDash val="solid"/>
          </a:ln>
        </p:spPr>
      </p:sp>
      <p:sp>
        <p:nvSpPr>
          <p:cNvPr id="18" name="Shape 16"/>
          <p:cNvSpPr/>
          <p:nvPr/>
        </p:nvSpPr>
        <p:spPr>
          <a:xfrm>
            <a:off x="2596896" y="4352544"/>
            <a:ext cx="6997903" cy="1051560"/>
          </a:xfrm>
          <a:prstGeom prst="roundRect">
            <a:avLst>
              <a:gd name="adj" fmla="val 5217"/>
            </a:avLst>
          </a:prstGeom>
          <a:solidFill>
            <a:srgbClr val="F4F6F7"/>
          </a:solidFill>
          <a:ln w="22225">
            <a:solidFill>
              <a:srgbClr val="D4A537"/>
            </a:solidFill>
            <a:prstDash val="solid"/>
          </a:ln>
        </p:spPr>
      </p:sp>
      <p:sp>
        <p:nvSpPr>
          <p:cNvPr id="19" name="Text 17"/>
          <p:cNvSpPr txBox="1"/>
          <p:nvPr/>
        </p:nvSpPr>
        <p:spPr>
          <a:xfrm>
            <a:off x="2779776" y="4480560"/>
            <a:ext cx="1371600" cy="292608"/>
          </a:xfrm>
          <a:prstGeom prst="rect">
            <a:avLst/>
          </a:prstGeom>
          <a:noFill/>
          <a:ln/>
        </p:spPr>
        <p:txBody>
          <a:bodyPr wrap="square" lIns="0" tIns="0" rIns="0" bIns="0" rtlCol="0" anchor="ctr"/>
          <a:lstStyle/>
          <a:p>
            <a:pPr indent="0" marL="0">
              <a:buNone/>
            </a:pPr>
            <a:r>
              <a:rPr lang="en-US" sz="1300" b="1" spc="140" kern="0" dirty="0">
                <a:solidFill>
                  <a:srgbClr val="D4A537"/>
                </a:solidFill>
                <a:latin typeface="Calibri" pitchFamily="34" charset="0"/>
                <a:ea typeface="Calibri" pitchFamily="34" charset="-122"/>
                <a:cs typeface="Calibri" pitchFamily="34" charset="-120"/>
              </a:rPr>
              <a:t>GOLD</a:t>
            </a:r>
            <a:endParaRPr lang="en-US" sz="1300" dirty="0"/>
          </a:p>
        </p:txBody>
      </p:sp>
      <p:sp>
        <p:nvSpPr>
          <p:cNvPr id="20" name="Text 18"/>
          <p:cNvSpPr txBox="1"/>
          <p:nvPr/>
        </p:nvSpPr>
        <p:spPr>
          <a:xfrm>
            <a:off x="4197096" y="4462272"/>
            <a:ext cx="5214823" cy="310896"/>
          </a:xfrm>
          <a:prstGeom prst="rect">
            <a:avLst/>
          </a:prstGeom>
          <a:noFill/>
          <a:ln/>
        </p:spPr>
        <p:txBody>
          <a:bodyPr wrap="square" lIns="0" tIns="0" rIns="0" bIns="0" rtlCol="0" anchor="ctr"/>
          <a:lstStyle/>
          <a:p>
            <a:pPr indent="0" marL="0">
              <a:buNone/>
            </a:pPr>
            <a:r>
              <a:rPr lang="en-US" sz="1100" dirty="0">
                <a:solidFill>
                  <a:srgbClr val="10202B"/>
                </a:solidFill>
                <a:latin typeface="Courier New" pitchFamily="34" charset="0"/>
                <a:ea typeface="Courier New" pitchFamily="34" charset="-122"/>
                <a:cs typeface="Courier New" pitchFamily="34" charset="-120"/>
              </a:rPr>
              <a:t>zone_hourly_demand · driver_daily · fact_trip + dims · eta_features</a:t>
            </a:r>
            <a:endParaRPr lang="en-US" sz="1100" dirty="0"/>
          </a:p>
        </p:txBody>
      </p:sp>
      <p:sp>
        <p:nvSpPr>
          <p:cNvPr id="21" name="Text 19"/>
          <p:cNvSpPr txBox="1"/>
          <p:nvPr/>
        </p:nvSpPr>
        <p:spPr>
          <a:xfrm>
            <a:off x="2779776" y="4809744"/>
            <a:ext cx="6632143" cy="502920"/>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Documented grain. Idempotent. Point-in-time correct. Maintained (OPTIMIZE/ZORDER) as a DAG task.</a:t>
            </a:r>
            <a:endParaRPr lang="en-US" sz="1150" dirty="0"/>
          </a:p>
        </p:txBody>
      </p:sp>
      <p:sp>
        <p:nvSpPr>
          <p:cNvPr id="22" name="Shape 20"/>
          <p:cNvSpPr/>
          <p:nvPr/>
        </p:nvSpPr>
        <p:spPr>
          <a:xfrm>
            <a:off x="9795967" y="1883664"/>
            <a:ext cx="1828800" cy="1705356"/>
          </a:xfrm>
          <a:prstGeom prst="roundRect">
            <a:avLst>
              <a:gd name="adj" fmla="val 3217"/>
            </a:avLst>
          </a:prstGeom>
          <a:solidFill>
            <a:srgbClr val="10202B"/>
          </a:solidFill>
          <a:ln w="12700">
            <a:solidFill>
              <a:srgbClr val="10202B"/>
            </a:solidFill>
            <a:prstDash val="solid"/>
          </a:ln>
        </p:spPr>
      </p:sp>
      <p:sp>
        <p:nvSpPr>
          <p:cNvPr id="23" name="Text 21"/>
          <p:cNvSpPr txBox="1"/>
          <p:nvPr/>
        </p:nvSpPr>
        <p:spPr>
          <a:xfrm>
            <a:off x="9942271" y="2029968"/>
            <a:ext cx="1536192" cy="274320"/>
          </a:xfrm>
          <a:prstGeom prst="rect">
            <a:avLst/>
          </a:prstGeom>
          <a:noFill/>
          <a:ln/>
        </p:spPr>
        <p:txBody>
          <a:bodyPr wrap="square" lIns="0" tIns="0" rIns="0" bIns="0" rtlCol="0" anchor="ctr"/>
          <a:lstStyle/>
          <a:p>
            <a:pPr indent="0" marL="0">
              <a:buNone/>
            </a:pPr>
            <a:r>
              <a:rPr lang="en-US" sz="1200" b="1" dirty="0">
                <a:solidFill>
                  <a:srgbClr val="D4A537"/>
                </a:solidFill>
                <a:latin typeface="Calibri" pitchFamily="34" charset="0"/>
                <a:ea typeface="Calibri" pitchFamily="34" charset="-122"/>
                <a:cs typeface="Calibri" pitchFamily="34" charset="-120"/>
              </a:rPr>
              <a:t>BI · operations</a:t>
            </a:r>
            <a:endParaRPr lang="en-US" sz="1200" dirty="0"/>
          </a:p>
        </p:txBody>
      </p:sp>
      <p:sp>
        <p:nvSpPr>
          <p:cNvPr id="24" name="Text 22"/>
          <p:cNvSpPr txBox="1"/>
          <p:nvPr/>
        </p:nvSpPr>
        <p:spPr>
          <a:xfrm>
            <a:off x="9942271" y="2340864"/>
            <a:ext cx="1536192" cy="1156716"/>
          </a:xfrm>
          <a:prstGeom prst="rect">
            <a:avLst/>
          </a:prstGeom>
          <a:noFill/>
          <a:ln/>
        </p:spPr>
        <p:txBody>
          <a:bodyPr wrap="square" lIns="0" tIns="0" rIns="0" bIns="0" rtlCol="0" anchor="t"/>
          <a:lstStyle/>
          <a:p>
            <a:pPr indent="0" marL="0">
              <a:buNone/>
            </a:pPr>
            <a:r>
              <a:rPr lang="en-US" sz="950" dirty="0">
                <a:solidFill>
                  <a:srgbClr val="9FB3BE"/>
                </a:solidFill>
                <a:latin typeface="Courier New" pitchFamily="34" charset="0"/>
                <a:ea typeface="Courier New" pitchFamily="34" charset="-122"/>
                <a:cs typeface="Courier New" pitchFamily="34" charset="-120"/>
              </a:rPr>
              <a:t>morning ops review</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star schema</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conformed dims</a:t>
            </a:r>
            <a:endParaRPr lang="en-US" sz="950" dirty="0"/>
          </a:p>
        </p:txBody>
      </p:sp>
      <p:sp>
        <p:nvSpPr>
          <p:cNvPr id="25" name="Shape 23"/>
          <p:cNvSpPr/>
          <p:nvPr/>
        </p:nvSpPr>
        <p:spPr>
          <a:xfrm>
            <a:off x="9795967" y="3698748"/>
            <a:ext cx="1828800" cy="1705356"/>
          </a:xfrm>
          <a:prstGeom prst="roundRect">
            <a:avLst>
              <a:gd name="adj" fmla="val 3217"/>
            </a:avLst>
          </a:prstGeom>
          <a:solidFill>
            <a:srgbClr val="10202B"/>
          </a:solidFill>
          <a:ln w="12700">
            <a:solidFill>
              <a:srgbClr val="10202B"/>
            </a:solidFill>
            <a:prstDash val="solid"/>
          </a:ln>
        </p:spPr>
      </p:sp>
      <p:sp>
        <p:nvSpPr>
          <p:cNvPr id="26" name="Text 24"/>
          <p:cNvSpPr txBox="1"/>
          <p:nvPr/>
        </p:nvSpPr>
        <p:spPr>
          <a:xfrm>
            <a:off x="9942271" y="3845052"/>
            <a:ext cx="1536192" cy="274320"/>
          </a:xfrm>
          <a:prstGeom prst="rect">
            <a:avLst/>
          </a:prstGeom>
          <a:noFill/>
          <a:ln/>
        </p:spPr>
        <p:txBody>
          <a:bodyPr wrap="square" lIns="0" tIns="0" rIns="0" bIns="0" rtlCol="0" anchor="ctr"/>
          <a:lstStyle/>
          <a:p>
            <a:pPr indent="0" marL="0">
              <a:buNone/>
            </a:pPr>
            <a:r>
              <a:rPr lang="en-US" sz="1200" b="1" dirty="0">
                <a:solidFill>
                  <a:srgbClr val="00A6A6"/>
                </a:solidFill>
                <a:latin typeface="Calibri" pitchFamily="34" charset="0"/>
                <a:ea typeface="Calibri" pitchFamily="34" charset="-122"/>
                <a:cs typeface="Calibri" pitchFamily="34" charset="-120"/>
              </a:rPr>
              <a:t>AI · ETA &amp; demand</a:t>
            </a:r>
            <a:endParaRPr lang="en-US" sz="1200" dirty="0"/>
          </a:p>
        </p:txBody>
      </p:sp>
      <p:sp>
        <p:nvSpPr>
          <p:cNvPr id="27" name="Text 25"/>
          <p:cNvSpPr txBox="1"/>
          <p:nvPr/>
        </p:nvSpPr>
        <p:spPr>
          <a:xfrm>
            <a:off x="9942271" y="4155948"/>
            <a:ext cx="1536192" cy="1156716"/>
          </a:xfrm>
          <a:prstGeom prst="rect">
            <a:avLst/>
          </a:prstGeom>
          <a:noFill/>
          <a:ln/>
        </p:spPr>
        <p:txBody>
          <a:bodyPr wrap="square" lIns="0" tIns="0" rIns="0" bIns="0" rtlCol="0" anchor="t"/>
          <a:lstStyle/>
          <a:p>
            <a:pPr indent="0" marL="0">
              <a:buNone/>
            </a:pPr>
            <a:r>
              <a:rPr lang="en-US" sz="950" dirty="0">
                <a:solidFill>
                  <a:srgbClr val="9FB3BE"/>
                </a:solidFill>
                <a:latin typeface="Courier New" pitchFamily="34" charset="0"/>
                <a:ea typeface="Courier New" pitchFamily="34" charset="-122"/>
                <a:cs typeface="Courier New" pitchFamily="34" charset="-120"/>
              </a:rPr>
              <a:t>offline training</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Redis online store</a:t>
            </a:r>
            <a:endParaRPr lang="en-US" sz="950" dirty="0"/>
          </a:p>
          <a:p>
            <a:pPr indent="0" marL="0">
              <a:buNone/>
            </a:pPr>
            <a:r>
              <a:rPr lang="en-US" sz="950" dirty="0">
                <a:solidFill>
                  <a:srgbClr val="9FB3BE"/>
                </a:solidFill>
                <a:latin typeface="Courier New" pitchFamily="34" charset="0"/>
                <a:ea typeface="Courier New" pitchFamily="34" charset="-122"/>
                <a:cs typeface="Courier New" pitchFamily="34" charset="-120"/>
              </a:rPr>
              <a:t>live ETA service</a:t>
            </a:r>
            <a:endParaRPr lang="en-US" sz="950" dirty="0"/>
          </a:p>
        </p:txBody>
      </p:sp>
      <p:sp>
        <p:nvSpPr>
          <p:cNvPr id="28" name="Text 26"/>
          <p:cNvSpPr txBox="1"/>
          <p:nvPr/>
        </p:nvSpPr>
        <p:spPr>
          <a:xfrm>
            <a:off x="566928" y="5641848"/>
            <a:ext cx="11057839" cy="731520"/>
          </a:xfrm>
          <a:prstGeom prst="rect">
            <a:avLst/>
          </a:prstGeom>
          <a:noFill/>
          <a:ln/>
        </p:spPr>
        <p:txBody>
          <a:bodyPr wrap="square" lIns="0" tIns="0" rIns="0" bIns="0" rtlCol="0" anchor="t"/>
          <a:lstStyle/>
          <a:p>
            <a:pPr indent="0" marL="0">
              <a:buNone/>
            </a:pPr>
            <a:r>
              <a:rPr lang="en-US" sz="1300" i="1" dirty="0">
                <a:solidFill>
                  <a:srgbClr val="B0763A"/>
                </a:solidFill>
                <a:latin typeface="Calibri" pitchFamily="34" charset="0"/>
                <a:ea typeface="Calibri" pitchFamily="34" charset="-122"/>
                <a:cs typeface="Calibri" pitchFamily="34" charset="-120"/>
              </a:rPr>
              <a:t>One idempotent DAG:  land &gt;&gt; gate &gt;&gt; silver &gt;&gt; [gold…] &gt;&gt; maintain.  Observability: freshness · volume · drift.  Governance: classification · access · PDPL retention.</a:t>
            </a:r>
            <a:endParaRPr lang="en-US" sz="1300" dirty="0"/>
          </a:p>
        </p:txBody>
      </p:sp>
      <p:sp>
        <p:nvSpPr>
          <p:cNvPr id="29" name="Shape 27"/>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30" name="Shape 28"/>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31" name="Shape 29"/>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32" name="Text 30"/>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33" name="Text 31"/>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7 · SECTION 2</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Layer contracts — what lets teams work independently</a:t>
            </a:r>
            <a:endParaRPr lang="en-US" sz="3000" dirty="0"/>
          </a:p>
        </p:txBody>
      </p:sp>
      <p:sp>
        <p:nvSpPr>
          <p:cNvPr id="4" name="Text 2"/>
          <p:cNvSpPr txBox="1"/>
          <p:nvPr/>
        </p:nvSpPr>
        <p:spPr>
          <a:xfrm>
            <a:off x="566928" y="1389888"/>
            <a:ext cx="10692079" cy="439166"/>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A contract is the guaranteed shape and quality a layer promises. Breaking one is a breaking change requiring versioning and communication — exactly like an API.</a:t>
            </a:r>
            <a:endParaRPr lang="en-US" sz="133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66928" y="1957070"/>
          <a:ext cx="11057839" cy="914400"/>
        </p:xfrm>
        <a:graphic>
          <a:graphicData uri="http://schemas.openxmlformats.org/drawingml/2006/table">
            <a:tbl>
              <a:tblPr/>
              <a:tblGrid>
                <a:gridCol w="1371600"/>
                <a:gridCol w="5120640"/>
                <a:gridCol w="2377440"/>
                <a:gridCol w="2185416"/>
              </a:tblGrid>
              <a:tr h="905193">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Layer</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Guarantees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Grain</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Owner decides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r>
              <a:tr h="905193">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Bronze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Append-only · carries _ingested_at, _source_file, _batch_id · schema as-received · never mutated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One row per source record, per landing</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Retention of raw history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905193">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Silver</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One row per trip_id · enforced schema and CHECK constraints · quality-gated · conformed timezone and units · completed valid trips only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One row per business key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The definition of “a completed trip”</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905193">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Gold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Business-modelled · documented grain · feature table is point-in-time correct · PDPL-safe at the boundary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Stated explicitly per table — e.g. one row per zone per hour</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What each consumer is promised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bl>
          </a:graphicData>
        </a:graphic>
      </p:graphicFrame>
      <p:sp>
        <p:nvSpPr>
          <p:cNvPr id="6" name="Text 3"/>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A BI developer builds on gold's documented grain without reading the ELT code, trusting the contract. That is the whole point — and it is why “gold built straight from bronze, just this once” is a rubric flag.</a:t>
            </a:r>
            <a:endParaRPr lang="en-US" sz="1200" dirty="0"/>
          </a:p>
        </p:txBody>
      </p:sp>
      <p:sp>
        <p:nvSpPr>
          <p:cNvPr id="7" name="Shape 4"/>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8" name="Shape 5"/>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9" name="Shape 6"/>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0" name="Text 7"/>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1" name="Text 8"/>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7 · SECTION 3</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Orchestration is a guarantee, not a scheduler</a:t>
            </a:r>
            <a:endParaRPr lang="en-US" sz="3000" dirty="0"/>
          </a:p>
        </p:txBody>
      </p:sp>
      <p:sp>
        <p:nvSpPr>
          <p:cNvPr id="4" name="Shape 2"/>
          <p:cNvSpPr/>
          <p:nvPr/>
        </p:nvSpPr>
        <p:spPr>
          <a:xfrm>
            <a:off x="566928" y="1389888"/>
            <a:ext cx="3515258" cy="1993392"/>
          </a:xfrm>
          <a:prstGeom prst="roundRect">
            <a:avLst>
              <a:gd name="adj" fmla="val 2752"/>
            </a:avLst>
          </a:prstGeom>
          <a:solidFill>
            <a:srgbClr val="F4F6F7"/>
          </a:solidFill>
          <a:ln w="12700">
            <a:solidFill>
              <a:srgbClr val="DDE3E6"/>
            </a:solidFill>
            <a:prstDash val="solid"/>
          </a:ln>
        </p:spPr>
      </p:sp>
      <p:sp>
        <p:nvSpPr>
          <p:cNvPr id="5" name="Shape 3"/>
          <p:cNvSpPr/>
          <p:nvPr/>
        </p:nvSpPr>
        <p:spPr>
          <a:xfrm>
            <a:off x="786384" y="1572768"/>
            <a:ext cx="365760" cy="365760"/>
          </a:xfrm>
          <a:prstGeom prst="ellipse">
            <a:avLst/>
          </a:prstGeom>
          <a:solidFill>
            <a:srgbClr val="B0763A"/>
          </a:solidFill>
          <a:ln w="12700">
            <a:solidFill>
              <a:srgbClr val="B0763A"/>
            </a:solidFill>
            <a:prstDash val="solid"/>
          </a:ln>
        </p:spPr>
      </p:sp>
      <p:sp>
        <p:nvSpPr>
          <p:cNvPr id="6" name="Text 4"/>
          <p:cNvSpPr txBox="1"/>
          <p:nvPr/>
        </p:nvSpPr>
        <p:spPr>
          <a:xfrm>
            <a:off x="786384" y="158648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86384" y="2066544"/>
            <a:ext cx="3076346"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Dependency ordering</a:t>
            </a:r>
            <a:endParaRPr lang="en-US" sz="1450" dirty="0"/>
          </a:p>
        </p:txBody>
      </p:sp>
      <p:sp>
        <p:nvSpPr>
          <p:cNvPr id="8" name="Text 6"/>
          <p:cNvSpPr txBox="1"/>
          <p:nvPr/>
        </p:nvSpPr>
        <p:spPr>
          <a:xfrm>
            <a:off x="786384" y="2390013"/>
            <a:ext cx="3076346" cy="828675"/>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Gold never builds from a silver that has not refreshed. The DAG makes “I ran step 7 before step 4” structurally impossible.</a:t>
            </a:r>
            <a:endParaRPr lang="en-US" sz="1200" dirty="0"/>
          </a:p>
        </p:txBody>
      </p:sp>
      <p:sp>
        <p:nvSpPr>
          <p:cNvPr id="9" name="Shape 7"/>
          <p:cNvSpPr/>
          <p:nvPr/>
        </p:nvSpPr>
        <p:spPr>
          <a:xfrm>
            <a:off x="4338218" y="1389888"/>
            <a:ext cx="3515258" cy="1993392"/>
          </a:xfrm>
          <a:prstGeom prst="roundRect">
            <a:avLst>
              <a:gd name="adj" fmla="val 2752"/>
            </a:avLst>
          </a:prstGeom>
          <a:solidFill>
            <a:srgbClr val="F4F6F7"/>
          </a:solidFill>
          <a:ln w="12700">
            <a:solidFill>
              <a:srgbClr val="DDE3E6"/>
            </a:solidFill>
            <a:prstDash val="solid"/>
          </a:ln>
        </p:spPr>
      </p:sp>
      <p:sp>
        <p:nvSpPr>
          <p:cNvPr id="10" name="Shape 8"/>
          <p:cNvSpPr/>
          <p:nvPr/>
        </p:nvSpPr>
        <p:spPr>
          <a:xfrm>
            <a:off x="4557674" y="1572768"/>
            <a:ext cx="365760" cy="365760"/>
          </a:xfrm>
          <a:prstGeom prst="ellipse">
            <a:avLst/>
          </a:prstGeom>
          <a:solidFill>
            <a:srgbClr val="8E9AA3"/>
          </a:solidFill>
          <a:ln w="12700">
            <a:solidFill>
              <a:srgbClr val="8E9AA3"/>
            </a:solidFill>
            <a:prstDash val="solid"/>
          </a:ln>
        </p:spPr>
      </p:sp>
      <p:sp>
        <p:nvSpPr>
          <p:cNvPr id="11" name="Text 9"/>
          <p:cNvSpPr txBox="1"/>
          <p:nvPr/>
        </p:nvSpPr>
        <p:spPr>
          <a:xfrm>
            <a:off x="4557674" y="158648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txBox="1"/>
          <p:nvPr/>
        </p:nvSpPr>
        <p:spPr>
          <a:xfrm>
            <a:off x="4557674" y="2066544"/>
            <a:ext cx="3076346"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Idempotency</a:t>
            </a:r>
            <a:endParaRPr lang="en-US" sz="1450" dirty="0"/>
          </a:p>
        </p:txBody>
      </p:sp>
      <p:sp>
        <p:nvSpPr>
          <p:cNvPr id="13" name="Text 11"/>
          <p:cNvSpPr txBox="1"/>
          <p:nvPr/>
        </p:nvSpPr>
        <p:spPr>
          <a:xfrm>
            <a:off x="4557674" y="2390013"/>
            <a:ext cx="3076346" cy="828675"/>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Every task reruns safely — bronze appends, everything downstream merges. Retries and backfills cannot corrupt data.</a:t>
            </a:r>
            <a:endParaRPr lang="en-US" sz="1200" dirty="0"/>
          </a:p>
        </p:txBody>
      </p:sp>
      <p:sp>
        <p:nvSpPr>
          <p:cNvPr id="14" name="Shape 12"/>
          <p:cNvSpPr/>
          <p:nvPr/>
        </p:nvSpPr>
        <p:spPr>
          <a:xfrm>
            <a:off x="8109509" y="1389888"/>
            <a:ext cx="3515258" cy="1993392"/>
          </a:xfrm>
          <a:prstGeom prst="roundRect">
            <a:avLst>
              <a:gd name="adj" fmla="val 2752"/>
            </a:avLst>
          </a:prstGeom>
          <a:solidFill>
            <a:srgbClr val="F4F6F7"/>
          </a:solidFill>
          <a:ln w="12700">
            <a:solidFill>
              <a:srgbClr val="DDE3E6"/>
            </a:solidFill>
            <a:prstDash val="solid"/>
          </a:ln>
        </p:spPr>
      </p:sp>
      <p:sp>
        <p:nvSpPr>
          <p:cNvPr id="15" name="Shape 13"/>
          <p:cNvSpPr/>
          <p:nvPr/>
        </p:nvSpPr>
        <p:spPr>
          <a:xfrm>
            <a:off x="8328965" y="1572768"/>
            <a:ext cx="365760" cy="365760"/>
          </a:xfrm>
          <a:prstGeom prst="ellipse">
            <a:avLst/>
          </a:prstGeom>
          <a:solidFill>
            <a:srgbClr val="D4A537"/>
          </a:solidFill>
          <a:ln w="12700">
            <a:solidFill>
              <a:srgbClr val="D4A537"/>
            </a:solidFill>
            <a:prstDash val="solid"/>
          </a:ln>
        </p:spPr>
      </p:sp>
      <p:sp>
        <p:nvSpPr>
          <p:cNvPr id="16" name="Text 14"/>
          <p:cNvSpPr txBox="1"/>
          <p:nvPr/>
        </p:nvSpPr>
        <p:spPr>
          <a:xfrm>
            <a:off x="8328965" y="158648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txBox="1"/>
          <p:nvPr/>
        </p:nvSpPr>
        <p:spPr>
          <a:xfrm>
            <a:off x="8328965" y="2066544"/>
            <a:ext cx="3076346"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Atomicity per task</a:t>
            </a:r>
            <a:endParaRPr lang="en-US" sz="1450" dirty="0"/>
          </a:p>
        </p:txBody>
      </p:sp>
      <p:sp>
        <p:nvSpPr>
          <p:cNvPr id="18" name="Text 16"/>
          <p:cNvSpPr txBox="1"/>
          <p:nvPr/>
        </p:nvSpPr>
        <p:spPr>
          <a:xfrm>
            <a:off x="8328965" y="2390013"/>
            <a:ext cx="3076346" cy="828675"/>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Delta commits mean a failed task leaves no half-written table behind for the next run to trip over.</a:t>
            </a:r>
            <a:endParaRPr lang="en-US" sz="1200" dirty="0"/>
          </a:p>
        </p:txBody>
      </p:sp>
      <p:sp>
        <p:nvSpPr>
          <p:cNvPr id="19" name="Shape 17"/>
          <p:cNvSpPr/>
          <p:nvPr/>
        </p:nvSpPr>
        <p:spPr>
          <a:xfrm>
            <a:off x="566928" y="3639312"/>
            <a:ext cx="3515258" cy="1993392"/>
          </a:xfrm>
          <a:prstGeom prst="roundRect">
            <a:avLst>
              <a:gd name="adj" fmla="val 2752"/>
            </a:avLst>
          </a:prstGeom>
          <a:solidFill>
            <a:srgbClr val="F4F6F7"/>
          </a:solidFill>
          <a:ln w="12700">
            <a:solidFill>
              <a:srgbClr val="DDE3E6"/>
            </a:solidFill>
            <a:prstDash val="solid"/>
          </a:ln>
        </p:spPr>
      </p:sp>
      <p:sp>
        <p:nvSpPr>
          <p:cNvPr id="20" name="Shape 18"/>
          <p:cNvSpPr/>
          <p:nvPr/>
        </p:nvSpPr>
        <p:spPr>
          <a:xfrm>
            <a:off x="786384" y="3822192"/>
            <a:ext cx="365760" cy="365760"/>
          </a:xfrm>
          <a:prstGeom prst="ellipse">
            <a:avLst/>
          </a:prstGeom>
          <a:solidFill>
            <a:srgbClr val="00A6A6"/>
          </a:solidFill>
          <a:ln w="12700">
            <a:solidFill>
              <a:srgbClr val="00A6A6"/>
            </a:solidFill>
            <a:prstDash val="solid"/>
          </a:ln>
        </p:spPr>
      </p:sp>
      <p:sp>
        <p:nvSpPr>
          <p:cNvPr id="21" name="Text 19"/>
          <p:cNvSpPr txBox="1"/>
          <p:nvPr/>
        </p:nvSpPr>
        <p:spPr>
          <a:xfrm>
            <a:off x="786384" y="383590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txBox="1"/>
          <p:nvPr/>
        </p:nvSpPr>
        <p:spPr>
          <a:xfrm>
            <a:off x="786384" y="4315968"/>
            <a:ext cx="3076346"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Observability</a:t>
            </a:r>
            <a:endParaRPr lang="en-US" sz="1450" dirty="0"/>
          </a:p>
        </p:txBody>
      </p:sp>
      <p:sp>
        <p:nvSpPr>
          <p:cNvPr id="23" name="Text 21"/>
          <p:cNvSpPr txBox="1"/>
          <p:nvPr/>
        </p:nvSpPr>
        <p:spPr>
          <a:xfrm>
            <a:off x="786384" y="4639437"/>
            <a:ext cx="3076346" cy="828675"/>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Freshness, volume and quality signals gate promotion and feed alerts — they are DAG tasks, not a separate monitoring project.</a:t>
            </a:r>
            <a:endParaRPr lang="en-US" sz="1200" dirty="0"/>
          </a:p>
        </p:txBody>
      </p:sp>
      <p:sp>
        <p:nvSpPr>
          <p:cNvPr id="24" name="Shape 22"/>
          <p:cNvSpPr/>
          <p:nvPr/>
        </p:nvSpPr>
        <p:spPr>
          <a:xfrm>
            <a:off x="4338218" y="3639312"/>
            <a:ext cx="3515258" cy="1993392"/>
          </a:xfrm>
          <a:prstGeom prst="roundRect">
            <a:avLst>
              <a:gd name="adj" fmla="val 2752"/>
            </a:avLst>
          </a:prstGeom>
          <a:solidFill>
            <a:srgbClr val="F4F6F7"/>
          </a:solidFill>
          <a:ln w="12700">
            <a:solidFill>
              <a:srgbClr val="DDE3E6"/>
            </a:solidFill>
            <a:prstDash val="solid"/>
          </a:ln>
        </p:spPr>
      </p:sp>
      <p:sp>
        <p:nvSpPr>
          <p:cNvPr id="25" name="Shape 23"/>
          <p:cNvSpPr/>
          <p:nvPr/>
        </p:nvSpPr>
        <p:spPr>
          <a:xfrm>
            <a:off x="4557674" y="3822192"/>
            <a:ext cx="365760" cy="365760"/>
          </a:xfrm>
          <a:prstGeom prst="ellipse">
            <a:avLst/>
          </a:prstGeom>
          <a:solidFill>
            <a:srgbClr val="B0763A"/>
          </a:solidFill>
          <a:ln w="12700">
            <a:solidFill>
              <a:srgbClr val="B0763A"/>
            </a:solidFill>
            <a:prstDash val="solid"/>
          </a:ln>
        </p:spPr>
      </p:sp>
      <p:sp>
        <p:nvSpPr>
          <p:cNvPr id="26" name="Text 24"/>
          <p:cNvSpPr txBox="1"/>
          <p:nvPr/>
        </p:nvSpPr>
        <p:spPr>
          <a:xfrm>
            <a:off x="4557674" y="383590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txBox="1"/>
          <p:nvPr/>
        </p:nvSpPr>
        <p:spPr>
          <a:xfrm>
            <a:off x="4557674" y="4315968"/>
            <a:ext cx="3076346"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Recoverability</a:t>
            </a:r>
            <a:endParaRPr lang="en-US" sz="1450" dirty="0"/>
          </a:p>
        </p:txBody>
      </p:sp>
      <p:sp>
        <p:nvSpPr>
          <p:cNvPr id="28" name="Text 26"/>
          <p:cNvSpPr txBox="1"/>
          <p:nvPr/>
        </p:nvSpPr>
        <p:spPr>
          <a:xfrm>
            <a:off x="4557674" y="4639437"/>
            <a:ext cx="3076346" cy="828675"/>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Because tasks are idempotent and Delta is transactional, a full rerun recovers from any failure with no duplicates and no manual cleanup.</a:t>
            </a:r>
            <a:endParaRPr lang="en-US" sz="1200" dirty="0"/>
          </a:p>
        </p:txBody>
      </p:sp>
      <p:sp>
        <p:nvSpPr>
          <p:cNvPr id="29" name="Shape 27"/>
          <p:cNvSpPr/>
          <p:nvPr/>
        </p:nvSpPr>
        <p:spPr>
          <a:xfrm>
            <a:off x="8109509" y="3639312"/>
            <a:ext cx="3515258" cy="1993392"/>
          </a:xfrm>
          <a:prstGeom prst="roundRect">
            <a:avLst>
              <a:gd name="adj" fmla="val 2752"/>
            </a:avLst>
          </a:prstGeom>
          <a:solidFill>
            <a:srgbClr val="F4F6F7"/>
          </a:solidFill>
          <a:ln w="12700">
            <a:solidFill>
              <a:srgbClr val="DDE3E6"/>
            </a:solidFill>
            <a:prstDash val="solid"/>
          </a:ln>
        </p:spPr>
      </p:sp>
      <p:sp>
        <p:nvSpPr>
          <p:cNvPr id="30" name="Shape 28"/>
          <p:cNvSpPr/>
          <p:nvPr/>
        </p:nvSpPr>
        <p:spPr>
          <a:xfrm>
            <a:off x="8328965" y="3822192"/>
            <a:ext cx="365760" cy="365760"/>
          </a:xfrm>
          <a:prstGeom prst="ellipse">
            <a:avLst/>
          </a:prstGeom>
          <a:solidFill>
            <a:srgbClr val="D9503F"/>
          </a:solidFill>
          <a:ln w="12700">
            <a:solidFill>
              <a:srgbClr val="D9503F"/>
            </a:solidFill>
            <a:prstDash val="solid"/>
          </a:ln>
        </p:spPr>
      </p:sp>
      <p:sp>
        <p:nvSpPr>
          <p:cNvPr id="31" name="Text 29"/>
          <p:cNvSpPr txBox="1"/>
          <p:nvPr/>
        </p:nvSpPr>
        <p:spPr>
          <a:xfrm>
            <a:off x="8328965" y="3835908"/>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2" name="Text 30"/>
          <p:cNvSpPr txBox="1"/>
          <p:nvPr/>
        </p:nvSpPr>
        <p:spPr>
          <a:xfrm>
            <a:off x="8328965" y="4315968"/>
            <a:ext cx="3076346"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One command</a:t>
            </a:r>
            <a:endParaRPr lang="en-US" sz="1450" dirty="0"/>
          </a:p>
        </p:txBody>
      </p:sp>
      <p:sp>
        <p:nvSpPr>
          <p:cNvPr id="33" name="Text 31"/>
          <p:cNvSpPr txBox="1"/>
          <p:nvPr/>
        </p:nvSpPr>
        <p:spPr>
          <a:xfrm>
            <a:off x="8328965" y="4639437"/>
            <a:ext cx="3076346" cy="828675"/>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make pipeline, or one DAG trigger. That is the team's public interface. If recovery requires knowing which notebook to run, you do not have a platform.</a:t>
            </a:r>
            <a:endParaRPr lang="en-US" sz="1200" dirty="0"/>
          </a:p>
        </p:txBody>
      </p:sp>
      <p:sp>
        <p:nvSpPr>
          <p:cNvPr id="34" name="Text 32"/>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CS-07 (“Rakeez” Data): twelve notebooks run by hand each morning in a remembered order. A new engineer ran step 7 before step 4; gold rebuilt from stale silver; the exec dashboard showed last week's demand. No failure, no alert — just a wrong number and a lost morning.</a:t>
            </a:r>
            <a:endParaRPr lang="en-US" sz="1200" dirty="0"/>
          </a:p>
        </p:txBody>
      </p:sp>
      <p:sp>
        <p:nvSpPr>
          <p:cNvPr id="35" name="Shape 3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36" name="Shape 3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37" name="Shape 3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38" name="Text 3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39" name="Text 3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00A6A6"/>
                </a:solidFill>
                <a:latin typeface="Calibri" pitchFamily="34" charset="0"/>
                <a:ea typeface="Calibri" pitchFamily="34" charset="-122"/>
                <a:cs typeface="Calibri" pitchFamily="34" charset="-120"/>
              </a:rPr>
              <a:t>HANDS-ON LAB 7</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Assemble and orchestrate the Mini-Lakehouse</a:t>
            </a:r>
            <a:endParaRPr lang="en-US" sz="3000" dirty="0"/>
          </a:p>
        </p:txBody>
      </p:sp>
      <p:sp>
        <p:nvSpPr>
          <p:cNvPr id="4" name="Shape 2"/>
          <p:cNvSpPr/>
          <p:nvPr/>
        </p:nvSpPr>
        <p:spPr>
          <a:xfrm>
            <a:off x="566928" y="1389888"/>
            <a:ext cx="3200400" cy="4736592"/>
          </a:xfrm>
          <a:prstGeom prst="roundRect">
            <a:avLst>
              <a:gd name="adj" fmla="val 1714"/>
            </a:avLst>
          </a:prstGeom>
          <a:solidFill>
            <a:srgbClr val="10202B"/>
          </a:solidFill>
          <a:ln w="12700">
            <a:solidFill>
              <a:srgbClr val="10202B"/>
            </a:solidFill>
            <a:prstDash val="solid"/>
          </a:ln>
        </p:spPr>
      </p:sp>
      <p:sp>
        <p:nvSpPr>
          <p:cNvPr id="5" name="Text 3"/>
          <p:cNvSpPr txBox="1"/>
          <p:nvPr/>
        </p:nvSpPr>
        <p:spPr>
          <a:xfrm>
            <a:off x="749808" y="1572768"/>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DURATION</a:t>
            </a:r>
            <a:endParaRPr lang="en-US" sz="900" dirty="0"/>
          </a:p>
        </p:txBody>
      </p:sp>
      <p:sp>
        <p:nvSpPr>
          <p:cNvPr id="6" name="Text 4"/>
          <p:cNvSpPr txBox="1"/>
          <p:nvPr/>
        </p:nvSpPr>
        <p:spPr>
          <a:xfrm>
            <a:off x="749808" y="1755648"/>
            <a:ext cx="2834640" cy="21945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50 minutes</a:t>
            </a:r>
            <a:endParaRPr lang="en-US" sz="1150" dirty="0"/>
          </a:p>
        </p:txBody>
      </p:sp>
      <p:sp>
        <p:nvSpPr>
          <p:cNvPr id="7" name="Text 5"/>
          <p:cNvSpPr txBox="1"/>
          <p:nvPr/>
        </p:nvSpPr>
        <p:spPr>
          <a:xfrm>
            <a:off x="749808" y="2157984"/>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CHECKPOINT</a:t>
            </a:r>
            <a:endParaRPr lang="en-US" sz="900" dirty="0"/>
          </a:p>
        </p:txBody>
      </p:sp>
      <p:sp>
        <p:nvSpPr>
          <p:cNvPr id="8" name="Text 6"/>
          <p:cNvSpPr txBox="1"/>
          <p:nvPr/>
        </p:nvSpPr>
        <p:spPr>
          <a:xfrm>
            <a:off x="749808" y="2340864"/>
            <a:ext cx="2834640" cy="21945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git checkout lab7-start</a:t>
            </a:r>
            <a:endParaRPr lang="en-US" sz="1150" dirty="0"/>
          </a:p>
        </p:txBody>
      </p:sp>
      <p:sp>
        <p:nvSpPr>
          <p:cNvPr id="9" name="Text 7"/>
          <p:cNvSpPr txBox="1"/>
          <p:nvPr/>
        </p:nvSpPr>
        <p:spPr>
          <a:xfrm>
            <a:off x="749808" y="2743200"/>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OBJECTIVE</a:t>
            </a:r>
            <a:endParaRPr lang="en-US" sz="900" dirty="0"/>
          </a:p>
        </p:txBody>
      </p:sp>
      <p:sp>
        <p:nvSpPr>
          <p:cNvPr id="10" name="Text 8"/>
          <p:cNvSpPr txBox="1"/>
          <p:nvPr/>
        </p:nvSpPr>
        <p:spPr>
          <a:xfrm>
            <a:off x="749808" y="2926080"/>
            <a:ext cx="2834640" cy="373888"/>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The full medallion as one dependency-ordered, idempotent, recoverable DAG</a:t>
            </a:r>
            <a:endParaRPr lang="en-US" sz="1150" dirty="0"/>
          </a:p>
        </p:txBody>
      </p:sp>
      <p:sp>
        <p:nvSpPr>
          <p:cNvPr id="11" name="Text 9"/>
          <p:cNvSpPr txBox="1"/>
          <p:nvPr/>
        </p:nvSpPr>
        <p:spPr>
          <a:xfrm>
            <a:off x="749808" y="3482848"/>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DELIVERABLE</a:t>
            </a:r>
            <a:endParaRPr lang="en-US" sz="900" dirty="0"/>
          </a:p>
        </p:txBody>
      </p:sp>
      <p:sp>
        <p:nvSpPr>
          <p:cNvPr id="12" name="Text 10"/>
          <p:cNvSpPr txBox="1"/>
          <p:nvPr/>
        </p:nvSpPr>
        <p:spPr>
          <a:xfrm>
            <a:off x="749808" y="3665728"/>
            <a:ext cx="2834640" cy="373888"/>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make pipeline runs end to end + a proven recovery from an injected failure</a:t>
            </a:r>
            <a:endParaRPr lang="en-US" sz="1150" dirty="0"/>
          </a:p>
        </p:txBody>
      </p:sp>
      <p:sp>
        <p:nvSpPr>
          <p:cNvPr id="13" name="Text 11"/>
          <p:cNvSpPr txBox="1"/>
          <p:nvPr/>
        </p:nvSpPr>
        <p:spPr>
          <a:xfrm>
            <a:off x="4041648" y="1408176"/>
            <a:ext cx="7583119" cy="274320"/>
          </a:xfrm>
          <a:prstGeom prst="rect">
            <a:avLst/>
          </a:prstGeom>
          <a:noFill/>
          <a:ln/>
        </p:spPr>
        <p:txBody>
          <a:bodyPr wrap="square" lIns="0" tIns="0" rIns="0" bIns="0" rtlCol="0" anchor="ctr"/>
          <a:lstStyle/>
          <a:p>
            <a:pPr indent="0" marL="0">
              <a:buNone/>
            </a:pPr>
            <a:r>
              <a:rPr lang="en-US" sz="1400" b="1" dirty="0">
                <a:solidFill>
                  <a:srgbClr val="B0763A"/>
                </a:solidFill>
                <a:latin typeface="Calibri" pitchFamily="34" charset="0"/>
                <a:ea typeface="Calibri" pitchFamily="34" charset="-122"/>
                <a:cs typeface="Calibri" pitchFamily="34" charset="-120"/>
              </a:rPr>
              <a:t>What you will do</a:t>
            </a:r>
            <a:endParaRPr lang="en-US" sz="1400" dirty="0"/>
          </a:p>
        </p:txBody>
      </p:sp>
      <p:sp>
        <p:nvSpPr>
          <p:cNvPr id="14" name="Text 12"/>
          <p:cNvSpPr txBox="1"/>
          <p:nvPr/>
        </p:nvSpPr>
        <p:spPr>
          <a:xfrm>
            <a:off x="4041648" y="1755648"/>
            <a:ext cx="7583119" cy="250317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Wire land &gt;&gt; gate &gt;&gt; silver &gt;&gt; [gold…] &gt;&gt; maintain as one dependency-ordered DAG with explicit upstreams.</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Build gold.zone_hourly_demand and gold.driver_daily idempotently, and document the grain of each in DATA_CONTRACTS.md.</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Run the whole pipeline with one command. Then run it AGAIN and prove row counts are unchanged.</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Inject a mid-DAG failure with --inject-failure, observe which downstream tasks are skipped, then recover by rerunning the whole DAG.</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Add OPTIMIZE and VACUUM as scheduled DAG tasks, and emit per-task run metadata: rows processed, duration, quality result.</a:t>
            </a:r>
            <a:endParaRPr lang="en-US" sz="1250" dirty="0"/>
          </a:p>
        </p:txBody>
      </p:sp>
      <p:sp>
        <p:nvSpPr>
          <p:cNvPr id="15" name="Text 13"/>
          <p:cNvSpPr txBox="1"/>
          <p:nvPr/>
        </p:nvSpPr>
        <p:spPr>
          <a:xfrm>
            <a:off x="4041648" y="4350258"/>
            <a:ext cx="7583119" cy="274320"/>
          </a:xfrm>
          <a:prstGeom prst="rect">
            <a:avLst/>
          </a:prstGeom>
          <a:noFill/>
          <a:ln/>
        </p:spPr>
        <p:txBody>
          <a:bodyPr wrap="square" lIns="0" tIns="0" rIns="0" bIns="0" rtlCol="0" anchor="ctr"/>
          <a:lstStyle/>
          <a:p>
            <a:pPr indent="0" marL="0">
              <a:buNone/>
            </a:pPr>
            <a:r>
              <a:rPr lang="en-US" sz="1400" b="1" dirty="0">
                <a:solidFill>
                  <a:srgbClr val="00A6A6"/>
                </a:solidFill>
                <a:latin typeface="Calibri" pitchFamily="34" charset="0"/>
                <a:ea typeface="Calibri" pitchFamily="34" charset="-122"/>
                <a:cs typeface="Calibri" pitchFamily="34" charset="-120"/>
              </a:rPr>
              <a:t>Acceptance criteria</a:t>
            </a:r>
            <a:endParaRPr lang="en-US" sz="1400" dirty="0"/>
          </a:p>
        </p:txBody>
      </p:sp>
      <p:sp>
        <p:nvSpPr>
          <p:cNvPr id="16" name="Text 14"/>
          <p:cNvSpPr txBox="1"/>
          <p:nvPr/>
        </p:nvSpPr>
        <p:spPr>
          <a:xfrm>
            <a:off x="4041648" y="4661154"/>
            <a:ext cx="7583119" cy="141046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One command runs the whole medallion; no manual step is required anywhere.</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A second run is a no-op — counts identical, no duplicates.</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Recovery from the injected failure needs no cleanup, only a rerun.</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Every gold table's grain is documented, and no gold table reads from bronze.</a:t>
            </a:r>
            <a:endParaRPr lang="en-US" sz="1200" dirty="0"/>
          </a:p>
        </p:txBody>
      </p:sp>
      <p:sp>
        <p:nvSpPr>
          <p:cNvPr id="17" name="Shape 1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8" name="Shape 1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9" name="Shape 1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0" name="Text 1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1" name="Text 1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417320"/>
            <a:ext cx="11057839" cy="274320"/>
          </a:xfrm>
          <a:prstGeom prst="rect">
            <a:avLst/>
          </a:prstGeom>
          <a:noFill/>
          <a:ln/>
        </p:spPr>
        <p:txBody>
          <a:bodyPr wrap="square" lIns="0" tIns="0" rIns="0" bIns="0" rtlCol="0" anchor="ctr"/>
          <a:lstStyle/>
          <a:p>
            <a:pPr indent="0" marL="0">
              <a:buNone/>
            </a:pPr>
            <a:r>
              <a:rPr lang="en-US" sz="1150" b="1" spc="220" kern="0" dirty="0">
                <a:solidFill>
                  <a:srgbClr val="D4A537"/>
                </a:solidFill>
                <a:latin typeface="Calibri" pitchFamily="34" charset="0"/>
                <a:ea typeface="Calibri" pitchFamily="34" charset="-122"/>
                <a:cs typeface="Calibri" pitchFamily="34" charset="-120"/>
              </a:rPr>
              <a:t>MODULE 8</a:t>
            </a:r>
            <a:endParaRPr lang="en-US" sz="1150" dirty="0"/>
          </a:p>
        </p:txBody>
      </p:sp>
      <p:sp>
        <p:nvSpPr>
          <p:cNvPr id="3" name="Text 1"/>
          <p:cNvSpPr txBox="1"/>
          <p:nvPr/>
        </p:nvSpPr>
        <p:spPr>
          <a:xfrm>
            <a:off x="566928" y="1783080"/>
            <a:ext cx="6081812"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Serving data to</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AI and BI</a:t>
            </a:r>
            <a:endParaRPr lang="en-US" sz="4000" dirty="0"/>
          </a:p>
        </p:txBody>
      </p:sp>
      <p:sp>
        <p:nvSpPr>
          <p:cNvPr id="4" name="Text 2"/>
          <p:cNvSpPr txBox="1"/>
          <p:nvPr/>
        </p:nvSpPr>
        <p:spPr>
          <a:xfrm>
            <a:off x="566928" y="3200400"/>
            <a:ext cx="6081812" cy="1371600"/>
          </a:xfrm>
          <a:prstGeom prst="rect">
            <a:avLst/>
          </a:prstGeom>
          <a:noFill/>
          <a:ln/>
        </p:spPr>
        <p:txBody>
          <a:bodyPr wrap="square" lIns="0" tIns="0" rIns="0" bIns="0" rtlCol="0" anchor="t"/>
          <a:lstStyle/>
          <a:p>
            <a:pPr indent="0" marL="0">
              <a:buNone/>
            </a:pPr>
            <a:r>
              <a:rPr lang="en-US" sz="1400" dirty="0">
                <a:solidFill>
                  <a:srgbClr val="9FB3BE"/>
                </a:solidFill>
                <a:latin typeface="Calibri" pitchFamily="34" charset="0"/>
                <a:ea typeface="Calibri" pitchFamily="34" charset="-122"/>
                <a:cs typeface="Calibri" pitchFamily="34" charset="-120"/>
              </a:rPr>
              <a:t>A Lakehouse exists to be consumed. Two customers, two contracts, one governed gold layer — and one cardinal sin.</a:t>
            </a:r>
            <a:endParaRPr lang="en-US" sz="1400" dirty="0"/>
          </a:p>
        </p:txBody>
      </p:sp>
      <p:sp>
        <p:nvSpPr>
          <p:cNvPr id="5" name="Shape 3"/>
          <p:cNvSpPr/>
          <p:nvPr/>
        </p:nvSpPr>
        <p:spPr>
          <a:xfrm>
            <a:off x="7201632" y="1810512"/>
            <a:ext cx="329184" cy="329184"/>
          </a:xfrm>
          <a:prstGeom prst="ellipse">
            <a:avLst/>
          </a:prstGeom>
          <a:solidFill>
            <a:srgbClr val="B0763A"/>
          </a:solidFill>
          <a:ln w="12700">
            <a:solidFill>
              <a:srgbClr val="B0763A"/>
            </a:solidFill>
            <a:prstDash val="solid"/>
          </a:ln>
        </p:spPr>
      </p:sp>
      <p:sp>
        <p:nvSpPr>
          <p:cNvPr id="6" name="Text 4"/>
          <p:cNvSpPr txBox="1"/>
          <p:nvPr/>
        </p:nvSpPr>
        <p:spPr>
          <a:xfrm>
            <a:off x="7201632" y="18242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658832" y="1783080"/>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Two consumers, two contracts</a:t>
            </a:r>
            <a:endParaRPr lang="en-US" sz="1300" dirty="0"/>
          </a:p>
        </p:txBody>
      </p:sp>
      <p:sp>
        <p:nvSpPr>
          <p:cNvPr id="8" name="Shape 6"/>
          <p:cNvSpPr/>
          <p:nvPr/>
        </p:nvSpPr>
        <p:spPr>
          <a:xfrm>
            <a:off x="7201632" y="2468880"/>
            <a:ext cx="329184" cy="329184"/>
          </a:xfrm>
          <a:prstGeom prst="ellipse">
            <a:avLst/>
          </a:prstGeom>
          <a:solidFill>
            <a:srgbClr val="8E9AA3"/>
          </a:solidFill>
          <a:ln w="12700">
            <a:solidFill>
              <a:srgbClr val="8E9AA3"/>
            </a:solidFill>
            <a:prstDash val="solid"/>
          </a:ln>
        </p:spPr>
      </p:sp>
      <p:sp>
        <p:nvSpPr>
          <p:cNvPr id="9" name="Text 7"/>
          <p:cNvSpPr txBox="1"/>
          <p:nvPr/>
        </p:nvSpPr>
        <p:spPr>
          <a:xfrm>
            <a:off x="7201632" y="248259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7658832" y="2441448"/>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Point-in-time correctness</a:t>
            </a:r>
            <a:endParaRPr lang="en-US" sz="1300" dirty="0"/>
          </a:p>
        </p:txBody>
      </p:sp>
      <p:sp>
        <p:nvSpPr>
          <p:cNvPr id="11" name="Shape 9"/>
          <p:cNvSpPr/>
          <p:nvPr/>
        </p:nvSpPr>
        <p:spPr>
          <a:xfrm>
            <a:off x="7201632" y="3127248"/>
            <a:ext cx="329184" cy="329184"/>
          </a:xfrm>
          <a:prstGeom prst="ellipse">
            <a:avLst/>
          </a:prstGeom>
          <a:solidFill>
            <a:srgbClr val="D4A537"/>
          </a:solidFill>
          <a:ln w="12700">
            <a:solidFill>
              <a:srgbClr val="D4A537"/>
            </a:solidFill>
            <a:prstDash val="solid"/>
          </a:ln>
        </p:spPr>
      </p:sp>
      <p:sp>
        <p:nvSpPr>
          <p:cNvPr id="12" name="Text 10"/>
          <p:cNvSpPr txBox="1"/>
          <p:nvPr/>
        </p:nvSpPr>
        <p:spPr>
          <a:xfrm>
            <a:off x="7201632" y="31409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3" name="Text 11"/>
          <p:cNvSpPr txBox="1"/>
          <p:nvPr/>
        </p:nvSpPr>
        <p:spPr>
          <a:xfrm>
            <a:off x="7658832" y="3099816"/>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Feature leakage and the four classes</a:t>
            </a:r>
            <a:endParaRPr lang="en-US" sz="1300" dirty="0"/>
          </a:p>
        </p:txBody>
      </p:sp>
      <p:sp>
        <p:nvSpPr>
          <p:cNvPr id="14" name="Shape 12"/>
          <p:cNvSpPr/>
          <p:nvPr/>
        </p:nvSpPr>
        <p:spPr>
          <a:xfrm>
            <a:off x="7201632" y="3785616"/>
            <a:ext cx="329184" cy="329184"/>
          </a:xfrm>
          <a:prstGeom prst="ellipse">
            <a:avLst/>
          </a:prstGeom>
          <a:solidFill>
            <a:srgbClr val="00A6A6"/>
          </a:solidFill>
          <a:ln w="12700">
            <a:solidFill>
              <a:srgbClr val="00A6A6"/>
            </a:solidFill>
            <a:prstDash val="solid"/>
          </a:ln>
        </p:spPr>
      </p:sp>
      <p:sp>
        <p:nvSpPr>
          <p:cNvPr id="15" name="Text 13"/>
          <p:cNvSpPr txBox="1"/>
          <p:nvPr/>
        </p:nvSpPr>
        <p:spPr>
          <a:xfrm>
            <a:off x="7201632" y="37993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6" name="Text 14"/>
          <p:cNvSpPr txBox="1"/>
          <p:nvPr/>
        </p:nvSpPr>
        <p:spPr>
          <a:xfrm>
            <a:off x="7658832" y="3758184"/>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Offline and online consistency</a:t>
            </a:r>
            <a:endParaRPr lang="en-US" sz="1300" dirty="0"/>
          </a:p>
        </p:txBody>
      </p:sp>
      <p:sp>
        <p:nvSpPr>
          <p:cNvPr id="17" name="Shape 15"/>
          <p:cNvSpPr/>
          <p:nvPr/>
        </p:nvSpPr>
        <p:spPr>
          <a:xfrm>
            <a:off x="7201632" y="4443984"/>
            <a:ext cx="329184" cy="329184"/>
          </a:xfrm>
          <a:prstGeom prst="ellipse">
            <a:avLst/>
          </a:prstGeom>
          <a:solidFill>
            <a:srgbClr val="D9503F"/>
          </a:solidFill>
          <a:ln w="12700">
            <a:solidFill>
              <a:srgbClr val="D9503F"/>
            </a:solidFill>
            <a:prstDash val="solid"/>
          </a:ln>
        </p:spPr>
      </p:sp>
      <p:sp>
        <p:nvSpPr>
          <p:cNvPr id="18" name="Text 16"/>
          <p:cNvSpPr txBox="1"/>
          <p:nvPr/>
        </p:nvSpPr>
        <p:spPr>
          <a:xfrm>
            <a:off x="7201632" y="44577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19" name="Text 17"/>
          <p:cNvSpPr txBox="1"/>
          <p:nvPr/>
        </p:nvSpPr>
        <p:spPr>
          <a:xfrm>
            <a:off x="7658832" y="4416552"/>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star schema and conformed dimensions</a:t>
            </a:r>
            <a:endParaRPr lang="en-US" sz="1300" dirty="0"/>
          </a:p>
        </p:txBody>
      </p:sp>
      <p:sp>
        <p:nvSpPr>
          <p:cNvPr id="20" name="Shape 18"/>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1" name="Shape 19"/>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2" name="Shape 20"/>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3" name="Text 21"/>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4" name="Text 22"/>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8 · SECTION 1</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Two consumers, two contracts</a:t>
            </a:r>
            <a:endParaRPr lang="en-US" sz="3000" dirty="0"/>
          </a:p>
        </p:txBody>
      </p:sp>
      <p:sp>
        <p:nvSpPr>
          <p:cNvPr id="4" name="Text 2"/>
          <p:cNvSpPr txBox="1"/>
          <p:nvPr/>
        </p:nvSpPr>
        <p:spPr>
          <a:xfrm>
            <a:off x="566928" y="1389888"/>
            <a:ext cx="10692079" cy="365760"/>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Which is exactly why they get different tables — derived from the same silver, sharing the same feature logic.</a:t>
            </a:r>
            <a:endParaRPr lang="en-US" sz="133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566928" y="1883664"/>
          <a:ext cx="11057839" cy="914400"/>
        </p:xfrm>
        <a:graphic>
          <a:graphicData uri="http://schemas.openxmlformats.org/drawingml/2006/table">
            <a:tbl>
              <a:tblPr/>
              <a:tblGrid>
                <a:gridCol w="2011680"/>
                <a:gridCol w="4526280"/>
                <a:gridCol w="4517136"/>
              </a:tblGrid>
              <a:tr h="60350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Concern</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AI / feature store</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 / analytics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r>
              <a:tr h="603504">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Grain</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Entity × time — per trip, per zone-hour</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Business dimensions — per city, per day</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603504">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Correctness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Point-in-time, no leakage</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Consistent definitions, conformed dimensions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Latency</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Training in batch, inference in milliseconds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Interactive dashboard, sub-second</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603504">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Schema</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Model-ready features, versioned</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Human-readable star schema</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2B3A42"/>
                          </a:solidFill>
                          <a:latin typeface="Calibri" pitchFamily="34" charset="0"/>
                          <a:ea typeface="Calibri" pitchFamily="34" charset="-122"/>
                          <a:cs typeface="Calibri" pitchFamily="34" charset="-120"/>
                        </a:rPr>
                        <a:t>Freshness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As fresh as the model needs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200" dirty="0">
                          <a:solidFill>
                            <a:srgbClr val="2B3A42"/>
                          </a:solidFill>
                          <a:latin typeface="Calibri" pitchFamily="34" charset="0"/>
                          <a:ea typeface="Calibri" pitchFamily="34" charset="-122"/>
                          <a:cs typeface="Calibri" pitchFamily="34" charset="-120"/>
                        </a:rPr>
                        <a:t>As fresh as the decision needs</a:t>
                      </a:r>
                      <a:endParaRPr lang="en-US" sz="12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bl>
          </a:graphicData>
        </a:graphic>
      </p:graphicFrame>
      <p:sp>
        <p:nvSpPr>
          <p:cNvPr id="6" name="Text 3"/>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One source of truth, two contracts — so the analyst's “trips per zone” and the model's “zone demand feature” cannot silently disagree. This is Day 1's two-tier lesson, arriving at the consumption boundary.</a:t>
            </a:r>
            <a:endParaRPr lang="en-US" sz="1200" dirty="0"/>
          </a:p>
        </p:txBody>
      </p:sp>
      <p:sp>
        <p:nvSpPr>
          <p:cNvPr id="7" name="Shape 4"/>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8" name="Shape 5"/>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9" name="Shape 6"/>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0" name="Text 7"/>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1" name="Text 8"/>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371600"/>
            <a:ext cx="11057839" cy="274320"/>
          </a:xfrm>
          <a:prstGeom prst="rect">
            <a:avLst/>
          </a:prstGeom>
          <a:noFill/>
          <a:ln/>
        </p:spPr>
        <p:txBody>
          <a:bodyPr wrap="square" lIns="0" tIns="0" rIns="0" bIns="0" rtlCol="0" anchor="ctr"/>
          <a:lstStyle/>
          <a:p>
            <a:pPr indent="0" marL="0">
              <a:buNone/>
            </a:pPr>
            <a:r>
              <a:rPr lang="en-US" sz="1100" b="1" spc="180" kern="0" dirty="0">
                <a:solidFill>
                  <a:srgbClr val="D4A537"/>
                </a:solidFill>
                <a:latin typeface="Calibri" pitchFamily="34" charset="0"/>
                <a:ea typeface="Calibri" pitchFamily="34" charset="-122"/>
                <a:cs typeface="Calibri" pitchFamily="34" charset="-120"/>
              </a:rPr>
              <a:t>MODULE 8 · THE CARDINAL SIN</a:t>
            </a:r>
            <a:endParaRPr lang="en-US" sz="1100" dirty="0"/>
          </a:p>
        </p:txBody>
      </p:sp>
      <p:sp>
        <p:nvSpPr>
          <p:cNvPr id="3" name="Text 1"/>
          <p:cNvSpPr txBox="1"/>
          <p:nvPr/>
        </p:nvSpPr>
        <p:spPr>
          <a:xfrm>
            <a:off x="566928" y="1783080"/>
            <a:ext cx="10509199" cy="2377440"/>
          </a:xfrm>
          <a:prstGeom prst="rect">
            <a:avLst/>
          </a:prstGeom>
          <a:noFill/>
          <a:ln/>
        </p:spPr>
        <p:txBody>
          <a:bodyPr wrap="square" lIns="0" tIns="0" rIns="0" bIns="0" rtlCol="0" anchor="t"/>
          <a:lstStyle/>
          <a:p>
            <a:pPr indent="0" marL="0">
              <a:lnSpc>
                <a:spcPct val="112000"/>
              </a:lnSpc>
              <a:buNone/>
            </a:pPr>
            <a:r>
              <a:rPr lang="en-US" sz="3100" b="1" dirty="0">
                <a:solidFill>
                  <a:srgbClr val="FFFFFF"/>
                </a:solidFill>
                <a:latin typeface="Cambria" pitchFamily="34" charset="0"/>
                <a:ea typeface="Cambria" pitchFamily="34" charset="-122"/>
                <a:cs typeface="Cambria" pitchFamily="34" charset="-120"/>
              </a:rPr>
              <a:t>Feature leakage:</a:t>
            </a:r>
            <a:endParaRPr lang="en-US" sz="3100" dirty="0"/>
          </a:p>
          <a:p>
            <a:pPr indent="0" marL="0">
              <a:lnSpc>
                <a:spcPct val="112000"/>
              </a:lnSpc>
              <a:buNone/>
            </a:pPr>
            <a:r>
              <a:rPr lang="en-US" sz="3100" b="1" dirty="0">
                <a:solidFill>
                  <a:srgbClr val="FFFFFF"/>
                </a:solidFill>
                <a:latin typeface="Cambria" pitchFamily="34" charset="0"/>
                <a:ea typeface="Cambria" pitchFamily="34" charset="-122"/>
                <a:cs typeface="Cambria" pitchFamily="34" charset="-120"/>
              </a:rPr>
              <a:t>letting a feature see information that</a:t>
            </a:r>
            <a:endParaRPr lang="en-US" sz="3100" dirty="0"/>
          </a:p>
          <a:p>
            <a:pPr indent="0" marL="0">
              <a:lnSpc>
                <a:spcPct val="112000"/>
              </a:lnSpc>
              <a:buNone/>
            </a:pPr>
            <a:r>
              <a:rPr lang="en-US" sz="3100" b="1" dirty="0">
                <a:solidFill>
                  <a:srgbClr val="FFFFFF"/>
                </a:solidFill>
                <a:latin typeface="Cambria" pitchFamily="34" charset="0"/>
                <a:ea typeface="Cambria" pitchFamily="34" charset="-122"/>
                <a:cs typeface="Cambria" pitchFamily="34" charset="-120"/>
              </a:rPr>
              <a:t>would not exist at prediction time.</a:t>
            </a:r>
            <a:endParaRPr lang="en-US" sz="3100" dirty="0"/>
          </a:p>
        </p:txBody>
      </p:sp>
      <p:sp>
        <p:nvSpPr>
          <p:cNvPr id="4" name="Text 2"/>
          <p:cNvSpPr txBox="1"/>
          <p:nvPr/>
        </p:nvSpPr>
        <p:spPr>
          <a:xfrm>
            <a:off x="566928" y="4434840"/>
            <a:ext cx="10509199" cy="1097280"/>
          </a:xfrm>
          <a:prstGeom prst="rect">
            <a:avLst/>
          </a:prstGeom>
          <a:noFill/>
          <a:ln/>
        </p:spPr>
        <p:txBody>
          <a:bodyPr wrap="square" lIns="0" tIns="0" rIns="0" bIns="0" rtlCol="0" anchor="t"/>
          <a:lstStyle/>
          <a:p>
            <a:pPr indent="0" marL="0">
              <a:buNone/>
            </a:pPr>
            <a:r>
              <a:rPr lang="en-US" sz="1500" dirty="0">
                <a:solidFill>
                  <a:srgbClr val="9FB3BE"/>
                </a:solidFill>
                <a:latin typeface="Calibri" pitchFamily="34" charset="0"/>
                <a:ea typeface="Calibri" pitchFamily="34" charset="-122"/>
                <a:cs typeface="Calibri" pitchFamily="34" charset="-120"/>
              </a:rPr>
              <a:t>It inflates offline metrics and collapses in production — and it is the single hardest defect to catch in review,</a:t>
            </a: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because the pipeline is correct, the tests pass, and the model looks brilliant.</a:t>
            </a:r>
            <a:endParaRPr lang="en-US" sz="1500" dirty="0"/>
          </a:p>
          <a:p>
            <a:pPr indent="0" marL="0">
              <a:buNone/>
            </a:pP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The defence is structural, not vigilant: point-in-time correctness, enforced by construction.</a:t>
            </a:r>
            <a:endParaRPr lang="en-US" sz="1500" dirty="0"/>
          </a:p>
        </p:txBody>
      </p:sp>
      <p:sp>
        <p:nvSpPr>
          <p:cNvPr id="5"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6"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7"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8"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9"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8 · THE CLASSIFICATION</a:t>
            </a:r>
            <a:endParaRPr lang="en-US" sz="1050" dirty="0"/>
          </a:p>
        </p:txBody>
      </p:sp>
      <p:sp>
        <p:nvSpPr>
          <p:cNvPr id="3" name="Text 1"/>
          <p:cNvSpPr txBox="1"/>
          <p:nvPr/>
        </p:nvSpPr>
        <p:spPr>
          <a:xfrm>
            <a:off x="566928" y="676656"/>
            <a:ext cx="10143439" cy="1045464"/>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Four classes. One question. Every feature gets exactly one.</a:t>
            </a:r>
            <a:endParaRPr lang="en-US" sz="3000" dirty="0"/>
          </a:p>
        </p:txBody>
      </p:sp>
      <p:sp>
        <p:nvSpPr>
          <p:cNvPr id="4" name="Text 2"/>
          <p:cNvSpPr txBox="1"/>
          <p:nvPr/>
        </p:nvSpPr>
        <p:spPr>
          <a:xfrm>
            <a:off x="566928" y="1868424"/>
            <a:ext cx="10692079" cy="439166"/>
          </a:xfrm>
          <a:prstGeom prst="rect">
            <a:avLst/>
          </a:prstGeom>
          <a:noFill/>
          <a:ln/>
        </p:spPr>
        <p:txBody>
          <a:bodyPr wrap="square" lIns="0" tIns="0" rIns="0" bIns="0" rtlCol="0" anchor="t"/>
          <a:lstStyle/>
          <a:p>
            <a:pPr indent="0" marL="0">
              <a:buNone/>
            </a:pPr>
            <a:r>
              <a:rPr lang="en-US" sz="1330" i="1" dirty="0">
                <a:solidFill>
                  <a:srgbClr val="6B7C86"/>
                </a:solidFill>
                <a:latin typeface="Calibri" pitchFamily="34" charset="0"/>
                <a:ea typeface="Calibri" pitchFamily="34" charset="-122"/>
                <a:cs typeface="Calibri" pitchFamily="34" charset="-120"/>
              </a:rPr>
              <a:t>“Could this feature value have been known at prediction time?” — asked of every column, every time, with a written justification.</a:t>
            </a:r>
            <a:endParaRPr lang="en-US" sz="1330" dirty="0"/>
          </a:p>
        </p:txBody>
      </p:sp>
      <p:sp>
        <p:nvSpPr>
          <p:cNvPr id="5" name="Shape 3"/>
          <p:cNvSpPr/>
          <p:nvPr/>
        </p:nvSpPr>
        <p:spPr>
          <a:xfrm>
            <a:off x="566928" y="2456815"/>
            <a:ext cx="2572436" cy="3091053"/>
          </a:xfrm>
          <a:prstGeom prst="roundRect">
            <a:avLst>
              <a:gd name="adj" fmla="val 2133"/>
            </a:avLst>
          </a:prstGeom>
          <a:solidFill>
            <a:srgbClr val="F4F6F7"/>
          </a:solidFill>
          <a:ln w="12700">
            <a:solidFill>
              <a:srgbClr val="DDE3E6"/>
            </a:solidFill>
            <a:prstDash val="solid"/>
          </a:ln>
        </p:spPr>
      </p:sp>
      <p:sp>
        <p:nvSpPr>
          <p:cNvPr id="6" name="Shape 4"/>
          <p:cNvSpPr/>
          <p:nvPr/>
        </p:nvSpPr>
        <p:spPr>
          <a:xfrm>
            <a:off x="786384" y="2639695"/>
            <a:ext cx="365760" cy="365760"/>
          </a:xfrm>
          <a:prstGeom prst="ellipse">
            <a:avLst/>
          </a:prstGeom>
          <a:solidFill>
            <a:srgbClr val="00A6A6"/>
          </a:solidFill>
          <a:ln w="12700">
            <a:solidFill>
              <a:srgbClr val="00A6A6"/>
            </a:solidFill>
            <a:prstDash val="solid"/>
          </a:ln>
        </p:spPr>
      </p:sp>
      <p:sp>
        <p:nvSpPr>
          <p:cNvPr id="7" name="Text 5"/>
          <p:cNvSpPr txBox="1"/>
          <p:nvPr/>
        </p:nvSpPr>
        <p:spPr>
          <a:xfrm>
            <a:off x="786384" y="2653411"/>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8" name="Text 6"/>
          <p:cNvSpPr txBox="1"/>
          <p:nvPr/>
        </p:nvSpPr>
        <p:spPr>
          <a:xfrm>
            <a:off x="786384" y="3133471"/>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VALID</a:t>
            </a:r>
            <a:endParaRPr lang="en-US" sz="1450" dirty="0"/>
          </a:p>
        </p:txBody>
      </p:sp>
      <p:sp>
        <p:nvSpPr>
          <p:cNvPr id="9" name="Text 7"/>
          <p:cNvSpPr txBox="1"/>
          <p:nvPr/>
        </p:nvSpPr>
        <p:spPr>
          <a:xfrm>
            <a:off x="786384" y="3456940"/>
            <a:ext cx="2133524" cy="1926336"/>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Known before the prediction moment, and computable in the online path with the same logic.</a:t>
            </a:r>
            <a:endParaRPr lang="en-US" sz="1200" dirty="0"/>
          </a:p>
          <a:p>
            <a:pPr indent="0" marL="0">
              <a:buNone/>
            </a:pPr>
            <a:endParaRPr lang="en-US" sz="1200" dirty="0"/>
          </a:p>
          <a:p>
            <a:pPr indent="0" marL="0">
              <a:buNone/>
            </a:pPr>
            <a:r>
              <a:rPr lang="en-US" sz="1200" dirty="0">
                <a:solidFill>
                  <a:srgbClr val="2B3A42"/>
                </a:solidFill>
                <a:latin typeface="Calibri" pitchFamily="34" charset="0"/>
                <a:ea typeface="Calibri" pitchFamily="34" charset="-122"/>
                <a:cs typeface="Calibri" pitchFamily="34" charset="-120"/>
              </a:rPr>
              <a:t>Masar: pickup_zone_id, hour_of_day, day_of_week, distance_km at request time, driver_recent_trip_count over strictly prior trips.</a:t>
            </a:r>
            <a:endParaRPr lang="en-US" sz="1200" dirty="0"/>
          </a:p>
        </p:txBody>
      </p:sp>
      <p:sp>
        <p:nvSpPr>
          <p:cNvPr id="10" name="Shape 8"/>
          <p:cNvSpPr/>
          <p:nvPr/>
        </p:nvSpPr>
        <p:spPr>
          <a:xfrm>
            <a:off x="3395396" y="2456815"/>
            <a:ext cx="2572436" cy="3091053"/>
          </a:xfrm>
          <a:prstGeom prst="roundRect">
            <a:avLst>
              <a:gd name="adj" fmla="val 2133"/>
            </a:avLst>
          </a:prstGeom>
          <a:solidFill>
            <a:srgbClr val="F4F6F7"/>
          </a:solidFill>
          <a:ln w="12700">
            <a:solidFill>
              <a:srgbClr val="DDE3E6"/>
            </a:solidFill>
            <a:prstDash val="solid"/>
          </a:ln>
        </p:spPr>
      </p:sp>
      <p:sp>
        <p:nvSpPr>
          <p:cNvPr id="11" name="Shape 9"/>
          <p:cNvSpPr/>
          <p:nvPr/>
        </p:nvSpPr>
        <p:spPr>
          <a:xfrm>
            <a:off x="3614852" y="2639695"/>
            <a:ext cx="365760" cy="365760"/>
          </a:xfrm>
          <a:prstGeom prst="ellipse">
            <a:avLst/>
          </a:prstGeom>
          <a:solidFill>
            <a:srgbClr val="D4A537"/>
          </a:solidFill>
          <a:ln w="12700">
            <a:solidFill>
              <a:srgbClr val="D4A537"/>
            </a:solidFill>
            <a:prstDash val="solid"/>
          </a:ln>
        </p:spPr>
      </p:sp>
      <p:sp>
        <p:nvSpPr>
          <p:cNvPr id="12" name="Text 10"/>
          <p:cNvSpPr txBox="1"/>
          <p:nvPr/>
        </p:nvSpPr>
        <p:spPr>
          <a:xfrm>
            <a:off x="3614852" y="2653411"/>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3614852" y="3133471"/>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STALE</a:t>
            </a:r>
            <a:endParaRPr lang="en-US" sz="1450" dirty="0"/>
          </a:p>
        </p:txBody>
      </p:sp>
      <p:sp>
        <p:nvSpPr>
          <p:cNvPr id="14" name="Text 12"/>
          <p:cNvSpPr txBox="1"/>
          <p:nvPr/>
        </p:nvSpPr>
        <p:spPr>
          <a:xfrm>
            <a:off x="3614852" y="3456940"/>
            <a:ext cx="2133524" cy="1926336"/>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Known at prediction time, but the online value lags the offline one — computed on a schedule, cached, or refreshed hourly.</a:t>
            </a:r>
            <a:endParaRPr lang="en-US" sz="1200" dirty="0"/>
          </a:p>
          <a:p>
            <a:pPr indent="0" marL="0">
              <a:buNone/>
            </a:pPr>
            <a:endParaRPr lang="en-US" sz="1200" dirty="0"/>
          </a:p>
          <a:p>
            <a:pPr indent="0" marL="0">
              <a:buNone/>
            </a:pPr>
            <a:r>
              <a:rPr lang="en-US" sz="1200" dirty="0">
                <a:solidFill>
                  <a:srgbClr val="2B3A42"/>
                </a:solidFill>
                <a:latin typeface="Calibri" pitchFamily="34" charset="0"/>
                <a:ea typeface="Calibri" pitchFamily="34" charset="-122"/>
                <a:cs typeface="Calibri" pitchFamily="34" charset="-120"/>
              </a:rPr>
              <a:t>Usable, but the training set must reflect the SAME staleness or you have manufactured skew.</a:t>
            </a:r>
            <a:endParaRPr lang="en-US" sz="1200" dirty="0"/>
          </a:p>
        </p:txBody>
      </p:sp>
      <p:sp>
        <p:nvSpPr>
          <p:cNvPr id="15" name="Shape 13"/>
          <p:cNvSpPr/>
          <p:nvPr/>
        </p:nvSpPr>
        <p:spPr>
          <a:xfrm>
            <a:off x="6223864" y="2456815"/>
            <a:ext cx="2572436" cy="3091053"/>
          </a:xfrm>
          <a:prstGeom prst="roundRect">
            <a:avLst>
              <a:gd name="adj" fmla="val 2133"/>
            </a:avLst>
          </a:prstGeom>
          <a:solidFill>
            <a:srgbClr val="F4F6F7"/>
          </a:solidFill>
          <a:ln w="12700">
            <a:solidFill>
              <a:srgbClr val="DDE3E6"/>
            </a:solidFill>
            <a:prstDash val="solid"/>
          </a:ln>
        </p:spPr>
      </p:sp>
      <p:sp>
        <p:nvSpPr>
          <p:cNvPr id="16" name="Shape 14"/>
          <p:cNvSpPr/>
          <p:nvPr/>
        </p:nvSpPr>
        <p:spPr>
          <a:xfrm>
            <a:off x="6443320" y="2639695"/>
            <a:ext cx="365760" cy="365760"/>
          </a:xfrm>
          <a:prstGeom prst="ellipse">
            <a:avLst/>
          </a:prstGeom>
          <a:solidFill>
            <a:srgbClr val="D9503F"/>
          </a:solidFill>
          <a:ln w="12700">
            <a:solidFill>
              <a:srgbClr val="D9503F"/>
            </a:solidFill>
            <a:prstDash val="solid"/>
          </a:ln>
        </p:spPr>
      </p:sp>
      <p:sp>
        <p:nvSpPr>
          <p:cNvPr id="17" name="Text 15"/>
          <p:cNvSpPr txBox="1"/>
          <p:nvPr/>
        </p:nvSpPr>
        <p:spPr>
          <a:xfrm>
            <a:off x="6443320" y="2653411"/>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8" name="Text 16"/>
          <p:cNvSpPr txBox="1"/>
          <p:nvPr/>
        </p:nvSpPr>
        <p:spPr>
          <a:xfrm>
            <a:off x="6443320" y="3133471"/>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LEAKAGE</a:t>
            </a:r>
            <a:endParaRPr lang="en-US" sz="1450" dirty="0"/>
          </a:p>
        </p:txBody>
      </p:sp>
      <p:sp>
        <p:nvSpPr>
          <p:cNvPr id="19" name="Text 17"/>
          <p:cNvSpPr txBox="1"/>
          <p:nvPr/>
        </p:nvSpPr>
        <p:spPr>
          <a:xfrm>
            <a:off x="6443320" y="3456940"/>
            <a:ext cx="2133524" cy="1926336"/>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Includes information from at or after the prediction moment. A centred window, a same-hour aggregate, a post-trip GPS ping, anything derived from the label.</a:t>
            </a:r>
            <a:endParaRPr lang="en-US" sz="1200" dirty="0"/>
          </a:p>
          <a:p>
            <a:pPr indent="0" marL="0">
              <a:buNone/>
            </a:pPr>
            <a:endParaRPr lang="en-US" sz="1200" dirty="0"/>
          </a:p>
          <a:p>
            <a:pPr indent="0" marL="0">
              <a:buNone/>
            </a:pPr>
            <a:r>
              <a:rPr lang="en-US" sz="1200" dirty="0">
                <a:solidFill>
                  <a:srgbClr val="2B3A42"/>
                </a:solidFill>
                <a:latin typeface="Calibri" pitchFamily="34" charset="0"/>
                <a:ea typeface="Calibri" pitchFamily="34" charset="-122"/>
                <a:cs typeface="Calibri" pitchFamily="34" charset="-120"/>
              </a:rPr>
              <a:t>Masar: rolling_zone_demand_15m if the window is centred rather than trailing.</a:t>
            </a:r>
            <a:endParaRPr lang="en-US" sz="1200" dirty="0"/>
          </a:p>
        </p:txBody>
      </p:sp>
      <p:sp>
        <p:nvSpPr>
          <p:cNvPr id="20" name="Shape 18"/>
          <p:cNvSpPr/>
          <p:nvPr/>
        </p:nvSpPr>
        <p:spPr>
          <a:xfrm>
            <a:off x="9052331" y="2456815"/>
            <a:ext cx="2572436" cy="3091053"/>
          </a:xfrm>
          <a:prstGeom prst="roundRect">
            <a:avLst>
              <a:gd name="adj" fmla="val 2133"/>
            </a:avLst>
          </a:prstGeom>
          <a:solidFill>
            <a:srgbClr val="F4F6F7"/>
          </a:solidFill>
          <a:ln w="12700">
            <a:solidFill>
              <a:srgbClr val="DDE3E6"/>
            </a:solidFill>
            <a:prstDash val="solid"/>
          </a:ln>
        </p:spPr>
      </p:sp>
      <p:sp>
        <p:nvSpPr>
          <p:cNvPr id="21" name="Shape 19"/>
          <p:cNvSpPr/>
          <p:nvPr/>
        </p:nvSpPr>
        <p:spPr>
          <a:xfrm>
            <a:off x="9271787" y="2639695"/>
            <a:ext cx="365760" cy="365760"/>
          </a:xfrm>
          <a:prstGeom prst="ellipse">
            <a:avLst/>
          </a:prstGeom>
          <a:solidFill>
            <a:srgbClr val="8E9AA3"/>
          </a:solidFill>
          <a:ln w="12700">
            <a:solidFill>
              <a:srgbClr val="8E9AA3"/>
            </a:solidFill>
            <a:prstDash val="solid"/>
          </a:ln>
        </p:spPr>
      </p:sp>
      <p:sp>
        <p:nvSpPr>
          <p:cNvPr id="22" name="Text 20"/>
          <p:cNvSpPr txBox="1"/>
          <p:nvPr/>
        </p:nvSpPr>
        <p:spPr>
          <a:xfrm>
            <a:off x="9271787" y="2653411"/>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23" name="Text 21"/>
          <p:cNvSpPr txBox="1"/>
          <p:nvPr/>
        </p:nvSpPr>
        <p:spPr>
          <a:xfrm>
            <a:off x="9271787" y="3133471"/>
            <a:ext cx="2133524" cy="232029"/>
          </a:xfrm>
          <a:prstGeom prst="rect">
            <a:avLst/>
          </a:prstGeom>
          <a:noFill/>
          <a:ln/>
        </p:spPr>
        <p:txBody>
          <a:bodyPr wrap="square" lIns="0" tIns="0" rIns="0" bIns="0" rtlCol="0" anchor="t"/>
          <a:lstStyle/>
          <a:p>
            <a:pPr indent="0" marL="0">
              <a:buNone/>
            </a:pPr>
            <a:r>
              <a:rPr lang="en-US" sz="1450" b="1" dirty="0">
                <a:solidFill>
                  <a:srgbClr val="10202B"/>
                </a:solidFill>
                <a:latin typeface="Calibri" pitchFamily="34" charset="0"/>
                <a:ea typeface="Calibri" pitchFamily="34" charset="-122"/>
                <a:cs typeface="Calibri" pitchFamily="34" charset="-120"/>
              </a:rPr>
              <a:t>UNAVAILABLE ONLINE</a:t>
            </a:r>
            <a:endParaRPr lang="en-US" sz="1450" dirty="0"/>
          </a:p>
        </p:txBody>
      </p:sp>
      <p:sp>
        <p:nvSpPr>
          <p:cNvPr id="24" name="Text 22"/>
          <p:cNvSpPr txBox="1"/>
          <p:nvPr/>
        </p:nvSpPr>
        <p:spPr>
          <a:xfrm>
            <a:off x="9271787" y="3456940"/>
            <a:ext cx="2133524" cy="1926336"/>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Legitimately known at prediction time, but not retrievable within the serving latency budget.</a:t>
            </a:r>
            <a:endParaRPr lang="en-US" sz="1200" dirty="0"/>
          </a:p>
          <a:p>
            <a:pPr indent="0" marL="0">
              <a:buNone/>
            </a:pPr>
            <a:endParaRPr lang="en-US" sz="1200" dirty="0"/>
          </a:p>
          <a:p>
            <a:pPr indent="0" marL="0">
              <a:buNone/>
            </a:pPr>
            <a:r>
              <a:rPr lang="en-US" sz="1200" dirty="0">
                <a:solidFill>
                  <a:srgbClr val="2B3A42"/>
                </a:solidFill>
                <a:latin typeface="Calibri" pitchFamily="34" charset="0"/>
                <a:ea typeface="Calibri" pitchFamily="34" charset="-122"/>
                <a:cs typeface="Calibri" pitchFamily="34" charset="-120"/>
              </a:rPr>
              <a:t>The feature is honest and unusable. Either materialise it into the online store, or drop it — do not train on it and hope.</a:t>
            </a:r>
            <a:endParaRPr lang="en-US" sz="1200" dirty="0"/>
          </a:p>
        </p:txBody>
      </p:sp>
      <p:sp>
        <p:nvSpPr>
          <p:cNvPr id="25" name="Text 23"/>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That one exercise connects data engineering directly to production AI reliability. It is Activity ACT-09, Lab 8's mandatory drill, and PA-3.</a:t>
            </a:r>
            <a:endParaRPr lang="en-US" sz="1200" dirty="0"/>
          </a:p>
        </p:txBody>
      </p:sp>
      <p:sp>
        <p:nvSpPr>
          <p:cNvPr id="26" name="Shape 24"/>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7" name="Shape 25"/>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8" name="Shape 26"/>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9" name="Text 27"/>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30" name="Text 28"/>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8 · SECTION 2</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Point-in-time correctness, enforced by construction</a:t>
            </a:r>
            <a:endParaRPr lang="en-US" sz="3000" dirty="0"/>
          </a:p>
        </p:txBody>
      </p:sp>
      <p:sp>
        <p:nvSpPr>
          <p:cNvPr id="4" name="Shape 2"/>
          <p:cNvSpPr/>
          <p:nvPr/>
        </p:nvSpPr>
        <p:spPr>
          <a:xfrm>
            <a:off x="566928" y="1389888"/>
            <a:ext cx="6634704" cy="4736592"/>
          </a:xfrm>
          <a:prstGeom prst="roundRect">
            <a:avLst>
              <a:gd name="adj" fmla="val 1158"/>
            </a:avLst>
          </a:prstGeom>
          <a:solidFill>
            <a:srgbClr val="10202B"/>
          </a:solidFill>
          <a:ln w="12700">
            <a:solidFill>
              <a:srgbClr val="10202B"/>
            </a:solidFill>
            <a:prstDash val="solid"/>
          </a:ln>
        </p:spPr>
      </p:sp>
      <p:sp>
        <p:nvSpPr>
          <p:cNvPr id="5" name="Text 3"/>
          <p:cNvSpPr txBox="1"/>
          <p:nvPr/>
        </p:nvSpPr>
        <p:spPr>
          <a:xfrm>
            <a:off x="6012912" y="1481328"/>
            <a:ext cx="1005840" cy="219456"/>
          </a:xfrm>
          <a:prstGeom prst="rect">
            <a:avLst/>
          </a:prstGeom>
          <a:noFill/>
          <a:ln/>
        </p:spPr>
        <p:txBody>
          <a:bodyPr wrap="square" lIns="0" tIns="0" rIns="0" bIns="0" rtlCol="0" anchor="ctr"/>
          <a:lstStyle/>
          <a:p>
            <a:pPr algn="r" indent="0" marL="0">
              <a:buNone/>
            </a:pPr>
            <a:r>
              <a:rPr lang="en-US" sz="900" dirty="0">
                <a:solidFill>
                  <a:srgbClr val="9FB3BE"/>
                </a:solidFill>
                <a:latin typeface="Courier New" pitchFamily="34" charset="0"/>
                <a:ea typeface="Courier New" pitchFamily="34" charset="-122"/>
                <a:cs typeface="Courier New" pitchFamily="34" charset="-120"/>
              </a:rPr>
              <a:t>python · pyspark</a:t>
            </a:r>
            <a:endParaRPr lang="en-US" sz="900" dirty="0"/>
          </a:p>
        </p:txBody>
      </p:sp>
      <p:sp>
        <p:nvSpPr>
          <p:cNvPr id="6" name="Text 4"/>
          <p:cNvSpPr txBox="1"/>
          <p:nvPr/>
        </p:nvSpPr>
        <p:spPr>
          <a:xfrm>
            <a:off x="768096" y="1572768"/>
            <a:ext cx="6232368" cy="4407408"/>
          </a:xfrm>
          <a:prstGeom prst="rect">
            <a:avLst/>
          </a:prstGeom>
          <a:noFill/>
          <a:ln/>
        </p:spPr>
        <p:txBody>
          <a:bodyPr wrap="square" lIns="0" tIns="0" rIns="0" bIns="0" rtlCol="0" anchor="t"/>
          <a:lstStyle/>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WRONG: the window is centred on the trip, so it sees the future</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w_bad = (Window.partitionBy("pickup_zone_id").orderBy("event_ts")</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.rangeBetween(-450, 450))          # ±7.5 min</a:t>
            </a:r>
            <a:endParaRPr lang="en-US" sz="1000" dirty="0"/>
          </a:p>
          <a:p>
            <a:pPr indent="0" marL="0">
              <a:lnSpc>
                <a:spcPct val="106000"/>
              </a:lnSpc>
              <a:buNone/>
            </a:pP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RIGHT: strictly prior, and the boundary is exclusive</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w_ok  = (Window.partitionBy("pickup_zone_id").orderBy("event_ts")</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.rangeBetween(-900, -1))           # [t-15min , t)</a:t>
            </a:r>
            <a:endParaRPr lang="en-US" sz="1000" dirty="0"/>
          </a:p>
          <a:p>
            <a:pPr indent="0" marL="0">
              <a:lnSpc>
                <a:spcPct val="106000"/>
              </a:lnSpc>
              <a:buNone/>
            </a:pP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features = (events</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.withColumn("rolling_zone_demand_15m", count("*").over(w_ok))</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.withColumn("rolling_avg_speed_10m",   avg("speed_kmh").over(w_ok10))</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.withColumn("feature_ts",              col("event_ts")))</a:t>
            </a:r>
            <a:endParaRPr lang="en-US" sz="1000" dirty="0"/>
          </a:p>
          <a:p>
            <a:pPr indent="0" marL="0">
              <a:lnSpc>
                <a:spcPct val="106000"/>
              </a:lnSpc>
              <a:buNone/>
            </a:pP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training join: features AS OF each label's timestamp, never after</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train = labels.join(features,</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(labels.trip_id == features.trip_id) &amp;</a:t>
            </a:r>
            <a:endParaRPr lang="en-US" sz="1000" dirty="0"/>
          </a:p>
          <a:p>
            <a:pPr indent="0" marL="0">
              <a:lnSpc>
                <a:spcPct val="106000"/>
              </a:lnSpc>
              <a:buNone/>
            </a:pPr>
            <a:r>
              <a:rPr lang="en-US" sz="1000" dirty="0">
                <a:solidFill>
                  <a:srgbClr val="E8F0F3"/>
                </a:solidFill>
                <a:latin typeface="Courier New" pitchFamily="34" charset="0"/>
                <a:ea typeface="Courier New" pitchFamily="34" charset="-122"/>
                <a:cs typeface="Courier New" pitchFamily="34" charset="-120"/>
              </a:rPr>
              <a:t>    (features.feature_ts &lt; labels.pickup_ts), "left")</a:t>
            </a:r>
            <a:endParaRPr lang="en-US" sz="1000" dirty="0"/>
          </a:p>
        </p:txBody>
      </p:sp>
      <p:sp>
        <p:nvSpPr>
          <p:cNvPr id="7" name="Shape 5"/>
          <p:cNvSpPr/>
          <p:nvPr/>
        </p:nvSpPr>
        <p:spPr>
          <a:xfrm>
            <a:off x="7475952" y="1426464"/>
            <a:ext cx="310896" cy="310896"/>
          </a:xfrm>
          <a:prstGeom prst="ellipse">
            <a:avLst/>
          </a:prstGeom>
          <a:solidFill>
            <a:srgbClr val="B0763A"/>
          </a:solidFill>
          <a:ln w="12700">
            <a:solidFill>
              <a:srgbClr val="B0763A"/>
            </a:solidFill>
            <a:prstDash val="solid"/>
          </a:ln>
        </p:spPr>
      </p:sp>
      <p:sp>
        <p:nvSpPr>
          <p:cNvPr id="8" name="Text 6"/>
          <p:cNvSpPr txBox="1"/>
          <p:nvPr/>
        </p:nvSpPr>
        <p:spPr>
          <a:xfrm>
            <a:off x="7475952" y="14401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txBox="1"/>
          <p:nvPr/>
        </p:nvSpPr>
        <p:spPr>
          <a:xfrm>
            <a:off x="7896576" y="13990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rangeBetween(-900, -1) — the -1 is the whole defence. An inclusive upper bound lets the row see itself.</a:t>
            </a:r>
            <a:endParaRPr lang="en-US" sz="1200" dirty="0"/>
          </a:p>
        </p:txBody>
      </p:sp>
      <p:sp>
        <p:nvSpPr>
          <p:cNvPr id="10" name="Shape 8"/>
          <p:cNvSpPr/>
          <p:nvPr/>
        </p:nvSpPr>
        <p:spPr>
          <a:xfrm>
            <a:off x="7475952" y="2340864"/>
            <a:ext cx="310896" cy="310896"/>
          </a:xfrm>
          <a:prstGeom prst="ellipse">
            <a:avLst/>
          </a:prstGeom>
          <a:solidFill>
            <a:srgbClr val="00A6A6"/>
          </a:solidFill>
          <a:ln w="12700">
            <a:solidFill>
              <a:srgbClr val="00A6A6"/>
            </a:solidFill>
            <a:prstDash val="solid"/>
          </a:ln>
        </p:spPr>
      </p:sp>
      <p:sp>
        <p:nvSpPr>
          <p:cNvPr id="11" name="Text 9"/>
          <p:cNvSpPr txBox="1"/>
          <p:nvPr/>
        </p:nvSpPr>
        <p:spPr>
          <a:xfrm>
            <a:off x="7475952" y="23545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txBox="1"/>
          <p:nvPr/>
        </p:nvSpPr>
        <p:spPr>
          <a:xfrm>
            <a:off x="7896576" y="23134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The same feature module computes offline and online values. Re-implementing for the online path is skew by construction.</a:t>
            </a:r>
            <a:endParaRPr lang="en-US" sz="1200" dirty="0"/>
          </a:p>
        </p:txBody>
      </p:sp>
      <p:sp>
        <p:nvSpPr>
          <p:cNvPr id="13" name="Shape 11"/>
          <p:cNvSpPr/>
          <p:nvPr/>
        </p:nvSpPr>
        <p:spPr>
          <a:xfrm>
            <a:off x="7475952" y="3255264"/>
            <a:ext cx="310896" cy="310896"/>
          </a:xfrm>
          <a:prstGeom prst="ellipse">
            <a:avLst/>
          </a:prstGeom>
          <a:solidFill>
            <a:srgbClr val="D4A537"/>
          </a:solidFill>
          <a:ln w="12700">
            <a:solidFill>
              <a:srgbClr val="D4A537"/>
            </a:solidFill>
            <a:prstDash val="solid"/>
          </a:ln>
        </p:spPr>
      </p:sp>
      <p:sp>
        <p:nvSpPr>
          <p:cNvPr id="14" name="Text 12"/>
          <p:cNvSpPr txBox="1"/>
          <p:nvPr/>
        </p:nvSpPr>
        <p:spPr>
          <a:xfrm>
            <a:off x="7475952" y="32689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5" name="Text 13"/>
          <p:cNvSpPr txBox="1"/>
          <p:nvPr/>
        </p:nvSpPr>
        <p:spPr>
          <a:xfrm>
            <a:off x="7896576" y="32278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Delta time travel makes the training snapshot exact: record the version in the model card and the run is reproducible forever.</a:t>
            </a:r>
            <a:endParaRPr lang="en-US" sz="1200" dirty="0"/>
          </a:p>
        </p:txBody>
      </p:sp>
      <p:sp>
        <p:nvSpPr>
          <p:cNvPr id="16" name="Shape 14"/>
          <p:cNvSpPr/>
          <p:nvPr/>
        </p:nvSpPr>
        <p:spPr>
          <a:xfrm>
            <a:off x="7475952" y="4169664"/>
            <a:ext cx="310896" cy="310896"/>
          </a:xfrm>
          <a:prstGeom prst="ellipse">
            <a:avLst/>
          </a:prstGeom>
          <a:solidFill>
            <a:srgbClr val="D9503F"/>
          </a:solidFill>
          <a:ln w="12700">
            <a:solidFill>
              <a:srgbClr val="D9503F"/>
            </a:solidFill>
            <a:prstDash val="solid"/>
          </a:ln>
        </p:spPr>
      </p:sp>
      <p:sp>
        <p:nvSpPr>
          <p:cNvPr id="17" name="Text 15"/>
          <p:cNvSpPr txBox="1"/>
          <p:nvPr/>
        </p:nvSpPr>
        <p:spPr>
          <a:xfrm>
            <a:off x="7475952" y="41833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8" name="Text 16"/>
          <p:cNvSpPr txBox="1"/>
          <p:nvPr/>
        </p:nvSpPr>
        <p:spPr>
          <a:xfrm>
            <a:off x="7896576" y="4142232"/>
            <a:ext cx="3691616" cy="822960"/>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A leakage-lint that fails the pipeline when a feature window includes non-prior data is a capstone extension — and worth the hour.</a:t>
            </a:r>
            <a:endParaRPr lang="en-US" sz="1200" dirty="0"/>
          </a:p>
        </p:txBody>
      </p:sp>
      <p:sp>
        <p:nvSpPr>
          <p:cNvPr id="19" name="Shape 17"/>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0" name="Shape 18"/>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1" name="Shape 19"/>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2" name="Text 20"/>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3" name="Text 21"/>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8 · LAB 8 DRILL</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What honesty costs, and why it is worth paying</a:t>
            </a:r>
            <a:endParaRPr lang="en-US" sz="3000" dirty="0"/>
          </a:p>
        </p:txBody>
      </p:sp>
      <p:graphicFrame>
        <p:nvGraphicFramePr>
          <p:cNvPr id="4" name="Chart 0" descr=""/>
          <p:cNvGraphicFramePr/>
          <p:nvPr/>
        </p:nvGraphicFramePr>
        <p:xfrm>
          <a:off x="566928" y="1389888"/>
          <a:ext cx="6855860" cy="42976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715396" y="1435608"/>
            <a:ext cx="3909371" cy="29425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Read this chart correctly</a:t>
            </a:r>
            <a:endParaRPr lang="en-US" sz="1450" dirty="0"/>
          </a:p>
        </p:txBody>
      </p:sp>
      <p:sp>
        <p:nvSpPr>
          <p:cNvPr id="6" name="Text 3"/>
          <p:cNvSpPr txBox="1"/>
          <p:nvPr/>
        </p:nvSpPr>
        <p:spPr>
          <a:xfrm>
            <a:off x="7715396" y="1857883"/>
            <a:ext cx="3909371" cy="3756533"/>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Offline MAE moves the same way: 1.81 minutes → 4.58 minutes. The model did not get worse; the measurement got honest.</a:t>
            </a:r>
            <a:endParaRPr lang="en-US" sz="1200" dirty="0"/>
          </a:p>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The leaking version would have scored far worse than 0.712 in production — CS-08's model lost to the heuristic it replaced.</a:t>
            </a:r>
            <a:endParaRPr lang="en-US" sz="1200" dirty="0"/>
          </a:p>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A feature that looks too good is usually leaking. Suspicion is a professional skill, not pessimism.</a:t>
            </a:r>
            <a:endParaRPr lang="en-US" sz="1200" dirty="0"/>
          </a:p>
          <a:p>
            <a:pPr marL="342900" indent="-342900">
              <a:spcAft>
                <a:spcPts val="700"/>
              </a:spcAft>
              <a:buSzPct val="100000"/>
              <a:buChar char="•"/>
            </a:pPr>
            <a:r>
              <a:rPr lang="en-US" sz="1200" dirty="0">
                <a:solidFill>
                  <a:srgbClr val="2B3A42"/>
                </a:solidFill>
                <a:latin typeface="Calibri" pitchFamily="34" charset="0"/>
                <a:ea typeface="Calibri" pitchFamily="34" charset="-122"/>
                <a:cs typeface="Calibri" pitchFamily="34" charset="-120"/>
              </a:rPr>
              <a:t>The number you defend at a capstone demo is the honest one, with the drill transcript behind it.</a:t>
            </a:r>
            <a:endParaRPr lang="en-US" sz="1200" dirty="0"/>
          </a:p>
        </p:txBody>
      </p:sp>
      <p:sp>
        <p:nvSpPr>
          <p:cNvPr id="7" name="Text 4"/>
          <p:cNvSpPr txBox="1"/>
          <p:nvPr/>
        </p:nvSpPr>
        <p:spPr>
          <a:xfrm>
            <a:off x="566928" y="5833872"/>
            <a:ext cx="11057839" cy="512064"/>
          </a:xfrm>
          <a:prstGeom prst="rect">
            <a:avLst/>
          </a:prstGeom>
          <a:noFill/>
          <a:ln/>
        </p:spPr>
        <p:txBody>
          <a:bodyPr wrap="square" lIns="0" tIns="0" rIns="0" bIns="0" rtlCol="0" anchor="ctr"/>
          <a:lstStyle/>
          <a:p>
            <a:pPr indent="0" marL="0">
              <a:buNone/>
            </a:pPr>
            <a:r>
              <a:rPr lang="en-US" sz="1300" i="1" dirty="0">
                <a:solidFill>
                  <a:srgbClr val="B0763A"/>
                </a:solidFill>
                <a:latin typeface="Calibri" pitchFamily="34" charset="0"/>
                <a:ea typeface="Calibri" pitchFamily="34" charset="-122"/>
                <a:cs typeface="Calibri" pitchFamily="34" charset="-120"/>
              </a:rPr>
              <a:t>Reserve the leakage drill even if you compress everything else on Day 5. It is the single most memorable lesson and it directly protects the capstone.</a:t>
            </a:r>
            <a:endParaRPr lang="en-US" sz="1300" dirty="0"/>
          </a:p>
        </p:txBody>
      </p:sp>
      <p:sp>
        <p:nvSpPr>
          <p:cNvPr id="8" name="Shape 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9" name="Shape 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0" name="Shape 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1" name="Text 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2" name="Text 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8 · SECTION 3</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Offline and online serving must agree</a:t>
            </a:r>
            <a:endParaRPr lang="en-US" sz="3000" dirty="0"/>
          </a:p>
        </p:txBody>
      </p:sp>
      <p:sp>
        <p:nvSpPr>
          <p:cNvPr id="4" name="Shape 2"/>
          <p:cNvSpPr/>
          <p:nvPr/>
        </p:nvSpPr>
        <p:spPr>
          <a:xfrm>
            <a:off x="566928" y="1577226"/>
            <a:ext cx="5373472" cy="3391281"/>
          </a:xfrm>
          <a:prstGeom prst="roundRect">
            <a:avLst>
              <a:gd name="adj" fmla="val 1618"/>
            </a:avLst>
          </a:prstGeom>
          <a:solidFill>
            <a:srgbClr val="F4F6F7"/>
          </a:solidFill>
          <a:ln w="12700">
            <a:solidFill>
              <a:srgbClr val="DDE3E6"/>
            </a:solidFill>
            <a:prstDash val="solid"/>
          </a:ln>
        </p:spPr>
      </p:sp>
      <p:sp>
        <p:nvSpPr>
          <p:cNvPr id="5" name="Text 3"/>
          <p:cNvSpPr txBox="1"/>
          <p:nvPr/>
        </p:nvSpPr>
        <p:spPr>
          <a:xfrm>
            <a:off x="804672" y="1760106"/>
            <a:ext cx="4897984" cy="365760"/>
          </a:xfrm>
          <a:prstGeom prst="rect">
            <a:avLst/>
          </a:prstGeom>
          <a:noFill/>
          <a:ln/>
        </p:spPr>
        <p:txBody>
          <a:bodyPr wrap="square" lIns="0" tIns="0" rIns="0" bIns="0" rtlCol="0" anchor="ctr"/>
          <a:lstStyle/>
          <a:p>
            <a:pPr indent="0" marL="0">
              <a:buNone/>
            </a:pPr>
            <a:r>
              <a:rPr lang="en-US" sz="1600" b="1" dirty="0">
                <a:solidFill>
                  <a:srgbClr val="B0763A"/>
                </a:solidFill>
                <a:latin typeface="Calibri" pitchFamily="34" charset="0"/>
                <a:ea typeface="Calibri" pitchFamily="34" charset="-122"/>
                <a:cs typeface="Calibri" pitchFamily="34" charset="-120"/>
              </a:rPr>
              <a:t>Offline — batch</a:t>
            </a:r>
            <a:endParaRPr lang="en-US" sz="1600" dirty="0"/>
          </a:p>
        </p:txBody>
      </p:sp>
      <p:sp>
        <p:nvSpPr>
          <p:cNvPr id="6" name="Text 4"/>
          <p:cNvSpPr txBox="1"/>
          <p:nvPr/>
        </p:nvSpPr>
        <p:spPr>
          <a:xfrm>
            <a:off x="804672" y="2144154"/>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Training and batch scoring</a:t>
            </a:r>
            <a:endParaRPr lang="en-US" sz="1150" dirty="0"/>
          </a:p>
        </p:txBody>
      </p:sp>
      <p:sp>
        <p:nvSpPr>
          <p:cNvPr id="7" name="Text 5"/>
          <p:cNvSpPr txBox="1"/>
          <p:nvPr/>
        </p:nvSpPr>
        <p:spPr>
          <a:xfrm>
            <a:off x="804672" y="2509914"/>
            <a:ext cx="4897984" cy="2257425"/>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Features read directly from the gold Delta feature table.</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High throughput, latency-insensitive; the Lakehouse serves this natively.</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The nightly demand forecast reads here.</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Reproducible via Delta time travel: version pinned in the model card.</a:t>
            </a:r>
            <a:endParaRPr lang="en-US" sz="1250" dirty="0"/>
          </a:p>
        </p:txBody>
      </p:sp>
      <p:sp>
        <p:nvSpPr>
          <p:cNvPr id="8" name="Shape 6"/>
          <p:cNvSpPr/>
          <p:nvPr/>
        </p:nvSpPr>
        <p:spPr>
          <a:xfrm>
            <a:off x="6251296" y="1577226"/>
            <a:ext cx="5373472" cy="3391281"/>
          </a:xfrm>
          <a:prstGeom prst="roundRect">
            <a:avLst>
              <a:gd name="adj" fmla="val 1618"/>
            </a:avLst>
          </a:prstGeom>
          <a:solidFill>
            <a:srgbClr val="F4F6F7"/>
          </a:solidFill>
          <a:ln w="12700">
            <a:solidFill>
              <a:srgbClr val="DDE3E6"/>
            </a:solidFill>
            <a:prstDash val="solid"/>
          </a:ln>
        </p:spPr>
      </p:sp>
      <p:sp>
        <p:nvSpPr>
          <p:cNvPr id="9" name="Text 7"/>
          <p:cNvSpPr txBox="1"/>
          <p:nvPr/>
        </p:nvSpPr>
        <p:spPr>
          <a:xfrm>
            <a:off x="6489040" y="1760106"/>
            <a:ext cx="4897984" cy="365760"/>
          </a:xfrm>
          <a:prstGeom prst="rect">
            <a:avLst/>
          </a:prstGeom>
          <a:noFill/>
          <a:ln/>
        </p:spPr>
        <p:txBody>
          <a:bodyPr wrap="square" lIns="0" tIns="0" rIns="0" bIns="0" rtlCol="0" anchor="ctr"/>
          <a:lstStyle/>
          <a:p>
            <a:pPr indent="0" marL="0">
              <a:buNone/>
            </a:pPr>
            <a:r>
              <a:rPr lang="en-US" sz="1600" b="1" dirty="0">
                <a:solidFill>
                  <a:srgbClr val="00A6A6"/>
                </a:solidFill>
                <a:latin typeface="Calibri" pitchFamily="34" charset="0"/>
                <a:ea typeface="Calibri" pitchFamily="34" charset="-122"/>
                <a:cs typeface="Calibri" pitchFamily="34" charset="-120"/>
              </a:rPr>
              <a:t>Online — real-time</a:t>
            </a:r>
            <a:endParaRPr lang="en-US" sz="1600" dirty="0"/>
          </a:p>
        </p:txBody>
      </p:sp>
      <p:sp>
        <p:nvSpPr>
          <p:cNvPr id="10" name="Text 8"/>
          <p:cNvSpPr txBox="1"/>
          <p:nvPr/>
        </p:nvSpPr>
        <p:spPr>
          <a:xfrm>
            <a:off x="6489040" y="2144154"/>
            <a:ext cx="4897984" cy="329184"/>
          </a:xfrm>
          <a:prstGeom prst="rect">
            <a:avLst/>
          </a:prstGeom>
          <a:noFill/>
          <a:ln/>
        </p:spPr>
        <p:txBody>
          <a:bodyPr wrap="square" lIns="0" tIns="0" rIns="0" bIns="0" rtlCol="0" anchor="ctr"/>
          <a:lstStyle/>
          <a:p>
            <a:pPr indent="0" marL="0">
              <a:buNone/>
            </a:pPr>
            <a:r>
              <a:rPr lang="en-US" sz="1150" i="1" dirty="0">
                <a:solidFill>
                  <a:srgbClr val="6B7C86"/>
                </a:solidFill>
                <a:latin typeface="Calibri" pitchFamily="34" charset="0"/>
                <a:ea typeface="Calibri" pitchFamily="34" charset="-122"/>
                <a:cs typeface="Calibri" pitchFamily="34" charset="-120"/>
              </a:rPr>
              <a:t>A single entity, in milliseconds</a:t>
            </a:r>
            <a:endParaRPr lang="en-US" sz="1150" dirty="0"/>
          </a:p>
        </p:txBody>
      </p:sp>
      <p:sp>
        <p:nvSpPr>
          <p:cNvPr id="11" name="Text 9"/>
          <p:cNvSpPr txBox="1"/>
          <p:nvPr/>
        </p:nvSpPr>
        <p:spPr>
          <a:xfrm>
            <a:off x="6489040" y="2509914"/>
            <a:ext cx="4897984" cy="2257425"/>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A columnar Lakehouse scan is too slow for a single-row point lookup, so the latest slice is materialised into a low-latency store — Redis, keyed masar:features:zone:{zone_id}.</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MATERIALISE, never re-implement. Compute the features once in the Lakehouse, then copy the latest slice out.</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Refresh the online store as a DAG task with its own freshness monitoring.</a:t>
            </a:r>
            <a:endParaRPr lang="en-US" sz="1250" dirty="0"/>
          </a:p>
          <a:p>
            <a:pPr marL="342900" indent="-342900">
              <a:spcAft>
                <a:spcPts val="600"/>
              </a:spcAft>
              <a:buSzPct val="100000"/>
              <a:buChar char="•"/>
            </a:pPr>
            <a:r>
              <a:rPr lang="en-US" sz="1250" dirty="0">
                <a:solidFill>
                  <a:srgbClr val="2B3A42"/>
                </a:solidFill>
                <a:latin typeface="Calibri" pitchFamily="34" charset="0"/>
                <a:ea typeface="Calibri" pitchFamily="34" charset="-122"/>
                <a:cs typeface="Calibri" pitchFamily="34" charset="-120"/>
              </a:rPr>
              <a:t>Prove consistency: every key in the online store must match the offline table it was derived from.</a:t>
            </a:r>
            <a:endParaRPr lang="en-US" sz="1250" dirty="0"/>
          </a:p>
        </p:txBody>
      </p:sp>
      <p:sp>
        <p:nvSpPr>
          <p:cNvPr id="12" name="Text 10"/>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Re-implementing feature logic for the online path is training/serving skew by construction — the single most common way a correct pipeline produces a broken model.</a:t>
            </a:r>
            <a:endParaRPr lang="en-US" sz="1200" dirty="0"/>
          </a:p>
        </p:txBody>
      </p:sp>
      <p:sp>
        <p:nvSpPr>
          <p:cNvPr id="13" name="Shape 11"/>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4" name="Shape 12"/>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5" name="Shape 13"/>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16" name="Text 14"/>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7" name="Text 15"/>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8 · SECTION 4</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Serving BI: the star schema and why it reconciles</a:t>
            </a:r>
            <a:endParaRPr lang="en-US" sz="3000" dirty="0"/>
          </a:p>
        </p:txBody>
      </p:sp>
      <p:sp>
        <p:nvSpPr>
          <p:cNvPr id="4" name="Shape 2"/>
          <p:cNvSpPr/>
          <p:nvPr/>
        </p:nvSpPr>
        <p:spPr>
          <a:xfrm>
            <a:off x="566928" y="2067641"/>
            <a:ext cx="2531288" cy="2148840"/>
          </a:xfrm>
          <a:prstGeom prst="roundRect">
            <a:avLst>
              <a:gd name="adj" fmla="val 2553"/>
            </a:avLst>
          </a:prstGeom>
          <a:solidFill>
            <a:srgbClr val="F4F6F7"/>
          </a:solidFill>
          <a:ln w="19050">
            <a:solidFill>
              <a:srgbClr val="D4A537"/>
            </a:solidFill>
            <a:prstDash val="solid"/>
          </a:ln>
        </p:spPr>
      </p:sp>
      <p:sp>
        <p:nvSpPr>
          <p:cNvPr id="5" name="Text 3"/>
          <p:cNvSpPr txBox="1"/>
          <p:nvPr/>
        </p:nvSpPr>
        <p:spPr>
          <a:xfrm>
            <a:off x="731520" y="2268809"/>
            <a:ext cx="2202104" cy="585216"/>
          </a:xfrm>
          <a:prstGeom prst="rect">
            <a:avLst/>
          </a:prstGeom>
          <a:noFill/>
          <a:ln/>
        </p:spPr>
        <p:txBody>
          <a:bodyPr wrap="square" lIns="0" tIns="0" rIns="0" bIns="0" rtlCol="0" anchor="t"/>
          <a:lstStyle/>
          <a:p>
            <a:pPr indent="0" marL="0">
              <a:buNone/>
            </a:pPr>
            <a:r>
              <a:rPr lang="en-US" sz="1350" b="1" dirty="0">
                <a:solidFill>
                  <a:srgbClr val="D4A537"/>
                </a:solidFill>
                <a:latin typeface="Calibri" pitchFamily="34" charset="0"/>
                <a:ea typeface="Calibri" pitchFamily="34" charset="-122"/>
                <a:cs typeface="Calibri" pitchFamily="34" charset="-120"/>
              </a:rPr>
              <a:t>gold.fact_trip</a:t>
            </a:r>
            <a:endParaRPr lang="en-US" sz="1350" dirty="0"/>
          </a:p>
        </p:txBody>
      </p:sp>
      <p:sp>
        <p:nvSpPr>
          <p:cNvPr id="6" name="Text 4"/>
          <p:cNvSpPr txBox="1"/>
          <p:nvPr/>
        </p:nvSpPr>
        <p:spPr>
          <a:xfrm>
            <a:off x="731520" y="2872313"/>
            <a:ext cx="2202104" cy="117957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One row per trip: fare_sar, distance_km, duration_min, surge_multiplier, plus foreign keys. The measurable events, at a fine grain.</a:t>
            </a:r>
            <a:endParaRPr lang="en-US" sz="1150" dirty="0"/>
          </a:p>
        </p:txBody>
      </p:sp>
      <p:sp>
        <p:nvSpPr>
          <p:cNvPr id="7" name="Shape 5"/>
          <p:cNvSpPr/>
          <p:nvPr/>
        </p:nvSpPr>
        <p:spPr>
          <a:xfrm>
            <a:off x="3143936" y="3041477"/>
            <a:ext cx="219456" cy="201168"/>
          </a:xfrm>
          <a:prstGeom prst="rightArrow">
            <a:avLst/>
          </a:prstGeom>
          <a:solidFill>
            <a:srgbClr val="8E9AA3"/>
          </a:solidFill>
          <a:ln w="12700">
            <a:solidFill>
              <a:srgbClr val="8E9AA3"/>
            </a:solidFill>
            <a:prstDash val="solid"/>
          </a:ln>
        </p:spPr>
      </p:sp>
      <p:sp>
        <p:nvSpPr>
          <p:cNvPr id="8" name="Shape 6"/>
          <p:cNvSpPr/>
          <p:nvPr/>
        </p:nvSpPr>
        <p:spPr>
          <a:xfrm>
            <a:off x="3409112" y="2067641"/>
            <a:ext cx="2531288" cy="2148840"/>
          </a:xfrm>
          <a:prstGeom prst="roundRect">
            <a:avLst>
              <a:gd name="adj" fmla="val 2553"/>
            </a:avLst>
          </a:prstGeom>
          <a:solidFill>
            <a:srgbClr val="F4F6F7"/>
          </a:solidFill>
          <a:ln w="19050">
            <a:solidFill>
              <a:srgbClr val="8E9AA3"/>
            </a:solidFill>
            <a:prstDash val="solid"/>
          </a:ln>
        </p:spPr>
      </p:sp>
      <p:sp>
        <p:nvSpPr>
          <p:cNvPr id="9" name="Text 7"/>
          <p:cNvSpPr txBox="1"/>
          <p:nvPr/>
        </p:nvSpPr>
        <p:spPr>
          <a:xfrm>
            <a:off x="3573704" y="2268809"/>
            <a:ext cx="2202104" cy="585216"/>
          </a:xfrm>
          <a:prstGeom prst="rect">
            <a:avLst/>
          </a:prstGeom>
          <a:noFill/>
          <a:ln/>
        </p:spPr>
        <p:txBody>
          <a:bodyPr wrap="square" lIns="0" tIns="0" rIns="0" bIns="0" rtlCol="0" anchor="t"/>
          <a:lstStyle/>
          <a:p>
            <a:pPr indent="0" marL="0">
              <a:buNone/>
            </a:pPr>
            <a:r>
              <a:rPr lang="en-US" sz="1350" b="1" dirty="0">
                <a:solidFill>
                  <a:srgbClr val="8E9AA3"/>
                </a:solidFill>
                <a:latin typeface="Calibri" pitchFamily="34" charset="0"/>
                <a:ea typeface="Calibri" pitchFamily="34" charset="-122"/>
                <a:cs typeface="Calibri" pitchFamily="34" charset="-120"/>
              </a:rPr>
              <a:t>Conformed dimensions</a:t>
            </a:r>
            <a:endParaRPr lang="en-US" sz="1350" dirty="0"/>
          </a:p>
        </p:txBody>
      </p:sp>
      <p:sp>
        <p:nvSpPr>
          <p:cNvPr id="10" name="Text 8"/>
          <p:cNvSpPr txBox="1"/>
          <p:nvPr/>
        </p:nvSpPr>
        <p:spPr>
          <a:xfrm>
            <a:off x="3573704" y="2872313"/>
            <a:ext cx="2202104" cy="117957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dim_driver · dim_vehicle · dim_zone · dim_date. ONE of each, shared by every fact. Denormalised, named for humans.</a:t>
            </a:r>
            <a:endParaRPr lang="en-US" sz="1150" dirty="0"/>
          </a:p>
        </p:txBody>
      </p:sp>
      <p:sp>
        <p:nvSpPr>
          <p:cNvPr id="11" name="Shape 9"/>
          <p:cNvSpPr/>
          <p:nvPr/>
        </p:nvSpPr>
        <p:spPr>
          <a:xfrm>
            <a:off x="5986120" y="3041477"/>
            <a:ext cx="219456" cy="201168"/>
          </a:xfrm>
          <a:prstGeom prst="rightArrow">
            <a:avLst/>
          </a:prstGeom>
          <a:solidFill>
            <a:srgbClr val="8E9AA3"/>
          </a:solidFill>
          <a:ln w="12700">
            <a:solidFill>
              <a:srgbClr val="8E9AA3"/>
            </a:solidFill>
            <a:prstDash val="solid"/>
          </a:ln>
        </p:spPr>
      </p:sp>
      <p:sp>
        <p:nvSpPr>
          <p:cNvPr id="12" name="Shape 10"/>
          <p:cNvSpPr/>
          <p:nvPr/>
        </p:nvSpPr>
        <p:spPr>
          <a:xfrm>
            <a:off x="6251296" y="2067641"/>
            <a:ext cx="2531288" cy="2148840"/>
          </a:xfrm>
          <a:prstGeom prst="roundRect">
            <a:avLst>
              <a:gd name="adj" fmla="val 2553"/>
            </a:avLst>
          </a:prstGeom>
          <a:solidFill>
            <a:srgbClr val="F4F6F7"/>
          </a:solidFill>
          <a:ln w="19050">
            <a:solidFill>
              <a:srgbClr val="B0763A"/>
            </a:solidFill>
            <a:prstDash val="solid"/>
          </a:ln>
        </p:spPr>
      </p:sp>
      <p:sp>
        <p:nvSpPr>
          <p:cNvPr id="13" name="Text 11"/>
          <p:cNvSpPr txBox="1"/>
          <p:nvPr/>
        </p:nvSpPr>
        <p:spPr>
          <a:xfrm>
            <a:off x="6415888" y="2268809"/>
            <a:ext cx="2202104" cy="585216"/>
          </a:xfrm>
          <a:prstGeom prst="rect">
            <a:avLst/>
          </a:prstGeom>
          <a:noFill/>
          <a:ln/>
        </p:spPr>
        <p:txBody>
          <a:bodyPr wrap="square" lIns="0" tIns="0" rIns="0" bIns="0" rtlCol="0" anchor="t"/>
          <a:lstStyle/>
          <a:p>
            <a:pPr indent="0" marL="0">
              <a:buNone/>
            </a:pPr>
            <a:r>
              <a:rPr lang="en-US" sz="1350" b="1" dirty="0">
                <a:solidFill>
                  <a:srgbClr val="B0763A"/>
                </a:solidFill>
                <a:latin typeface="Calibri" pitchFamily="34" charset="0"/>
                <a:ea typeface="Calibri" pitchFamily="34" charset="-122"/>
                <a:cs typeface="Calibri" pitchFamily="34" charset="-120"/>
              </a:rPr>
              <a:t>Pre-aggregated marts</a:t>
            </a:r>
            <a:endParaRPr lang="en-US" sz="1350" dirty="0"/>
          </a:p>
        </p:txBody>
      </p:sp>
      <p:sp>
        <p:nvSpPr>
          <p:cNvPr id="14" name="Text 12"/>
          <p:cNvSpPr txBox="1"/>
          <p:nvPr/>
        </p:nvSpPr>
        <p:spPr>
          <a:xfrm>
            <a:off x="6415888" y="2872313"/>
            <a:ext cx="2202104" cy="117957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gold.zone_hourly_demand and gold.driver_daily sit on top for the hottest dashboards — partitioned, ZORDERed, compacted.</a:t>
            </a:r>
            <a:endParaRPr lang="en-US" sz="1150" dirty="0"/>
          </a:p>
        </p:txBody>
      </p:sp>
      <p:sp>
        <p:nvSpPr>
          <p:cNvPr id="15" name="Shape 13"/>
          <p:cNvSpPr/>
          <p:nvPr/>
        </p:nvSpPr>
        <p:spPr>
          <a:xfrm>
            <a:off x="8828303" y="3041477"/>
            <a:ext cx="219456" cy="201168"/>
          </a:xfrm>
          <a:prstGeom prst="rightArrow">
            <a:avLst/>
          </a:prstGeom>
          <a:solidFill>
            <a:srgbClr val="8E9AA3"/>
          </a:solidFill>
          <a:ln w="12700">
            <a:solidFill>
              <a:srgbClr val="8E9AA3"/>
            </a:solidFill>
            <a:prstDash val="solid"/>
          </a:ln>
        </p:spPr>
      </p:sp>
      <p:sp>
        <p:nvSpPr>
          <p:cNvPr id="16" name="Shape 14"/>
          <p:cNvSpPr/>
          <p:nvPr/>
        </p:nvSpPr>
        <p:spPr>
          <a:xfrm>
            <a:off x="9093479" y="2067641"/>
            <a:ext cx="2531288" cy="2148840"/>
          </a:xfrm>
          <a:prstGeom prst="roundRect">
            <a:avLst>
              <a:gd name="adj" fmla="val 2553"/>
            </a:avLst>
          </a:prstGeom>
          <a:solidFill>
            <a:srgbClr val="F4F6F7"/>
          </a:solidFill>
          <a:ln w="19050">
            <a:solidFill>
              <a:srgbClr val="00A6A6"/>
            </a:solidFill>
            <a:prstDash val="solid"/>
          </a:ln>
        </p:spPr>
      </p:sp>
      <p:sp>
        <p:nvSpPr>
          <p:cNvPr id="17" name="Text 15"/>
          <p:cNvSpPr txBox="1"/>
          <p:nvPr/>
        </p:nvSpPr>
        <p:spPr>
          <a:xfrm>
            <a:off x="9258071" y="2268809"/>
            <a:ext cx="2202104" cy="585216"/>
          </a:xfrm>
          <a:prstGeom prst="rect">
            <a:avLst/>
          </a:prstGeom>
          <a:noFill/>
          <a:ln/>
        </p:spPr>
        <p:txBody>
          <a:bodyPr wrap="square" lIns="0" tIns="0" rIns="0" bIns="0" rtlCol="0" anchor="t"/>
          <a:lstStyle/>
          <a:p>
            <a:pPr indent="0" marL="0">
              <a:buNone/>
            </a:pPr>
            <a:r>
              <a:rPr lang="en-US" sz="1350" b="1" dirty="0">
                <a:solidFill>
                  <a:srgbClr val="00A6A6"/>
                </a:solidFill>
                <a:latin typeface="Calibri" pitchFamily="34" charset="0"/>
                <a:ea typeface="Calibri" pitchFamily="34" charset="-122"/>
                <a:cs typeface="Calibri" pitchFamily="34" charset="-120"/>
              </a:rPr>
              <a:t>PDPL-safe views</a:t>
            </a:r>
            <a:endParaRPr lang="en-US" sz="1350" dirty="0"/>
          </a:p>
        </p:txBody>
      </p:sp>
      <p:sp>
        <p:nvSpPr>
          <p:cNvPr id="18" name="Text 16"/>
          <p:cNvSpPr txBox="1"/>
          <p:nvPr/>
        </p:nvSpPr>
        <p:spPr>
          <a:xfrm>
            <a:off x="9258071" y="2872313"/>
            <a:ext cx="2202104" cy="117957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The serving boundary masks or aggregates personal data. Raw rider_id and precise GPS never leave gold.</a:t>
            </a:r>
            <a:endParaRPr lang="en-US" sz="1150" dirty="0"/>
          </a:p>
        </p:txBody>
      </p:sp>
      <p:sp>
        <p:nvSpPr>
          <p:cNvPr id="19" name="Text 17"/>
          <p:cNvSpPr txBox="1"/>
          <p:nvPr/>
        </p:nvSpPr>
        <p:spPr>
          <a:xfrm>
            <a:off x="566928" y="4545665"/>
            <a:ext cx="11057839" cy="621792"/>
          </a:xfrm>
          <a:prstGeom prst="rect">
            <a:avLst/>
          </a:prstGeom>
          <a:noFill/>
          <a:ln/>
        </p:spPr>
        <p:txBody>
          <a:bodyPr wrap="square" lIns="0" tIns="0" rIns="0" bIns="0" rtlCol="0" anchor="t"/>
          <a:lstStyle/>
          <a:p>
            <a:pPr indent="0" marL="0">
              <a:buNone/>
            </a:pPr>
            <a:r>
              <a:rPr lang="en-US" sz="1300" i="1" dirty="0">
                <a:solidFill>
                  <a:srgbClr val="B0763A"/>
                </a:solidFill>
                <a:latin typeface="Calibri" pitchFamily="34" charset="0"/>
                <a:ea typeface="Calibri" pitchFamily="34" charset="-122"/>
                <a:cs typeface="Calibri" pitchFamily="34" charset="-120"/>
              </a:rPr>
              <a:t>Conformed dimensions are what make numbers reconcile ACROSS dashboards — one dim_date, one dim_driver. A second, non-conformed dim_date is the Day 1 two-tier divergence, rebuilt inside the gold layer.</a:t>
            </a:r>
            <a:endParaRPr lang="en-US" sz="1300" dirty="0"/>
          </a:p>
        </p:txBody>
      </p:sp>
      <p:sp>
        <p:nvSpPr>
          <p:cNvPr id="20" name="Shape 18"/>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1" name="Shape 19"/>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2" name="Shape 20"/>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3" name="Text 21"/>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4" name="Text 22"/>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8 · SECTION 5</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Three serving patterns</a:t>
            </a:r>
            <a:endParaRPr lang="en-US" sz="300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2103120"/>
                <a:gridCol w="3200400"/>
                <a:gridCol w="2834640"/>
                <a:gridCol w="2916936"/>
              </a:tblGrid>
              <a:tr h="9601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Pattern</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Best for</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trade-off</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r>
              <a:tr h="960120">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Direct Lakehouse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Query gold Delta with Spark, Trino or Databricks SQL</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Analysts, batch ML, moderate concurrency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Simple, one copy; may lag at very high concurrency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960120">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Materialised mart</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Pre-aggregated and ZORDERed gold tables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Hot dashboards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Fast; must be refreshed as a DAG task</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960120">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External serving store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Copy the latest slice to Redis, a warehouse or an OLAP engine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Millisecond online features; thousands of concurrent BI users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Fastest — but a SECOND COPY, with consistency and cost implications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bl>
          </a:graphicData>
        </a:graphic>
      </p:graphicFrame>
      <p:sp>
        <p:nvSpPr>
          <p:cNvPr id="5" name="Text 2"/>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Do not reintroduce the two-tier problem casually. An external store is justified by a measured latency or concurrency requirement, and when used it must be a derived, consistently refreshed copy of gold — never an independently transformed one.</a:t>
            </a:r>
            <a:endParaRPr lang="en-US" sz="1200" dirty="0"/>
          </a:p>
        </p:txBody>
      </p:sp>
      <p:sp>
        <p:nvSpPr>
          <p:cNvPr id="6"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7"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8"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9"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0"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MODULE 8 · SECTION 6</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Six mistakes — each one is in the Lab 8 starter</a:t>
            </a:r>
            <a:endParaRPr lang="en-US" sz="3000" dirty="0"/>
          </a:p>
        </p:txBody>
      </p:sp>
      <p:sp>
        <p:nvSpPr>
          <p:cNvPr id="4" name="Shape 2"/>
          <p:cNvSpPr/>
          <p:nvPr/>
        </p:nvSpPr>
        <p:spPr>
          <a:xfrm>
            <a:off x="566928" y="1426464"/>
            <a:ext cx="384048" cy="384048"/>
          </a:xfrm>
          <a:prstGeom prst="ellipse">
            <a:avLst/>
          </a:prstGeom>
          <a:solidFill>
            <a:srgbClr val="D9503F"/>
          </a:solidFill>
          <a:ln w="12700">
            <a:solidFill>
              <a:srgbClr val="D9503F"/>
            </a:solidFill>
            <a:prstDash val="solid"/>
          </a:ln>
        </p:spPr>
      </p:sp>
      <p:sp>
        <p:nvSpPr>
          <p:cNvPr id="5" name="Text 3"/>
          <p:cNvSpPr txBox="1"/>
          <p:nvPr/>
        </p:nvSpPr>
        <p:spPr>
          <a:xfrm>
            <a:off x="566928" y="144018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6" name="Text 4"/>
          <p:cNvSpPr txBox="1"/>
          <p:nvPr/>
        </p:nvSpPr>
        <p:spPr>
          <a:xfrm>
            <a:off x="1133856" y="1389888"/>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Feature leakage</a:t>
            </a:r>
            <a:endParaRPr lang="en-US" sz="1500" dirty="0"/>
          </a:p>
        </p:txBody>
      </p:sp>
      <p:sp>
        <p:nvSpPr>
          <p:cNvPr id="7" name="Text 5"/>
          <p:cNvSpPr txBox="1"/>
          <p:nvPr/>
        </p:nvSpPr>
        <p:spPr>
          <a:xfrm>
            <a:off x="1133856" y="1655064"/>
            <a:ext cx="10417759" cy="438912"/>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The current or future hour's demand as a feature. Great offline, terrible live.</a:t>
            </a:r>
            <a:endParaRPr lang="en-US" sz="1250" dirty="0"/>
          </a:p>
        </p:txBody>
      </p:sp>
      <p:sp>
        <p:nvSpPr>
          <p:cNvPr id="8" name="Shape 6"/>
          <p:cNvSpPr/>
          <p:nvPr/>
        </p:nvSpPr>
        <p:spPr>
          <a:xfrm>
            <a:off x="566928" y="2157984"/>
            <a:ext cx="384048" cy="384048"/>
          </a:xfrm>
          <a:prstGeom prst="ellipse">
            <a:avLst/>
          </a:prstGeom>
          <a:solidFill>
            <a:srgbClr val="D9503F"/>
          </a:solidFill>
          <a:ln w="12700">
            <a:solidFill>
              <a:srgbClr val="D9503F"/>
            </a:solidFill>
            <a:prstDash val="solid"/>
          </a:ln>
        </p:spPr>
      </p:sp>
      <p:sp>
        <p:nvSpPr>
          <p:cNvPr id="9" name="Text 7"/>
          <p:cNvSpPr txBox="1"/>
          <p:nvPr/>
        </p:nvSpPr>
        <p:spPr>
          <a:xfrm>
            <a:off x="566928" y="217170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1133856" y="2121408"/>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Re-implementing features in the online path</a:t>
            </a:r>
            <a:endParaRPr lang="en-US" sz="1500" dirty="0"/>
          </a:p>
        </p:txBody>
      </p:sp>
      <p:sp>
        <p:nvSpPr>
          <p:cNvPr id="11" name="Text 9"/>
          <p:cNvSpPr txBox="1"/>
          <p:nvPr/>
        </p:nvSpPr>
        <p:spPr>
          <a:xfrm>
            <a:off x="1133856" y="2386584"/>
            <a:ext cx="10417759" cy="438912"/>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Offline/online skew, guaranteed, and invisible until production.</a:t>
            </a:r>
            <a:endParaRPr lang="en-US" sz="1250" dirty="0"/>
          </a:p>
        </p:txBody>
      </p:sp>
      <p:sp>
        <p:nvSpPr>
          <p:cNvPr id="12" name="Shape 10"/>
          <p:cNvSpPr/>
          <p:nvPr/>
        </p:nvSpPr>
        <p:spPr>
          <a:xfrm>
            <a:off x="566928" y="2889504"/>
            <a:ext cx="384048" cy="384048"/>
          </a:xfrm>
          <a:prstGeom prst="ellipse">
            <a:avLst/>
          </a:prstGeom>
          <a:solidFill>
            <a:srgbClr val="D9503F"/>
          </a:solidFill>
          <a:ln w="12700">
            <a:solidFill>
              <a:srgbClr val="D9503F"/>
            </a:solidFill>
            <a:prstDash val="solid"/>
          </a:ln>
        </p:spPr>
      </p:sp>
      <p:sp>
        <p:nvSpPr>
          <p:cNvPr id="13" name="Text 11"/>
          <p:cNvSpPr txBox="1"/>
          <p:nvPr/>
        </p:nvSpPr>
        <p:spPr>
          <a:xfrm>
            <a:off x="566928" y="290322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4" name="Text 12"/>
          <p:cNvSpPr txBox="1"/>
          <p:nvPr/>
        </p:nvSpPr>
        <p:spPr>
          <a:xfrm>
            <a:off x="1133856" y="2852928"/>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Serving raw rider IDs or precise GPS to a dashboard</a:t>
            </a:r>
            <a:endParaRPr lang="en-US" sz="1500" dirty="0"/>
          </a:p>
        </p:txBody>
      </p:sp>
      <p:sp>
        <p:nvSpPr>
          <p:cNvPr id="15" name="Text 13"/>
          <p:cNvSpPr txBox="1"/>
          <p:nvPr/>
        </p:nvSpPr>
        <p:spPr>
          <a:xfrm>
            <a:off x="1133856" y="3118104"/>
            <a:ext cx="10417759" cy="438912"/>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A PDPL violation at the boundary — and an automatic rubric flag.</a:t>
            </a:r>
            <a:endParaRPr lang="en-US" sz="1250" dirty="0"/>
          </a:p>
        </p:txBody>
      </p:sp>
      <p:sp>
        <p:nvSpPr>
          <p:cNvPr id="16" name="Shape 14"/>
          <p:cNvSpPr/>
          <p:nvPr/>
        </p:nvSpPr>
        <p:spPr>
          <a:xfrm>
            <a:off x="566928" y="3621024"/>
            <a:ext cx="384048" cy="384048"/>
          </a:xfrm>
          <a:prstGeom prst="ellipse">
            <a:avLst/>
          </a:prstGeom>
          <a:solidFill>
            <a:srgbClr val="D9503F"/>
          </a:solidFill>
          <a:ln w="12700">
            <a:solidFill>
              <a:srgbClr val="D9503F"/>
            </a:solidFill>
            <a:prstDash val="solid"/>
          </a:ln>
        </p:spPr>
      </p:sp>
      <p:sp>
        <p:nvSpPr>
          <p:cNvPr id="17" name="Text 15"/>
          <p:cNvSpPr txBox="1"/>
          <p:nvPr/>
        </p:nvSpPr>
        <p:spPr>
          <a:xfrm>
            <a:off x="566928" y="363474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8" name="Text 16"/>
          <p:cNvSpPr txBox="1"/>
          <p:nvPr/>
        </p:nvSpPr>
        <p:spPr>
          <a:xfrm>
            <a:off x="1133856" y="3584448"/>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A non-conformed second dim_date</a:t>
            </a:r>
            <a:endParaRPr lang="en-US" sz="1500" dirty="0"/>
          </a:p>
        </p:txBody>
      </p:sp>
      <p:sp>
        <p:nvSpPr>
          <p:cNvPr id="19" name="Text 17"/>
          <p:cNvSpPr txBox="1"/>
          <p:nvPr/>
        </p:nvSpPr>
        <p:spPr>
          <a:xfrm>
            <a:off x="1133856" y="3849624"/>
            <a:ext cx="10417759" cy="438912"/>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Dashboards disagree; the two-tier divergence returns wearing a gold badge.</a:t>
            </a:r>
            <a:endParaRPr lang="en-US" sz="1250" dirty="0"/>
          </a:p>
        </p:txBody>
      </p:sp>
      <p:sp>
        <p:nvSpPr>
          <p:cNvPr id="20" name="Shape 18"/>
          <p:cNvSpPr/>
          <p:nvPr/>
        </p:nvSpPr>
        <p:spPr>
          <a:xfrm>
            <a:off x="566928" y="4352544"/>
            <a:ext cx="384048" cy="384048"/>
          </a:xfrm>
          <a:prstGeom prst="ellipse">
            <a:avLst/>
          </a:prstGeom>
          <a:solidFill>
            <a:srgbClr val="D9503F"/>
          </a:solidFill>
          <a:ln w="12700">
            <a:solidFill>
              <a:srgbClr val="D9503F"/>
            </a:solidFill>
            <a:prstDash val="solid"/>
          </a:ln>
        </p:spPr>
      </p:sp>
      <p:sp>
        <p:nvSpPr>
          <p:cNvPr id="21" name="Text 19"/>
          <p:cNvSpPr txBox="1"/>
          <p:nvPr/>
        </p:nvSpPr>
        <p:spPr>
          <a:xfrm>
            <a:off x="566928" y="436626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2" name="Text 20"/>
          <p:cNvSpPr txBox="1"/>
          <p:nvPr/>
        </p:nvSpPr>
        <p:spPr>
          <a:xfrm>
            <a:off x="1133856" y="4315968"/>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An external serving copy with its own transformations</a:t>
            </a:r>
            <a:endParaRPr lang="en-US" sz="1500" dirty="0"/>
          </a:p>
        </p:txBody>
      </p:sp>
      <p:sp>
        <p:nvSpPr>
          <p:cNvPr id="23" name="Text 21"/>
          <p:cNvSpPr txBox="1"/>
          <p:nvPr/>
        </p:nvSpPr>
        <p:spPr>
          <a:xfrm>
            <a:off x="1133856" y="4581144"/>
            <a:ext cx="10417759" cy="438912"/>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The copy diverges from gold, and nobody can say which one is right.</a:t>
            </a:r>
            <a:endParaRPr lang="en-US" sz="1250" dirty="0"/>
          </a:p>
        </p:txBody>
      </p:sp>
      <p:sp>
        <p:nvSpPr>
          <p:cNvPr id="24" name="Shape 22"/>
          <p:cNvSpPr/>
          <p:nvPr/>
        </p:nvSpPr>
        <p:spPr>
          <a:xfrm>
            <a:off x="566928" y="5084064"/>
            <a:ext cx="384048" cy="384048"/>
          </a:xfrm>
          <a:prstGeom prst="ellipse">
            <a:avLst/>
          </a:prstGeom>
          <a:solidFill>
            <a:srgbClr val="D9503F"/>
          </a:solidFill>
          <a:ln w="12700">
            <a:solidFill>
              <a:srgbClr val="D9503F"/>
            </a:solidFill>
            <a:prstDash val="solid"/>
          </a:ln>
        </p:spPr>
      </p:sp>
      <p:sp>
        <p:nvSpPr>
          <p:cNvPr id="25" name="Text 23"/>
          <p:cNvSpPr txBox="1"/>
          <p:nvPr/>
        </p:nvSpPr>
        <p:spPr>
          <a:xfrm>
            <a:off x="566928" y="509778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26" name="Text 24"/>
          <p:cNvSpPr txBox="1"/>
          <p:nvPr/>
        </p:nvSpPr>
        <p:spPr>
          <a:xfrm>
            <a:off x="1133856" y="5047488"/>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Dashboards querying an unoptimised gold table</a:t>
            </a:r>
            <a:endParaRPr lang="en-US" sz="1500" dirty="0"/>
          </a:p>
        </p:txBody>
      </p:sp>
      <p:sp>
        <p:nvSpPr>
          <p:cNvPr id="27" name="Text 25"/>
          <p:cNvSpPr txBox="1"/>
          <p:nvPr/>
        </p:nvSpPr>
        <p:spPr>
          <a:xfrm>
            <a:off x="1133856" y="5312664"/>
            <a:ext cx="10417759" cy="438912"/>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Slow and expensive — the Day 1 and Day 3 lessons, unlearned at the last step.</a:t>
            </a:r>
            <a:endParaRPr lang="en-US" sz="1250" dirty="0"/>
          </a:p>
        </p:txBody>
      </p:sp>
      <p:sp>
        <p:nvSpPr>
          <p:cNvPr id="28" name="Shape 26"/>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9" name="Shape 27"/>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30" name="Shape 28"/>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31" name="Text 29"/>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32" name="Text 30"/>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00A6A6"/>
                </a:solidFill>
                <a:latin typeface="Calibri" pitchFamily="34" charset="0"/>
                <a:ea typeface="Calibri" pitchFamily="34" charset="-122"/>
                <a:cs typeface="Calibri" pitchFamily="34" charset="-120"/>
              </a:rPr>
              <a:t>HANDS-ON LAB 8</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Serve Masar gold to AI and BI</a:t>
            </a:r>
            <a:endParaRPr lang="en-US" sz="3000" dirty="0"/>
          </a:p>
        </p:txBody>
      </p:sp>
      <p:sp>
        <p:nvSpPr>
          <p:cNvPr id="4" name="Shape 2"/>
          <p:cNvSpPr/>
          <p:nvPr/>
        </p:nvSpPr>
        <p:spPr>
          <a:xfrm>
            <a:off x="566928" y="1389888"/>
            <a:ext cx="3200400" cy="4736592"/>
          </a:xfrm>
          <a:prstGeom prst="roundRect">
            <a:avLst>
              <a:gd name="adj" fmla="val 1714"/>
            </a:avLst>
          </a:prstGeom>
          <a:solidFill>
            <a:srgbClr val="10202B"/>
          </a:solidFill>
          <a:ln w="12700">
            <a:solidFill>
              <a:srgbClr val="10202B"/>
            </a:solidFill>
            <a:prstDash val="solid"/>
          </a:ln>
        </p:spPr>
      </p:sp>
      <p:sp>
        <p:nvSpPr>
          <p:cNvPr id="5" name="Text 3"/>
          <p:cNvSpPr txBox="1"/>
          <p:nvPr/>
        </p:nvSpPr>
        <p:spPr>
          <a:xfrm>
            <a:off x="749808" y="1572768"/>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DURATION</a:t>
            </a:r>
            <a:endParaRPr lang="en-US" sz="900" dirty="0"/>
          </a:p>
        </p:txBody>
      </p:sp>
      <p:sp>
        <p:nvSpPr>
          <p:cNvPr id="6" name="Text 4"/>
          <p:cNvSpPr txBox="1"/>
          <p:nvPr/>
        </p:nvSpPr>
        <p:spPr>
          <a:xfrm>
            <a:off x="749808" y="1755648"/>
            <a:ext cx="2834640" cy="21945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50 minutes</a:t>
            </a:r>
            <a:endParaRPr lang="en-US" sz="1150" dirty="0"/>
          </a:p>
        </p:txBody>
      </p:sp>
      <p:sp>
        <p:nvSpPr>
          <p:cNvPr id="7" name="Text 5"/>
          <p:cNvSpPr txBox="1"/>
          <p:nvPr/>
        </p:nvSpPr>
        <p:spPr>
          <a:xfrm>
            <a:off x="749808" y="2157984"/>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CHECKPOINT</a:t>
            </a:r>
            <a:endParaRPr lang="en-US" sz="900" dirty="0"/>
          </a:p>
        </p:txBody>
      </p:sp>
      <p:sp>
        <p:nvSpPr>
          <p:cNvPr id="8" name="Text 6"/>
          <p:cNvSpPr txBox="1"/>
          <p:nvPr/>
        </p:nvSpPr>
        <p:spPr>
          <a:xfrm>
            <a:off x="749808" y="2340864"/>
            <a:ext cx="2834640" cy="21945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git checkout lab8-start</a:t>
            </a:r>
            <a:endParaRPr lang="en-US" sz="1150" dirty="0"/>
          </a:p>
        </p:txBody>
      </p:sp>
      <p:sp>
        <p:nvSpPr>
          <p:cNvPr id="9" name="Text 7"/>
          <p:cNvSpPr txBox="1"/>
          <p:nvPr/>
        </p:nvSpPr>
        <p:spPr>
          <a:xfrm>
            <a:off x="749808" y="2743200"/>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OBJECTIVE</a:t>
            </a:r>
            <a:endParaRPr lang="en-US" sz="900" dirty="0"/>
          </a:p>
        </p:txBody>
      </p:sp>
      <p:sp>
        <p:nvSpPr>
          <p:cNvPr id="10" name="Text 8"/>
          <p:cNvSpPr txBox="1"/>
          <p:nvPr/>
        </p:nvSpPr>
        <p:spPr>
          <a:xfrm>
            <a:off x="749808" y="2926080"/>
            <a:ext cx="2834640" cy="56083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Two gold products from one silver: a leakage-free feature table and a conformed star schema</a:t>
            </a:r>
            <a:endParaRPr lang="en-US" sz="1150" dirty="0"/>
          </a:p>
        </p:txBody>
      </p:sp>
      <p:sp>
        <p:nvSpPr>
          <p:cNvPr id="11" name="Text 9"/>
          <p:cNvSpPr txBox="1"/>
          <p:nvPr/>
        </p:nvSpPr>
        <p:spPr>
          <a:xfrm>
            <a:off x="749808" y="3669792"/>
            <a:ext cx="2834640" cy="182880"/>
          </a:xfrm>
          <a:prstGeom prst="rect">
            <a:avLst/>
          </a:prstGeom>
          <a:noFill/>
          <a:ln/>
        </p:spPr>
        <p:txBody>
          <a:bodyPr wrap="square" lIns="0" tIns="0" rIns="0" bIns="0" rtlCol="0" anchor="ctr"/>
          <a:lstStyle/>
          <a:p>
            <a:pPr indent="0" marL="0">
              <a:buNone/>
            </a:pPr>
            <a:r>
              <a:rPr lang="en-US" sz="900" b="1" spc="120" kern="0" dirty="0">
                <a:solidFill>
                  <a:srgbClr val="D4A537"/>
                </a:solidFill>
                <a:latin typeface="Calibri" pitchFamily="34" charset="0"/>
                <a:ea typeface="Calibri" pitchFamily="34" charset="-122"/>
                <a:cs typeface="Calibri" pitchFamily="34" charset="-120"/>
              </a:rPr>
              <a:t>DELIVERABLE</a:t>
            </a:r>
            <a:endParaRPr lang="en-US" sz="900" dirty="0"/>
          </a:p>
        </p:txBody>
      </p:sp>
      <p:sp>
        <p:nvSpPr>
          <p:cNvPr id="12" name="Text 10"/>
          <p:cNvSpPr txBox="1"/>
          <p:nvPr/>
        </p:nvSpPr>
        <p:spPr>
          <a:xfrm>
            <a:off x="749808" y="3852672"/>
            <a:ext cx="2834640" cy="56083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gold.eta_features + the BI star + an offline==online proof + the leakage drill</a:t>
            </a:r>
            <a:endParaRPr lang="en-US" sz="1150" dirty="0"/>
          </a:p>
        </p:txBody>
      </p:sp>
      <p:sp>
        <p:nvSpPr>
          <p:cNvPr id="13" name="Text 11"/>
          <p:cNvSpPr txBox="1"/>
          <p:nvPr/>
        </p:nvSpPr>
        <p:spPr>
          <a:xfrm>
            <a:off x="4041648" y="1408176"/>
            <a:ext cx="7583119" cy="274320"/>
          </a:xfrm>
          <a:prstGeom prst="rect">
            <a:avLst/>
          </a:prstGeom>
          <a:noFill/>
          <a:ln/>
        </p:spPr>
        <p:txBody>
          <a:bodyPr wrap="square" lIns="0" tIns="0" rIns="0" bIns="0" rtlCol="0" anchor="ctr"/>
          <a:lstStyle/>
          <a:p>
            <a:pPr indent="0" marL="0">
              <a:buNone/>
            </a:pPr>
            <a:r>
              <a:rPr lang="en-US" sz="1400" b="1" dirty="0">
                <a:solidFill>
                  <a:srgbClr val="B0763A"/>
                </a:solidFill>
                <a:latin typeface="Calibri" pitchFamily="34" charset="0"/>
                <a:ea typeface="Calibri" pitchFamily="34" charset="-122"/>
                <a:cs typeface="Calibri" pitchFamily="34" charset="-120"/>
              </a:rPr>
              <a:t>What you will do</a:t>
            </a:r>
            <a:endParaRPr lang="en-US" sz="1400" dirty="0"/>
          </a:p>
        </p:txBody>
      </p:sp>
      <p:sp>
        <p:nvSpPr>
          <p:cNvPr id="14" name="Text 12"/>
          <p:cNvSpPr txBox="1"/>
          <p:nvPr/>
        </p:nvSpPr>
        <p:spPr>
          <a:xfrm>
            <a:off x="4041648" y="1755648"/>
            <a:ext cx="7583119" cy="2303145"/>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Build gold.eta_features at the trip grain with all 13 contract columns, using strictly-prior windows.</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MANDATORY DRILL — classify every column as VALID / STALE / LEAKAGE / UNAVAILABLE ONLINE and write one line of justification for each.</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Fix the leaking features, retrain, and report the honest metric alongside the inflated one.</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Build the BI star: gold.fact_trip with conformed dim_driver, dim_vehicle, dim_zone and dim_date; reconcile it against gold.zone_hourly_demand.</a:t>
            </a:r>
            <a:endParaRPr lang="en-US" sz="1250" dirty="0"/>
          </a:p>
          <a:p>
            <a:pPr marL="342900" indent="-342900">
              <a:spcAft>
                <a:spcPts val="600"/>
              </a:spcAft>
              <a:buSzPct val="100000"/>
              <a:buFont typeface="+mj-lt"/>
              <a:buAutoNum type="arabicPeriod" startAt="1"/>
            </a:pPr>
            <a:r>
              <a:rPr lang="en-US" sz="1250" dirty="0">
                <a:solidFill>
                  <a:srgbClr val="2B3A42"/>
                </a:solidFill>
                <a:latin typeface="Calibri" pitchFamily="34" charset="0"/>
                <a:ea typeface="Calibri" pitchFamily="34" charset="-122"/>
                <a:cs typeface="Calibri" pitchFamily="34" charset="-120"/>
              </a:rPr>
              <a:t>Materialise the latest feature slice to Redis and prove offline == online for every key — then inject a divergence and prove the check catches it.</a:t>
            </a:r>
            <a:endParaRPr lang="en-US" sz="1250" dirty="0"/>
          </a:p>
        </p:txBody>
      </p:sp>
      <p:sp>
        <p:nvSpPr>
          <p:cNvPr id="15" name="Text 13"/>
          <p:cNvSpPr txBox="1"/>
          <p:nvPr/>
        </p:nvSpPr>
        <p:spPr>
          <a:xfrm>
            <a:off x="4041648" y="4150233"/>
            <a:ext cx="7583119" cy="274320"/>
          </a:xfrm>
          <a:prstGeom prst="rect">
            <a:avLst/>
          </a:prstGeom>
          <a:noFill/>
          <a:ln/>
        </p:spPr>
        <p:txBody>
          <a:bodyPr wrap="square" lIns="0" tIns="0" rIns="0" bIns="0" rtlCol="0" anchor="ctr"/>
          <a:lstStyle/>
          <a:p>
            <a:pPr indent="0" marL="0">
              <a:buNone/>
            </a:pPr>
            <a:r>
              <a:rPr lang="en-US" sz="1400" b="1" dirty="0">
                <a:solidFill>
                  <a:srgbClr val="00A6A6"/>
                </a:solidFill>
                <a:latin typeface="Calibri" pitchFamily="34" charset="0"/>
                <a:ea typeface="Calibri" pitchFamily="34" charset="-122"/>
                <a:cs typeface="Calibri" pitchFamily="34" charset="-120"/>
              </a:rPr>
              <a:t>Acceptance criteria</a:t>
            </a:r>
            <a:endParaRPr lang="en-US" sz="1400" dirty="0"/>
          </a:p>
        </p:txBody>
      </p:sp>
      <p:sp>
        <p:nvSpPr>
          <p:cNvPr id="16" name="Text 14"/>
          <p:cNvSpPr txBox="1"/>
          <p:nvPr/>
        </p:nvSpPr>
        <p:spPr>
          <a:xfrm>
            <a:off x="4041648" y="4461129"/>
            <a:ext cx="7583119" cy="1610487"/>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Every feature column carries a class and a written justification.</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No feature window includes non-prior data — demonstrated, not asserted.</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The BI star reconciles against the demand mart with zero relative difference.</a:t>
            </a:r>
            <a:endParaRPr lang="en-US" sz="1200" dirty="0"/>
          </a:p>
          <a:p>
            <a:pPr marL="342900" indent="-342900">
              <a:spcAft>
                <a:spcPts val="500"/>
              </a:spcAft>
              <a:buSzPct val="100000"/>
              <a:buChar char="•"/>
            </a:pPr>
            <a:r>
              <a:rPr lang="en-US" sz="1200" dirty="0">
                <a:solidFill>
                  <a:srgbClr val="2B3A42"/>
                </a:solidFill>
                <a:latin typeface="Calibri" pitchFamily="34" charset="0"/>
                <a:ea typeface="Calibri" pitchFamily="34" charset="-122"/>
                <a:cs typeface="Calibri" pitchFamily="34" charset="-120"/>
              </a:rPr>
              <a:t>Offline and online values match across every Redis key, and the consistency check fails when a divergence is injected.</a:t>
            </a:r>
            <a:endParaRPr lang="en-US" sz="1200" dirty="0"/>
          </a:p>
        </p:txBody>
      </p:sp>
      <p:sp>
        <p:nvSpPr>
          <p:cNvPr id="17" name="Shape 1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8" name="Shape 1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9" name="Shape 1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0" name="Text 1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1" name="Text 1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417320"/>
            <a:ext cx="11057839" cy="274320"/>
          </a:xfrm>
          <a:prstGeom prst="rect">
            <a:avLst/>
          </a:prstGeom>
          <a:noFill/>
          <a:ln/>
        </p:spPr>
        <p:txBody>
          <a:bodyPr wrap="square" lIns="0" tIns="0" rIns="0" bIns="0" rtlCol="0" anchor="ctr"/>
          <a:lstStyle/>
          <a:p>
            <a:pPr indent="0" marL="0">
              <a:buNone/>
            </a:pPr>
            <a:r>
              <a:rPr lang="en-US" sz="1150" b="1" spc="220" kern="0" dirty="0">
                <a:solidFill>
                  <a:srgbClr val="D4A537"/>
                </a:solidFill>
                <a:latin typeface="Calibri" pitchFamily="34" charset="0"/>
                <a:ea typeface="Calibri" pitchFamily="34" charset="-122"/>
                <a:cs typeface="Calibri" pitchFamily="34" charset="-120"/>
              </a:rPr>
              <a:t>CAPSTONE</a:t>
            </a:r>
            <a:endParaRPr lang="en-US" sz="1150" dirty="0"/>
          </a:p>
        </p:txBody>
      </p:sp>
      <p:sp>
        <p:nvSpPr>
          <p:cNvPr id="3" name="Text 1"/>
          <p:cNvSpPr txBox="1"/>
          <p:nvPr/>
        </p:nvSpPr>
        <p:spPr>
          <a:xfrm>
            <a:off x="566928" y="1783080"/>
            <a:ext cx="6081812"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Masar</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Mini-Lakehouse</a:t>
            </a:r>
            <a:endParaRPr lang="en-US" sz="4000" dirty="0"/>
          </a:p>
        </p:txBody>
      </p:sp>
      <p:sp>
        <p:nvSpPr>
          <p:cNvPr id="4" name="Text 2"/>
          <p:cNvSpPr txBox="1"/>
          <p:nvPr/>
        </p:nvSpPr>
        <p:spPr>
          <a:xfrm>
            <a:off x="566928" y="3200400"/>
            <a:ext cx="6081812" cy="1371600"/>
          </a:xfrm>
          <a:prstGeom prst="rect">
            <a:avLst/>
          </a:prstGeom>
          <a:noFill/>
          <a:ln/>
        </p:spPr>
        <p:txBody>
          <a:bodyPr wrap="square" lIns="0" tIns="0" rIns="0" bIns="0" rtlCol="0" anchor="t"/>
          <a:lstStyle/>
          <a:p>
            <a:pPr indent="0" marL="0">
              <a:buNone/>
            </a:pPr>
            <a:r>
              <a:rPr lang="en-US" sz="1400" dirty="0">
                <a:solidFill>
                  <a:srgbClr val="9FB3BE"/>
                </a:solidFill>
                <a:latin typeface="Calibri" pitchFamily="34" charset="0"/>
                <a:ea typeface="Calibri" pitchFamily="34" charset="-122"/>
                <a:cs typeface="Calibri" pitchFamily="34" charset="-120"/>
              </a:rPr>
              <a:t>A production data platform for a Saudi mobility operator. Everything you built in Labs 1–8 is a component; the capstone is the integration plus your own extensions.</a:t>
            </a:r>
            <a:endParaRPr lang="en-US" sz="1400" dirty="0"/>
          </a:p>
        </p:txBody>
      </p:sp>
      <p:sp>
        <p:nvSpPr>
          <p:cNvPr id="5" name="Shape 3"/>
          <p:cNvSpPr/>
          <p:nvPr/>
        </p:nvSpPr>
        <p:spPr>
          <a:xfrm>
            <a:off x="7201632" y="1810512"/>
            <a:ext cx="329184" cy="329184"/>
          </a:xfrm>
          <a:prstGeom prst="ellipse">
            <a:avLst/>
          </a:prstGeom>
          <a:solidFill>
            <a:srgbClr val="B0763A"/>
          </a:solidFill>
          <a:ln w="12700">
            <a:solidFill>
              <a:srgbClr val="B0763A"/>
            </a:solidFill>
            <a:prstDash val="solid"/>
          </a:ln>
        </p:spPr>
      </p:sp>
      <p:sp>
        <p:nvSpPr>
          <p:cNvPr id="6" name="Text 4"/>
          <p:cNvSpPr txBox="1"/>
          <p:nvPr/>
        </p:nvSpPr>
        <p:spPr>
          <a:xfrm>
            <a:off x="7201632" y="18242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658832" y="1783080"/>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mandate</a:t>
            </a:r>
            <a:endParaRPr lang="en-US" sz="1300" dirty="0"/>
          </a:p>
        </p:txBody>
      </p:sp>
      <p:sp>
        <p:nvSpPr>
          <p:cNvPr id="8" name="Shape 6"/>
          <p:cNvSpPr/>
          <p:nvPr/>
        </p:nvSpPr>
        <p:spPr>
          <a:xfrm>
            <a:off x="7201632" y="2468880"/>
            <a:ext cx="329184" cy="329184"/>
          </a:xfrm>
          <a:prstGeom prst="ellipse">
            <a:avLst/>
          </a:prstGeom>
          <a:solidFill>
            <a:srgbClr val="8E9AA3"/>
          </a:solidFill>
          <a:ln w="12700">
            <a:solidFill>
              <a:srgbClr val="8E9AA3"/>
            </a:solidFill>
            <a:prstDash val="solid"/>
          </a:ln>
        </p:spPr>
      </p:sp>
      <p:sp>
        <p:nvSpPr>
          <p:cNvPr id="9" name="Text 7"/>
          <p:cNvSpPr txBox="1"/>
          <p:nvPr/>
        </p:nvSpPr>
        <p:spPr>
          <a:xfrm>
            <a:off x="7201632" y="248259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7658832" y="2441448"/>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Eight mandatory requirements</a:t>
            </a:r>
            <a:endParaRPr lang="en-US" sz="1300" dirty="0"/>
          </a:p>
        </p:txBody>
      </p:sp>
      <p:sp>
        <p:nvSpPr>
          <p:cNvPr id="11" name="Shape 9"/>
          <p:cNvSpPr/>
          <p:nvPr/>
        </p:nvSpPr>
        <p:spPr>
          <a:xfrm>
            <a:off x="7201632" y="3127248"/>
            <a:ext cx="329184" cy="329184"/>
          </a:xfrm>
          <a:prstGeom prst="ellipse">
            <a:avLst/>
          </a:prstGeom>
          <a:solidFill>
            <a:srgbClr val="D4A537"/>
          </a:solidFill>
          <a:ln w="12700">
            <a:solidFill>
              <a:srgbClr val="D4A537"/>
            </a:solidFill>
            <a:prstDash val="solid"/>
          </a:ln>
        </p:spPr>
      </p:sp>
      <p:sp>
        <p:nvSpPr>
          <p:cNvPr id="12" name="Text 10"/>
          <p:cNvSpPr txBox="1"/>
          <p:nvPr/>
        </p:nvSpPr>
        <p:spPr>
          <a:xfrm>
            <a:off x="7201632" y="31409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3" name="Text 11"/>
          <p:cNvSpPr txBox="1"/>
          <p:nvPr/>
        </p:nvSpPr>
        <p:spPr>
          <a:xfrm>
            <a:off x="7658832" y="3099816"/>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Milestones M-A to M-E</a:t>
            </a:r>
            <a:endParaRPr lang="en-US" sz="1300" dirty="0"/>
          </a:p>
        </p:txBody>
      </p:sp>
      <p:sp>
        <p:nvSpPr>
          <p:cNvPr id="14" name="Shape 12"/>
          <p:cNvSpPr/>
          <p:nvPr/>
        </p:nvSpPr>
        <p:spPr>
          <a:xfrm>
            <a:off x="7201632" y="3785616"/>
            <a:ext cx="329184" cy="329184"/>
          </a:xfrm>
          <a:prstGeom prst="ellipse">
            <a:avLst/>
          </a:prstGeom>
          <a:solidFill>
            <a:srgbClr val="00A6A6"/>
          </a:solidFill>
          <a:ln w="12700">
            <a:solidFill>
              <a:srgbClr val="00A6A6"/>
            </a:solidFill>
            <a:prstDash val="solid"/>
          </a:ln>
        </p:spPr>
      </p:sp>
      <p:sp>
        <p:nvSpPr>
          <p:cNvPr id="15" name="Text 13"/>
          <p:cNvSpPr txBox="1"/>
          <p:nvPr/>
        </p:nvSpPr>
        <p:spPr>
          <a:xfrm>
            <a:off x="7201632" y="37993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6" name="Text 14"/>
          <p:cNvSpPr txBox="1"/>
          <p:nvPr/>
        </p:nvSpPr>
        <p:spPr>
          <a:xfrm>
            <a:off x="7658832" y="3758184"/>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rubric</a:t>
            </a:r>
            <a:endParaRPr lang="en-US" sz="1300" dirty="0"/>
          </a:p>
        </p:txBody>
      </p:sp>
      <p:sp>
        <p:nvSpPr>
          <p:cNvPr id="17" name="Shape 15"/>
          <p:cNvSpPr/>
          <p:nvPr/>
        </p:nvSpPr>
        <p:spPr>
          <a:xfrm>
            <a:off x="7201632" y="4443984"/>
            <a:ext cx="329184" cy="329184"/>
          </a:xfrm>
          <a:prstGeom prst="ellipse">
            <a:avLst/>
          </a:prstGeom>
          <a:solidFill>
            <a:srgbClr val="D9503F"/>
          </a:solidFill>
          <a:ln w="12700">
            <a:solidFill>
              <a:srgbClr val="D9503F"/>
            </a:solidFill>
            <a:prstDash val="solid"/>
          </a:ln>
        </p:spPr>
      </p:sp>
      <p:sp>
        <p:nvSpPr>
          <p:cNvPr id="18" name="Text 16"/>
          <p:cNvSpPr txBox="1"/>
          <p:nvPr/>
        </p:nvSpPr>
        <p:spPr>
          <a:xfrm>
            <a:off x="7201632" y="44577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19" name="Text 17"/>
          <p:cNvSpPr txBox="1"/>
          <p:nvPr/>
        </p:nvSpPr>
        <p:spPr>
          <a:xfrm>
            <a:off x="7658832" y="4416552"/>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Six-minute demo</a:t>
            </a:r>
            <a:endParaRPr lang="en-US" sz="1300" dirty="0"/>
          </a:p>
        </p:txBody>
      </p:sp>
      <p:sp>
        <p:nvSpPr>
          <p:cNvPr id="20" name="Shape 18"/>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1" name="Shape 19"/>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2" name="Shape 20"/>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3" name="Text 21"/>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4" name="Text 22"/>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371600"/>
            <a:ext cx="11057839" cy="274320"/>
          </a:xfrm>
          <a:prstGeom prst="rect">
            <a:avLst/>
          </a:prstGeom>
          <a:noFill/>
          <a:ln/>
        </p:spPr>
        <p:txBody>
          <a:bodyPr wrap="square" lIns="0" tIns="0" rIns="0" bIns="0" rtlCol="0" anchor="ctr"/>
          <a:lstStyle/>
          <a:p>
            <a:pPr indent="0" marL="0">
              <a:buNone/>
            </a:pPr>
            <a:r>
              <a:rPr lang="en-US" sz="1100" b="1" spc="180" kern="0" dirty="0">
                <a:solidFill>
                  <a:srgbClr val="D4A537"/>
                </a:solidFill>
                <a:latin typeface="Calibri" pitchFamily="34" charset="0"/>
                <a:ea typeface="Calibri" pitchFamily="34" charset="-122"/>
                <a:cs typeface="Calibri" pitchFamily="34" charset="-120"/>
              </a:rPr>
              <a:t>CAPSTONE · THE MANDATE</a:t>
            </a:r>
            <a:endParaRPr lang="en-US" sz="1100" dirty="0"/>
          </a:p>
        </p:txBody>
      </p:sp>
      <p:sp>
        <p:nvSpPr>
          <p:cNvPr id="3" name="Text 1"/>
          <p:cNvSpPr txBox="1"/>
          <p:nvPr/>
        </p:nvSpPr>
        <p:spPr>
          <a:xfrm>
            <a:off x="566928" y="1783080"/>
            <a:ext cx="10509199" cy="2377440"/>
          </a:xfrm>
          <a:prstGeom prst="rect">
            <a:avLst/>
          </a:prstGeom>
          <a:noFill/>
          <a:ln/>
        </p:spPr>
        <p:txBody>
          <a:bodyPr wrap="square" lIns="0" tIns="0" rIns="0" bIns="0" rtlCol="0" anchor="t"/>
          <a:lstStyle/>
          <a:p>
            <a:pPr indent="0" marL="0">
              <a:lnSpc>
                <a:spcPct val="112000"/>
              </a:lnSpc>
              <a:buNone/>
            </a:pPr>
            <a:r>
              <a:rPr lang="en-US" sz="2800" b="1" dirty="0">
                <a:solidFill>
                  <a:srgbClr val="FFFFFF"/>
                </a:solidFill>
                <a:latin typeface="Cambria" pitchFamily="34" charset="0"/>
                <a:ea typeface="Cambria" pitchFamily="34" charset="-122"/>
                <a:cs typeface="Cambria" pitchFamily="34" charset="-120"/>
              </a:rPr>
              <a:t>Deliver a Mini-Lakehouse that</a:t>
            </a:r>
            <a:endParaRPr lang="en-US" sz="2800" dirty="0"/>
          </a:p>
          <a:p>
            <a:pPr indent="0" marL="0">
              <a:lnSpc>
                <a:spcPct val="112000"/>
              </a:lnSpc>
              <a:buNone/>
            </a:pPr>
            <a:r>
              <a:rPr lang="en-US" sz="2800" b="1" dirty="0">
                <a:solidFill>
                  <a:srgbClr val="FFFFFF"/>
                </a:solidFill>
                <a:latin typeface="Cambria" pitchFamily="34" charset="0"/>
                <a:ea typeface="Cambria" pitchFamily="34" charset="-122"/>
                <a:cs typeface="Cambria" pitchFamily="34" charset="-120"/>
              </a:rPr>
              <a:t>both teams can trust —</a:t>
            </a:r>
            <a:endParaRPr lang="en-US" sz="2800" dirty="0"/>
          </a:p>
          <a:p>
            <a:pPr indent="0" marL="0">
              <a:lnSpc>
                <a:spcPct val="112000"/>
              </a:lnSpc>
              <a:buNone/>
            </a:pPr>
            <a:r>
              <a:rPr lang="en-US" sz="2800" b="1" dirty="0">
                <a:solidFill>
                  <a:srgbClr val="FFFFFF"/>
                </a:solidFill>
                <a:latin typeface="Cambria" pitchFamily="34" charset="0"/>
                <a:ea typeface="Cambria" pitchFamily="34" charset="-122"/>
                <a:cs typeface="Cambria" pitchFamily="34" charset="-120"/>
              </a:rPr>
              <a:t>because the platform proves its own</a:t>
            </a:r>
            <a:endParaRPr lang="en-US" sz="2800" dirty="0"/>
          </a:p>
          <a:p>
            <a:pPr indent="0" marL="0">
              <a:lnSpc>
                <a:spcPct val="112000"/>
              </a:lnSpc>
              <a:buNone/>
            </a:pPr>
            <a:r>
              <a:rPr lang="en-US" sz="2800" b="1" dirty="0">
                <a:solidFill>
                  <a:srgbClr val="FFFFFF"/>
                </a:solidFill>
                <a:latin typeface="Cambria" pitchFamily="34" charset="0"/>
                <a:ea typeface="Cambria" pitchFamily="34" charset="-122"/>
                <a:cs typeface="Cambria" pitchFamily="34" charset="-120"/>
              </a:rPr>
              <a:t>quality, freshness and governance.</a:t>
            </a:r>
            <a:endParaRPr lang="en-US" sz="2800" dirty="0"/>
          </a:p>
        </p:txBody>
      </p:sp>
      <p:sp>
        <p:nvSpPr>
          <p:cNvPr id="4" name="Text 2"/>
          <p:cNvSpPr txBox="1"/>
          <p:nvPr/>
        </p:nvSpPr>
        <p:spPr>
          <a:xfrm>
            <a:off x="566928" y="4434840"/>
            <a:ext cx="10509199" cy="1097280"/>
          </a:xfrm>
          <a:prstGeom prst="rect">
            <a:avLst/>
          </a:prstGeom>
          <a:noFill/>
          <a:ln/>
        </p:spPr>
        <p:txBody>
          <a:bodyPr wrap="square" lIns="0" tIns="0" rIns="0" bIns="0" rtlCol="0" anchor="t"/>
          <a:lstStyle/>
          <a:p>
            <a:pPr indent="0" marL="0">
              <a:buNone/>
            </a:pPr>
            <a:r>
              <a:rPr lang="en-US" sz="1500" dirty="0">
                <a:solidFill>
                  <a:srgbClr val="9FB3BE"/>
                </a:solidFill>
                <a:latin typeface="Calibri" pitchFamily="34" charset="0"/>
                <a:ea typeface="Calibri" pitchFamily="34" charset="-122"/>
                <a:cs typeface="Calibri" pitchFamily="34" charset="-120"/>
              </a:rPr>
              <a:t>You are the data platform engineer for Masar. The analytics team hands you raw feeds — batch trips and drivers, streaming GPS —</a:t>
            </a: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and two demands: an AI feature service for an ETA and demand model, and an operations BI dashboard leadership reviews every morning.</a:t>
            </a:r>
            <a:endParaRPr lang="en-US" sz="1500" dirty="0"/>
          </a:p>
        </p:txBody>
      </p:sp>
      <p:sp>
        <p:nvSpPr>
          <p:cNvPr id="5"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6"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7"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8"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9"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CAPSTONE · MANDATORY SCOPE</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Eight requirements, eight outcomes</a:t>
            </a:r>
            <a:endParaRPr lang="en-US" sz="30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457200"/>
                <a:gridCol w="3200400"/>
                <a:gridCol w="6400800"/>
                <a:gridCol w="996696"/>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Requirement</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Evidence the grader looks for</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LO</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r>
              <a:tr h="457200">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Medallion architecture</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Bronze append-only with lineage → silver conformed → gold marts and features. Contracts documented and enforced. No layer bypassed.</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1, 7</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457200">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Compute–storage discipline</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Object-storage-style layout · BENCHMARKS.md scan and cost analysis · gold OPTIMIZEd and ZORDERed with measured file-count reduction.</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ELT pipeline</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Staging → silver, incremental merge on trip_id with a lookback window · source freshness + ≥ 6 tests · a demonstrated late-arrival backfill.</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457200">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Delta Lake</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Constrained Delta · idempotent MERGE · time-travel audit · OPTIMIZE/VACUUM with justified retention · one PDPL erasure demonstrated.</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Streaming</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Kafka → Structured Streaming → Delta bronze, exactly-once with a dedicated checkpoint · kill/restart proof · event-time window with a watermark.</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457200">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Quality, observability, governance</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GX suite with fail-fast AND quarantine · freshness/volume/drift checks · PII classification + retention job · data docs as evidence.</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Orchestration</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The full medallion as one dependency-ordered idempotent DAG, one command, with a demonstrated recovery from an injected mid-DAG failure.</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457200">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Serving</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Point-in-time-correct features served offline and materialised online (consistency proven) · conformed star schema that reconciles · PDPL-safe serving view.</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Choose at least one extension: offline/online consistency in CI · a leakage-lint that fails the pipeline · a 7-day multi-city backfill · a second streaming consumer group · a Trino/Databricks-SQL direct-serve benchmark.</a:t>
            </a:r>
            <a:endParaRPr lang="en-US" sz="1200" dirty="0"/>
          </a:p>
        </p:txBody>
      </p:sp>
      <p:sp>
        <p:nvSpPr>
          <p:cNvPr id="6"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7"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8"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9"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0"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CAPSTONE · RUBRIC</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100 points, platform graded first</a:t>
            </a:r>
            <a:endParaRPr lang="en-US" sz="30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2606040"/>
                <a:gridCol w="731520"/>
                <a:gridCol w="2880360"/>
                <a:gridCol w="2514600"/>
                <a:gridCol w="2322576"/>
              </a:tblGrid>
              <a:tr h="50520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Criterion</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Weight</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90–100%</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70–89%</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Below 70%</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r>
              <a:tr h="505206">
                <a:tc>
                  <a:txBody>
                    <a:bodyPr/>
                    <a:lstStyle/>
                    <a:p>
                      <a:pPr indent="0" marL="0">
                        <a:buNone/>
                      </a:pPr>
                      <a:r>
                        <a:rPr lang="en-US" sz="1000" b="1" dirty="0">
                          <a:solidFill>
                            <a:srgbClr val="2B3A42"/>
                          </a:solidFill>
                          <a:latin typeface="Calibri" pitchFamily="34" charset="0"/>
                          <a:ea typeface="Calibri" pitchFamily="34" charset="-122"/>
                          <a:cs typeface="Calibri" pitchFamily="34" charset="-120"/>
                        </a:rPr>
                        <a:t>Architecture &amp; contracts</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Clean layers, contracts documented and enforced, no bypass</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Minor contract gap or one bypass</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Layers muddled, gold from bronze</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505206">
                <a:tc>
                  <a:txBody>
                    <a:bodyPr/>
                    <a:lstStyle/>
                    <a:p>
                      <a:pPr indent="0" marL="0">
                        <a:buNone/>
                      </a:pPr>
                      <a:r>
                        <a:rPr lang="en-US" sz="1000" b="1" dirty="0">
                          <a:solidFill>
                            <a:srgbClr val="2B3A42"/>
                          </a:solidFill>
                          <a:latin typeface="Calibri" pitchFamily="34" charset="0"/>
                          <a:ea typeface="Calibri" pitchFamily="34" charset="-122"/>
                          <a:cs typeface="Calibri" pitchFamily="34" charset="-120"/>
                        </a:rPr>
                        <a:t>ELT &amp; incrementality</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Incremental merge + lookback, ≥ 6 tests, backfill proven</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Incremental works; thin tests</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Full-refresh only; late-arrival bug</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505206">
                <a:tc>
                  <a:txBody>
                    <a:bodyPr/>
                    <a:lstStyle/>
                    <a:p>
                      <a:pPr indent="0" marL="0">
                        <a:buNone/>
                      </a:pPr>
                      <a:r>
                        <a:rPr lang="en-US" sz="1000" b="1" dirty="0">
                          <a:solidFill>
                            <a:srgbClr val="2B3A42"/>
                          </a:solidFill>
                          <a:latin typeface="Calibri" pitchFamily="34" charset="0"/>
                          <a:ea typeface="Calibri" pitchFamily="34" charset="-122"/>
                          <a:cs typeface="Calibri" pitchFamily="34" charset="-120"/>
                        </a:rPr>
                        <a:t>Delta Lake mastery</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Constraints, idempotent MERGE, time travel, justified VACUUM, erasure</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Most present; retention thin</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No constraints; VACUUM misused</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505206">
                <a:tc>
                  <a:txBody>
                    <a:bodyPr/>
                    <a:lstStyle/>
                    <a:p>
                      <a:pPr indent="0" marL="0">
                        <a:buNone/>
                      </a:pPr>
                      <a:r>
                        <a:rPr lang="en-US" sz="1000" b="1" dirty="0">
                          <a:solidFill>
                            <a:srgbClr val="2B3A42"/>
                          </a:solidFill>
                          <a:latin typeface="Calibri" pitchFamily="34" charset="0"/>
                          <a:ea typeface="Calibri" pitchFamily="34" charset="-122"/>
                          <a:cs typeface="Calibri" pitchFamily="34" charset="-120"/>
                        </a:rPr>
                        <a:t>Streaming</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Exactly-once proven by kill/restart, watermark, checkpoint discipline</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Streams but dedup/watermark weak</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Duplicates on restart</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505206">
                <a:tc>
                  <a:txBody>
                    <a:bodyPr/>
                    <a:lstStyle/>
                    <a:p>
                      <a:pPr indent="0" marL="0">
                        <a:buNone/>
                      </a:pPr>
                      <a:r>
                        <a:rPr lang="en-US" sz="1000" b="1" dirty="0">
                          <a:solidFill>
                            <a:srgbClr val="2B3A42"/>
                          </a:solidFill>
                          <a:latin typeface="Calibri" pitchFamily="34" charset="0"/>
                          <a:ea typeface="Calibri" pitchFamily="34" charset="-122"/>
                          <a:cs typeface="Calibri" pitchFamily="34" charset="-120"/>
                        </a:rPr>
                        <a:t>Quality &amp; governance</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Gate acts, observability fires, PII + PDPL retention</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Some gaps — alert-only, partial</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Alerts only; raw PII kept forever</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505206">
                <a:tc>
                  <a:txBody>
                    <a:bodyPr/>
                    <a:lstStyle/>
                    <a:p>
                      <a:pPr indent="0" marL="0">
                        <a:buNone/>
                      </a:pPr>
                      <a:r>
                        <a:rPr lang="en-US" sz="1000" b="1" dirty="0">
                          <a:solidFill>
                            <a:srgbClr val="2B3A42"/>
                          </a:solidFill>
                          <a:latin typeface="Calibri" pitchFamily="34" charset="0"/>
                          <a:ea typeface="Calibri" pitchFamily="34" charset="-122"/>
                          <a:cs typeface="Calibri" pitchFamily="34" charset="-120"/>
                        </a:rPr>
                        <a:t>Orchestration &amp; recovery</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One-command idempotent DAG, clean failure recovery</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Runs; recovery partial</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Hand-run steps; no recovery</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505206">
                <a:tc>
                  <a:txBody>
                    <a:bodyPr/>
                    <a:lstStyle/>
                    <a:p>
                      <a:pPr indent="0" marL="0">
                        <a:buNone/>
                      </a:pPr>
                      <a:r>
                        <a:rPr lang="en-US" sz="1000" b="1" dirty="0">
                          <a:solidFill>
                            <a:srgbClr val="2B3A42"/>
                          </a:solidFill>
                          <a:latin typeface="Calibri" pitchFamily="34" charset="0"/>
                          <a:ea typeface="Calibri" pitchFamily="34" charset="-122"/>
                          <a:cs typeface="Calibri" pitchFamily="34" charset="-120"/>
                        </a:rPr>
                        <a:t>Serving (AI + BI) &amp; demo</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PIT-correct, offline==online, conformed BI, PDPL-safe, crisp demo</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Works; leakage or reconciliation thin</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000" dirty="0">
                          <a:solidFill>
                            <a:srgbClr val="2B3A42"/>
                          </a:solidFill>
                          <a:latin typeface="Calibri" pitchFamily="34" charset="0"/>
                          <a:ea typeface="Calibri" pitchFamily="34" charset="-122"/>
                          <a:cs typeface="Calibri" pitchFamily="34" charset="-120"/>
                        </a:rPr>
                        <a:t>Leakage; online ≠ offline</a:t>
                      </a:r>
                      <a:endParaRPr lang="en-US" sz="10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bl>
          </a:graphicData>
        </a:graphic>
      </p:graphicFrame>
      <p:sp>
        <p:nvSpPr>
          <p:cNvPr id="5" name="Text 2"/>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Pass ≥ 70 · Distinction ≥ 90. Anti-pattern flags cap a criterion at 70%.</a:t>
            </a:r>
            <a:endParaRPr lang="en-US" sz="1200" dirty="0"/>
          </a:p>
        </p:txBody>
      </p:sp>
      <p:sp>
        <p:nvSpPr>
          <p:cNvPr id="6"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7"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8"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9"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0"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CAPSTONE · THE SIX-MINUTE DEMO</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Five things to show, in this order</a:t>
            </a:r>
            <a:endParaRPr lang="en-US" sz="3000" dirty="0"/>
          </a:p>
        </p:txBody>
      </p:sp>
      <p:sp>
        <p:nvSpPr>
          <p:cNvPr id="4" name="Shape 2"/>
          <p:cNvSpPr/>
          <p:nvPr/>
        </p:nvSpPr>
        <p:spPr>
          <a:xfrm>
            <a:off x="566928" y="2021007"/>
            <a:ext cx="1962851" cy="2286000"/>
          </a:xfrm>
          <a:prstGeom prst="roundRect">
            <a:avLst>
              <a:gd name="adj" fmla="val 2795"/>
            </a:avLst>
          </a:prstGeom>
          <a:solidFill>
            <a:srgbClr val="F4F6F7"/>
          </a:solidFill>
          <a:ln w="19050">
            <a:solidFill>
              <a:srgbClr val="B0763A"/>
            </a:solidFill>
            <a:prstDash val="solid"/>
          </a:ln>
        </p:spPr>
      </p:sp>
      <p:sp>
        <p:nvSpPr>
          <p:cNvPr id="5" name="Text 3"/>
          <p:cNvSpPr txBox="1"/>
          <p:nvPr/>
        </p:nvSpPr>
        <p:spPr>
          <a:xfrm>
            <a:off x="731520" y="2222175"/>
            <a:ext cx="1633667" cy="585216"/>
          </a:xfrm>
          <a:prstGeom prst="rect">
            <a:avLst/>
          </a:prstGeom>
          <a:noFill/>
          <a:ln/>
        </p:spPr>
        <p:txBody>
          <a:bodyPr wrap="square" lIns="0" tIns="0" rIns="0" bIns="0" rtlCol="0" anchor="t"/>
          <a:lstStyle/>
          <a:p>
            <a:pPr indent="0" marL="0">
              <a:buNone/>
            </a:pPr>
            <a:r>
              <a:rPr lang="en-US" sz="1350" b="1" dirty="0">
                <a:solidFill>
                  <a:srgbClr val="B0763A"/>
                </a:solidFill>
                <a:latin typeface="Calibri" pitchFamily="34" charset="0"/>
                <a:ea typeface="Calibri" pitchFamily="34" charset="-122"/>
                <a:cs typeface="Calibri" pitchFamily="34" charset="-120"/>
              </a:rPr>
              <a:t>1 · One command</a:t>
            </a:r>
            <a:endParaRPr lang="en-US" sz="1350" dirty="0"/>
          </a:p>
        </p:txBody>
      </p:sp>
      <p:sp>
        <p:nvSpPr>
          <p:cNvPr id="6" name="Text 4"/>
          <p:cNvSpPr txBox="1"/>
          <p:nvPr/>
        </p:nvSpPr>
        <p:spPr>
          <a:xfrm>
            <a:off x="731520" y="2825679"/>
            <a:ext cx="1633667" cy="131673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make pipeline. Show it run end to end. Say nothing while it runs — let the platform speak.</a:t>
            </a:r>
            <a:endParaRPr lang="en-US" sz="1150" dirty="0"/>
          </a:p>
        </p:txBody>
      </p:sp>
      <p:sp>
        <p:nvSpPr>
          <p:cNvPr id="7" name="Shape 5"/>
          <p:cNvSpPr/>
          <p:nvPr/>
        </p:nvSpPr>
        <p:spPr>
          <a:xfrm>
            <a:off x="2575499" y="3063423"/>
            <a:ext cx="219456" cy="201168"/>
          </a:xfrm>
          <a:prstGeom prst="rightArrow">
            <a:avLst/>
          </a:prstGeom>
          <a:solidFill>
            <a:srgbClr val="8E9AA3"/>
          </a:solidFill>
          <a:ln w="12700">
            <a:solidFill>
              <a:srgbClr val="8E9AA3"/>
            </a:solidFill>
            <a:prstDash val="solid"/>
          </a:ln>
        </p:spPr>
      </p:sp>
      <p:sp>
        <p:nvSpPr>
          <p:cNvPr id="8" name="Shape 6"/>
          <p:cNvSpPr/>
          <p:nvPr/>
        </p:nvSpPr>
        <p:spPr>
          <a:xfrm>
            <a:off x="2840675" y="2021007"/>
            <a:ext cx="1962851" cy="2286000"/>
          </a:xfrm>
          <a:prstGeom prst="roundRect">
            <a:avLst>
              <a:gd name="adj" fmla="val 2795"/>
            </a:avLst>
          </a:prstGeom>
          <a:solidFill>
            <a:srgbClr val="F4F6F7"/>
          </a:solidFill>
          <a:ln w="19050">
            <a:solidFill>
              <a:srgbClr val="8E9AA3"/>
            </a:solidFill>
            <a:prstDash val="solid"/>
          </a:ln>
        </p:spPr>
      </p:sp>
      <p:sp>
        <p:nvSpPr>
          <p:cNvPr id="9" name="Text 7"/>
          <p:cNvSpPr txBox="1"/>
          <p:nvPr/>
        </p:nvSpPr>
        <p:spPr>
          <a:xfrm>
            <a:off x="3005267" y="2222175"/>
            <a:ext cx="1633667" cy="585216"/>
          </a:xfrm>
          <a:prstGeom prst="rect">
            <a:avLst/>
          </a:prstGeom>
          <a:noFill/>
          <a:ln/>
        </p:spPr>
        <p:txBody>
          <a:bodyPr wrap="square" lIns="0" tIns="0" rIns="0" bIns="0" rtlCol="0" anchor="t"/>
          <a:lstStyle/>
          <a:p>
            <a:pPr indent="0" marL="0">
              <a:buNone/>
            </a:pPr>
            <a:r>
              <a:rPr lang="en-US" sz="1350" b="1" dirty="0">
                <a:solidFill>
                  <a:srgbClr val="8E9AA3"/>
                </a:solidFill>
                <a:latin typeface="Calibri" pitchFamily="34" charset="0"/>
                <a:ea typeface="Calibri" pitchFamily="34" charset="-122"/>
                <a:cs typeface="Calibri" pitchFamily="34" charset="-120"/>
              </a:rPr>
              <a:t>2 · Kill the stream</a:t>
            </a:r>
            <a:endParaRPr lang="en-US" sz="1350" dirty="0"/>
          </a:p>
        </p:txBody>
      </p:sp>
      <p:sp>
        <p:nvSpPr>
          <p:cNvPr id="10" name="Text 8"/>
          <p:cNvSpPr txBox="1"/>
          <p:nvPr/>
        </p:nvSpPr>
        <p:spPr>
          <a:xfrm>
            <a:off x="3005267" y="2825679"/>
            <a:ext cx="1633667" cy="131673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Restart it. Show the row count is unchanged. This is the claim graders verify live most often.</a:t>
            </a:r>
            <a:endParaRPr lang="en-US" sz="1150" dirty="0"/>
          </a:p>
        </p:txBody>
      </p:sp>
      <p:sp>
        <p:nvSpPr>
          <p:cNvPr id="11" name="Shape 9"/>
          <p:cNvSpPr/>
          <p:nvPr/>
        </p:nvSpPr>
        <p:spPr>
          <a:xfrm>
            <a:off x="4849246" y="3063423"/>
            <a:ext cx="219456" cy="201168"/>
          </a:xfrm>
          <a:prstGeom prst="rightArrow">
            <a:avLst/>
          </a:prstGeom>
          <a:solidFill>
            <a:srgbClr val="8E9AA3"/>
          </a:solidFill>
          <a:ln w="12700">
            <a:solidFill>
              <a:srgbClr val="8E9AA3"/>
            </a:solidFill>
            <a:prstDash val="solid"/>
          </a:ln>
        </p:spPr>
      </p:sp>
      <p:sp>
        <p:nvSpPr>
          <p:cNvPr id="12" name="Shape 10"/>
          <p:cNvSpPr/>
          <p:nvPr/>
        </p:nvSpPr>
        <p:spPr>
          <a:xfrm>
            <a:off x="5114422" y="2021007"/>
            <a:ext cx="1962851" cy="2286000"/>
          </a:xfrm>
          <a:prstGeom prst="roundRect">
            <a:avLst>
              <a:gd name="adj" fmla="val 2795"/>
            </a:avLst>
          </a:prstGeom>
          <a:solidFill>
            <a:srgbClr val="F4F6F7"/>
          </a:solidFill>
          <a:ln w="19050">
            <a:solidFill>
              <a:srgbClr val="D4A537"/>
            </a:solidFill>
            <a:prstDash val="solid"/>
          </a:ln>
        </p:spPr>
      </p:sp>
      <p:sp>
        <p:nvSpPr>
          <p:cNvPr id="13" name="Text 11"/>
          <p:cNvSpPr txBox="1"/>
          <p:nvPr/>
        </p:nvSpPr>
        <p:spPr>
          <a:xfrm>
            <a:off x="5279014" y="2222175"/>
            <a:ext cx="1633667" cy="585216"/>
          </a:xfrm>
          <a:prstGeom prst="rect">
            <a:avLst/>
          </a:prstGeom>
          <a:noFill/>
          <a:ln/>
        </p:spPr>
        <p:txBody>
          <a:bodyPr wrap="square" lIns="0" tIns="0" rIns="0" bIns="0" rtlCol="0" anchor="t"/>
          <a:lstStyle/>
          <a:p>
            <a:pPr indent="0" marL="0">
              <a:buNone/>
            </a:pPr>
            <a:r>
              <a:rPr lang="en-US" sz="1350" b="1" dirty="0">
                <a:solidFill>
                  <a:srgbClr val="D4A537"/>
                </a:solidFill>
                <a:latin typeface="Calibri" pitchFamily="34" charset="0"/>
                <a:ea typeface="Calibri" pitchFamily="34" charset="-122"/>
                <a:cs typeface="Calibri" pitchFamily="34" charset="-120"/>
              </a:rPr>
              <a:t>3 · Quarantine</a:t>
            </a:r>
            <a:endParaRPr lang="en-US" sz="1350" dirty="0"/>
          </a:p>
        </p:txBody>
      </p:sp>
      <p:sp>
        <p:nvSpPr>
          <p:cNvPr id="14" name="Text 12"/>
          <p:cNvSpPr txBox="1"/>
          <p:nvPr/>
        </p:nvSpPr>
        <p:spPr>
          <a:xfrm>
            <a:off x="5279014" y="2825679"/>
            <a:ext cx="1633667" cy="131673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Push the dirty batch through the gate. Good rows promote, bad rows land in quarantine, both recorded.</a:t>
            </a:r>
            <a:endParaRPr lang="en-US" sz="1150" dirty="0"/>
          </a:p>
        </p:txBody>
      </p:sp>
      <p:sp>
        <p:nvSpPr>
          <p:cNvPr id="15" name="Shape 13"/>
          <p:cNvSpPr/>
          <p:nvPr/>
        </p:nvSpPr>
        <p:spPr>
          <a:xfrm>
            <a:off x="7122993" y="3063423"/>
            <a:ext cx="219456" cy="201168"/>
          </a:xfrm>
          <a:prstGeom prst="rightArrow">
            <a:avLst/>
          </a:prstGeom>
          <a:solidFill>
            <a:srgbClr val="8E9AA3"/>
          </a:solidFill>
          <a:ln w="12700">
            <a:solidFill>
              <a:srgbClr val="8E9AA3"/>
            </a:solidFill>
            <a:prstDash val="solid"/>
          </a:ln>
        </p:spPr>
      </p:sp>
      <p:sp>
        <p:nvSpPr>
          <p:cNvPr id="16" name="Shape 14"/>
          <p:cNvSpPr/>
          <p:nvPr/>
        </p:nvSpPr>
        <p:spPr>
          <a:xfrm>
            <a:off x="7388169" y="2021007"/>
            <a:ext cx="1962851" cy="2286000"/>
          </a:xfrm>
          <a:prstGeom prst="roundRect">
            <a:avLst>
              <a:gd name="adj" fmla="val 2795"/>
            </a:avLst>
          </a:prstGeom>
          <a:solidFill>
            <a:srgbClr val="F4F6F7"/>
          </a:solidFill>
          <a:ln w="19050">
            <a:solidFill>
              <a:srgbClr val="00A6A6"/>
            </a:solidFill>
            <a:prstDash val="solid"/>
          </a:ln>
        </p:spPr>
      </p:sp>
      <p:sp>
        <p:nvSpPr>
          <p:cNvPr id="17" name="Text 15"/>
          <p:cNvSpPr txBox="1"/>
          <p:nvPr/>
        </p:nvSpPr>
        <p:spPr>
          <a:xfrm>
            <a:off x="7552761" y="2222175"/>
            <a:ext cx="1633667" cy="585216"/>
          </a:xfrm>
          <a:prstGeom prst="rect">
            <a:avLst/>
          </a:prstGeom>
          <a:noFill/>
          <a:ln/>
        </p:spPr>
        <p:txBody>
          <a:bodyPr wrap="square" lIns="0" tIns="0" rIns="0" bIns="0" rtlCol="0" anchor="t"/>
          <a:lstStyle/>
          <a:p>
            <a:pPr indent="0" marL="0">
              <a:buNone/>
            </a:pPr>
            <a:r>
              <a:rPr lang="en-US" sz="1350" b="1" dirty="0">
                <a:solidFill>
                  <a:srgbClr val="00A6A6"/>
                </a:solidFill>
                <a:latin typeface="Calibri" pitchFamily="34" charset="0"/>
                <a:ea typeface="Calibri" pitchFamily="34" charset="-122"/>
                <a:cs typeface="Calibri" pitchFamily="34" charset="-120"/>
              </a:rPr>
              <a:t>4 · Time travel</a:t>
            </a:r>
            <a:endParaRPr lang="en-US" sz="1350" dirty="0"/>
          </a:p>
        </p:txBody>
      </p:sp>
      <p:sp>
        <p:nvSpPr>
          <p:cNvPr id="18" name="Text 16"/>
          <p:cNvSpPr txBox="1"/>
          <p:nvPr/>
        </p:nvSpPr>
        <p:spPr>
          <a:xfrm>
            <a:off x="7552761" y="2825679"/>
            <a:ext cx="1633667" cy="131673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Name a version, show what the table contained, and show the erasure commit.</a:t>
            </a:r>
            <a:endParaRPr lang="en-US" sz="1150" dirty="0"/>
          </a:p>
        </p:txBody>
      </p:sp>
      <p:sp>
        <p:nvSpPr>
          <p:cNvPr id="19" name="Shape 17"/>
          <p:cNvSpPr/>
          <p:nvPr/>
        </p:nvSpPr>
        <p:spPr>
          <a:xfrm>
            <a:off x="9396740" y="3063423"/>
            <a:ext cx="219456" cy="201168"/>
          </a:xfrm>
          <a:prstGeom prst="rightArrow">
            <a:avLst/>
          </a:prstGeom>
          <a:solidFill>
            <a:srgbClr val="8E9AA3"/>
          </a:solidFill>
          <a:ln w="12700">
            <a:solidFill>
              <a:srgbClr val="8E9AA3"/>
            </a:solidFill>
            <a:prstDash val="solid"/>
          </a:ln>
        </p:spPr>
      </p:sp>
      <p:sp>
        <p:nvSpPr>
          <p:cNvPr id="20" name="Shape 18"/>
          <p:cNvSpPr/>
          <p:nvPr/>
        </p:nvSpPr>
        <p:spPr>
          <a:xfrm>
            <a:off x="9661916" y="2021007"/>
            <a:ext cx="1962851" cy="2286000"/>
          </a:xfrm>
          <a:prstGeom prst="roundRect">
            <a:avLst>
              <a:gd name="adj" fmla="val 2795"/>
            </a:avLst>
          </a:prstGeom>
          <a:solidFill>
            <a:srgbClr val="F4F6F7"/>
          </a:solidFill>
          <a:ln w="19050">
            <a:solidFill>
              <a:srgbClr val="D9503F"/>
            </a:solidFill>
            <a:prstDash val="solid"/>
          </a:ln>
        </p:spPr>
      </p:sp>
      <p:sp>
        <p:nvSpPr>
          <p:cNvPr id="21" name="Text 19"/>
          <p:cNvSpPr txBox="1"/>
          <p:nvPr/>
        </p:nvSpPr>
        <p:spPr>
          <a:xfrm>
            <a:off x="9826508" y="2222175"/>
            <a:ext cx="1633667" cy="585216"/>
          </a:xfrm>
          <a:prstGeom prst="rect">
            <a:avLst/>
          </a:prstGeom>
          <a:noFill/>
          <a:ln/>
        </p:spPr>
        <p:txBody>
          <a:bodyPr wrap="square" lIns="0" tIns="0" rIns="0" bIns="0" rtlCol="0" anchor="t"/>
          <a:lstStyle/>
          <a:p>
            <a:pPr indent="0" marL="0">
              <a:buNone/>
            </a:pPr>
            <a:r>
              <a:rPr lang="en-US" sz="1350" b="1" dirty="0">
                <a:solidFill>
                  <a:srgbClr val="D9503F"/>
                </a:solidFill>
                <a:latin typeface="Calibri" pitchFamily="34" charset="0"/>
                <a:ea typeface="Calibri" pitchFamily="34" charset="-122"/>
                <a:cs typeface="Calibri" pitchFamily="34" charset="-120"/>
              </a:rPr>
              <a:t>5 · Two consumers</a:t>
            </a:r>
            <a:endParaRPr lang="en-US" sz="1350" dirty="0"/>
          </a:p>
        </p:txBody>
      </p:sp>
      <p:sp>
        <p:nvSpPr>
          <p:cNvPr id="22" name="Text 20"/>
          <p:cNvSpPr txBox="1"/>
          <p:nvPr/>
        </p:nvSpPr>
        <p:spPr>
          <a:xfrm>
            <a:off x="9826508" y="2825679"/>
            <a:ext cx="1633667" cy="1316736"/>
          </a:xfrm>
          <a:prstGeom prst="rect">
            <a:avLst/>
          </a:prstGeom>
          <a:noFill/>
          <a:ln/>
        </p:spPr>
        <p:txBody>
          <a:bodyPr wrap="square" lIns="0" tIns="0" rIns="0" bIns="0" rtlCol="0" anchor="t"/>
          <a:lstStyle/>
          <a:p>
            <a:pPr indent="0" marL="0">
              <a:buNone/>
            </a:pPr>
            <a:r>
              <a:rPr lang="en-US" sz="1150" dirty="0">
                <a:solidFill>
                  <a:srgbClr val="2B3A42"/>
                </a:solidFill>
                <a:latin typeface="Calibri" pitchFamily="34" charset="0"/>
                <a:ea typeface="Calibri" pitchFamily="34" charset="-122"/>
                <a:cs typeface="Calibri" pitchFamily="34" charset="-120"/>
              </a:rPr>
              <a:t>The BI star reconciling, and the feature table matching its online copy. Then the honest metric.</a:t>
            </a:r>
            <a:endParaRPr lang="en-US" sz="1150" dirty="0"/>
          </a:p>
        </p:txBody>
      </p:sp>
      <p:sp>
        <p:nvSpPr>
          <p:cNvPr id="23" name="Text 21"/>
          <p:cNvSpPr txBox="1"/>
          <p:nvPr/>
        </p:nvSpPr>
        <p:spPr>
          <a:xfrm>
            <a:off x="566928" y="4636191"/>
            <a:ext cx="11057839" cy="621792"/>
          </a:xfrm>
          <a:prstGeom prst="rect">
            <a:avLst/>
          </a:prstGeom>
          <a:noFill/>
          <a:ln/>
        </p:spPr>
        <p:txBody>
          <a:bodyPr wrap="square" lIns="0" tIns="0" rIns="0" bIns="0" rtlCol="0" anchor="t"/>
          <a:lstStyle/>
          <a:p>
            <a:pPr indent="0" marL="0">
              <a:buNone/>
            </a:pPr>
            <a:r>
              <a:rPr lang="en-US" sz="1300" i="1" dirty="0">
                <a:solidFill>
                  <a:srgbClr val="B0763A"/>
                </a:solidFill>
                <a:latin typeface="Calibri" pitchFamily="34" charset="0"/>
                <a:ea typeface="Calibri" pitchFamily="34" charset="-122"/>
                <a:cs typeface="Calibri" pitchFamily="34" charset="-120"/>
              </a:rPr>
              <a:t>Milestones: M-A bronze (end Day 2) · M-B silver + Delta (end Day 3) · M-C streaming + gate + governance (end Day 4) · M-D DAG + gold + serving (Day 5 H2–H3) · M-E demo (Day 5 H5).</a:t>
            </a:r>
            <a:endParaRPr lang="en-US" sz="1300" dirty="0"/>
          </a:p>
        </p:txBody>
      </p:sp>
      <p:sp>
        <p:nvSpPr>
          <p:cNvPr id="24" name="Shape 22"/>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5" name="Shape 23"/>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6" name="Shape 24"/>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7" name="Text 25"/>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8" name="Text 26"/>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WRAP-UP</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Every requirement traces to a module</a:t>
            </a:r>
            <a:endParaRPr lang="en-US" sz="3000" dirty="0"/>
          </a:p>
        </p:txBody>
      </p:sp>
      <p:sp>
        <p:nvSpPr>
          <p:cNvPr id="4" name="Shape 2"/>
          <p:cNvSpPr/>
          <p:nvPr/>
        </p:nvSpPr>
        <p:spPr>
          <a:xfrm>
            <a:off x="566928" y="1510589"/>
            <a:ext cx="2572436" cy="1691640"/>
          </a:xfrm>
          <a:prstGeom prst="roundRect">
            <a:avLst>
              <a:gd name="adj" fmla="val 3243"/>
            </a:avLst>
          </a:prstGeom>
          <a:solidFill>
            <a:srgbClr val="F4F6F7"/>
          </a:solidFill>
          <a:ln w="12700">
            <a:solidFill>
              <a:srgbClr val="DDE3E6"/>
            </a:solidFill>
            <a:prstDash val="solid"/>
          </a:ln>
        </p:spPr>
      </p:sp>
      <p:sp>
        <p:nvSpPr>
          <p:cNvPr id="5" name="Text 3"/>
          <p:cNvSpPr txBox="1"/>
          <p:nvPr/>
        </p:nvSpPr>
        <p:spPr>
          <a:xfrm>
            <a:off x="786384" y="1693469"/>
            <a:ext cx="2133524"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M1 → Medallion</a:t>
            </a:r>
            <a:endParaRPr lang="en-US" sz="1450" dirty="0"/>
          </a:p>
        </p:txBody>
      </p:sp>
      <p:sp>
        <p:nvSpPr>
          <p:cNvPr id="6" name="Text 4"/>
          <p:cNvSpPr txBox="1"/>
          <p:nvPr/>
        </p:nvSpPr>
        <p:spPr>
          <a:xfrm>
            <a:off x="786384" y="2016938"/>
            <a:ext cx="2133524" cy="10206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Layer contracts, bronze immutability, no bypass.</a:t>
            </a:r>
            <a:endParaRPr lang="en-US" sz="1200" dirty="0"/>
          </a:p>
        </p:txBody>
      </p:sp>
      <p:sp>
        <p:nvSpPr>
          <p:cNvPr id="7" name="Shape 5"/>
          <p:cNvSpPr/>
          <p:nvPr/>
        </p:nvSpPr>
        <p:spPr>
          <a:xfrm>
            <a:off x="3395396" y="1510589"/>
            <a:ext cx="2572436" cy="1691640"/>
          </a:xfrm>
          <a:prstGeom prst="roundRect">
            <a:avLst>
              <a:gd name="adj" fmla="val 3243"/>
            </a:avLst>
          </a:prstGeom>
          <a:solidFill>
            <a:srgbClr val="F4F6F7"/>
          </a:solidFill>
          <a:ln w="12700">
            <a:solidFill>
              <a:srgbClr val="DDE3E6"/>
            </a:solidFill>
            <a:prstDash val="solid"/>
          </a:ln>
        </p:spPr>
      </p:sp>
      <p:sp>
        <p:nvSpPr>
          <p:cNvPr id="8" name="Text 6"/>
          <p:cNvSpPr txBox="1"/>
          <p:nvPr/>
        </p:nvSpPr>
        <p:spPr>
          <a:xfrm>
            <a:off x="3614852" y="1693469"/>
            <a:ext cx="2133524"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M2 → Economics</a:t>
            </a:r>
            <a:endParaRPr lang="en-US" sz="1450" dirty="0"/>
          </a:p>
        </p:txBody>
      </p:sp>
      <p:sp>
        <p:nvSpPr>
          <p:cNvPr id="9" name="Text 7"/>
          <p:cNvSpPr txBox="1"/>
          <p:nvPr/>
        </p:nvSpPr>
        <p:spPr>
          <a:xfrm>
            <a:off x="3614852" y="2016938"/>
            <a:ext cx="2133524" cy="10206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BENCHMARKS.md, layout as a cost control.</a:t>
            </a:r>
            <a:endParaRPr lang="en-US" sz="1200" dirty="0"/>
          </a:p>
        </p:txBody>
      </p:sp>
      <p:sp>
        <p:nvSpPr>
          <p:cNvPr id="10" name="Shape 8"/>
          <p:cNvSpPr/>
          <p:nvPr/>
        </p:nvSpPr>
        <p:spPr>
          <a:xfrm>
            <a:off x="6223864" y="1510589"/>
            <a:ext cx="2572436" cy="1691640"/>
          </a:xfrm>
          <a:prstGeom prst="roundRect">
            <a:avLst>
              <a:gd name="adj" fmla="val 3243"/>
            </a:avLst>
          </a:prstGeom>
          <a:solidFill>
            <a:srgbClr val="F4F6F7"/>
          </a:solidFill>
          <a:ln w="12700">
            <a:solidFill>
              <a:srgbClr val="DDE3E6"/>
            </a:solidFill>
            <a:prstDash val="solid"/>
          </a:ln>
        </p:spPr>
      </p:sp>
      <p:sp>
        <p:nvSpPr>
          <p:cNvPr id="11" name="Text 9"/>
          <p:cNvSpPr txBox="1"/>
          <p:nvPr/>
        </p:nvSpPr>
        <p:spPr>
          <a:xfrm>
            <a:off x="6443320" y="1693469"/>
            <a:ext cx="2133524" cy="232029"/>
          </a:xfrm>
          <a:prstGeom prst="rect">
            <a:avLst/>
          </a:prstGeom>
          <a:noFill/>
          <a:ln/>
        </p:spPr>
        <p:txBody>
          <a:bodyPr wrap="square" lIns="0" tIns="0" rIns="0" bIns="0" rtlCol="0" anchor="t"/>
          <a:lstStyle/>
          <a:p>
            <a:pPr indent="0" marL="0">
              <a:buNone/>
            </a:pPr>
            <a:r>
              <a:rPr lang="en-US" sz="1450" b="1" dirty="0">
                <a:solidFill>
                  <a:srgbClr val="8E9AA3"/>
                </a:solidFill>
                <a:latin typeface="Calibri" pitchFamily="34" charset="0"/>
                <a:ea typeface="Calibri" pitchFamily="34" charset="-122"/>
                <a:cs typeface="Calibri" pitchFamily="34" charset="-120"/>
              </a:rPr>
              <a:t>M3 → ELT</a:t>
            </a:r>
            <a:endParaRPr lang="en-US" sz="1450" dirty="0"/>
          </a:p>
        </p:txBody>
      </p:sp>
      <p:sp>
        <p:nvSpPr>
          <p:cNvPr id="12" name="Text 10"/>
          <p:cNvSpPr txBox="1"/>
          <p:nvPr/>
        </p:nvSpPr>
        <p:spPr>
          <a:xfrm>
            <a:off x="6443320" y="2016938"/>
            <a:ext cx="2133524" cy="10206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Incremental merge, lookback, tests, backfill.</a:t>
            </a:r>
            <a:endParaRPr lang="en-US" sz="1200" dirty="0"/>
          </a:p>
        </p:txBody>
      </p:sp>
      <p:sp>
        <p:nvSpPr>
          <p:cNvPr id="13" name="Shape 11"/>
          <p:cNvSpPr/>
          <p:nvPr/>
        </p:nvSpPr>
        <p:spPr>
          <a:xfrm>
            <a:off x="9052331" y="1510589"/>
            <a:ext cx="2572436" cy="1691640"/>
          </a:xfrm>
          <a:prstGeom prst="roundRect">
            <a:avLst>
              <a:gd name="adj" fmla="val 3243"/>
            </a:avLst>
          </a:prstGeom>
          <a:solidFill>
            <a:srgbClr val="F4F6F7"/>
          </a:solidFill>
          <a:ln w="12700">
            <a:solidFill>
              <a:srgbClr val="DDE3E6"/>
            </a:solidFill>
            <a:prstDash val="solid"/>
          </a:ln>
        </p:spPr>
      </p:sp>
      <p:sp>
        <p:nvSpPr>
          <p:cNvPr id="14" name="Text 12"/>
          <p:cNvSpPr txBox="1"/>
          <p:nvPr/>
        </p:nvSpPr>
        <p:spPr>
          <a:xfrm>
            <a:off x="9271787" y="1693469"/>
            <a:ext cx="2133524" cy="232029"/>
          </a:xfrm>
          <a:prstGeom prst="rect">
            <a:avLst/>
          </a:prstGeom>
          <a:noFill/>
          <a:ln/>
        </p:spPr>
        <p:txBody>
          <a:bodyPr wrap="square" lIns="0" tIns="0" rIns="0" bIns="0" rtlCol="0" anchor="t"/>
          <a:lstStyle/>
          <a:p>
            <a:pPr indent="0" marL="0">
              <a:buNone/>
            </a:pPr>
            <a:r>
              <a:rPr lang="en-US" sz="1450" b="1" dirty="0">
                <a:solidFill>
                  <a:srgbClr val="8E9AA3"/>
                </a:solidFill>
                <a:latin typeface="Calibri" pitchFamily="34" charset="0"/>
                <a:ea typeface="Calibri" pitchFamily="34" charset="-122"/>
                <a:cs typeface="Calibri" pitchFamily="34" charset="-120"/>
              </a:rPr>
              <a:t>M4 → Delta</a:t>
            </a:r>
            <a:endParaRPr lang="en-US" sz="1450" dirty="0"/>
          </a:p>
        </p:txBody>
      </p:sp>
      <p:sp>
        <p:nvSpPr>
          <p:cNvPr id="15" name="Text 13"/>
          <p:cNvSpPr txBox="1"/>
          <p:nvPr/>
        </p:nvSpPr>
        <p:spPr>
          <a:xfrm>
            <a:off x="9271787" y="2016938"/>
            <a:ext cx="2133524" cy="10206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Constraints, MERGE, time travel, maintenance, erasure.</a:t>
            </a:r>
            <a:endParaRPr lang="en-US" sz="1200" dirty="0"/>
          </a:p>
        </p:txBody>
      </p:sp>
      <p:sp>
        <p:nvSpPr>
          <p:cNvPr id="16" name="Shape 14"/>
          <p:cNvSpPr/>
          <p:nvPr/>
        </p:nvSpPr>
        <p:spPr>
          <a:xfrm>
            <a:off x="566928" y="3458261"/>
            <a:ext cx="2572436" cy="1691640"/>
          </a:xfrm>
          <a:prstGeom prst="roundRect">
            <a:avLst>
              <a:gd name="adj" fmla="val 3243"/>
            </a:avLst>
          </a:prstGeom>
          <a:solidFill>
            <a:srgbClr val="F4F6F7"/>
          </a:solidFill>
          <a:ln w="12700">
            <a:solidFill>
              <a:srgbClr val="DDE3E6"/>
            </a:solidFill>
            <a:prstDash val="solid"/>
          </a:ln>
        </p:spPr>
      </p:sp>
      <p:sp>
        <p:nvSpPr>
          <p:cNvPr id="17" name="Text 15"/>
          <p:cNvSpPr txBox="1"/>
          <p:nvPr/>
        </p:nvSpPr>
        <p:spPr>
          <a:xfrm>
            <a:off x="786384" y="3641141"/>
            <a:ext cx="2133524" cy="232029"/>
          </a:xfrm>
          <a:prstGeom prst="rect">
            <a:avLst/>
          </a:prstGeom>
          <a:noFill/>
          <a:ln/>
        </p:spPr>
        <p:txBody>
          <a:bodyPr wrap="square" lIns="0" tIns="0" rIns="0" bIns="0" rtlCol="0" anchor="t"/>
          <a:lstStyle/>
          <a:p>
            <a:pPr indent="0" marL="0">
              <a:buNone/>
            </a:pPr>
            <a:r>
              <a:rPr lang="en-US" sz="1450" b="1" dirty="0">
                <a:solidFill>
                  <a:srgbClr val="00A6A6"/>
                </a:solidFill>
                <a:latin typeface="Calibri" pitchFamily="34" charset="0"/>
                <a:ea typeface="Calibri" pitchFamily="34" charset="-122"/>
                <a:cs typeface="Calibri" pitchFamily="34" charset="-120"/>
              </a:rPr>
              <a:t>M5 → Streaming</a:t>
            </a:r>
            <a:endParaRPr lang="en-US" sz="1450" dirty="0"/>
          </a:p>
        </p:txBody>
      </p:sp>
      <p:sp>
        <p:nvSpPr>
          <p:cNvPr id="18" name="Text 16"/>
          <p:cNvSpPr txBox="1"/>
          <p:nvPr/>
        </p:nvSpPr>
        <p:spPr>
          <a:xfrm>
            <a:off x="786384" y="3964610"/>
            <a:ext cx="2133524" cy="10206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Exactly-once, checkpoints, watermarks.</a:t>
            </a:r>
            <a:endParaRPr lang="en-US" sz="1200" dirty="0"/>
          </a:p>
        </p:txBody>
      </p:sp>
      <p:sp>
        <p:nvSpPr>
          <p:cNvPr id="19" name="Shape 17"/>
          <p:cNvSpPr/>
          <p:nvPr/>
        </p:nvSpPr>
        <p:spPr>
          <a:xfrm>
            <a:off x="3395396" y="3458261"/>
            <a:ext cx="2572436" cy="1691640"/>
          </a:xfrm>
          <a:prstGeom prst="roundRect">
            <a:avLst>
              <a:gd name="adj" fmla="val 3243"/>
            </a:avLst>
          </a:prstGeom>
          <a:solidFill>
            <a:srgbClr val="F4F6F7"/>
          </a:solidFill>
          <a:ln w="12700">
            <a:solidFill>
              <a:srgbClr val="DDE3E6"/>
            </a:solidFill>
            <a:prstDash val="solid"/>
          </a:ln>
        </p:spPr>
      </p:sp>
      <p:sp>
        <p:nvSpPr>
          <p:cNvPr id="20" name="Text 18"/>
          <p:cNvSpPr txBox="1"/>
          <p:nvPr/>
        </p:nvSpPr>
        <p:spPr>
          <a:xfrm>
            <a:off x="3614852" y="3641141"/>
            <a:ext cx="2133524" cy="232029"/>
          </a:xfrm>
          <a:prstGeom prst="rect">
            <a:avLst/>
          </a:prstGeom>
          <a:noFill/>
          <a:ln/>
        </p:spPr>
        <p:txBody>
          <a:bodyPr wrap="square" lIns="0" tIns="0" rIns="0" bIns="0" rtlCol="0" anchor="t"/>
          <a:lstStyle/>
          <a:p>
            <a:pPr indent="0" marL="0">
              <a:buNone/>
            </a:pPr>
            <a:r>
              <a:rPr lang="en-US" sz="1450" b="1" dirty="0">
                <a:solidFill>
                  <a:srgbClr val="00A6A6"/>
                </a:solidFill>
                <a:latin typeface="Calibri" pitchFamily="34" charset="0"/>
                <a:ea typeface="Calibri" pitchFamily="34" charset="-122"/>
                <a:cs typeface="Calibri" pitchFamily="34" charset="-120"/>
              </a:rPr>
              <a:t>M6 → Trust</a:t>
            </a:r>
            <a:endParaRPr lang="en-US" sz="1450" dirty="0"/>
          </a:p>
        </p:txBody>
      </p:sp>
      <p:sp>
        <p:nvSpPr>
          <p:cNvPr id="21" name="Text 19"/>
          <p:cNvSpPr txBox="1"/>
          <p:nvPr/>
        </p:nvSpPr>
        <p:spPr>
          <a:xfrm>
            <a:off x="3614852" y="3964610"/>
            <a:ext cx="2133524" cy="10206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Gate that acts, four observability signals, PDPL.</a:t>
            </a:r>
            <a:endParaRPr lang="en-US" sz="1200" dirty="0"/>
          </a:p>
        </p:txBody>
      </p:sp>
      <p:sp>
        <p:nvSpPr>
          <p:cNvPr id="22" name="Shape 20"/>
          <p:cNvSpPr/>
          <p:nvPr/>
        </p:nvSpPr>
        <p:spPr>
          <a:xfrm>
            <a:off x="6223864" y="3458261"/>
            <a:ext cx="2572436" cy="1691640"/>
          </a:xfrm>
          <a:prstGeom prst="roundRect">
            <a:avLst>
              <a:gd name="adj" fmla="val 3243"/>
            </a:avLst>
          </a:prstGeom>
          <a:solidFill>
            <a:srgbClr val="F4F6F7"/>
          </a:solidFill>
          <a:ln w="12700">
            <a:solidFill>
              <a:srgbClr val="DDE3E6"/>
            </a:solidFill>
            <a:prstDash val="solid"/>
          </a:ln>
        </p:spPr>
      </p:sp>
      <p:sp>
        <p:nvSpPr>
          <p:cNvPr id="23" name="Text 21"/>
          <p:cNvSpPr txBox="1"/>
          <p:nvPr/>
        </p:nvSpPr>
        <p:spPr>
          <a:xfrm>
            <a:off x="6443320" y="3641141"/>
            <a:ext cx="2133524" cy="232029"/>
          </a:xfrm>
          <a:prstGeom prst="rect">
            <a:avLst/>
          </a:prstGeom>
          <a:noFill/>
          <a:ln/>
        </p:spPr>
        <p:txBody>
          <a:bodyPr wrap="square" lIns="0" tIns="0" rIns="0" bIns="0" rtlCol="0" anchor="t"/>
          <a:lstStyle/>
          <a:p>
            <a:pPr indent="0" marL="0">
              <a:buNone/>
            </a:pPr>
            <a:r>
              <a:rPr lang="en-US" sz="1450" b="1" dirty="0">
                <a:solidFill>
                  <a:srgbClr val="D4A537"/>
                </a:solidFill>
                <a:latin typeface="Calibri" pitchFamily="34" charset="0"/>
                <a:ea typeface="Calibri" pitchFamily="34" charset="-122"/>
                <a:cs typeface="Calibri" pitchFamily="34" charset="-120"/>
              </a:rPr>
              <a:t>M7 → Orchestration</a:t>
            </a:r>
            <a:endParaRPr lang="en-US" sz="1450" dirty="0"/>
          </a:p>
        </p:txBody>
      </p:sp>
      <p:sp>
        <p:nvSpPr>
          <p:cNvPr id="24" name="Text 22"/>
          <p:cNvSpPr txBox="1"/>
          <p:nvPr/>
        </p:nvSpPr>
        <p:spPr>
          <a:xfrm>
            <a:off x="6443320" y="3964610"/>
            <a:ext cx="2133524" cy="10206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One idempotent DAG, recoverable, observable.</a:t>
            </a:r>
            <a:endParaRPr lang="en-US" sz="1200" dirty="0"/>
          </a:p>
        </p:txBody>
      </p:sp>
      <p:sp>
        <p:nvSpPr>
          <p:cNvPr id="25" name="Shape 23"/>
          <p:cNvSpPr/>
          <p:nvPr/>
        </p:nvSpPr>
        <p:spPr>
          <a:xfrm>
            <a:off x="9052331" y="3458261"/>
            <a:ext cx="2572436" cy="1691640"/>
          </a:xfrm>
          <a:prstGeom prst="roundRect">
            <a:avLst>
              <a:gd name="adj" fmla="val 3243"/>
            </a:avLst>
          </a:prstGeom>
          <a:solidFill>
            <a:srgbClr val="F4F6F7"/>
          </a:solidFill>
          <a:ln w="12700">
            <a:solidFill>
              <a:srgbClr val="DDE3E6"/>
            </a:solidFill>
            <a:prstDash val="solid"/>
          </a:ln>
        </p:spPr>
      </p:sp>
      <p:sp>
        <p:nvSpPr>
          <p:cNvPr id="26" name="Text 24"/>
          <p:cNvSpPr txBox="1"/>
          <p:nvPr/>
        </p:nvSpPr>
        <p:spPr>
          <a:xfrm>
            <a:off x="9271787" y="3641141"/>
            <a:ext cx="2133524" cy="232029"/>
          </a:xfrm>
          <a:prstGeom prst="rect">
            <a:avLst/>
          </a:prstGeom>
          <a:noFill/>
          <a:ln/>
        </p:spPr>
        <p:txBody>
          <a:bodyPr wrap="square" lIns="0" tIns="0" rIns="0" bIns="0" rtlCol="0" anchor="t"/>
          <a:lstStyle/>
          <a:p>
            <a:pPr indent="0" marL="0">
              <a:buNone/>
            </a:pPr>
            <a:r>
              <a:rPr lang="en-US" sz="1450" b="1" dirty="0">
                <a:solidFill>
                  <a:srgbClr val="D4A537"/>
                </a:solidFill>
                <a:latin typeface="Calibri" pitchFamily="34" charset="0"/>
                <a:ea typeface="Calibri" pitchFamily="34" charset="-122"/>
                <a:cs typeface="Calibri" pitchFamily="34" charset="-120"/>
              </a:rPr>
              <a:t>M8 → Serving</a:t>
            </a:r>
            <a:endParaRPr lang="en-US" sz="1450" dirty="0"/>
          </a:p>
        </p:txBody>
      </p:sp>
      <p:sp>
        <p:nvSpPr>
          <p:cNvPr id="27" name="Text 25"/>
          <p:cNvSpPr txBox="1"/>
          <p:nvPr/>
        </p:nvSpPr>
        <p:spPr>
          <a:xfrm>
            <a:off x="9271787" y="3964610"/>
            <a:ext cx="2133524" cy="102069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PIT correctness, offline==online, conformed BI.</a:t>
            </a:r>
            <a:endParaRPr lang="en-US" sz="1200" dirty="0"/>
          </a:p>
        </p:txBody>
      </p:sp>
      <p:sp>
        <p:nvSpPr>
          <p:cNvPr id="28" name="Text 26"/>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Forward pointer: SDA-DSC-215 (Big Data Analytics with Spark) scales exactly this Lakehouse to enterprise volumes; SDA-DSC-313 builds advanced pipelines on the same substrate.</a:t>
            </a:r>
            <a:endParaRPr lang="en-US" sz="1200" dirty="0"/>
          </a:p>
        </p:txBody>
      </p:sp>
      <p:sp>
        <p:nvSpPr>
          <p:cNvPr id="29" name="Shape 27"/>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30" name="Shape 28"/>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31" name="Shape 29"/>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32" name="Text 30"/>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33" name="Text 31"/>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RESOURCES</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The core resource package</a:t>
            </a:r>
            <a:endParaRPr lang="en-US" sz="3000" dirty="0"/>
          </a:p>
        </p:txBody>
      </p:sp>
      <p:graphicFrame>
        <p:nvGraphicFramePr>
          <p:cNvPr id="100"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3200400"/>
                <a:gridCol w="5120640"/>
                <a:gridCol w="2734056"/>
              </a:tblGrid>
              <a:tr h="50520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Resource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is for</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 it is used</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r>
              <a:tr h="505206">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DataTalksClub Data Engineering Zoomcamp</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The open-course benchmark: integrates dbt, Spark, Kafka, ingestion and project-based learning</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Reference for the whole course design</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505206">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NYC TLC Trip Record Data</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The real-world dataset behind the benchmark — large, messy, with anomalies and genuine schema changes over time; recent months in Parquet</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Optional real-data track; data/generators/nyc_tlc_prep.py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505206">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Chicago TNP Trips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Secondary rideshare dataset with an explicit privacy/aggregation story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M6 governance discussion</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505206">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Delta Lake official tutorials and docs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Authoritative reference for the transaction log, MERGE, time travel and maintenance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Day 3</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505206">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LinkedIn's Kafka origin story</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The real-time architecture case: a central messaging backbone for loosely coupled systems at extreme volume</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CS-10, Day 4</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505206">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Great Expectations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Quality as code — suites, validation results, data docs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M6 and Lab 6</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505206">
                <a:tc>
                  <a:txBody>
                    <a:bodyPr/>
                    <a:lstStyle/>
                    <a:p>
                      <a:pPr indent="0" marL="0">
                        <a:buNone/>
                      </a:pPr>
                      <a:r>
                        <a:rPr lang="en-US" sz="1150" b="1" dirty="0">
                          <a:solidFill>
                            <a:srgbClr val="2B3A42"/>
                          </a:solidFill>
                          <a:latin typeface="Calibri" pitchFamily="34" charset="0"/>
                          <a:ea typeface="Calibri" pitchFamily="34" charset="-122"/>
                          <a:cs typeface="Calibri" pitchFamily="34" charset="-120"/>
                        </a:rPr>
                        <a:t>Databricks / Microsoft medallion references</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The architecture benchmark for progressive refinement</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50" dirty="0">
                          <a:solidFill>
                            <a:srgbClr val="2B3A42"/>
                          </a:solidFill>
                          <a:latin typeface="Calibri" pitchFamily="34" charset="0"/>
                          <a:ea typeface="Calibri" pitchFamily="34" charset="-122"/>
                          <a:cs typeface="Calibri" pitchFamily="34" charset="-120"/>
                        </a:rPr>
                        <a:t>CS-09, Day 1</a:t>
                      </a:r>
                      <a:endParaRPr lang="en-US" sz="115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bl>
          </a:graphicData>
        </a:graphic>
      </p:graphicFrame>
      <p:sp>
        <p:nvSpPr>
          <p:cNvPr id="5" name="Text 2"/>
          <p:cNvSpPr txBox="1"/>
          <p:nvPr/>
        </p:nvSpPr>
        <p:spPr>
          <a:xfrm>
            <a:off x="566928" y="5852160"/>
            <a:ext cx="11057839" cy="502920"/>
          </a:xfrm>
          <a:prstGeom prst="rect">
            <a:avLst/>
          </a:prstGeom>
          <a:noFill/>
          <a:ln/>
        </p:spPr>
        <p:txBody>
          <a:bodyPr wrap="square" lIns="0" tIns="0" rIns="0" bIns="0" rtlCol="0" anchor="ctr"/>
          <a:lstStyle/>
          <a:p>
            <a:pPr indent="0" marL="0">
              <a:buNone/>
            </a:pPr>
            <a:r>
              <a:rPr lang="en-US" sz="1200" i="1" dirty="0">
                <a:solidFill>
                  <a:srgbClr val="B0763A"/>
                </a:solidFill>
                <a:latin typeface="Calibri" pitchFamily="34" charset="0"/>
                <a:ea typeface="Calibri" pitchFamily="34" charset="-122"/>
                <a:cs typeface="Calibri" pitchFamily="34" charset="-120"/>
              </a:rPr>
              <a:t>The Masar synthetic dataset is primary because it is controllable: every defect is injected deliberately, documented, and reproducible from a pinned seed. NYC TLC is the reality check.</a:t>
            </a:r>
            <a:endParaRPr lang="en-US" sz="1200" dirty="0"/>
          </a:p>
        </p:txBody>
      </p:sp>
      <p:sp>
        <p:nvSpPr>
          <p:cNvPr id="6"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7"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8"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9"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10"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371600"/>
            <a:ext cx="11057839" cy="274320"/>
          </a:xfrm>
          <a:prstGeom prst="rect">
            <a:avLst/>
          </a:prstGeom>
          <a:noFill/>
          <a:ln/>
        </p:spPr>
        <p:txBody>
          <a:bodyPr wrap="square" lIns="0" tIns="0" rIns="0" bIns="0" rtlCol="0" anchor="ctr"/>
          <a:lstStyle/>
          <a:p>
            <a:pPr indent="0" marL="0">
              <a:buNone/>
            </a:pPr>
            <a:r>
              <a:rPr lang="en-US" sz="1100" b="1" spc="180" kern="0" dirty="0">
                <a:solidFill>
                  <a:srgbClr val="D4A537"/>
                </a:solidFill>
                <a:latin typeface="Calibri" pitchFamily="34" charset="0"/>
                <a:ea typeface="Calibri" pitchFamily="34" charset="-122"/>
                <a:cs typeface="Calibri" pitchFamily="34" charset="-120"/>
              </a:rPr>
              <a:t>WHERE WE STARTED, AND WHERE WE FINISH</a:t>
            </a:r>
            <a:endParaRPr lang="en-US" sz="1100" dirty="0"/>
          </a:p>
        </p:txBody>
      </p:sp>
      <p:sp>
        <p:nvSpPr>
          <p:cNvPr id="3" name="Text 1"/>
          <p:cNvSpPr txBox="1"/>
          <p:nvPr/>
        </p:nvSpPr>
        <p:spPr>
          <a:xfrm>
            <a:off x="566928" y="1783080"/>
            <a:ext cx="10509199" cy="2377440"/>
          </a:xfrm>
          <a:prstGeom prst="rect">
            <a:avLst/>
          </a:prstGeom>
          <a:noFill/>
          <a:ln/>
        </p:spPr>
        <p:txBody>
          <a:bodyPr wrap="square" lIns="0" tIns="0" rIns="0" bIns="0" rtlCol="0" anchor="t"/>
          <a:lstStyle/>
          <a:p>
            <a:pPr indent="0" marL="0">
              <a:lnSpc>
                <a:spcPct val="112000"/>
              </a:lnSpc>
              <a:buNone/>
            </a:pPr>
            <a:r>
              <a:rPr lang="en-US" sz="3000" b="1" dirty="0">
                <a:solidFill>
                  <a:srgbClr val="FFFFFF"/>
                </a:solidFill>
                <a:latin typeface="Cambria" pitchFamily="34" charset="0"/>
                <a:ea typeface="Cambria" pitchFamily="34" charset="-122"/>
                <a:cs typeface="Cambria" pitchFamily="34" charset="-120"/>
              </a:rPr>
              <a:t>“What happens to Masar’s AI system</a:t>
            </a:r>
            <a:endParaRPr lang="en-US" sz="3000" dirty="0"/>
          </a:p>
          <a:p>
            <a:pPr indent="0" marL="0">
              <a:lnSpc>
                <a:spcPct val="112000"/>
              </a:lnSpc>
              <a:buNone/>
            </a:pPr>
            <a:r>
              <a:rPr lang="en-US" sz="3000" b="1" dirty="0">
                <a:solidFill>
                  <a:srgbClr val="FFFFFF"/>
                </a:solidFill>
                <a:latin typeface="Cambria" pitchFamily="34" charset="0"/>
                <a:ea typeface="Cambria" pitchFamily="34" charset="-122"/>
                <a:cs typeface="Cambria" pitchFamily="34" charset="-120"/>
              </a:rPr>
              <a:t>if this part of the data platform fails?”</a:t>
            </a:r>
            <a:endParaRPr lang="en-US" sz="3000" dirty="0"/>
          </a:p>
        </p:txBody>
      </p:sp>
      <p:sp>
        <p:nvSpPr>
          <p:cNvPr id="4" name="Text 2"/>
          <p:cNvSpPr txBox="1"/>
          <p:nvPr/>
        </p:nvSpPr>
        <p:spPr>
          <a:xfrm>
            <a:off x="566928" y="4434840"/>
            <a:ext cx="10509199" cy="1097280"/>
          </a:xfrm>
          <a:prstGeom prst="rect">
            <a:avLst/>
          </a:prstGeom>
          <a:noFill/>
          <a:ln/>
        </p:spPr>
        <p:txBody>
          <a:bodyPr wrap="square" lIns="0" tIns="0" rIns="0" bIns="0" rtlCol="0" anchor="t"/>
          <a:lstStyle/>
          <a:p>
            <a:pPr indent="0" marL="0">
              <a:buNone/>
            </a:pPr>
            <a:r>
              <a:rPr lang="en-US" sz="1500" dirty="0">
                <a:solidFill>
                  <a:srgbClr val="9FB3BE"/>
                </a:solidFill>
                <a:latin typeface="Calibri" pitchFamily="34" charset="0"/>
                <a:ea typeface="Calibri" pitchFamily="34" charset="-122"/>
                <a:cs typeface="Calibri" pitchFamily="34" charset="-120"/>
              </a:rPr>
              <a:t>You can now answer that question for every layer: for landing, for the transform, for the table, for the stream, for the gate,</a:t>
            </a: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for the orchestration, and for the serving boundary.</a:t>
            </a:r>
            <a:endParaRPr lang="en-US" sz="1500" dirty="0"/>
          </a:p>
          <a:p>
            <a:pPr indent="0" marL="0">
              <a:buNone/>
            </a:pP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That — not five tools — is what distinguishes SDA-DSC-214 from a generic data-engineering course.</a:t>
            </a:r>
            <a:endParaRPr lang="en-US" sz="1500" dirty="0"/>
          </a:p>
        </p:txBody>
      </p:sp>
      <p:sp>
        <p:nvSpPr>
          <p:cNvPr id="5"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6"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7"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8"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9"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417320"/>
            <a:ext cx="11057839" cy="274320"/>
          </a:xfrm>
          <a:prstGeom prst="rect">
            <a:avLst/>
          </a:prstGeom>
          <a:noFill/>
          <a:ln/>
        </p:spPr>
        <p:txBody>
          <a:bodyPr wrap="square" lIns="0" tIns="0" rIns="0" bIns="0" rtlCol="0" anchor="ctr"/>
          <a:lstStyle/>
          <a:p>
            <a:pPr indent="0" marL="0">
              <a:buNone/>
            </a:pPr>
            <a:r>
              <a:rPr lang="en-US" sz="1150" b="1" spc="220" kern="0" dirty="0">
                <a:solidFill>
                  <a:srgbClr val="D4A537"/>
                </a:solidFill>
                <a:latin typeface="Calibri" pitchFamily="34" charset="0"/>
                <a:ea typeface="Calibri" pitchFamily="34" charset="-122"/>
                <a:cs typeface="Calibri" pitchFamily="34" charset="-120"/>
              </a:rPr>
              <a:t>APPENDIX</a:t>
            </a:r>
            <a:endParaRPr lang="en-US" sz="1150" dirty="0"/>
          </a:p>
        </p:txBody>
      </p:sp>
      <p:sp>
        <p:nvSpPr>
          <p:cNvPr id="3" name="Text 1"/>
          <p:cNvSpPr txBox="1"/>
          <p:nvPr/>
        </p:nvSpPr>
        <p:spPr>
          <a:xfrm>
            <a:off x="566928" y="1783080"/>
            <a:ext cx="6081812"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Instructor</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reference</a:t>
            </a:r>
            <a:endParaRPr lang="en-US" sz="4000" dirty="0"/>
          </a:p>
        </p:txBody>
      </p:sp>
      <p:sp>
        <p:nvSpPr>
          <p:cNvPr id="4" name="Text 2"/>
          <p:cNvSpPr txBox="1"/>
          <p:nvPr/>
        </p:nvSpPr>
        <p:spPr>
          <a:xfrm>
            <a:off x="566928" y="3200400"/>
            <a:ext cx="6081812" cy="1371600"/>
          </a:xfrm>
          <a:prstGeom prst="rect">
            <a:avLst/>
          </a:prstGeom>
          <a:noFill/>
          <a:ln/>
        </p:spPr>
        <p:txBody>
          <a:bodyPr wrap="square" lIns="0" tIns="0" rIns="0" bIns="0" rtlCol="0" anchor="t"/>
          <a:lstStyle/>
          <a:p>
            <a:pPr indent="0" marL="0">
              <a:buNone/>
            </a:pPr>
            <a:r>
              <a:rPr lang="en-US" sz="1400" dirty="0">
                <a:solidFill>
                  <a:srgbClr val="9FB3BE"/>
                </a:solidFill>
                <a:latin typeface="Calibri" pitchFamily="34" charset="0"/>
                <a:ea typeface="Calibri" pitchFamily="34" charset="-122"/>
                <a:cs typeface="Calibri" pitchFamily="34" charset="-120"/>
              </a:rPr>
              <a:t>Timing, risk, and the numbers to expect from a healthy run.</a:t>
            </a:r>
            <a:endParaRPr lang="en-US" sz="1400" dirty="0"/>
          </a:p>
        </p:txBody>
      </p:sp>
      <p:sp>
        <p:nvSpPr>
          <p:cNvPr id="5" name="Shape 3"/>
          <p:cNvSpPr/>
          <p:nvPr/>
        </p:nvSpPr>
        <p:spPr>
          <a:xfrm>
            <a:off x="7201632" y="1810512"/>
            <a:ext cx="329184" cy="329184"/>
          </a:xfrm>
          <a:prstGeom prst="ellipse">
            <a:avLst/>
          </a:prstGeom>
          <a:solidFill>
            <a:srgbClr val="B0763A"/>
          </a:solidFill>
          <a:ln w="12700">
            <a:solidFill>
              <a:srgbClr val="B0763A"/>
            </a:solidFill>
            <a:prstDash val="solid"/>
          </a:ln>
        </p:spPr>
      </p:sp>
      <p:sp>
        <p:nvSpPr>
          <p:cNvPr id="6" name="Text 4"/>
          <p:cNvSpPr txBox="1"/>
          <p:nvPr/>
        </p:nvSpPr>
        <p:spPr>
          <a:xfrm>
            <a:off x="7201632" y="182422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txBox="1"/>
          <p:nvPr/>
        </p:nvSpPr>
        <p:spPr>
          <a:xfrm>
            <a:off x="7658832" y="1783080"/>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Timing and pace control</a:t>
            </a:r>
            <a:endParaRPr lang="en-US" sz="1300" dirty="0"/>
          </a:p>
        </p:txBody>
      </p:sp>
      <p:sp>
        <p:nvSpPr>
          <p:cNvPr id="8" name="Shape 6"/>
          <p:cNvSpPr/>
          <p:nvPr/>
        </p:nvSpPr>
        <p:spPr>
          <a:xfrm>
            <a:off x="7201632" y="2468880"/>
            <a:ext cx="329184" cy="329184"/>
          </a:xfrm>
          <a:prstGeom prst="ellipse">
            <a:avLst/>
          </a:prstGeom>
          <a:solidFill>
            <a:srgbClr val="8E9AA3"/>
          </a:solidFill>
          <a:ln w="12700">
            <a:solidFill>
              <a:srgbClr val="8E9AA3"/>
            </a:solidFill>
            <a:prstDash val="solid"/>
          </a:ln>
        </p:spPr>
      </p:sp>
      <p:sp>
        <p:nvSpPr>
          <p:cNvPr id="9" name="Text 7"/>
          <p:cNvSpPr txBox="1"/>
          <p:nvPr/>
        </p:nvSpPr>
        <p:spPr>
          <a:xfrm>
            <a:off x="7201632" y="2482596"/>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7658832" y="2441448"/>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ten most common participant issues</a:t>
            </a:r>
            <a:endParaRPr lang="en-US" sz="1300" dirty="0"/>
          </a:p>
        </p:txBody>
      </p:sp>
      <p:sp>
        <p:nvSpPr>
          <p:cNvPr id="11" name="Shape 9"/>
          <p:cNvSpPr/>
          <p:nvPr/>
        </p:nvSpPr>
        <p:spPr>
          <a:xfrm>
            <a:off x="7201632" y="3127248"/>
            <a:ext cx="329184" cy="329184"/>
          </a:xfrm>
          <a:prstGeom prst="ellipse">
            <a:avLst/>
          </a:prstGeom>
          <a:solidFill>
            <a:srgbClr val="D4A537"/>
          </a:solidFill>
          <a:ln w="12700">
            <a:solidFill>
              <a:srgbClr val="D4A537"/>
            </a:solidFill>
            <a:prstDash val="solid"/>
          </a:ln>
        </p:spPr>
      </p:sp>
      <p:sp>
        <p:nvSpPr>
          <p:cNvPr id="12" name="Text 10"/>
          <p:cNvSpPr txBox="1"/>
          <p:nvPr/>
        </p:nvSpPr>
        <p:spPr>
          <a:xfrm>
            <a:off x="7201632" y="31409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3" name="Text 11"/>
          <p:cNvSpPr txBox="1"/>
          <p:nvPr/>
        </p:nvSpPr>
        <p:spPr>
          <a:xfrm>
            <a:off x="7658832" y="3099816"/>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Benchmark targets</a:t>
            </a:r>
            <a:endParaRPr lang="en-US" sz="1300" dirty="0"/>
          </a:p>
        </p:txBody>
      </p:sp>
      <p:sp>
        <p:nvSpPr>
          <p:cNvPr id="14" name="Shape 12"/>
          <p:cNvSpPr/>
          <p:nvPr/>
        </p:nvSpPr>
        <p:spPr>
          <a:xfrm>
            <a:off x="7201632" y="3785616"/>
            <a:ext cx="329184" cy="329184"/>
          </a:xfrm>
          <a:prstGeom prst="ellipse">
            <a:avLst/>
          </a:prstGeom>
          <a:solidFill>
            <a:srgbClr val="00A6A6"/>
          </a:solidFill>
          <a:ln w="12700">
            <a:solidFill>
              <a:srgbClr val="00A6A6"/>
            </a:solidFill>
            <a:prstDash val="solid"/>
          </a:ln>
        </p:spPr>
      </p:sp>
      <p:sp>
        <p:nvSpPr>
          <p:cNvPr id="15" name="Text 13"/>
          <p:cNvSpPr txBox="1"/>
          <p:nvPr/>
        </p:nvSpPr>
        <p:spPr>
          <a:xfrm>
            <a:off x="7201632" y="37993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6" name="Text 14"/>
          <p:cNvSpPr txBox="1"/>
          <p:nvPr/>
        </p:nvSpPr>
        <p:spPr>
          <a:xfrm>
            <a:off x="7658832" y="3758184"/>
            <a:ext cx="3965936"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Discussion prompts</a:t>
            </a:r>
            <a:endParaRPr lang="en-US" sz="1300" dirty="0"/>
          </a:p>
        </p:txBody>
      </p:sp>
      <p:sp>
        <p:nvSpPr>
          <p:cNvPr id="17" name="Shape 15"/>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18" name="Shape 16"/>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19" name="Shape 17"/>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0" name="Text 18"/>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1" name="Text 19"/>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APPENDIX</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Pace control — what to protect and what to cut</a:t>
            </a:r>
            <a:endParaRPr lang="en-US" sz="3000" dirty="0"/>
          </a:p>
        </p:txBody>
      </p:sp>
      <p:sp>
        <p:nvSpPr>
          <p:cNvPr id="4" name="Shape 2"/>
          <p:cNvSpPr/>
          <p:nvPr/>
        </p:nvSpPr>
        <p:spPr>
          <a:xfrm>
            <a:off x="566928" y="1426464"/>
            <a:ext cx="384048" cy="384048"/>
          </a:xfrm>
          <a:prstGeom prst="ellipse">
            <a:avLst/>
          </a:prstGeom>
          <a:solidFill>
            <a:srgbClr val="D4A537"/>
          </a:solidFill>
          <a:ln w="12700">
            <a:solidFill>
              <a:srgbClr val="D4A537"/>
            </a:solidFill>
            <a:prstDash val="solid"/>
          </a:ln>
        </p:spPr>
      </p:sp>
      <p:sp>
        <p:nvSpPr>
          <p:cNvPr id="5" name="Text 3"/>
          <p:cNvSpPr txBox="1"/>
          <p:nvPr/>
        </p:nvSpPr>
        <p:spPr>
          <a:xfrm>
            <a:off x="566928" y="144018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6" name="Text 4"/>
          <p:cNvSpPr txBox="1"/>
          <p:nvPr/>
        </p:nvSpPr>
        <p:spPr>
          <a:xfrm>
            <a:off x="1133856" y="1389888"/>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Protect Lab 4 (Delta) and Lab 5 (streaming) at full length</a:t>
            </a:r>
            <a:endParaRPr lang="en-US" sz="1500" dirty="0"/>
          </a:p>
        </p:txBody>
      </p:sp>
      <p:sp>
        <p:nvSpPr>
          <p:cNvPr id="7" name="Text 5"/>
          <p:cNvSpPr txBox="1"/>
          <p:nvPr/>
        </p:nvSpPr>
        <p:spPr>
          <a:xfrm>
            <a:off x="1133856" y="1655064"/>
            <a:ext cx="10417759" cy="493776"/>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They are the two most overrun-prone sessions and the two the rubric weights most heavily. Compress M2 theory instead — the cost model lands through the lab.</a:t>
            </a:r>
            <a:endParaRPr lang="en-US" sz="1250" dirty="0"/>
          </a:p>
        </p:txBody>
      </p:sp>
      <p:sp>
        <p:nvSpPr>
          <p:cNvPr id="8" name="Shape 6"/>
          <p:cNvSpPr/>
          <p:nvPr/>
        </p:nvSpPr>
        <p:spPr>
          <a:xfrm>
            <a:off x="566928" y="2212848"/>
            <a:ext cx="384048" cy="384048"/>
          </a:xfrm>
          <a:prstGeom prst="ellipse">
            <a:avLst/>
          </a:prstGeom>
          <a:solidFill>
            <a:srgbClr val="B0763A"/>
          </a:solidFill>
          <a:ln w="12700">
            <a:solidFill>
              <a:srgbClr val="B0763A"/>
            </a:solidFill>
            <a:prstDash val="solid"/>
          </a:ln>
        </p:spPr>
      </p:sp>
      <p:sp>
        <p:nvSpPr>
          <p:cNvPr id="9" name="Text 7"/>
          <p:cNvSpPr txBox="1"/>
          <p:nvPr/>
        </p:nvSpPr>
        <p:spPr>
          <a:xfrm>
            <a:off x="566928" y="2226564"/>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0" name="Text 8"/>
          <p:cNvSpPr txBox="1"/>
          <p:nvPr/>
        </p:nvSpPr>
        <p:spPr>
          <a:xfrm>
            <a:off x="1133856" y="2176272"/>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Publish checkpoint tags before Day 1</a:t>
            </a:r>
            <a:endParaRPr lang="en-US" sz="1500" dirty="0"/>
          </a:p>
        </p:txBody>
      </p:sp>
      <p:sp>
        <p:nvSpPr>
          <p:cNvPr id="11" name="Text 9"/>
          <p:cNvSpPr txBox="1"/>
          <p:nvPr/>
        </p:nvSpPr>
        <p:spPr>
          <a:xfrm>
            <a:off x="1133856" y="2441448"/>
            <a:ext cx="10417759" cy="493776"/>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lab1-start … lab8-start, plus bad-batch and the sim-* branches. Anyone stuck fast-forwards with one command instead of losing a session.</a:t>
            </a:r>
            <a:endParaRPr lang="en-US" sz="1250" dirty="0"/>
          </a:p>
        </p:txBody>
      </p:sp>
      <p:sp>
        <p:nvSpPr>
          <p:cNvPr id="12" name="Shape 10"/>
          <p:cNvSpPr/>
          <p:nvPr/>
        </p:nvSpPr>
        <p:spPr>
          <a:xfrm>
            <a:off x="566928" y="2999232"/>
            <a:ext cx="384048" cy="384048"/>
          </a:xfrm>
          <a:prstGeom prst="ellipse">
            <a:avLst/>
          </a:prstGeom>
          <a:solidFill>
            <a:srgbClr val="D9503F"/>
          </a:solidFill>
          <a:ln w="12700">
            <a:solidFill>
              <a:srgbClr val="D9503F"/>
            </a:solidFill>
            <a:prstDash val="solid"/>
          </a:ln>
        </p:spPr>
      </p:sp>
      <p:sp>
        <p:nvSpPr>
          <p:cNvPr id="13" name="Text 11"/>
          <p:cNvSpPr txBox="1"/>
          <p:nvPr/>
        </p:nvSpPr>
        <p:spPr>
          <a:xfrm>
            <a:off x="566928" y="301294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4" name="Text 12"/>
          <p:cNvSpPr txBox="1"/>
          <p:nvPr/>
        </p:nvSpPr>
        <p:spPr>
          <a:xfrm>
            <a:off x="1133856" y="2962656"/>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Hard rule: Mini-Lakehouse assembly starts on time</a:t>
            </a:r>
            <a:endParaRPr lang="en-US" sz="1500" dirty="0"/>
          </a:p>
        </p:txBody>
      </p:sp>
      <p:sp>
        <p:nvSpPr>
          <p:cNvPr id="15" name="Text 13"/>
          <p:cNvSpPr txBox="1"/>
          <p:nvPr/>
        </p:nvSpPr>
        <p:spPr>
          <a:xfrm>
            <a:off x="1133856" y="3227832"/>
            <a:ext cx="10417759" cy="493776"/>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Day 5 Hour 4 is immovable. Cut discussion, never build time.</a:t>
            </a:r>
            <a:endParaRPr lang="en-US" sz="1250" dirty="0"/>
          </a:p>
        </p:txBody>
      </p:sp>
      <p:sp>
        <p:nvSpPr>
          <p:cNvPr id="16" name="Shape 14"/>
          <p:cNvSpPr/>
          <p:nvPr/>
        </p:nvSpPr>
        <p:spPr>
          <a:xfrm>
            <a:off x="566928" y="3785616"/>
            <a:ext cx="384048" cy="384048"/>
          </a:xfrm>
          <a:prstGeom prst="ellipse">
            <a:avLst/>
          </a:prstGeom>
          <a:solidFill>
            <a:srgbClr val="00A6A6"/>
          </a:solidFill>
          <a:ln w="12700">
            <a:solidFill>
              <a:srgbClr val="00A6A6"/>
            </a:solidFill>
            <a:prstDash val="solid"/>
          </a:ln>
        </p:spPr>
      </p:sp>
      <p:sp>
        <p:nvSpPr>
          <p:cNvPr id="17" name="Text 15"/>
          <p:cNvSpPr txBox="1"/>
          <p:nvPr/>
        </p:nvSpPr>
        <p:spPr>
          <a:xfrm>
            <a:off x="566928" y="379933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8" name="Text 16"/>
          <p:cNvSpPr txBox="1"/>
          <p:nvPr/>
        </p:nvSpPr>
        <p:spPr>
          <a:xfrm>
            <a:off x="1133856" y="3749040"/>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Reserve the leakage drill even when compressing</a:t>
            </a:r>
            <a:endParaRPr lang="en-US" sz="1500" dirty="0"/>
          </a:p>
        </p:txBody>
      </p:sp>
      <p:sp>
        <p:nvSpPr>
          <p:cNvPr id="19" name="Text 17"/>
          <p:cNvSpPr txBox="1"/>
          <p:nvPr/>
        </p:nvSpPr>
        <p:spPr>
          <a:xfrm>
            <a:off x="1133856" y="4014216"/>
            <a:ext cx="10417759" cy="493776"/>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It is the single most memorable lesson and it directly protects the capstone score.</a:t>
            </a:r>
            <a:endParaRPr lang="en-US" sz="1250" dirty="0"/>
          </a:p>
        </p:txBody>
      </p:sp>
      <p:sp>
        <p:nvSpPr>
          <p:cNvPr id="20" name="Shape 18"/>
          <p:cNvSpPr/>
          <p:nvPr/>
        </p:nvSpPr>
        <p:spPr>
          <a:xfrm>
            <a:off x="566928" y="4572000"/>
            <a:ext cx="384048" cy="384048"/>
          </a:xfrm>
          <a:prstGeom prst="ellipse">
            <a:avLst/>
          </a:prstGeom>
          <a:solidFill>
            <a:srgbClr val="8E9AA3"/>
          </a:solidFill>
          <a:ln w="12700">
            <a:solidFill>
              <a:srgbClr val="8E9AA3"/>
            </a:solidFill>
            <a:prstDash val="solid"/>
          </a:ln>
        </p:spPr>
      </p:sp>
      <p:sp>
        <p:nvSpPr>
          <p:cNvPr id="21" name="Text 19"/>
          <p:cNvSpPr txBox="1"/>
          <p:nvPr/>
        </p:nvSpPr>
        <p:spPr>
          <a:xfrm>
            <a:off x="566928" y="458571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2" name="Text 20"/>
          <p:cNvSpPr txBox="1"/>
          <p:nvPr/>
        </p:nvSpPr>
        <p:spPr>
          <a:xfrm>
            <a:off x="1133856" y="4535424"/>
            <a:ext cx="10417759" cy="274320"/>
          </a:xfrm>
          <a:prstGeom prst="rect">
            <a:avLst/>
          </a:prstGeom>
          <a:noFill/>
          <a:ln/>
        </p:spPr>
        <p:txBody>
          <a:bodyPr wrap="square" lIns="0" tIns="0" rIns="0" bIns="0" rtlCol="0" anchor="ctr"/>
          <a:lstStyle/>
          <a:p>
            <a:pPr indent="0" marL="0">
              <a:buNone/>
            </a:pPr>
            <a:r>
              <a:rPr lang="en-US" sz="1500" b="1" dirty="0">
                <a:solidFill>
                  <a:srgbClr val="10202B"/>
                </a:solidFill>
                <a:latin typeface="Calibri" pitchFamily="34" charset="0"/>
                <a:ea typeface="Calibri" pitchFamily="34" charset="-122"/>
                <a:cs typeface="Calibri" pitchFamily="34" charset="-120"/>
              </a:rPr>
              <a:t>If the cohort is weak</a:t>
            </a:r>
            <a:endParaRPr lang="en-US" sz="1500" dirty="0"/>
          </a:p>
        </p:txBody>
      </p:sp>
      <p:sp>
        <p:nvSpPr>
          <p:cNvPr id="23" name="Text 21"/>
          <p:cNvSpPr txBox="1"/>
          <p:nvPr/>
        </p:nvSpPr>
        <p:spPr>
          <a:xfrm>
            <a:off x="1133856" y="4800600"/>
            <a:ext cx="10417759" cy="493776"/>
          </a:xfrm>
          <a:prstGeom prst="rect">
            <a:avLst/>
          </a:prstGeom>
          <a:noFill/>
          <a:ln/>
        </p:spPr>
        <p:txBody>
          <a:bodyPr wrap="square" lIns="0" tIns="0" rIns="0" bIns="0" rtlCol="0" anchor="t"/>
          <a:lstStyle/>
          <a:p>
            <a:pPr indent="0" marL="0">
              <a:buNone/>
            </a:pPr>
            <a:r>
              <a:rPr lang="en-US" sz="1250" dirty="0">
                <a:solidFill>
                  <a:srgbClr val="2B3A42"/>
                </a:solidFill>
                <a:latin typeface="Calibri" pitchFamily="34" charset="0"/>
                <a:ea typeface="Calibri" pitchFamily="34" charset="-122"/>
                <a:cs typeface="Calibri" pitchFamily="34" charset="-120"/>
              </a:rPr>
              <a:t>Run streaming exactly-once as a guided demo rather than a solo lab — but never skip the kill/restart observation. It is the module's thesis made visible.</a:t>
            </a:r>
            <a:endParaRPr lang="en-US" sz="1250" dirty="0"/>
          </a:p>
        </p:txBody>
      </p:sp>
      <p:sp>
        <p:nvSpPr>
          <p:cNvPr id="24" name="Shape 22"/>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5" name="Shape 23"/>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6" name="Shape 24"/>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7" name="Text 25"/>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8" name="Text 26"/>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APPENDIX</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The ten issues that actually happen</a:t>
            </a:r>
            <a:endParaRPr lang="en-US" sz="30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3931920"/>
                <a:gridCol w="1371600"/>
                <a:gridCol w="5751576"/>
              </a:tblGrid>
              <a:tr h="3890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Issue</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Frequency</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Resolution</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0202B"/>
                    </a:solidFill>
                  </a:tcPr>
                </a:tc>
              </a:tr>
              <a:tr h="389036">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Java version / JAVA_HOME wrong for Spark</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Pin Java 17; staff a floater in the first hour; hosted-notebook fallback ready</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389036">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Delta extension not configured</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Always use get_spark(); verify spark.sql.extensions is set</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389036">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Kafka container will not start / port clash</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Pre-pull images; free 9092; ship a compose healthcheck</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389036">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Streaming duplicates on restart</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One dedicated checkpointLocation per query — the Module 5 lesson, learned the hard way</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389036">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Small files after streaming</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Scheduled OPTIMIZE; teach it as maintenance, not as a fix</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389036">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dbt-spark connection / profile errors</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Provide a working profiles.yml; run dbt debug before anything else</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389036">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Feature leakage passes unnoticed</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Make the leakage drill mandatory; add the leakage-lint extension</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389036">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PySpark on Apple Silicon quirks</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Use the provided arm64-compatible images; document JAVA_HOME</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r h="389036">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Event time vs processing time confusion</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Run the Human Kafka activity and the watermark clinic — physical, not verbal</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4F6F7"/>
                    </a:solidFill>
                  </a:tcPr>
                </a:tc>
              </a:tr>
              <a:tr h="389036">
                <a:tc>
                  <a:txBody>
                    <a:bodyPr/>
                    <a:lstStyle/>
                    <a:p>
                      <a:pPr indent="0" marL="0">
                        <a:buNone/>
                      </a:pPr>
                      <a:r>
                        <a:rPr lang="en-US" sz="1100" b="1" dirty="0">
                          <a:solidFill>
                            <a:srgbClr val="2B3A42"/>
                          </a:solidFill>
                          <a:latin typeface="Calibri" pitchFamily="34" charset="0"/>
                          <a:ea typeface="Calibri" pitchFamily="34" charset="-122"/>
                          <a:cs typeface="Calibri" pitchFamily="34" charset="-120"/>
                        </a:rPr>
                        <a:t>VACUUM removes nothing / RETAIN 0 blocked</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indent="0" marL="0">
                        <a:buNone/>
                      </a:pPr>
                      <a:r>
                        <a:rPr lang="en-US" sz="1100" dirty="0">
                          <a:solidFill>
                            <a:srgbClr val="2B3A42"/>
                          </a:solidFill>
                          <a:latin typeface="Calibri" pitchFamily="34" charset="0"/>
                          <a:ea typeface="Calibri" pitchFamily="34" charset="-122"/>
                          <a:cs typeface="Calibri" pitchFamily="34" charset="-120"/>
                        </a:rPr>
                        <a:t>Explain the 7-day safety window; never disable it in production</a:t>
                      </a:r>
                      <a:endParaRPr lang="en-US" sz="1100" dirty="0">
                        <a:latin typeface="Calibri" charset="0"/>
                        <a:ea typeface="Calibri" charset="0"/>
                        <a:cs typeface="Calibri" charset="0"/>
                      </a:endParaRPr>
                    </a:p>
                  </a:txBody>
                  <a:tcPr marL="91440" marR="91440" marT="45720" marB="45720"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r>
            </a:tbl>
          </a:graphicData>
        </a:graphic>
      </p:graphicFrame>
      <p:sp>
        <p:nvSpPr>
          <p:cNvPr id="5" name="Shape 2"/>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6" name="Shape 3"/>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7" name="Shape 4"/>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8" name="Text 5"/>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9" name="Text 6"/>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9960559" cy="237744"/>
          </a:xfrm>
          <a:prstGeom prst="rect">
            <a:avLst/>
          </a:prstGeom>
          <a:noFill/>
          <a:ln/>
        </p:spPr>
        <p:txBody>
          <a:bodyPr wrap="square" lIns="0" tIns="0" rIns="0" bIns="0" rtlCol="0" anchor="ctr"/>
          <a:lstStyle/>
          <a:p>
            <a:pPr indent="0" marL="0">
              <a:buNone/>
            </a:pPr>
            <a:r>
              <a:rPr lang="en-US" sz="1050" b="1" spc="160" kern="0" dirty="0">
                <a:solidFill>
                  <a:srgbClr val="B0763A"/>
                </a:solidFill>
                <a:latin typeface="Calibri" pitchFamily="34" charset="0"/>
                <a:ea typeface="Calibri" pitchFamily="34" charset="-122"/>
                <a:cs typeface="Calibri" pitchFamily="34" charset="-120"/>
              </a:rPr>
              <a:t>APPENDIX</a:t>
            </a:r>
            <a:endParaRPr lang="en-US" sz="1050" dirty="0"/>
          </a:p>
        </p:txBody>
      </p:sp>
      <p:sp>
        <p:nvSpPr>
          <p:cNvPr id="3" name="Text 1"/>
          <p:cNvSpPr txBox="1"/>
          <p:nvPr/>
        </p:nvSpPr>
        <p:spPr>
          <a:xfrm>
            <a:off x="566928" y="676656"/>
            <a:ext cx="10143439" cy="566928"/>
          </a:xfrm>
          <a:prstGeom prst="rect">
            <a:avLst/>
          </a:prstGeom>
          <a:noFill/>
          <a:ln/>
        </p:spPr>
        <p:txBody>
          <a:bodyPr wrap="square" lIns="0" tIns="0" rIns="0" bIns="0" rtlCol="0" anchor="t"/>
          <a:lstStyle/>
          <a:p>
            <a:pPr indent="0" marL="0">
              <a:buNone/>
            </a:pPr>
            <a:r>
              <a:rPr lang="en-US" sz="3000" b="1" dirty="0">
                <a:solidFill>
                  <a:srgbClr val="10202B"/>
                </a:solidFill>
                <a:latin typeface="Cambria" pitchFamily="34" charset="0"/>
                <a:ea typeface="Cambria" pitchFamily="34" charset="-122"/>
                <a:cs typeface="Cambria" pitchFamily="34" charset="-120"/>
              </a:rPr>
              <a:t>Discussion prompts for the transitions</a:t>
            </a:r>
            <a:endParaRPr lang="en-US" sz="3000" dirty="0"/>
          </a:p>
        </p:txBody>
      </p:sp>
      <p:sp>
        <p:nvSpPr>
          <p:cNvPr id="4" name="Shape 2"/>
          <p:cNvSpPr/>
          <p:nvPr/>
        </p:nvSpPr>
        <p:spPr>
          <a:xfrm>
            <a:off x="566928" y="1444752"/>
            <a:ext cx="3515258" cy="2103120"/>
          </a:xfrm>
          <a:prstGeom prst="roundRect">
            <a:avLst>
              <a:gd name="adj" fmla="val 2609"/>
            </a:avLst>
          </a:prstGeom>
          <a:solidFill>
            <a:srgbClr val="F4F6F7"/>
          </a:solidFill>
          <a:ln w="12700">
            <a:solidFill>
              <a:srgbClr val="DDE3E6"/>
            </a:solidFill>
            <a:prstDash val="solid"/>
          </a:ln>
        </p:spPr>
      </p:sp>
      <p:sp>
        <p:nvSpPr>
          <p:cNvPr id="5" name="Text 3"/>
          <p:cNvSpPr txBox="1"/>
          <p:nvPr/>
        </p:nvSpPr>
        <p:spPr>
          <a:xfrm>
            <a:off x="786384" y="1627632"/>
            <a:ext cx="3076346"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After Module 1</a:t>
            </a:r>
            <a:endParaRPr lang="en-US" sz="1450" dirty="0"/>
          </a:p>
        </p:txBody>
      </p:sp>
      <p:sp>
        <p:nvSpPr>
          <p:cNvPr id="6" name="Text 4"/>
          <p:cNvSpPr txBox="1"/>
          <p:nvPr/>
        </p:nvSpPr>
        <p:spPr>
          <a:xfrm>
            <a:off x="786384" y="1951101"/>
            <a:ext cx="3076346" cy="143217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“Your BI dashboard and your data scientist report different completed-trips numbers. Which architecture decision caused it — and which one fixes it?”</a:t>
            </a:r>
            <a:endParaRPr lang="en-US" sz="1200" dirty="0"/>
          </a:p>
        </p:txBody>
      </p:sp>
      <p:sp>
        <p:nvSpPr>
          <p:cNvPr id="7" name="Shape 5"/>
          <p:cNvSpPr/>
          <p:nvPr/>
        </p:nvSpPr>
        <p:spPr>
          <a:xfrm>
            <a:off x="4338218" y="1444752"/>
            <a:ext cx="3515258" cy="2103120"/>
          </a:xfrm>
          <a:prstGeom prst="roundRect">
            <a:avLst>
              <a:gd name="adj" fmla="val 2609"/>
            </a:avLst>
          </a:prstGeom>
          <a:solidFill>
            <a:srgbClr val="F4F6F7"/>
          </a:solidFill>
          <a:ln w="12700">
            <a:solidFill>
              <a:srgbClr val="DDE3E6"/>
            </a:solidFill>
            <a:prstDash val="solid"/>
          </a:ln>
        </p:spPr>
      </p:sp>
      <p:sp>
        <p:nvSpPr>
          <p:cNvPr id="8" name="Text 6"/>
          <p:cNvSpPr txBox="1"/>
          <p:nvPr/>
        </p:nvSpPr>
        <p:spPr>
          <a:xfrm>
            <a:off x="4557674" y="1627632"/>
            <a:ext cx="3076346" cy="232029"/>
          </a:xfrm>
          <a:prstGeom prst="rect">
            <a:avLst/>
          </a:prstGeom>
          <a:noFill/>
          <a:ln/>
        </p:spPr>
        <p:txBody>
          <a:bodyPr wrap="square" lIns="0" tIns="0" rIns="0" bIns="0" rtlCol="0" anchor="t"/>
          <a:lstStyle/>
          <a:p>
            <a:pPr indent="0" marL="0">
              <a:buNone/>
            </a:pPr>
            <a:r>
              <a:rPr lang="en-US" sz="1450" b="1" dirty="0">
                <a:solidFill>
                  <a:srgbClr val="8E9AA3"/>
                </a:solidFill>
                <a:latin typeface="Calibri" pitchFamily="34" charset="0"/>
                <a:ea typeface="Calibri" pitchFamily="34" charset="-122"/>
                <a:cs typeface="Calibri" pitchFamily="34" charset="-120"/>
              </a:rPr>
              <a:t>After Module 2</a:t>
            </a:r>
            <a:endParaRPr lang="en-US" sz="1450" dirty="0"/>
          </a:p>
        </p:txBody>
      </p:sp>
      <p:sp>
        <p:nvSpPr>
          <p:cNvPr id="9" name="Text 7"/>
          <p:cNvSpPr txBox="1"/>
          <p:nvPr/>
        </p:nvSpPr>
        <p:spPr>
          <a:xfrm>
            <a:off x="4557674" y="1951101"/>
            <a:ext cx="3076346" cy="143217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“Storage is cheap and compute is elastic. So why did the migration bill go UP? What discipline did they skip?”</a:t>
            </a:r>
            <a:endParaRPr lang="en-US" sz="1200" dirty="0"/>
          </a:p>
        </p:txBody>
      </p:sp>
      <p:sp>
        <p:nvSpPr>
          <p:cNvPr id="10" name="Shape 8"/>
          <p:cNvSpPr/>
          <p:nvPr/>
        </p:nvSpPr>
        <p:spPr>
          <a:xfrm>
            <a:off x="8109509" y="1444752"/>
            <a:ext cx="3515258" cy="2103120"/>
          </a:xfrm>
          <a:prstGeom prst="roundRect">
            <a:avLst>
              <a:gd name="adj" fmla="val 2609"/>
            </a:avLst>
          </a:prstGeom>
          <a:solidFill>
            <a:srgbClr val="F4F6F7"/>
          </a:solidFill>
          <a:ln w="12700">
            <a:solidFill>
              <a:srgbClr val="DDE3E6"/>
            </a:solidFill>
            <a:prstDash val="solid"/>
          </a:ln>
        </p:spPr>
      </p:sp>
      <p:sp>
        <p:nvSpPr>
          <p:cNvPr id="11" name="Text 9"/>
          <p:cNvSpPr txBox="1"/>
          <p:nvPr/>
        </p:nvSpPr>
        <p:spPr>
          <a:xfrm>
            <a:off x="8328965" y="1627632"/>
            <a:ext cx="3076346" cy="232029"/>
          </a:xfrm>
          <a:prstGeom prst="rect">
            <a:avLst/>
          </a:prstGeom>
          <a:noFill/>
          <a:ln/>
        </p:spPr>
        <p:txBody>
          <a:bodyPr wrap="square" lIns="0" tIns="0" rIns="0" bIns="0" rtlCol="0" anchor="t"/>
          <a:lstStyle/>
          <a:p>
            <a:pPr indent="0" marL="0">
              <a:buNone/>
            </a:pPr>
            <a:r>
              <a:rPr lang="en-US" sz="1450" b="1" dirty="0">
                <a:solidFill>
                  <a:srgbClr val="D4A537"/>
                </a:solidFill>
                <a:latin typeface="Calibri" pitchFamily="34" charset="0"/>
                <a:ea typeface="Calibri" pitchFamily="34" charset="-122"/>
                <a:cs typeface="Calibri" pitchFamily="34" charset="-120"/>
              </a:rPr>
              <a:t>After Module 4</a:t>
            </a:r>
            <a:endParaRPr lang="en-US" sz="1450" dirty="0"/>
          </a:p>
        </p:txBody>
      </p:sp>
      <p:sp>
        <p:nvSpPr>
          <p:cNvPr id="12" name="Text 10"/>
          <p:cNvSpPr txBox="1"/>
          <p:nvPr/>
        </p:nvSpPr>
        <p:spPr>
          <a:xfrm>
            <a:off x="8328965" y="1951101"/>
            <a:ext cx="3076346" cy="143217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“A regulator asks what a table contained three weeks ago. Can your platform answer — and what must be true about VACUUM for it to?”</a:t>
            </a:r>
            <a:endParaRPr lang="en-US" sz="1200" dirty="0"/>
          </a:p>
        </p:txBody>
      </p:sp>
      <p:sp>
        <p:nvSpPr>
          <p:cNvPr id="13" name="Shape 11"/>
          <p:cNvSpPr/>
          <p:nvPr/>
        </p:nvSpPr>
        <p:spPr>
          <a:xfrm>
            <a:off x="566928" y="3803904"/>
            <a:ext cx="3515258" cy="2103120"/>
          </a:xfrm>
          <a:prstGeom prst="roundRect">
            <a:avLst>
              <a:gd name="adj" fmla="val 2609"/>
            </a:avLst>
          </a:prstGeom>
          <a:solidFill>
            <a:srgbClr val="F4F6F7"/>
          </a:solidFill>
          <a:ln w="12700">
            <a:solidFill>
              <a:srgbClr val="DDE3E6"/>
            </a:solidFill>
            <a:prstDash val="solid"/>
          </a:ln>
        </p:spPr>
      </p:sp>
      <p:sp>
        <p:nvSpPr>
          <p:cNvPr id="14" name="Text 12"/>
          <p:cNvSpPr txBox="1"/>
          <p:nvPr/>
        </p:nvSpPr>
        <p:spPr>
          <a:xfrm>
            <a:off x="786384" y="3986784"/>
            <a:ext cx="3076346" cy="232029"/>
          </a:xfrm>
          <a:prstGeom prst="rect">
            <a:avLst/>
          </a:prstGeom>
          <a:noFill/>
          <a:ln/>
        </p:spPr>
        <p:txBody>
          <a:bodyPr wrap="square" lIns="0" tIns="0" rIns="0" bIns="0" rtlCol="0" anchor="t"/>
          <a:lstStyle/>
          <a:p>
            <a:pPr indent="0" marL="0">
              <a:buNone/>
            </a:pPr>
            <a:r>
              <a:rPr lang="en-US" sz="1450" b="1" dirty="0">
                <a:solidFill>
                  <a:srgbClr val="00A6A6"/>
                </a:solidFill>
                <a:latin typeface="Calibri" pitchFamily="34" charset="0"/>
                <a:ea typeface="Calibri" pitchFamily="34" charset="-122"/>
                <a:cs typeface="Calibri" pitchFamily="34" charset="-120"/>
              </a:rPr>
              <a:t>After Module 8</a:t>
            </a:r>
            <a:endParaRPr lang="en-US" sz="1450" dirty="0"/>
          </a:p>
        </p:txBody>
      </p:sp>
      <p:sp>
        <p:nvSpPr>
          <p:cNvPr id="15" name="Text 13"/>
          <p:cNvSpPr txBox="1"/>
          <p:nvPr/>
        </p:nvSpPr>
        <p:spPr>
          <a:xfrm>
            <a:off x="786384" y="4310253"/>
            <a:ext cx="3076346" cy="143217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“A model scores 0.95 offline. Are you excited or suspicious — and what do you check first?”</a:t>
            </a:r>
            <a:endParaRPr lang="en-US" sz="1200" dirty="0"/>
          </a:p>
        </p:txBody>
      </p:sp>
      <p:sp>
        <p:nvSpPr>
          <p:cNvPr id="16" name="Shape 14"/>
          <p:cNvSpPr/>
          <p:nvPr/>
        </p:nvSpPr>
        <p:spPr>
          <a:xfrm>
            <a:off x="4338218" y="3803904"/>
            <a:ext cx="3515258" cy="2103120"/>
          </a:xfrm>
          <a:prstGeom prst="roundRect">
            <a:avLst>
              <a:gd name="adj" fmla="val 2609"/>
            </a:avLst>
          </a:prstGeom>
          <a:solidFill>
            <a:srgbClr val="F4F6F7"/>
          </a:solidFill>
          <a:ln w="12700">
            <a:solidFill>
              <a:srgbClr val="DDE3E6"/>
            </a:solidFill>
            <a:prstDash val="solid"/>
          </a:ln>
        </p:spPr>
      </p:sp>
      <p:sp>
        <p:nvSpPr>
          <p:cNvPr id="17" name="Text 15"/>
          <p:cNvSpPr txBox="1"/>
          <p:nvPr/>
        </p:nvSpPr>
        <p:spPr>
          <a:xfrm>
            <a:off x="4557674" y="3986784"/>
            <a:ext cx="3076346" cy="232029"/>
          </a:xfrm>
          <a:prstGeom prst="rect">
            <a:avLst/>
          </a:prstGeom>
          <a:noFill/>
          <a:ln/>
        </p:spPr>
        <p:txBody>
          <a:bodyPr wrap="square" lIns="0" tIns="0" rIns="0" bIns="0" rtlCol="0" anchor="t"/>
          <a:lstStyle/>
          <a:p>
            <a:pPr indent="0" marL="0">
              <a:buNone/>
            </a:pPr>
            <a:r>
              <a:rPr lang="en-US" sz="1450" b="1" dirty="0">
                <a:solidFill>
                  <a:srgbClr val="D9503F"/>
                </a:solidFill>
                <a:latin typeface="Calibri" pitchFamily="34" charset="0"/>
                <a:ea typeface="Calibri" pitchFamily="34" charset="-122"/>
                <a:cs typeface="Calibri" pitchFamily="34" charset="-120"/>
              </a:rPr>
              <a:t>After CS-11</a:t>
            </a:r>
            <a:endParaRPr lang="en-US" sz="1450" dirty="0"/>
          </a:p>
        </p:txBody>
      </p:sp>
      <p:sp>
        <p:nvSpPr>
          <p:cNvPr id="18" name="Text 16"/>
          <p:cNvSpPr txBox="1"/>
          <p:nvPr/>
        </p:nvSpPr>
        <p:spPr>
          <a:xfrm>
            <a:off x="4557674" y="4310253"/>
            <a:ext cx="3076346" cy="143217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“Which of your current pipelines would have caught a unit change? Be honest. What would you add on Sunday morning?”</a:t>
            </a:r>
            <a:endParaRPr lang="en-US" sz="1200" dirty="0"/>
          </a:p>
        </p:txBody>
      </p:sp>
      <p:sp>
        <p:nvSpPr>
          <p:cNvPr id="19" name="Shape 17"/>
          <p:cNvSpPr/>
          <p:nvPr/>
        </p:nvSpPr>
        <p:spPr>
          <a:xfrm>
            <a:off x="8109509" y="3803904"/>
            <a:ext cx="3515258" cy="2103120"/>
          </a:xfrm>
          <a:prstGeom prst="roundRect">
            <a:avLst>
              <a:gd name="adj" fmla="val 2609"/>
            </a:avLst>
          </a:prstGeom>
          <a:solidFill>
            <a:srgbClr val="F4F6F7"/>
          </a:solidFill>
          <a:ln w="12700">
            <a:solidFill>
              <a:srgbClr val="DDE3E6"/>
            </a:solidFill>
            <a:prstDash val="solid"/>
          </a:ln>
        </p:spPr>
      </p:sp>
      <p:sp>
        <p:nvSpPr>
          <p:cNvPr id="20" name="Text 18"/>
          <p:cNvSpPr txBox="1"/>
          <p:nvPr/>
        </p:nvSpPr>
        <p:spPr>
          <a:xfrm>
            <a:off x="8328965" y="3986784"/>
            <a:ext cx="3076346" cy="232029"/>
          </a:xfrm>
          <a:prstGeom prst="rect">
            <a:avLst/>
          </a:prstGeom>
          <a:noFill/>
          <a:ln/>
        </p:spPr>
        <p:txBody>
          <a:bodyPr wrap="square" lIns="0" tIns="0" rIns="0" bIns="0" rtlCol="0" anchor="t"/>
          <a:lstStyle/>
          <a:p>
            <a:pPr indent="0" marL="0">
              <a:buNone/>
            </a:pPr>
            <a:r>
              <a:rPr lang="en-US" sz="1450" b="1" dirty="0">
                <a:solidFill>
                  <a:srgbClr val="B0763A"/>
                </a:solidFill>
                <a:latin typeface="Calibri" pitchFamily="34" charset="0"/>
                <a:ea typeface="Calibri" pitchFamily="34" charset="-122"/>
                <a:cs typeface="Calibri" pitchFamily="34" charset="-120"/>
              </a:rPr>
              <a:t>Closing</a:t>
            </a:r>
            <a:endParaRPr lang="en-US" sz="1450" dirty="0"/>
          </a:p>
        </p:txBody>
      </p:sp>
      <p:sp>
        <p:nvSpPr>
          <p:cNvPr id="21" name="Text 19"/>
          <p:cNvSpPr txBox="1"/>
          <p:nvPr/>
        </p:nvSpPr>
        <p:spPr>
          <a:xfrm>
            <a:off x="8328965" y="4310253"/>
            <a:ext cx="3076346" cy="1432179"/>
          </a:xfrm>
          <a:prstGeom prst="rect">
            <a:avLst/>
          </a:prstGeom>
          <a:noFill/>
          <a:ln/>
        </p:spPr>
        <p:txBody>
          <a:bodyPr wrap="square" lIns="0" tIns="0" rIns="0" bIns="0" rtlCol="0" anchor="t"/>
          <a:lstStyle/>
          <a:p>
            <a:pPr indent="0" marL="0">
              <a:buNone/>
            </a:pPr>
            <a:r>
              <a:rPr lang="en-US" sz="1200" dirty="0">
                <a:solidFill>
                  <a:srgbClr val="2B3A42"/>
                </a:solidFill>
                <a:latin typeface="Calibri" pitchFamily="34" charset="0"/>
                <a:ea typeface="Calibri" pitchFamily="34" charset="-122"/>
                <a:cs typeface="Calibri" pitchFamily="34" charset="-120"/>
              </a:rPr>
              <a:t>“If the platform is both the audit evidence and the morning decision, what does your current pipeline testify about your team's reliability?”</a:t>
            </a:r>
            <a:endParaRPr lang="en-US" sz="1200" dirty="0"/>
          </a:p>
        </p:txBody>
      </p:sp>
      <p:sp>
        <p:nvSpPr>
          <p:cNvPr id="22" name="Shape 20"/>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23" name="Shape 21"/>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24" name="Shape 22"/>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25" name="Text 23"/>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6B7C86"/>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26" name="Text 24"/>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6B7C86"/>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10202B"/>
        </a:solidFill>
      </p:bgPr>
    </p:bg>
    <p:spTree>
      <p:nvGrpSpPr>
        <p:cNvPr id="1" name=""/>
        <p:cNvGrpSpPr/>
        <p:nvPr/>
      </p:nvGrpSpPr>
      <p:grpSpPr>
        <a:xfrm>
          <a:off x="0" y="0"/>
          <a:ext cx="0" cy="0"/>
          <a:chOff x="0" y="0"/>
          <a:chExt cx="0" cy="0"/>
        </a:xfrm>
      </p:grpSpPr>
      <p:sp>
        <p:nvSpPr>
          <p:cNvPr id="2" name="Text 0"/>
          <p:cNvSpPr txBox="1"/>
          <p:nvPr/>
        </p:nvSpPr>
        <p:spPr>
          <a:xfrm>
            <a:off x="566928" y="1371600"/>
            <a:ext cx="11057839" cy="274320"/>
          </a:xfrm>
          <a:prstGeom prst="rect">
            <a:avLst/>
          </a:prstGeom>
          <a:noFill/>
          <a:ln/>
        </p:spPr>
        <p:txBody>
          <a:bodyPr wrap="square" lIns="0" tIns="0" rIns="0" bIns="0" rtlCol="0" anchor="ctr"/>
          <a:lstStyle/>
          <a:p>
            <a:pPr indent="0" marL="0">
              <a:buNone/>
            </a:pPr>
            <a:r>
              <a:rPr lang="en-US" sz="1100" b="1" spc="180" kern="0" dirty="0">
                <a:solidFill>
                  <a:srgbClr val="D4A537"/>
                </a:solidFill>
                <a:latin typeface="Calibri" pitchFamily="34" charset="0"/>
                <a:ea typeface="Calibri" pitchFamily="34" charset="-122"/>
                <a:cs typeface="Calibri" pitchFamily="34" charset="-120"/>
              </a:rPr>
              <a:t>SDA-DSC-214</a:t>
            </a:r>
            <a:endParaRPr lang="en-US" sz="1100" dirty="0"/>
          </a:p>
        </p:txBody>
      </p:sp>
      <p:sp>
        <p:nvSpPr>
          <p:cNvPr id="3" name="Text 1"/>
          <p:cNvSpPr txBox="1"/>
          <p:nvPr/>
        </p:nvSpPr>
        <p:spPr>
          <a:xfrm>
            <a:off x="566928" y="1783080"/>
            <a:ext cx="10509199" cy="2377440"/>
          </a:xfrm>
          <a:prstGeom prst="rect">
            <a:avLst/>
          </a:prstGeom>
          <a:noFill/>
          <a:ln/>
        </p:spPr>
        <p:txBody>
          <a:bodyPr wrap="square" lIns="0" tIns="0" rIns="0" bIns="0" rtlCol="0" anchor="t"/>
          <a:lstStyle/>
          <a:p>
            <a:pPr indent="0" marL="0">
              <a:lnSpc>
                <a:spcPct val="112000"/>
              </a:lnSpc>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4" name="Text 2"/>
          <p:cNvSpPr txBox="1"/>
          <p:nvPr/>
        </p:nvSpPr>
        <p:spPr>
          <a:xfrm>
            <a:off x="566928" y="4434840"/>
            <a:ext cx="10509199" cy="1097280"/>
          </a:xfrm>
          <a:prstGeom prst="rect">
            <a:avLst/>
          </a:prstGeom>
          <a:noFill/>
          <a:ln/>
        </p:spPr>
        <p:txBody>
          <a:bodyPr wrap="square" lIns="0" tIns="0" rIns="0" bIns="0" rtlCol="0" anchor="t"/>
          <a:lstStyle/>
          <a:p>
            <a:pPr indent="0" marL="0">
              <a:buNone/>
            </a:pPr>
            <a:r>
              <a:rPr lang="en-US" sz="1500" dirty="0">
                <a:solidFill>
                  <a:srgbClr val="9FB3BE"/>
                </a:solidFill>
                <a:latin typeface="Calibri" pitchFamily="34" charset="0"/>
                <a:ea typeface="Calibri" pitchFamily="34" charset="-122"/>
                <a:cs typeface="Calibri" pitchFamily="34" charset="-120"/>
              </a:rPr>
              <a:t>Instructor package · labs · case studies · activities · assessments · starter repository · synthetic Masar dataset</a:t>
            </a:r>
            <a:endParaRPr lang="en-US" sz="1500" dirty="0"/>
          </a:p>
          <a:p>
            <a:pPr indent="0" marL="0">
              <a:buNone/>
            </a:pPr>
            <a:r>
              <a:rPr lang="en-US" sz="1500" dirty="0">
                <a:solidFill>
                  <a:srgbClr val="9FB3BE"/>
                </a:solidFill>
                <a:latin typeface="Calibri" pitchFamily="34" charset="0"/>
                <a:ea typeface="Calibri" pitchFamily="34" charset="-122"/>
                <a:cs typeface="Calibri" pitchFamily="34" charset="-120"/>
              </a:rPr>
              <a:t>SDAIA Academy · Capacity Building Sector</a:t>
            </a:r>
            <a:endParaRPr lang="en-US" sz="1500" dirty="0"/>
          </a:p>
        </p:txBody>
      </p:sp>
      <p:sp>
        <p:nvSpPr>
          <p:cNvPr id="5" name="Shape 3"/>
          <p:cNvSpPr/>
          <p:nvPr/>
        </p:nvSpPr>
        <p:spPr>
          <a:xfrm>
            <a:off x="11048695" y="402336"/>
            <a:ext cx="155448" cy="155448"/>
          </a:xfrm>
          <a:prstGeom prst="roundRect">
            <a:avLst>
              <a:gd name="adj" fmla="val 23529"/>
            </a:avLst>
          </a:prstGeom>
          <a:solidFill>
            <a:srgbClr val="B0763A"/>
          </a:solidFill>
          <a:ln w="6350">
            <a:solidFill>
              <a:srgbClr val="B0763A"/>
            </a:solidFill>
            <a:prstDash val="solid"/>
          </a:ln>
        </p:spPr>
      </p:sp>
      <p:sp>
        <p:nvSpPr>
          <p:cNvPr id="6" name="Shape 4"/>
          <p:cNvSpPr/>
          <p:nvPr/>
        </p:nvSpPr>
        <p:spPr>
          <a:xfrm>
            <a:off x="11249863" y="402336"/>
            <a:ext cx="155448" cy="155448"/>
          </a:xfrm>
          <a:prstGeom prst="roundRect">
            <a:avLst>
              <a:gd name="adj" fmla="val 23529"/>
            </a:avLst>
          </a:prstGeom>
          <a:solidFill>
            <a:srgbClr val="8E9AA3"/>
          </a:solidFill>
          <a:ln w="6350">
            <a:solidFill>
              <a:srgbClr val="8E9AA3"/>
            </a:solidFill>
            <a:prstDash val="solid"/>
          </a:ln>
        </p:spPr>
      </p:sp>
      <p:sp>
        <p:nvSpPr>
          <p:cNvPr id="7" name="Shape 5"/>
          <p:cNvSpPr/>
          <p:nvPr/>
        </p:nvSpPr>
        <p:spPr>
          <a:xfrm>
            <a:off x="11451031" y="402336"/>
            <a:ext cx="155448" cy="155448"/>
          </a:xfrm>
          <a:prstGeom prst="roundRect">
            <a:avLst>
              <a:gd name="adj" fmla="val 23529"/>
            </a:avLst>
          </a:prstGeom>
          <a:solidFill>
            <a:srgbClr val="D4A537"/>
          </a:solidFill>
          <a:ln w="6350">
            <a:solidFill>
              <a:srgbClr val="D4A537"/>
            </a:solidFill>
            <a:prstDash val="solid"/>
          </a:ln>
        </p:spPr>
      </p:sp>
      <p:sp>
        <p:nvSpPr>
          <p:cNvPr id="8" name="Text 6"/>
          <p:cNvSpPr txBox="1"/>
          <p:nvPr/>
        </p:nvSpPr>
        <p:spPr>
          <a:xfrm>
            <a:off x="566928" y="6437376"/>
            <a:ext cx="7680960" cy="256032"/>
          </a:xfrm>
          <a:prstGeom prst="rect">
            <a:avLst/>
          </a:prstGeom>
          <a:noFill/>
          <a:ln/>
        </p:spPr>
        <p:txBody>
          <a:bodyPr wrap="square" lIns="0" tIns="0" rIns="0" bIns="0" rtlCol="0" anchor="ctr"/>
          <a:lstStyle/>
          <a:p>
            <a:pPr indent="0" marL="0">
              <a:buNone/>
            </a:pPr>
            <a:r>
              <a:rPr lang="en-US" sz="900" dirty="0">
                <a:solidFill>
                  <a:srgbClr val="9FB3BE"/>
                </a:solidFill>
                <a:latin typeface="Calibri" pitchFamily="34" charset="0"/>
                <a:ea typeface="Calibri" pitchFamily="34" charset="-122"/>
                <a:cs typeface="Calibri" pitchFamily="34" charset="-120"/>
              </a:rPr>
              <a:t>SDA-DSC-214 · Modern Data Engineering for AI Systems</a:t>
            </a:r>
            <a:endParaRPr lang="en-US" sz="900" dirty="0"/>
          </a:p>
        </p:txBody>
      </p:sp>
      <p:sp>
        <p:nvSpPr>
          <p:cNvPr id="9" name="Text 7"/>
          <p:cNvSpPr txBox="1"/>
          <p:nvPr/>
        </p:nvSpPr>
        <p:spPr>
          <a:xfrm>
            <a:off x="9613087" y="6437376"/>
            <a:ext cx="2011680" cy="256032"/>
          </a:xfrm>
          <a:prstGeom prst="rect">
            <a:avLst/>
          </a:prstGeom>
          <a:noFill/>
          <a:ln/>
        </p:spPr>
        <p:txBody>
          <a:bodyPr wrap="square" lIns="0" tIns="0" rIns="0" bIns="0" rtlCol="0" anchor="ctr"/>
          <a:lstStyle/>
          <a:p>
            <a:pPr algn="r" indent="0" marL="0">
              <a:buNone/>
            </a:pPr>
            <a:r>
              <a:rPr lang="en-US" sz="900" dirty="0">
                <a:solidFill>
                  <a:srgbClr val="9FB3BE"/>
                </a:solidFill>
                <a:latin typeface="Calibri" pitchFamily="34" charset="0"/>
                <a:ea typeface="Calibri" pitchFamily="34" charset="-122"/>
                <a:cs typeface="Calibri" pitchFamily="34" charset="-120"/>
              </a:rPr>
              <a:t>SDAIA Academy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105</Slides>
  <Notes>105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105</vt:i4>
      </vt:variant>
    </vt:vector>
  </HeadingPairs>
  <TitlesOfParts>
    <vt:vector size="10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vector>
  </TitlesOfParts>
  <Company>Saudi Data and AI Authority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SDA-DSC-214 — Modern Data Engineering for AI Systems</dc:title>
  <dc:subject>Instructor deck — 5 days, 8 modules, Masar Mini-Lakehouse capstone</dc:subject>
  <dc:creator>SDAIA Academy</dc:creator>
  <cp:lastModifiedBy>SDAIA Academy</cp:lastModifiedBy>
  <cp:revision>1</cp:revision>
  <dcterms:created xsi:type="dcterms:W3CDTF">2026-09-10T11:20:43Z</dcterms:created>
  <dcterms:modified xsi:type="dcterms:W3CDTF">2026-09-10T11:20:43Z</dcterms:modified>
</cp:coreProperties>
</file>