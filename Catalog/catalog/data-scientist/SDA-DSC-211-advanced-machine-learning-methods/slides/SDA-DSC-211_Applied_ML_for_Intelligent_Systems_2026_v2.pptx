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.xml" ContentType="application/vnd.openxmlformats-officedocument.drawingml.chart+xml"/>
  <Override PartName="/ppt/notesSlides/notesSlide40.xml" ContentType="application/vnd.openxmlformats-officedocument.presentationml.notesSlide+xml"/>
  <Override PartName="/ppt/charts/chart2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3.xml" ContentType="application/vnd.openxmlformats-officedocument.drawingml.chart+xml"/>
  <Override PartName="/ppt/notesSlides/notesSlide43.xml" ContentType="application/vnd.openxmlformats-officedocument.presentationml.notesSlide+xml"/>
  <Override PartName="/ppt/charts/chart4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rts/chart5.xml" ContentType="application/vnd.openxmlformats-officedocument.drawingml.chart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rts/chart6.xml" ContentType="application/vnd.openxmlformats-officedocument.drawingml.chart+xml"/>
  <Override PartName="/ppt/notesSlides/notesSlide65.xml" ContentType="application/vnd.openxmlformats-officedocument.presentationml.notesSlide+xml"/>
  <Override PartName="/ppt/charts/chart7.xml" ContentType="application/vnd.openxmlformats-officedocument.drawingml.chart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charts/chart8.xml" ContentType="application/vnd.openxmlformats-officedocument.drawingml.chart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charts/chart9.xml" ContentType="application/vnd.openxmlformats-officedocument.drawingml.chart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charts/chart10.xml" ContentType="application/vnd.openxmlformats-officedocument.drawingml.chart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charts/chart11.xml" ContentType="application/vnd.openxmlformats-officedocument.drawingml.chart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charts/chart12.xml" ContentType="application/vnd.openxmlformats-officedocument.drawingml.chart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charts/chart13.xml" ContentType="application/vnd.openxmlformats-officedocument.drawingml.chart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charts/chart14.xml" ContentType="application/vnd.openxmlformats-officedocument.drawingml.chart+xml"/>
  <Override PartName="/ppt/notesSlides/notesSlide138.xml" ContentType="application/vnd.openxmlformats-officedocument.presentationml.notesSlide+xml"/>
  <Override PartName="/ppt/charts/chart15.xml" ContentType="application/vnd.openxmlformats-officedocument.drawingml.chart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charts/chart16.xml" ContentType="application/vnd.openxmlformats-officedocument.drawingml.chart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theme" Target="theme/theme1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tableStyles" Target="tableStyle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presProps" Target="presProps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notesMaster" Target="notesMasters/notesMaster1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error</c:v>
                </c:pt>
              </c:strCache>
            </c:strRef>
          </c:tx>
          <c:spPr>
            <a:ln w="38100" cap="flat">
              <a:solidFill>
                <a:srgbClr val="1FA6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A6A0"/>
              </a:solidFill>
              <a:ln w="9525" cap="flat">
                <a:solidFill>
                  <a:srgbClr val="1FA6A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Low</c:v>
                </c:pt>
                <c:pt idx="6">
                  <c:v>High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</c:v>
                </c:pt>
                <c:pt idx="1">
                  <c:v>0.6</c:v>
                </c:pt>
                <c:pt idx="2">
                  <c:v>0.4</c:v>
                </c:pt>
                <c:pt idx="3">
                  <c:v>0.25</c:v>
                </c:pt>
                <c:pt idx="4">
                  <c:v>0.15</c:v>
                </c:pt>
                <c:pt idx="5">
                  <c:v>0.08</c:v>
                </c:pt>
                <c:pt idx="6">
                  <c:v>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59-4AD6-A579-F8D67C259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error</c:v>
                </c:pt>
              </c:strCache>
            </c:strRef>
          </c:tx>
          <c:spPr>
            <a:ln w="38100" cap="flat">
              <a:solidFill>
                <a:srgbClr val="F47B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7B20"/>
              </a:solidFill>
              <a:ln w="9525" cap="flat">
                <a:solidFill>
                  <a:srgbClr val="F47B2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Low</c:v>
                </c:pt>
                <c:pt idx="6">
                  <c:v>High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0.95</c:v>
                </c:pt>
                <c:pt idx="1">
                  <c:v>0.65</c:v>
                </c:pt>
                <c:pt idx="2">
                  <c:v>0.45</c:v>
                </c:pt>
                <c:pt idx="3">
                  <c:v>0.33</c:v>
                </c:pt>
                <c:pt idx="4">
                  <c:v>0.34</c:v>
                </c:pt>
                <c:pt idx="5">
                  <c:v>0.45</c:v>
                </c:pt>
                <c:pt idx="6">
                  <c:v>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59-4AD6-A579-F8D67C259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Model complexity →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Error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Bias²</c:v>
                </c:pt>
              </c:strCache>
            </c:strRef>
          </c:tx>
          <c:spPr>
            <a:ln w="38100" cap="flat">
              <a:solidFill>
                <a:srgbClr val="2C9BD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9BD6"/>
              </a:solidFill>
              <a:ln w="9525" cap="flat">
                <a:solidFill>
                  <a:srgbClr val="2C9BD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</c:v>
                </c:pt>
                <c:pt idx="1">
                  <c:v>0.55000000000000004</c:v>
                </c:pt>
                <c:pt idx="2">
                  <c:v>0.35</c:v>
                </c:pt>
                <c:pt idx="3">
                  <c:v>0.2</c:v>
                </c:pt>
                <c:pt idx="4">
                  <c:v>0.12</c:v>
                </c:pt>
                <c:pt idx="5">
                  <c:v>7.0000000000000007E-2</c:v>
                </c:pt>
                <c:pt idx="6">
                  <c:v>0.04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E4-426F-85D7-CF7F766445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Variance</c:v>
                </c:pt>
              </c:strCache>
            </c:strRef>
          </c:tx>
          <c:spPr>
            <a:ln w="38100" cap="flat">
              <a:solidFill>
                <a:srgbClr val="F47B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7B20"/>
              </a:solidFill>
              <a:ln w="9525" cap="flat">
                <a:solidFill>
                  <a:srgbClr val="F47B2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0.05</c:v>
                </c:pt>
                <c:pt idx="1">
                  <c:v>0.08</c:v>
                </c:pt>
                <c:pt idx="2">
                  <c:v>0.14000000000000001</c:v>
                </c:pt>
                <c:pt idx="3">
                  <c:v>0.22</c:v>
                </c:pt>
                <c:pt idx="4">
                  <c:v>0.35</c:v>
                </c:pt>
                <c:pt idx="5">
                  <c:v>0.52</c:v>
                </c:pt>
                <c:pt idx="6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E4-426F-85D7-CF7F766445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error</c:v>
                </c:pt>
              </c:strCache>
            </c:strRef>
          </c:tx>
          <c:spPr>
            <a:ln w="38100" cap="flat">
              <a:solidFill>
                <a:srgbClr val="1C3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355E"/>
              </a:solidFill>
              <a:ln w="9525" cap="flat">
                <a:solidFill>
                  <a:srgbClr val="1C355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0.85</c:v>
                </c:pt>
                <c:pt idx="1">
                  <c:v>0.63</c:v>
                </c:pt>
                <c:pt idx="2">
                  <c:v>0.49</c:v>
                </c:pt>
                <c:pt idx="3">
                  <c:v>0.42</c:v>
                </c:pt>
                <c:pt idx="4">
                  <c:v>0.47</c:v>
                </c:pt>
                <c:pt idx="5">
                  <c:v>0.59</c:v>
                </c:pt>
                <c:pt idx="6">
                  <c:v>0.79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AE4-426F-85D7-CF7F766445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Complexity →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FA6A0"/>
              </a:solidFill>
              <a:ln w="9525" cap="flat">
                <a:solidFill>
                  <a:srgbClr val="1FA6A0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2.1</c:v>
                </c:pt>
                <c:pt idx="1">
                  <c:v>2.9</c:v>
                </c:pt>
                <c:pt idx="2">
                  <c:v>4.2</c:v>
                </c:pt>
                <c:pt idx="3">
                  <c:v>4.8</c:v>
                </c:pt>
                <c:pt idx="4">
                  <c:v>6.3</c:v>
                </c:pt>
                <c:pt idx="5">
                  <c:v>6.9</c:v>
                </c:pt>
                <c:pt idx="6">
                  <c:v>8.4</c:v>
                </c:pt>
                <c:pt idx="7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9FE-4648-9B96-598E6260EE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σ(x)</c:v>
                </c:pt>
              </c:strCache>
            </c:strRef>
          </c:tx>
          <c:spPr>
            <a:ln w="38100" cap="flat">
              <a:solidFill>
                <a:srgbClr val="2C9BD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9BD6"/>
              </a:solidFill>
              <a:ln w="9525" cap="flat">
                <a:solidFill>
                  <a:srgbClr val="2C9BD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−6</c:v>
                </c:pt>
                <c:pt idx="1">
                  <c:v>−4</c:v>
                </c:pt>
                <c:pt idx="2">
                  <c:v>−2</c:v>
                </c:pt>
                <c:pt idx="3">
                  <c:v>0</c:v>
                </c:pt>
                <c:pt idx="4">
                  <c:v>2</c:v>
                </c:pt>
                <c:pt idx="5">
                  <c:v>4</c:v>
                </c:pt>
                <c:pt idx="6">
                  <c:v>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2E-3</c:v>
                </c:pt>
                <c:pt idx="1">
                  <c:v>1.7999999999999999E-2</c:v>
                </c:pt>
                <c:pt idx="2">
                  <c:v>0.12</c:v>
                </c:pt>
                <c:pt idx="3">
                  <c:v>0.5</c:v>
                </c:pt>
                <c:pt idx="4">
                  <c:v>0.88</c:v>
                </c:pt>
                <c:pt idx="5">
                  <c:v>0.98199999999999998</c:v>
                </c:pt>
                <c:pt idx="6">
                  <c:v>0.998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DE-4EBE-888F-7CA41EBB7D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linear score (logit)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model</c:v>
                </c:pt>
              </c:strCache>
            </c:strRef>
          </c:tx>
          <c:spPr>
            <a:ln w="38100" cap="flat">
              <a:solidFill>
                <a:srgbClr val="1FA6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A6A0"/>
              </a:solidFill>
              <a:ln w="9525" cap="flat">
                <a:solidFill>
                  <a:srgbClr val="1FA6A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5">
                  <c:v>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0.55000000000000004</c:v>
                </c:pt>
                <c:pt idx="2">
                  <c:v>0.78</c:v>
                </c:pt>
                <c:pt idx="3">
                  <c:v>0.9</c:v>
                </c:pt>
                <c:pt idx="4">
                  <c:v>0.97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3A-4F0E-811E-182C6108DD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ln w="38100" cap="flat">
              <a:solidFill>
                <a:srgbClr val="8C8C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C8C93"/>
              </a:solidFill>
              <a:ln w="9525" cap="flat">
                <a:solidFill>
                  <a:srgbClr val="8C8C9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5">
                  <c:v>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3A-4F0E-811E-182C6108D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False Positive Rate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True Positive Rate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FA6A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&lt;20</c:v>
                </c:pt>
                <c:pt idx="1">
                  <c:v>20–30</c:v>
                </c:pt>
                <c:pt idx="2">
                  <c:v>30–40</c:v>
                </c:pt>
                <c:pt idx="3">
                  <c:v>40–50</c:v>
                </c:pt>
                <c:pt idx="4">
                  <c:v>50–60</c:v>
                </c:pt>
                <c:pt idx="5">
                  <c:v>60–70</c:v>
                </c:pt>
                <c:pt idx="6">
                  <c:v>&gt;70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22</c:v>
                </c:pt>
                <c:pt idx="2">
                  <c:v>38</c:v>
                </c:pt>
                <c:pt idx="3">
                  <c:v>31</c:v>
                </c:pt>
                <c:pt idx="4">
                  <c:v>18</c:v>
                </c:pt>
                <c:pt idx="5">
                  <c:v>9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87-477E-9738-5B1002DD6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Customer age band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2C9BD6"/>
              </a:solidFill>
              <a:ln w="9525" cap="flat">
                <a:solidFill>
                  <a:srgbClr val="2C9BD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19</c:v>
                </c:pt>
                <c:pt idx="2">
                  <c:v>25</c:v>
                </c:pt>
                <c:pt idx="3">
                  <c:v>24</c:v>
                </c:pt>
                <c:pt idx="4">
                  <c:v>33</c:v>
                </c:pt>
                <c:pt idx="5">
                  <c:v>40</c:v>
                </c:pt>
                <c:pt idx="6">
                  <c:v>38</c:v>
                </c:pt>
                <c:pt idx="7">
                  <c:v>49</c:v>
                </c:pt>
                <c:pt idx="8">
                  <c:v>55</c:v>
                </c:pt>
                <c:pt idx="9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E2D-4062-9BEB-05337FCBE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Tenure (years)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Sensor reading</c:v>
                </c:pt>
              </c:strCache>
            </c:strRef>
          </c:tx>
          <c:spPr>
            <a:ln w="31750" cap="flat">
              <a:solidFill>
                <a:srgbClr val="F47B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7B20"/>
              </a:solidFill>
              <a:ln w="9525" cap="flat">
                <a:solidFill>
                  <a:srgbClr val="F47B2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</c:v>
                </c:pt>
                <c:pt idx="1">
                  <c:v>22</c:v>
                </c:pt>
                <c:pt idx="2">
                  <c:v>20</c:v>
                </c:pt>
                <c:pt idx="3">
                  <c:v>23</c:v>
                </c:pt>
                <c:pt idx="4">
                  <c:v>21</c:v>
                </c:pt>
                <c:pt idx="5">
                  <c:v>88</c:v>
                </c:pt>
                <c:pt idx="6">
                  <c:v>22</c:v>
                </c:pt>
                <c:pt idx="7">
                  <c:v>20</c:v>
                </c:pt>
                <c:pt idx="8">
                  <c:v>21</c:v>
                </c:pt>
                <c:pt idx="9">
                  <c:v>23</c:v>
                </c:pt>
                <c:pt idx="10">
                  <c:v>19</c:v>
                </c:pt>
                <c:pt idx="11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B4-4EDE-90E3-BFE56D6BA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(skewed)</c:v>
                </c:pt>
              </c:strCache>
            </c:strRef>
          </c:tx>
          <c:spPr>
            <a:solidFill>
              <a:srgbClr val="F47B2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  <c:pt idx="5">
                  <c:v>b6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24</c:v>
                </c:pt>
                <c:pt idx="2">
                  <c:v>9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F6-45C4-A1C2-993F69FDC4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log</c:v>
                </c:pt>
              </c:strCache>
            </c:strRef>
          </c:tx>
          <c:spPr>
            <a:solidFill>
              <a:srgbClr val="2FB67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  <c:pt idx="5">
                  <c:v>b6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17</c:v>
                </c:pt>
                <c:pt idx="2">
                  <c:v>24</c:v>
                </c:pt>
                <c:pt idx="3">
                  <c:v>23</c:v>
                </c:pt>
                <c:pt idx="4">
                  <c:v>16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F6-45C4-A1C2-993F69FDC4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variance</c:v>
                </c:pt>
              </c:strCache>
            </c:strRef>
          </c:tx>
          <c:spPr>
            <a:ln w="38100" cap="flat">
              <a:solidFill>
                <a:srgbClr val="6B5C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5CA5"/>
              </a:solidFill>
              <a:ln w="9525" cap="flat">
                <a:solidFill>
                  <a:srgbClr val="6B5CA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0.42</c:v>
                </c:pt>
                <c:pt idx="1">
                  <c:v>0.63</c:v>
                </c:pt>
                <c:pt idx="2">
                  <c:v>0.77</c:v>
                </c:pt>
                <c:pt idx="3">
                  <c:v>0.86</c:v>
                </c:pt>
                <c:pt idx="4">
                  <c:v>0.92</c:v>
                </c:pt>
                <c:pt idx="5">
                  <c:v>0.96</c:v>
                </c:pt>
                <c:pt idx="6">
                  <c:v>0.98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E1-4391-906A-F1064880E0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Number of components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FB67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Tenure</c:v>
                </c:pt>
                <c:pt idx="1">
                  <c:v>Utilisation</c:v>
                </c:pt>
                <c:pt idx="2">
                  <c:v>Region</c:v>
                </c:pt>
                <c:pt idx="3">
                  <c:v>Age</c:v>
                </c:pt>
                <c:pt idx="4">
                  <c:v>Channel</c:v>
                </c:pt>
                <c:pt idx="5">
                  <c:v>Income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0.27</c:v>
                </c:pt>
                <c:pt idx="1">
                  <c:v>0.22</c:v>
                </c:pt>
                <c:pt idx="2">
                  <c:v>0.16</c:v>
                </c:pt>
                <c:pt idx="3">
                  <c:v>0.13</c:v>
                </c:pt>
                <c:pt idx="4">
                  <c:v>0.12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1F-40E1-9FA4-1D65FA9445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score</c:v>
                </c:pt>
              </c:strCache>
            </c:strRef>
          </c:tx>
          <c:spPr>
            <a:ln w="38100" cap="flat">
              <a:solidFill>
                <a:srgbClr val="F47B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7B20"/>
              </a:solidFill>
              <a:ln w="9525" cap="flat">
                <a:solidFill>
                  <a:srgbClr val="F47B2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100</c:v>
                </c:pt>
                <c:pt idx="1">
                  <c:v>500</c:v>
                </c:pt>
                <c:pt idx="2">
                  <c:v>1k</c:v>
                </c:pt>
                <c:pt idx="3">
                  <c:v>2k</c:v>
                </c:pt>
                <c:pt idx="4">
                  <c:v>4k</c:v>
                </c:pt>
                <c:pt idx="5">
                  <c:v>8k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</c:v>
                </c:pt>
                <c:pt idx="1">
                  <c:v>0.97</c:v>
                </c:pt>
                <c:pt idx="2">
                  <c:v>0.95</c:v>
                </c:pt>
                <c:pt idx="3">
                  <c:v>0.94</c:v>
                </c:pt>
                <c:pt idx="4">
                  <c:v>0.93</c:v>
                </c:pt>
                <c:pt idx="5">
                  <c:v>0.93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50-4EEC-8E66-40C1E5B342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score</c:v>
                </c:pt>
              </c:strCache>
            </c:strRef>
          </c:tx>
          <c:spPr>
            <a:ln w="38100" cap="flat">
              <a:solidFill>
                <a:srgbClr val="1FA6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A6A0"/>
              </a:solidFill>
              <a:ln w="9525" cap="flat">
                <a:solidFill>
                  <a:srgbClr val="1FA6A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100</c:v>
                </c:pt>
                <c:pt idx="1">
                  <c:v>500</c:v>
                </c:pt>
                <c:pt idx="2">
                  <c:v>1k</c:v>
                </c:pt>
                <c:pt idx="3">
                  <c:v>2k</c:v>
                </c:pt>
                <c:pt idx="4">
                  <c:v>4k</c:v>
                </c:pt>
                <c:pt idx="5">
                  <c:v>8k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</c:v>
                </c:pt>
                <c:pt idx="1">
                  <c:v>0.8</c:v>
                </c:pt>
                <c:pt idx="2">
                  <c:v>0.85</c:v>
                </c:pt>
                <c:pt idx="3">
                  <c:v>0.88</c:v>
                </c:pt>
                <c:pt idx="4">
                  <c:v>0.9</c:v>
                </c:pt>
                <c:pt idx="5">
                  <c:v>0.91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50-4EEC-8E66-40C1E5B342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Training-set size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ln w="38100" cap="flat">
              <a:solidFill>
                <a:srgbClr val="2C9BD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C9BD6"/>
              </a:solidFill>
              <a:ln w="9525" cap="flat">
                <a:solidFill>
                  <a:srgbClr val="2C9BD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</c:v>
                </c:pt>
                <c:pt idx="1">
                  <c:v>44</c:v>
                </c:pt>
                <c:pt idx="2">
                  <c:v>50</c:v>
                </c:pt>
                <c:pt idx="3">
                  <c:v>58</c:v>
                </c:pt>
                <c:pt idx="4">
                  <c:v>70</c:v>
                </c:pt>
                <c:pt idx="5">
                  <c:v>86</c:v>
                </c:pt>
                <c:pt idx="6">
                  <c:v>92</c:v>
                </c:pt>
                <c:pt idx="7">
                  <c:v>88</c:v>
                </c:pt>
                <c:pt idx="8">
                  <c:v>72</c:v>
                </c:pt>
                <c:pt idx="9">
                  <c:v>60</c:v>
                </c:pt>
                <c:pt idx="10">
                  <c:v>50</c:v>
                </c:pt>
                <c:pt idx="11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A9-43F8-A09A-D2B8A5C3D1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6B5CA5"/>
              </a:solidFill>
              <a:ln w="9525" cap="flat">
                <a:solidFill>
                  <a:srgbClr val="6B5CA5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6</c:v>
                </c:pt>
                <c:pt idx="4">
                  <c:v>6.5</c:v>
                </c:pt>
                <c:pt idx="5">
                  <c:v>7</c:v>
                </c:pt>
                <c:pt idx="6">
                  <c:v>3</c:v>
                </c:pt>
                <c:pt idx="7">
                  <c:v>3.5</c:v>
                </c:pt>
                <c:pt idx="8">
                  <c:v>8</c:v>
                </c:pt>
                <c:pt idx="9">
                  <c:v>8.5</c:v>
                </c:pt>
                <c:pt idx="10">
                  <c:v>2.2000000000000002</c:v>
                </c:pt>
                <c:pt idx="11">
                  <c:v>6.8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1.6</c:v>
                </c:pt>
                <c:pt idx="2">
                  <c:v>2.4</c:v>
                </c:pt>
                <c:pt idx="3">
                  <c:v>7</c:v>
                </c:pt>
                <c:pt idx="4">
                  <c:v>6.6</c:v>
                </c:pt>
                <c:pt idx="5">
                  <c:v>7.2</c:v>
                </c:pt>
                <c:pt idx="6">
                  <c:v>6.5</c:v>
                </c:pt>
                <c:pt idx="7">
                  <c:v>7.1</c:v>
                </c:pt>
                <c:pt idx="8">
                  <c:v>2.1</c:v>
                </c:pt>
                <c:pt idx="9">
                  <c:v>2.6</c:v>
                </c:pt>
                <c:pt idx="10">
                  <c:v>2</c:v>
                </c:pt>
                <c:pt idx="11">
                  <c:v>6.9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790-4002-A280-BDE278E0B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 (elbow)</c:v>
                </c:pt>
              </c:strCache>
            </c:strRef>
          </c:tx>
          <c:spPr>
            <a:ln w="38100" cap="flat">
              <a:solidFill>
                <a:srgbClr val="1FA6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A6A0"/>
              </a:solidFill>
              <a:ln w="9525" cap="flat">
                <a:solidFill>
                  <a:srgbClr val="1FA6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62</c:v>
                </c:pt>
                <c:pt idx="2">
                  <c:v>38</c:v>
                </c:pt>
                <c:pt idx="3">
                  <c:v>28</c:v>
                </c:pt>
                <c:pt idx="4">
                  <c:v>24</c:v>
                </c:pt>
                <c:pt idx="5">
                  <c:v>21</c:v>
                </c:pt>
                <c:pt idx="6">
                  <c:v>19</c:v>
                </c:pt>
                <c:pt idx="7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2C-495B-A3CA-7B7D071B68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FA6A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Tenure</c:v>
                </c:pt>
                <c:pt idx="1">
                  <c:v>Balance</c:v>
                </c:pt>
                <c:pt idx="2">
                  <c:v>Age</c:v>
                </c:pt>
                <c:pt idx="3">
                  <c:v>Region</c:v>
                </c:pt>
                <c:pt idx="4">
                  <c:v>Product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0.24</c:v>
                </c:pt>
                <c:pt idx="2">
                  <c:v>0.18</c:v>
                </c:pt>
                <c:pt idx="3">
                  <c:v>0.15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4C-4DC2-9E41-D6AAF87A98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19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validation mirrored deployment (new patients), explanations drove adoption, and humans stayed in the loop. Tie back to PDPL and SDAIA ethics.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5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  ·  PROFESSIONAL TRAINING PROGRAM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</a:t>
            </a:r>
            <a:endParaRPr lang="en-US" sz="4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Intelligent Systems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الآلي التطبيقي للأنظمة الذكية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522476" cy="310896"/>
          </a:xfrm>
          <a:prstGeom prst="roundRect">
            <a:avLst>
              <a:gd name="adj" fmla="val 50000"/>
            </a:avLst>
          </a:prstGeom>
          <a:solidFill>
            <a:srgbClr val="F47B2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83480"/>
            <a:ext cx="1522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4-Day Program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35708" y="4983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1FA6A0"/>
          </a:solidFill>
          <a:ln/>
        </p:spPr>
      </p:sp>
      <p:sp>
        <p:nvSpPr>
          <p:cNvPr id="21" name="Text 19"/>
          <p:cNvSpPr/>
          <p:nvPr/>
        </p:nvSpPr>
        <p:spPr>
          <a:xfrm>
            <a:off x="2235708" y="4983480"/>
            <a:ext cx="13304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230+ Slides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30752" y="4983480"/>
            <a:ext cx="1522476" cy="310896"/>
          </a:xfrm>
          <a:prstGeom prst="roundRect">
            <a:avLst>
              <a:gd name="adj" fmla="val 50000"/>
            </a:avLst>
          </a:prstGeom>
          <a:solidFill>
            <a:srgbClr val="2C9BD6"/>
          </a:solidFill>
          <a:ln/>
        </p:spPr>
      </p:sp>
      <p:sp>
        <p:nvSpPr>
          <p:cNvPr id="23" name="Text 21"/>
          <p:cNvSpPr/>
          <p:nvPr/>
        </p:nvSpPr>
        <p:spPr>
          <a:xfrm>
            <a:off x="3730752" y="4983480"/>
            <a:ext cx="1522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17820" y="498348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2FB67C"/>
          </a:solidFill>
          <a:ln/>
        </p:spPr>
      </p:sp>
      <p:sp>
        <p:nvSpPr>
          <p:cNvPr id="25" name="Text 23"/>
          <p:cNvSpPr/>
          <p:nvPr/>
        </p:nvSpPr>
        <p:spPr>
          <a:xfrm>
            <a:off x="5417820" y="4983480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MLOps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92924" y="4983480"/>
            <a:ext cx="1522476" cy="310896"/>
          </a:xfrm>
          <a:prstGeom prst="roundRect">
            <a:avLst>
              <a:gd name="adj" fmla="val 50000"/>
            </a:avLst>
          </a:prstGeom>
          <a:solidFill>
            <a:srgbClr val="6B5CA5"/>
          </a:solidFill>
          <a:ln/>
        </p:spPr>
      </p:sp>
      <p:sp>
        <p:nvSpPr>
          <p:cNvPr id="27" name="Text 25"/>
          <p:cNvSpPr/>
          <p:nvPr/>
        </p:nvSpPr>
        <p:spPr>
          <a:xfrm>
            <a:off x="7392924" y="4983480"/>
            <a:ext cx="1522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Context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339535" y="5989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Instructor-led  ·  Bilingual EN / AR  ·  Executive &amp; Technical Audiences</a:t>
            </a:r>
            <a:endParaRPr lang="en-US" sz="11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1F62FA-EEF2-C983-0DFB-7C4CEA6B88EC}"/>
              </a:ext>
            </a:extLst>
          </p:cNvPr>
          <p:cNvSpPr/>
          <p:nvPr/>
        </p:nvSpPr>
        <p:spPr>
          <a:xfrm>
            <a:off x="-30175" y="5907740"/>
            <a:ext cx="2265884" cy="986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Image 0" descr="/home/claude/build/assets/sdai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" y="6062472"/>
            <a:ext cx="18288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Description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899855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8C8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التوصيف العام للبرنامج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1280160"/>
            <a:ext cx="66751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1508760"/>
            <a:ext cx="6217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applied program equips professionals to design, build and operate machine-learning components inside intelligent systems. Using industry-recognized methodologies — CRISP-DM and MLOps — participants learn to frame business problems as ML problems, prepare and engineer data, train and tune predictive models, and validate, interpret and deploy them responsibly.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pairs concise theory with hands-on labs in Python and scikit-learn, anchored in real Saudi-context use cases across healthcare, finance, energy, manufacturing, smart cities and the public sector — so learners leave able to deliver end-to-end, production-minded ML solutions aligned with Vision 2030.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98080" y="1280160"/>
            <a:ext cx="4114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1280160"/>
            <a:ext cx="82296" cy="65836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6" name="Text 13"/>
          <p:cNvSpPr/>
          <p:nvPr/>
        </p:nvSpPr>
        <p:spPr>
          <a:xfrm>
            <a:off x="7699248" y="13533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99248" y="15727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engineering &amp; analytics professionals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98080" y="2011680"/>
            <a:ext cx="4114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0" y="2011680"/>
            <a:ext cx="82296" cy="658368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20" name="Text 17"/>
          <p:cNvSpPr/>
          <p:nvPr/>
        </p:nvSpPr>
        <p:spPr>
          <a:xfrm>
            <a:off x="7699248" y="20848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699248" y="230428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/ Professional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498080" y="2743200"/>
            <a:ext cx="4114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0" y="2743200"/>
            <a:ext cx="82296" cy="658368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4" name="Text 21"/>
          <p:cNvSpPr/>
          <p:nvPr/>
        </p:nvSpPr>
        <p:spPr>
          <a:xfrm>
            <a:off x="7699248" y="2816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699248" y="30358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Python &amp; statistics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498080" y="3474720"/>
            <a:ext cx="4114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98080" y="3474720"/>
            <a:ext cx="82296" cy="658368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28" name="Text 25"/>
          <p:cNvSpPr/>
          <p:nvPr/>
        </p:nvSpPr>
        <p:spPr>
          <a:xfrm>
            <a:off x="7699248" y="35478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699248" y="376732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· theory + labs + capstone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498080" y="4206240"/>
            <a:ext cx="4114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98080" y="4206240"/>
            <a:ext cx="82296" cy="658368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32" name="Text 29"/>
          <p:cNvSpPr/>
          <p:nvPr/>
        </p:nvSpPr>
        <p:spPr>
          <a:xfrm>
            <a:off x="7699248" y="4279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699248" y="44988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pandas · MLOps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Competencies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program, participants will be able to: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1691640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35024" y="189280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&amp; Scope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49808" y="2441448"/>
            <a:ext cx="320954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business problem into a well-posed ML problem using CRISP-DM — defining targets, data and success metrics.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07408" y="1691640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90288" y="1874520"/>
            <a:ext cx="502920" cy="50292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4590288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193792" y="189280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 Engineer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608576" y="2441448"/>
            <a:ext cx="320954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 and engineer features, applying selection and leakage-control on real datasets.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66176" y="1691640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449056" y="1874520"/>
            <a:ext cx="502920" cy="50292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4" name="Text 21"/>
          <p:cNvSpPr/>
          <p:nvPr/>
        </p:nvSpPr>
        <p:spPr>
          <a:xfrm>
            <a:off x="8449056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052560" y="189280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Tune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467344" y="2441448"/>
            <a:ext cx="320954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evaluate and tune predictive, clustering, forecasting and NLP models with scikit-learn.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3547872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31520" y="3730752"/>
            <a:ext cx="502920" cy="50292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335024" y="3749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Interpret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749808" y="4297680"/>
            <a:ext cx="320954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model fit, fairness and interpretability; judge whether data and methods suit the problem.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07408" y="3547872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90288" y="3730752"/>
            <a:ext cx="502920" cy="50292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4" name="Text 31"/>
          <p:cNvSpPr/>
          <p:nvPr/>
        </p:nvSpPr>
        <p:spPr>
          <a:xfrm>
            <a:off x="4590288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193792" y="3749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Operate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4608576" y="4297680"/>
            <a:ext cx="320954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MLOps to package, serve, monitor and govern models within intelligent-system architectures.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266176" y="3547872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449056" y="3730752"/>
            <a:ext cx="502920" cy="502920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9" name="Text 36"/>
          <p:cNvSpPr/>
          <p:nvPr/>
        </p:nvSpPr>
        <p:spPr>
          <a:xfrm>
            <a:off x="8449056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9052560" y="3749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Responsibly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8467344" y="4297680"/>
            <a:ext cx="320954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ethics, transparency and human oversight from day one across the ML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 a Glance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2697480" cy="3840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371600"/>
            <a:ext cx="2697480" cy="105156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2194560"/>
            <a:ext cx="2697480" cy="2286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5179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Workflow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9808" y="2606040"/>
            <a:ext cx="22951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· paradigms · CRISP-DM · core algorithms · evaluation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483864" y="1371600"/>
            <a:ext cx="2697480" cy="3840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83864" y="1371600"/>
            <a:ext cx="2697480" cy="105156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9" name="Shape 16"/>
          <p:cNvSpPr/>
          <p:nvPr/>
        </p:nvSpPr>
        <p:spPr>
          <a:xfrm>
            <a:off x="3483864" y="2194560"/>
            <a:ext cx="269748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20" name="Text 17"/>
          <p:cNvSpPr/>
          <p:nvPr/>
        </p:nvSpPr>
        <p:spPr>
          <a:xfrm>
            <a:off x="3666744" y="15179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666744" y="1828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85032" y="2606040"/>
            <a:ext cx="22951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cleaning · encoding · feature creation · selection · leakage · pipelines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19088" y="1371600"/>
            <a:ext cx="2697480" cy="3840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19088" y="1371600"/>
            <a:ext cx="2697480" cy="105156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5" name="Shape 22"/>
          <p:cNvSpPr/>
          <p:nvPr/>
        </p:nvSpPr>
        <p:spPr>
          <a:xfrm>
            <a:off x="6419088" y="2194560"/>
            <a:ext cx="2697480" cy="22860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6" name="Text 23"/>
          <p:cNvSpPr/>
          <p:nvPr/>
        </p:nvSpPr>
        <p:spPr>
          <a:xfrm>
            <a:off x="6601968" y="15179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601968" y="1828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620256" y="2606040"/>
            <a:ext cx="22951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· forecasting · clustering · anomaly · NLP · LLMs · vision · recsys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354312" y="1371600"/>
            <a:ext cx="2697480" cy="3840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354312" y="1371600"/>
            <a:ext cx="2697480" cy="105156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31" name="Shape 28"/>
          <p:cNvSpPr/>
          <p:nvPr/>
        </p:nvSpPr>
        <p:spPr>
          <a:xfrm>
            <a:off x="9354312" y="2194560"/>
            <a:ext cx="2697480" cy="22860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32" name="Text 29"/>
          <p:cNvSpPr/>
          <p:nvPr/>
        </p:nvSpPr>
        <p:spPr>
          <a:xfrm>
            <a:off x="9537192" y="15179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37192" y="1828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Deployment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MLOps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555480" y="2606040"/>
            <a:ext cx="22951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· fairness · serving · drift · monitoring · capstone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difficulty — fundamentals → advanced applications → production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48640" y="5897880"/>
            <a:ext cx="2642616" cy="365760"/>
          </a:xfrm>
          <a:prstGeom prst="roundRect">
            <a:avLst>
              <a:gd name="adj" fmla="val 15000"/>
            </a:avLst>
          </a:prstGeom>
          <a:solidFill>
            <a:srgbClr val="F47B20"/>
          </a:solidFill>
          <a:ln/>
        </p:spPr>
      </p:sp>
      <p:sp>
        <p:nvSpPr>
          <p:cNvPr id="37" name="Text 34"/>
          <p:cNvSpPr/>
          <p:nvPr/>
        </p:nvSpPr>
        <p:spPr>
          <a:xfrm>
            <a:off x="603504" y="58978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172968" y="60167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39" name="Shape 36"/>
          <p:cNvSpPr/>
          <p:nvPr/>
        </p:nvSpPr>
        <p:spPr>
          <a:xfrm>
            <a:off x="3355848" y="5897880"/>
            <a:ext cx="2642616" cy="365760"/>
          </a:xfrm>
          <a:prstGeom prst="roundRect">
            <a:avLst>
              <a:gd name="adj" fmla="val 15000"/>
            </a:avLst>
          </a:prstGeom>
          <a:solidFill>
            <a:srgbClr val="1FA6A0"/>
          </a:solidFill>
          <a:ln/>
        </p:spPr>
      </p:sp>
      <p:sp>
        <p:nvSpPr>
          <p:cNvPr id="40" name="Text 37"/>
          <p:cNvSpPr/>
          <p:nvPr/>
        </p:nvSpPr>
        <p:spPr>
          <a:xfrm>
            <a:off x="3410712" y="58978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980176" y="60167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42" name="Shape 39"/>
          <p:cNvSpPr/>
          <p:nvPr/>
        </p:nvSpPr>
        <p:spPr>
          <a:xfrm>
            <a:off x="6163056" y="5897880"/>
            <a:ext cx="2642616" cy="365760"/>
          </a:xfrm>
          <a:prstGeom prst="roundRect">
            <a:avLst>
              <a:gd name="adj" fmla="val 15000"/>
            </a:avLst>
          </a:prstGeom>
          <a:solidFill>
            <a:srgbClr val="2C9BD6"/>
          </a:solidFill>
          <a:ln/>
        </p:spPr>
      </p:sp>
      <p:sp>
        <p:nvSpPr>
          <p:cNvPr id="43" name="Text 40"/>
          <p:cNvSpPr/>
          <p:nvPr/>
        </p:nvSpPr>
        <p:spPr>
          <a:xfrm>
            <a:off x="6217920" y="58978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787384" y="60167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45" name="Shape 42"/>
          <p:cNvSpPr/>
          <p:nvPr/>
        </p:nvSpPr>
        <p:spPr>
          <a:xfrm>
            <a:off x="8970264" y="5897880"/>
            <a:ext cx="2642616" cy="365760"/>
          </a:xfrm>
          <a:prstGeom prst="roundRect">
            <a:avLst>
              <a:gd name="adj" fmla="val 15000"/>
            </a:avLst>
          </a:prstGeom>
          <a:solidFill>
            <a:srgbClr val="2FB67C"/>
          </a:solidFill>
          <a:ln/>
        </p:spPr>
      </p:sp>
      <p:sp>
        <p:nvSpPr>
          <p:cNvPr id="46" name="Text 43"/>
          <p:cNvSpPr/>
          <p:nvPr/>
        </p:nvSpPr>
        <p:spPr>
          <a:xfrm>
            <a:off x="9025128" y="58978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Approach &amp; Daily Rhythm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27632"/>
            <a:ext cx="146304" cy="146304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60934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Theory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520" y="1920240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concept blocks with intuitive diagrams — no dense walls of text.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07408" y="146304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162763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4791456" y="160934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90288" y="1920240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ends in a Python / scikit-learn lab building real artifacts.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66176" y="146304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30768" y="162763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1" name="Text 18"/>
          <p:cNvSpPr/>
          <p:nvPr/>
        </p:nvSpPr>
        <p:spPr>
          <a:xfrm>
            <a:off x="8650224" y="160934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Case Studies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449056" y="1920240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cases across health, finance, energy, smart cities &amp; robotics.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999232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163824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145536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1520" y="3456432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Quizzes, reflections and group activities reinforce each module.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407408" y="2999232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0" y="316382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9" name="Text 26"/>
          <p:cNvSpPr/>
          <p:nvPr/>
        </p:nvSpPr>
        <p:spPr>
          <a:xfrm>
            <a:off x="4791456" y="3145536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90288" y="3456432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cumulative project frames, builds and operationalizes one solution.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66176" y="2999232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430768" y="316382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3" name="Text 30"/>
          <p:cNvSpPr/>
          <p:nvPr/>
        </p:nvSpPr>
        <p:spPr>
          <a:xfrm>
            <a:off x="8650224" y="3145536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449056" y="3456432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fairness and explainability threaded through every topic.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4846320"/>
            <a:ext cx="2642616" cy="914400"/>
          </a:xfrm>
          <a:prstGeom prst="roundRect">
            <a:avLst>
              <a:gd name="adj" fmla="val 6000"/>
            </a:avLst>
          </a:prstGeom>
          <a:solidFill>
            <a:srgbClr val="F47B20"/>
          </a:solidFill>
          <a:ln/>
        </p:spPr>
      </p:sp>
      <p:sp>
        <p:nvSpPr>
          <p:cNvPr id="37" name="Text 34"/>
          <p:cNvSpPr/>
          <p:nvPr/>
        </p:nvSpPr>
        <p:spPr>
          <a:xfrm>
            <a:off x="603504" y="4846320"/>
            <a:ext cx="2532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Foundations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172968" y="52395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39" name="Shape 36"/>
          <p:cNvSpPr/>
          <p:nvPr/>
        </p:nvSpPr>
        <p:spPr>
          <a:xfrm>
            <a:off x="3355848" y="4846320"/>
            <a:ext cx="2642616" cy="914400"/>
          </a:xfrm>
          <a:prstGeom prst="roundRect">
            <a:avLst>
              <a:gd name="adj" fmla="val 6000"/>
            </a:avLst>
          </a:prstGeom>
          <a:solidFill>
            <a:srgbClr val="1FA6A0"/>
          </a:solidFill>
          <a:ln/>
        </p:spPr>
      </p:sp>
      <p:sp>
        <p:nvSpPr>
          <p:cNvPr id="40" name="Text 37"/>
          <p:cNvSpPr/>
          <p:nvPr/>
        </p:nvSpPr>
        <p:spPr>
          <a:xfrm>
            <a:off x="3410712" y="4846320"/>
            <a:ext cx="2532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Worked Examples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980176" y="52395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42" name="Shape 39"/>
          <p:cNvSpPr/>
          <p:nvPr/>
        </p:nvSpPr>
        <p:spPr>
          <a:xfrm>
            <a:off x="6163056" y="4846320"/>
            <a:ext cx="2642616" cy="914400"/>
          </a:xfrm>
          <a:prstGeom prst="roundRect">
            <a:avLst>
              <a:gd name="adj" fmla="val 6000"/>
            </a:avLst>
          </a:prstGeom>
          <a:solidFill>
            <a:srgbClr val="2C9BD6"/>
          </a:solidFill>
          <a:ln/>
        </p:spPr>
      </p:sp>
      <p:sp>
        <p:nvSpPr>
          <p:cNvPr id="43" name="Text 40"/>
          <p:cNvSpPr/>
          <p:nvPr/>
        </p:nvSpPr>
        <p:spPr>
          <a:xfrm>
            <a:off x="6217920" y="4846320"/>
            <a:ext cx="2532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+ Lab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787384" y="52395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45" name="Shape 42"/>
          <p:cNvSpPr/>
          <p:nvPr/>
        </p:nvSpPr>
        <p:spPr>
          <a:xfrm>
            <a:off x="8970264" y="4846320"/>
            <a:ext cx="2642616" cy="914400"/>
          </a:xfrm>
          <a:prstGeom prst="roundRect">
            <a:avLst>
              <a:gd name="adj" fmla="val 6000"/>
            </a:avLst>
          </a:prstGeom>
          <a:solidFill>
            <a:srgbClr val="2FB67C"/>
          </a:solidFill>
          <a:ln/>
        </p:spPr>
      </p:sp>
      <p:sp>
        <p:nvSpPr>
          <p:cNvPr id="46" name="Text 43"/>
          <p:cNvSpPr/>
          <p:nvPr/>
        </p:nvSpPr>
        <p:spPr>
          <a:xfrm>
            <a:off x="9025128" y="4846320"/>
            <a:ext cx="2532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Quiz · Reflect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18745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the ML Workflow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الأسس وسير عمل التعلّم الآلي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mental model: what intelligent systems are, how machines learn, and the disciplined CRISP-DM lifecycle that turns data into reliable, business-aligned decisions.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47B2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50566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Intelligent Systems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69080" y="50749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1FA6A0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53128" y="50566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Paradigms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C9B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55138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CRISP-DM Lifecycle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069080" y="5532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FB67C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53128" y="55138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Evaluation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B5CA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989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59710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 &amp; Metrics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69080" y="5989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BB034"/>
          </a:solidFill>
          <a:ln/>
        </p:spPr>
      </p:sp>
      <p:sp>
        <p:nvSpPr>
          <p:cNvPr id="34" name="Text 32"/>
          <p:cNvSpPr/>
          <p:nvPr/>
        </p:nvSpPr>
        <p:spPr>
          <a:xfrm>
            <a:off x="4069080" y="5989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53128" y="59710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from Day One</a:t>
            </a:r>
            <a:endParaRPr lang="en-US" sz="1150" dirty="0"/>
          </a:p>
        </p:txBody>
      </p:sp>
      <p:pic>
        <p:nvPicPr>
          <p:cNvPr id="36" name="Image 0" descr="/home/claude/build/assets/sdai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6080760"/>
            <a:ext cx="173736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Objectives &amp; Competency Outcomes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intelligent systems and locate ML within AI, DL and Generative AI.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supervised, unsupervised and reinforcement learning apart by task.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 problem through the six CRISP-DM phases end-to-end.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54787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a first predictive model in scikit-learn.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54787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fit-for-purpose metrics and read a confusion matrix &amp; ROC curve.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54787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leakage, overfitting and responsible-AI risks early.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level by end of Day 1:  Foundational → Working knowledge of the ML lifecycle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Agenda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554480"/>
            <a:ext cx="1554480" cy="96012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554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31720" y="155448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systems, the AI–ML–DL landscape, learning paradigms and Saudi-context use cases.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651760"/>
            <a:ext cx="1554480" cy="96012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517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331720" y="265176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CRISP-DM lifecycle and framing business problems as well-posed ML problems.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749040"/>
            <a:ext cx="1554480" cy="96012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749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331720" y="374904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algorithms, train/test discipline, and honest model evaluation.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331720" y="484632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evaluate and interpret your first predictive model in scikit-learn.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MODULE 1.1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Intelligent Systems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والأنظمة الذكية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defines an intelligent system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DL vs Generative AI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ML sits in system architecture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Saudi AI landscape &amp; Vision 2030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Intelligent System?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17320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senses its environment, reasons over data, and acts to achieve goals.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core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supplies the 'reasoning' that improves with experience and data.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are observed and fed back, closing the loop and driving improvement.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engines, fraud monitors, predictive maintenance, autonomous assistants.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915400" y="2788920"/>
            <a:ext cx="1005840" cy="1005840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3" name="Text 10"/>
          <p:cNvSpPr/>
          <p:nvPr/>
        </p:nvSpPr>
        <p:spPr>
          <a:xfrm>
            <a:off x="8869680" y="27889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851392" y="1490472"/>
            <a:ext cx="1133856" cy="7680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8851392" y="1490472"/>
            <a:ext cx="11338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268712" y="2907792"/>
            <a:ext cx="1133856" cy="7680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10268712" y="2907792"/>
            <a:ext cx="11338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/ Learn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51392" y="4325112"/>
            <a:ext cx="1133856" cy="7680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19" name="Text 16"/>
          <p:cNvSpPr/>
          <p:nvPr/>
        </p:nvSpPr>
        <p:spPr>
          <a:xfrm>
            <a:off x="8851392" y="4325112"/>
            <a:ext cx="11338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34072" y="2907792"/>
            <a:ext cx="1133856" cy="768096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1" name="Text 18"/>
          <p:cNvSpPr/>
          <p:nvPr/>
        </p:nvSpPr>
        <p:spPr>
          <a:xfrm>
            <a:off x="7434072" y="2907792"/>
            <a:ext cx="11338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rot="2100000">
            <a:off x="9875520" y="2148840"/>
            <a:ext cx="457200" cy="164592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 rot="7500000">
            <a:off x="10652760" y="3749040"/>
            <a:ext cx="457200" cy="164592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4" name="Shape 21"/>
          <p:cNvSpPr/>
          <p:nvPr/>
        </p:nvSpPr>
        <p:spPr>
          <a:xfrm rot="12900000">
            <a:off x="8961120" y="4434840"/>
            <a:ext cx="457200" cy="164592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5" name="Shape 22"/>
          <p:cNvSpPr/>
          <p:nvPr/>
        </p:nvSpPr>
        <p:spPr>
          <a:xfrm rot="18300000">
            <a:off x="8183880" y="2834640"/>
            <a:ext cx="457200" cy="164592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5212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perception → reasoning → decision → action → feedback loop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Machine Learning &amp; Deep Learning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C3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664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51560" y="205740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2C9BD6">
              <a:alpha val="92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21671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554480" y="256032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1FA6A0">
              <a:alpha val="92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45920" y="2670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057400" y="30632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47B20">
              <a:alpha val="92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48840" y="3172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35040" y="1554480"/>
            <a:ext cx="5577840" cy="736092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99632" y="1719072"/>
            <a:ext cx="146304" cy="146304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1" name="Text 18"/>
          <p:cNvSpPr/>
          <p:nvPr/>
        </p:nvSpPr>
        <p:spPr>
          <a:xfrm>
            <a:off x="6419088" y="1700784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17920" y="2011680"/>
            <a:ext cx="5212080" cy="242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field of systems performing tasks that require human-like intelligence.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2528316"/>
            <a:ext cx="5577840" cy="736092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99632" y="2692908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5" name="Text 22"/>
          <p:cNvSpPr/>
          <p:nvPr/>
        </p:nvSpPr>
        <p:spPr>
          <a:xfrm>
            <a:off x="6419088" y="2674620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17920" y="2985516"/>
            <a:ext cx="5212080" cy="242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learn patterns from data instead of being explicitly programmed.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3502152"/>
            <a:ext cx="5577840" cy="736092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99632" y="3666744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9" name="Text 26"/>
          <p:cNvSpPr/>
          <p:nvPr/>
        </p:nvSpPr>
        <p:spPr>
          <a:xfrm>
            <a:off x="6419088" y="3648456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217920" y="3959352"/>
            <a:ext cx="5212080" cy="242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multi-layer neural networks for perception-heavy tasks (vision, speech).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4475988"/>
            <a:ext cx="5577840" cy="736092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99632" y="4640580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3" name="Text 30"/>
          <p:cNvSpPr/>
          <p:nvPr/>
        </p:nvSpPr>
        <p:spPr>
          <a:xfrm>
            <a:off x="6419088" y="4622292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217920" y="4933188"/>
            <a:ext cx="5212080" cy="242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produce new content — text, images, code — now central to intelligent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ML Fits in System Architecture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7498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554480"/>
            <a:ext cx="128016" cy="105156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166420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2057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business logic · user interfaces consuming predictions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761488"/>
            <a:ext cx="7498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761488"/>
            <a:ext cx="128016" cy="105156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287121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68680" y="3264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evaluation · the served inference service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3968496"/>
            <a:ext cx="7498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968496"/>
            <a:ext cx="128016" cy="105156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07822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" y="447141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storage · pipelines · feature stores feeding the model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321040" y="1554480"/>
            <a:ext cx="3291840" cy="3419856"/>
          </a:xfrm>
          <a:prstGeom prst="roundRect">
            <a:avLst>
              <a:gd name="adj" fmla="val 1667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1040" y="1737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549640" y="233172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641080" y="23317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549640" y="283464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641080" y="28346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549640" y="33375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641080" y="3337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549640" y="384048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8641080" y="3840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549640" y="434340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8641080" y="4343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48640" y="5532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wrap every layer — keeping the intelligent system healthy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Saudi AI Landscape &amp; Vision 2030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351739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74520"/>
            <a:ext cx="315163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authority for data &amp; AI — strategy, governance, and the SAMAI capability drive.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417320"/>
            <a:ext cx="351739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74520"/>
            <a:ext cx="315163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an engine of economic diversification, public-service quality and global competitiveness.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417320"/>
            <a:ext cx="351739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NSDAI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74520"/>
            <a:ext cx="315163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Strategy for Data &amp; AI: ambition to be a top-15 AI nation by 2030.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3749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intelligent systems are being deployed across the Kingdom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114800"/>
            <a:ext cx="2103120" cy="384048"/>
          </a:xfrm>
          <a:prstGeom prst="roundRect">
            <a:avLst>
              <a:gd name="adj" fmla="val 40476"/>
            </a:avLst>
          </a:prstGeom>
          <a:solidFill>
            <a:srgbClr val="F2F2F2"/>
          </a:solidFill>
          <a:ln w="15875">
            <a:solidFill>
              <a:srgbClr val="F47B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41148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 &amp; smart cities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834640" y="4114800"/>
            <a:ext cx="2926080" cy="384048"/>
          </a:xfrm>
          <a:prstGeom prst="roundRect">
            <a:avLst>
              <a:gd name="adj" fmla="val 40476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34640" y="41148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(SEHA, hospitals)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943600" y="4114800"/>
            <a:ext cx="2743200" cy="384048"/>
          </a:xfrm>
          <a:prstGeom prst="roundRect">
            <a:avLst>
              <a:gd name="adj" fmla="val 40476"/>
            </a:avLst>
          </a:prstGeom>
          <a:solidFill>
            <a:srgbClr val="F2F2F2"/>
          </a:solidFill>
          <a:ln w="15875">
            <a:solidFill>
              <a:srgbClr val="2C9BD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0" y="41148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Aramco operations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869680" y="4114800"/>
            <a:ext cx="2468880" cy="384048"/>
          </a:xfrm>
          <a:prstGeom prst="roundRect">
            <a:avLst>
              <a:gd name="adj" fmla="val 40476"/>
            </a:avLst>
          </a:prstGeom>
          <a:solidFill>
            <a:srgbClr val="F2F2F2"/>
          </a:solidFill>
          <a:ln w="15875">
            <a:solidFill>
              <a:srgbClr val="2FB67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69680" y="4114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sector (SAMA)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4617720"/>
            <a:ext cx="2468880" cy="384048"/>
          </a:xfrm>
          <a:prstGeom prst="roundRect">
            <a:avLst>
              <a:gd name="adj" fmla="val 40476"/>
            </a:avLst>
          </a:prstGeom>
          <a:solidFill>
            <a:srgbClr val="F2F2F2"/>
          </a:solidFill>
          <a:ln w="15875">
            <a:solidFill>
              <a:srgbClr val="6B5CA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4617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Hajj &amp; crowd management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00400" y="4617720"/>
            <a:ext cx="4023360" cy="384048"/>
          </a:xfrm>
          <a:prstGeom prst="roundRect">
            <a:avLst>
              <a:gd name="adj" fmla="val 40476"/>
            </a:avLst>
          </a:prstGeom>
          <a:solidFill>
            <a:srgbClr val="F2F2F2"/>
          </a:solidFill>
          <a:ln w="15875">
            <a:solidFill>
              <a:srgbClr val="FBB03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0" y="46177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services (Absher, Tawakkalna)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study in this program is grounded in a real Saudi-context sector.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MODULE 1.2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Paradigms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أنماط التعلّم الآلي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 learning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regression tasks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 and semi-supervised foundations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the right paradigm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Learning Paradigms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2574036" cy="393192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20619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2208276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mapping from labeled inputs to outputs.</a:t>
            </a: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regression.</a:t>
            </a: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churn, price, diagnosis.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78708" y="1417320"/>
            <a:ext cx="2574036" cy="393192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43300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3762756" y="1563624"/>
            <a:ext cx="20619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61588" y="1874520"/>
            <a:ext cx="2208276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structure in unlabeled data.</a:t>
            </a: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dimensionality reduction.</a:t>
            </a: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segments, topics, anomalies.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08776" y="1417320"/>
            <a:ext cx="2574036" cy="393192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73368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6592824" y="1563624"/>
            <a:ext cx="20619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91656" y="1874520"/>
            <a:ext cx="2208276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actions that maximise reward through trial and feedback.</a:t>
            </a: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pricing, robotics, control.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38844" y="1417320"/>
            <a:ext cx="2574036" cy="393192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03436" y="15819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422892" y="1563624"/>
            <a:ext cx="20619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/ Semi-supervised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221724" y="1874520"/>
            <a:ext cx="2208276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vast unlabeled data with few labels.</a:t>
            </a: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of modern foundation models &amp; LLMs.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Learning: Two Core Tasks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category — spam/not-spam, churn yes/no, disease class.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continuous number — price, demand, time-to-failure.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(or probability) vs a real-valued estimate.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Accuracy/precision/recall vs RMSE/MAE/R².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recipe, two flavours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Inputs → features → model
•  Labels define the task type
•  Choose metrics to match the goal
•  Most business problems are one of these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in Practice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records — customer segments, document topics, sensor regimes.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features while preserving structure (PCA, UMAP) for speed &amp; visualisation.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co-occurrence patterns — market-basket and recommendation seeds.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52044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" y="4069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methods surface hidden structure and generate hypotheses when labels are scarce or expensive to obtain — often the first lens you reach for on a fresh, unlabeled dataset before committing to a supervised objective.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at a Glance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environment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takes actions; the environment returns new states and rewards.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policy that maximises cumulative long-term reward.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pricing, recommendation, robotics, operations &amp; energy optimisation.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data-hungry and harder to operationalise than supervised ML.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406640" y="1554480"/>
            <a:ext cx="42062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0" y="192024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0" y="402336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1FA6A0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4023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46720" y="2743200"/>
            <a:ext cx="274320" cy="1188720"/>
          </a:xfrm>
          <a:prstGeom prst="downArrow">
            <a:avLst/>
          </a:prstGeom>
          <a:solidFill>
            <a:srgbClr val="1C355E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698480" y="2743200"/>
            <a:ext cx="274320" cy="1188720"/>
          </a:xfrm>
          <a:prstGeom prst="upArrow">
            <a:avLst/>
          </a:prstGeom>
          <a:solidFill>
            <a:srgbClr val="6B5CA5"/>
          </a:solidFill>
          <a:ln/>
        </p:spPr>
      </p:sp>
      <p:sp>
        <p:nvSpPr>
          <p:cNvPr id="20" name="Text 17"/>
          <p:cNvSpPr/>
          <p:nvPr/>
        </p:nvSpPr>
        <p:spPr>
          <a:xfrm>
            <a:off x="9784080" y="301752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Paradigm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37760" y="141732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C355E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labels?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0" y="1965960"/>
            <a:ext cx="0" cy="640080"/>
          </a:xfrm>
          <a:prstGeom prst="line">
            <a:avLst/>
          </a:prstGeom>
          <a:noFill/>
          <a:ln w="19050">
            <a:solidFill>
              <a:srgbClr val="C9D2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0" y="1965960"/>
            <a:ext cx="2194560" cy="640080"/>
          </a:xfrm>
          <a:prstGeom prst="line">
            <a:avLst/>
          </a:prstGeom>
          <a:noFill/>
          <a:ln w="19050">
            <a:solidFill>
              <a:srgbClr val="C9D2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5528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737360" y="26060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47B20"/>
          </a:solidFill>
          <a:ln/>
        </p:spPr>
      </p:sp>
      <p:sp>
        <p:nvSpPr>
          <p:cNvPr id="19" name="Text 16"/>
          <p:cNvSpPr/>
          <p:nvPr/>
        </p:nvSpPr>
        <p:spPr>
          <a:xfrm>
            <a:off x="173736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type?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38160" y="26060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FA6A0"/>
          </a:solidFill>
          <a:ln/>
        </p:spPr>
      </p:sp>
      <p:sp>
        <p:nvSpPr>
          <p:cNvPr id="21" name="Text 18"/>
          <p:cNvSpPr/>
          <p:nvPr/>
        </p:nvSpPr>
        <p:spPr>
          <a:xfrm>
            <a:off x="813816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act for reward?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14400" y="36576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47B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657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08960" y="36576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9BD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08960" y="3657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→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77840" y="36576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FA6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77840" y="3657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→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/ DR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863840" y="36576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6B5C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0" y="3657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058400" y="36576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BB03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58400" y="3657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few labels →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first cut — many real systems combine paradigms.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Across Industries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fraud detection, AML, algorithmic risk monitoring.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support, readmission prediction, medical imaging triage.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maintenance, visual quality inspection, yield optimisation.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502152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667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484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Utilities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59352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forecasting, grid &amp; asset anomaly detection, optimisation.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502152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667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484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59352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crowd management (Hajj), utilities and public-service routing.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502152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667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484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59352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planning, service automation, document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— Paradigms &amp; Landscape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07008" y="1563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next month's electricity demand (a number) is which task?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207008" y="213055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Classification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Regression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Clustering
D)  Reinforcement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82512" y="158191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9" name="Text 16"/>
          <p:cNvSpPr/>
          <p:nvPr/>
        </p:nvSpPr>
        <p:spPr>
          <a:xfrm>
            <a:off x="638251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76288" y="1563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customers with no labels is best framed as…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76288" y="213055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Supervised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Unsupervised clustering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Regression
D)  RL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368503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0700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supplies the adaptive 'reasoning' in an intelligent system?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207008" y="42336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UI layer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Machine learning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database
D)  The API gateway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82512" y="368503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9" name="Text 26"/>
          <p:cNvSpPr/>
          <p:nvPr/>
        </p:nvSpPr>
        <p:spPr>
          <a:xfrm>
            <a:off x="6382512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7628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primarily built on which paradigm?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876288" y="42336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Pure supervised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Self-/semi-supervised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Classical RL
D)  Rule-based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answers shown in green — discuss the reasoning, not just the letter.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2C9BD6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MODULE 1.3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CRISP-DM Lifecycle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حياة مشاريع التعلّم الآلي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 from business need to deployment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 business problem as an ML problem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vs diagnostic vs prescriptive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targets &amp; success metrics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CRISP-DM Lifecycle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999232" y="804672"/>
            <a:ext cx="1316736" cy="1316736"/>
          </a:xfrm>
          <a:prstGeom prst="ellipse">
            <a:avLst/>
          </a:prstGeom>
          <a:solidFill>
            <a:srgbClr val="F47B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9232" y="804672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2209" y="1764792"/>
            <a:ext cx="1316736" cy="1316736"/>
          </a:xfrm>
          <a:prstGeom prst="ellipse">
            <a:avLst/>
          </a:prstGeom>
          <a:solidFill>
            <a:srgbClr val="FBB0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2209" y="1764792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2209" y="3685032"/>
            <a:ext cx="1316736" cy="1316736"/>
          </a:xfrm>
          <a:prstGeom prst="ellipse">
            <a:avLst/>
          </a:prstGeom>
          <a:solidFill>
            <a:srgbClr val="2FB67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2209" y="3685032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99232" y="4645152"/>
            <a:ext cx="1316736" cy="1316736"/>
          </a:xfrm>
          <a:prstGeom prst="ellipse">
            <a:avLst/>
          </a:prstGeom>
          <a:solidFill>
            <a:srgbClr val="1FA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4645152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336255" y="3685032"/>
            <a:ext cx="1316736" cy="1316736"/>
          </a:xfrm>
          <a:prstGeom prst="ellipse">
            <a:avLst/>
          </a:prstGeom>
          <a:solidFill>
            <a:srgbClr val="2C9B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36255" y="3685032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336255" y="1764792"/>
            <a:ext cx="1316736" cy="1316736"/>
          </a:xfrm>
          <a:prstGeom prst="ellipse">
            <a:avLst/>
          </a:prstGeom>
          <a:solidFill>
            <a:srgbClr val="6B5C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36255" y="1764792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788920" y="2514600"/>
            <a:ext cx="1737360" cy="1737360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4" name="Text 21"/>
          <p:cNvSpPr/>
          <p:nvPr/>
        </p:nvSpPr>
        <p:spPr>
          <a:xfrm>
            <a:off x="2788920" y="251460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400800" y="155448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loop — insights from later stages reshape earlier ones.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Business-first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and ends with business value, not algorithms.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&amp; preparing data dominate real project effort.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data-mining / ML project methodology.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CRISP-DM: Business Understanding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04872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4" name="Text 11"/>
          <p:cNvSpPr/>
          <p:nvPr/>
        </p:nvSpPr>
        <p:spPr>
          <a:xfrm>
            <a:off x="2404872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61104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6" name="Text 13"/>
          <p:cNvSpPr/>
          <p:nvPr/>
        </p:nvSpPr>
        <p:spPr>
          <a:xfrm>
            <a:off x="4261104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17336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8" name="Text 15"/>
          <p:cNvSpPr/>
          <p:nvPr/>
        </p:nvSpPr>
        <p:spPr>
          <a:xfrm>
            <a:off x="6117336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73568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0" name="Text 17"/>
          <p:cNvSpPr/>
          <p:nvPr/>
        </p:nvSpPr>
        <p:spPr>
          <a:xfrm>
            <a:off x="7973568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82980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2" name="Text 19"/>
          <p:cNvSpPr/>
          <p:nvPr/>
        </p:nvSpPr>
        <p:spPr>
          <a:xfrm>
            <a:off x="982980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219456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business goal and the decision the model will support.
</a:t>
            </a:r>
            <a:r>
              <a:rPr lang="en-US" sz="14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business success criteria and translate to ML metrics.
</a:t>
            </a:r>
            <a:r>
              <a:rPr lang="en-US" sz="14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latency, data access, regulation and risk appetite.
</a:t>
            </a:r>
            <a:r>
              <a:rPr lang="en-US" sz="14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crisp problem statement and project plan.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219456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03920" y="2697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0" dirty="0"/>
          </a:p>
        </p:txBody>
      </p:sp>
      <p:sp>
        <p:nvSpPr>
          <p:cNvPr id="27" name="Text 24"/>
          <p:cNvSpPr/>
          <p:nvPr/>
        </p:nvSpPr>
        <p:spPr>
          <a:xfrm>
            <a:off x="85039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CRISP-DM: Data Understanding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04872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BB034"/>
          </a:solidFill>
          <a:ln/>
        </p:spPr>
      </p:sp>
      <p:sp>
        <p:nvSpPr>
          <p:cNvPr id="14" name="Text 11"/>
          <p:cNvSpPr/>
          <p:nvPr/>
        </p:nvSpPr>
        <p:spPr>
          <a:xfrm>
            <a:off x="2404872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61104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6" name="Text 13"/>
          <p:cNvSpPr/>
          <p:nvPr/>
        </p:nvSpPr>
        <p:spPr>
          <a:xfrm>
            <a:off x="4261104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17336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8" name="Text 15"/>
          <p:cNvSpPr/>
          <p:nvPr/>
        </p:nvSpPr>
        <p:spPr>
          <a:xfrm>
            <a:off x="6117336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73568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0" name="Text 17"/>
          <p:cNvSpPr/>
          <p:nvPr/>
        </p:nvSpPr>
        <p:spPr>
          <a:xfrm>
            <a:off x="7973568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82980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2" name="Text 19"/>
          <p:cNvSpPr/>
          <p:nvPr/>
        </p:nvSpPr>
        <p:spPr>
          <a:xfrm>
            <a:off x="982980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219456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available data sources and access paths.
</a:t>
            </a:r>
            <a:r>
              <a:rPr lang="en-US" sz="140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distributions, quality, coverage and relationships (EDA).
</a:t>
            </a:r>
            <a:r>
              <a:rPr lang="en-US" sz="140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data can plausibly support the objective.
</a:t>
            </a:r>
            <a:r>
              <a:rPr lang="en-US" sz="140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quality report and early hypotheses.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219456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03920" y="2697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0" dirty="0"/>
          </a:p>
        </p:txBody>
      </p:sp>
      <p:sp>
        <p:nvSpPr>
          <p:cNvPr id="27" name="Text 24"/>
          <p:cNvSpPr/>
          <p:nvPr/>
        </p:nvSpPr>
        <p:spPr>
          <a:xfrm>
            <a:off x="85039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CRISP-DM: Data Preparation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04872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4" name="Text 11"/>
          <p:cNvSpPr/>
          <p:nvPr/>
        </p:nvSpPr>
        <p:spPr>
          <a:xfrm>
            <a:off x="2404872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61104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2FB67C"/>
          </a:solidFill>
          <a:ln/>
        </p:spPr>
      </p:sp>
      <p:sp>
        <p:nvSpPr>
          <p:cNvPr id="16" name="Text 13"/>
          <p:cNvSpPr/>
          <p:nvPr/>
        </p:nvSpPr>
        <p:spPr>
          <a:xfrm>
            <a:off x="4261104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17336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8" name="Text 15"/>
          <p:cNvSpPr/>
          <p:nvPr/>
        </p:nvSpPr>
        <p:spPr>
          <a:xfrm>
            <a:off x="6117336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73568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0" name="Text 17"/>
          <p:cNvSpPr/>
          <p:nvPr/>
        </p:nvSpPr>
        <p:spPr>
          <a:xfrm>
            <a:off x="7973568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82980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2" name="Text 19"/>
          <p:cNvSpPr/>
          <p:nvPr/>
        </p:nvSpPr>
        <p:spPr>
          <a:xfrm>
            <a:off x="982980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219456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outliers, duplicates and errors.
</a:t>
            </a:r>
            <a:r>
              <a:rPr lang="en-US" sz="14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and select features; encode and scale.
</a:t>
            </a:r>
            <a:r>
              <a:rPr lang="en-US" sz="14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sources into a single analysis-ready table.
</a:t>
            </a:r>
            <a:r>
              <a:rPr lang="en-US" sz="14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leakage-free feature pipeline (≈ 60–80% of effort).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219456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03920" y="2697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0" dirty="0"/>
          </a:p>
        </p:txBody>
      </p:sp>
      <p:sp>
        <p:nvSpPr>
          <p:cNvPr id="27" name="Text 24"/>
          <p:cNvSpPr/>
          <p:nvPr/>
        </p:nvSpPr>
        <p:spPr>
          <a:xfrm>
            <a:off x="85039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CRISP-DM: Modeling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04872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4" name="Text 11"/>
          <p:cNvSpPr/>
          <p:nvPr/>
        </p:nvSpPr>
        <p:spPr>
          <a:xfrm>
            <a:off x="2404872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61104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6" name="Text 13"/>
          <p:cNvSpPr/>
          <p:nvPr/>
        </p:nvSpPr>
        <p:spPr>
          <a:xfrm>
            <a:off x="4261104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17336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6117336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73568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0" name="Text 17"/>
          <p:cNvSpPr/>
          <p:nvPr/>
        </p:nvSpPr>
        <p:spPr>
          <a:xfrm>
            <a:off x="7973568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82980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2" name="Text 19"/>
          <p:cNvSpPr/>
          <p:nvPr/>
        </p:nvSpPr>
        <p:spPr>
          <a:xfrm>
            <a:off x="982980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219456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algorithms suited to the task type and data.
</a:t>
            </a:r>
            <a:r>
              <a:rPr lang="en-US" sz="14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candidates; tune hyperparameters with validation.
</a:t>
            </a:r>
            <a:r>
              <a:rPr lang="en-US" sz="14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sensible baseline.
</a:t>
            </a:r>
            <a:r>
              <a:rPr lang="en-US" sz="14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candidate models with documented settings.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219456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1FA6A0"/>
          </a:solidFill>
          <a:ln w="12700">
            <a:solidFill>
              <a:srgbClr val="1FA6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03920" y="2697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0" dirty="0"/>
          </a:p>
        </p:txBody>
      </p:sp>
      <p:sp>
        <p:nvSpPr>
          <p:cNvPr id="27" name="Text 24"/>
          <p:cNvSpPr/>
          <p:nvPr/>
        </p:nvSpPr>
        <p:spPr>
          <a:xfrm>
            <a:off x="85039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CRISP-DM: Evaluation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04872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4" name="Text 11"/>
          <p:cNvSpPr/>
          <p:nvPr/>
        </p:nvSpPr>
        <p:spPr>
          <a:xfrm>
            <a:off x="2404872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61104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6" name="Text 13"/>
          <p:cNvSpPr/>
          <p:nvPr/>
        </p:nvSpPr>
        <p:spPr>
          <a:xfrm>
            <a:off x="4261104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17336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8" name="Text 15"/>
          <p:cNvSpPr/>
          <p:nvPr/>
        </p:nvSpPr>
        <p:spPr>
          <a:xfrm>
            <a:off x="6117336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73568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2C9BD6"/>
          </a:solidFill>
          <a:ln/>
        </p:spPr>
      </p:sp>
      <p:sp>
        <p:nvSpPr>
          <p:cNvPr id="20" name="Text 17"/>
          <p:cNvSpPr/>
          <p:nvPr/>
        </p:nvSpPr>
        <p:spPr>
          <a:xfrm>
            <a:off x="7973568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82980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2" name="Text 19"/>
          <p:cNvSpPr/>
          <p:nvPr/>
        </p:nvSpPr>
        <p:spPr>
          <a:xfrm>
            <a:off x="982980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219456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models against business — not just statistical — metrics.
</a:t>
            </a:r>
            <a:r>
              <a:rPr lang="en-US" sz="14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assumptions, fairness, leakage and edge cases.
</a:t>
            </a:r>
            <a:r>
              <a:rPr lang="en-US" sz="14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iterate, or reframe the problem.
</a:t>
            </a:r>
            <a:r>
              <a:rPr lang="en-US" sz="14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 / no-go decision with evidence.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219456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2C9BD6"/>
          </a:solidFill>
          <a:ln w="12700">
            <a:solidFill>
              <a:srgbClr val="2C9BD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03920" y="2697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0" dirty="0"/>
          </a:p>
        </p:txBody>
      </p:sp>
      <p:sp>
        <p:nvSpPr>
          <p:cNvPr id="27" name="Text 24"/>
          <p:cNvSpPr/>
          <p:nvPr/>
        </p:nvSpPr>
        <p:spPr>
          <a:xfrm>
            <a:off x="85039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CRISP-DM: Deployment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04872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4" name="Text 11"/>
          <p:cNvSpPr/>
          <p:nvPr/>
        </p:nvSpPr>
        <p:spPr>
          <a:xfrm>
            <a:off x="2404872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61104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6" name="Text 13"/>
          <p:cNvSpPr/>
          <p:nvPr/>
        </p:nvSpPr>
        <p:spPr>
          <a:xfrm>
            <a:off x="4261104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17336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18" name="Text 15"/>
          <p:cNvSpPr/>
          <p:nvPr/>
        </p:nvSpPr>
        <p:spPr>
          <a:xfrm>
            <a:off x="6117336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73568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DCE3EF"/>
          </a:solidFill>
          <a:ln/>
        </p:spPr>
      </p:sp>
      <p:sp>
        <p:nvSpPr>
          <p:cNvPr id="20" name="Text 17"/>
          <p:cNvSpPr/>
          <p:nvPr/>
        </p:nvSpPr>
        <p:spPr>
          <a:xfrm>
            <a:off x="7973568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829800" y="1325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6B5CA5"/>
          </a:solidFill>
          <a:ln/>
        </p:spPr>
      </p:sp>
      <p:sp>
        <p:nvSpPr>
          <p:cNvPr id="22" name="Text 19"/>
          <p:cNvSpPr/>
          <p:nvPr/>
        </p:nvSpPr>
        <p:spPr>
          <a:xfrm>
            <a:off x="9829800" y="13258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219456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and expose the model (batch or real-time).
</a:t>
            </a:r>
            <a:r>
              <a:rPr lang="en-US" sz="14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performance, drift and data quality in production.
</a:t>
            </a:r>
            <a:r>
              <a:rPr lang="en-US" sz="14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retraining, ownership and governance.
</a:t>
            </a:r>
            <a:r>
              <a:rPr lang="en-US" sz="14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monitored, owned model — value realised.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219456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03920" y="2697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00" dirty="0"/>
          </a:p>
        </p:txBody>
      </p:sp>
      <p:sp>
        <p:nvSpPr>
          <p:cNvPr id="27" name="Text 24"/>
          <p:cNvSpPr/>
          <p:nvPr/>
        </p:nvSpPr>
        <p:spPr>
          <a:xfrm>
            <a:off x="85039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Methodologies Compared: CRISP-DM vs TDSP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23774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63040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6080" y="1463040"/>
            <a:ext cx="43434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232" y="1463040"/>
            <a:ext cx="4197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69480" y="1463040"/>
            <a:ext cx="43434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42632" y="1463040"/>
            <a:ext cx="4197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TDSP (Microsoft)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88366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883664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926080" y="1883664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99232" y="1883664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 cross-industry standard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269480" y="1883664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42632" y="1883664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team-data-science process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2450592"/>
            <a:ext cx="237744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450592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926080" y="2450592"/>
            <a:ext cx="43434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99232" y="2450592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iterative phases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269480" y="2450592"/>
            <a:ext cx="43434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42632" y="2450592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+ defined roles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301752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301752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2926080" y="3017520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99232" y="3017520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business value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269480" y="3017520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42632" y="3017520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Collaboration, Git, code &amp; artifacts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3584448"/>
            <a:ext cx="237744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584448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2926080" y="3584448"/>
            <a:ext cx="43434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99232" y="3584448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269480" y="3584448"/>
            <a:ext cx="43434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42632" y="3584448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(PM, DS, engineer)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48640" y="4151376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4151376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2926080" y="4151376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99232" y="4151376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General, vendor-neutral projects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7269480" y="4151376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42632" y="4151376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teams in cloud/DevOps settings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share the same DNA — frame, prepare, model, evaluate, deploy. Pick the one your team will actually follow.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 Business Problem as an ML Problem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2081174" cy="914400"/>
          </a:xfrm>
          <a:prstGeom prst="roundRect">
            <a:avLst>
              <a:gd name="adj" fmla="val 6000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463040"/>
            <a:ext cx="197144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11526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94406" y="1463040"/>
            <a:ext cx="2081174" cy="914400"/>
          </a:xfrm>
          <a:prstGeom prst="roundRect">
            <a:avLst>
              <a:gd name="adj" fmla="val 6000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49270" y="1463040"/>
            <a:ext cx="197144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retain?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57293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040173" y="1463040"/>
            <a:ext cx="2081174" cy="914400"/>
          </a:xfrm>
          <a:prstGeom prst="roundRect">
            <a:avLst>
              <a:gd name="adj" fmla="val 6000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095037" y="1463040"/>
            <a:ext cx="197144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task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prob.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03059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5939" y="1463040"/>
            <a:ext cx="2081174" cy="914400"/>
          </a:xfrm>
          <a:prstGeom prst="roundRect">
            <a:avLst>
              <a:gd name="adj" fmla="val 6000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7340803" y="1463040"/>
            <a:ext cx="197144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data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features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348826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9531706" y="1463040"/>
            <a:ext cx="2081174" cy="914400"/>
          </a:xfrm>
          <a:prstGeom prst="roundRect">
            <a:avLst>
              <a:gd name="adj" fmla="val 6000"/>
            </a:avLst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9586570" y="1463040"/>
            <a:ext cx="197144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budget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2743200"/>
            <a:ext cx="5404104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13232" y="29077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7" name="Text 24"/>
          <p:cNvSpPr/>
          <p:nvPr/>
        </p:nvSpPr>
        <p:spPr>
          <a:xfrm>
            <a:off x="932688" y="288950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decision question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" y="3200400"/>
            <a:ext cx="50383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 will this prediction drive? No decision → no ML project.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208776" y="2743200"/>
            <a:ext cx="5404104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73368" y="29077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31" name="Text 28"/>
          <p:cNvSpPr/>
          <p:nvPr/>
        </p:nvSpPr>
        <p:spPr>
          <a:xfrm>
            <a:off x="6592824" y="288950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target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391656" y="3200400"/>
            <a:ext cx="50383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precisely what is being predicted and over what horizon.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48640" y="4050792"/>
            <a:ext cx="5404104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13232" y="4215384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5" name="Text 32"/>
          <p:cNvSpPr/>
          <p:nvPr/>
        </p:nvSpPr>
        <p:spPr>
          <a:xfrm>
            <a:off x="932688" y="419709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data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31520" y="4507992"/>
            <a:ext cx="50383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features are available at prediction time (no future leakage)?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208776" y="4050792"/>
            <a:ext cx="5404104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42153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9" name="Text 36"/>
          <p:cNvSpPr/>
          <p:nvPr/>
        </p:nvSpPr>
        <p:spPr>
          <a:xfrm>
            <a:off x="6592824" y="419709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metric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391656" y="4507992"/>
            <a:ext cx="50383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metric tied to business value, not just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Diagnostic &amp; Prescriptive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697480" cy="347472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554480"/>
            <a:ext cx="2697480" cy="868680"/>
          </a:xfrm>
          <a:prstGeom prst="rect">
            <a:avLst/>
          </a:prstGeom>
          <a:solidFill>
            <a:srgbClr val="FBB03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6642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32588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3337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reports, EDA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483864" y="1554480"/>
            <a:ext cx="2697480" cy="347472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83864" y="1554480"/>
            <a:ext cx="2697480" cy="86868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3575304" y="16642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4261104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666744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66744" y="3337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correlations, root cause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19088" y="1554480"/>
            <a:ext cx="2697480" cy="347472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19088" y="1554480"/>
            <a:ext cx="2697480" cy="86868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5" name="Text 22"/>
          <p:cNvSpPr/>
          <p:nvPr/>
        </p:nvSpPr>
        <p:spPr>
          <a:xfrm>
            <a:off x="6510528" y="16642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7196328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01968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happen?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601968" y="3337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Forecasts, classification, scoring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354312" y="1554480"/>
            <a:ext cx="2697480" cy="347472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354312" y="1554480"/>
            <a:ext cx="2697480" cy="86868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31" name="Text 28"/>
          <p:cNvSpPr/>
          <p:nvPr/>
        </p:nvSpPr>
        <p:spPr>
          <a:xfrm>
            <a:off x="9445752" y="16642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10131552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537192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537192" y="3337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Optimisation, recommendations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business value and complexity  →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Target &amp; Success Metrics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(y)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quantity predicted — well-defined, measurable, available historically.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leakage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features knowable at prediction time.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metric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F1, AUC — measures model quality.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saved, fraud caught, downtime avoided — measures value.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define what 'good' beats (current rule / heuristic).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0" y="1554480"/>
            <a:ext cx="4297680" cy="3657600"/>
          </a:xfrm>
          <a:prstGeom prst="roundRect">
            <a:avLst>
              <a:gd name="adj" fmla="val 1500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4380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transactions to review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543800" y="2715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144000" y="2715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= 1 / legit = 0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3800" y="319125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0" y="3191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time, geo, history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543800" y="36667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metric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144000" y="36667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fixed alert budget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543800" y="41422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144000" y="4142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fraud prevented / month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3800" y="4617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14400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rules engine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6B5CA5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MODULE 1.4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Evaluation Foundations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أساسيات البيانات والتقييم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sources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discipline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Overfitting, underfitting &amp; bias–variance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You Will Work With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&amp; columns — transactions, sensor logs, CRM tables.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(unstructured)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reviews, clinical notes, Arabic &amp; English documents.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prices, telemetry indexed by time.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2102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video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X-rays, inspection photos, CCTV frames.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2102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&amp; ordinal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and ranked categories needing encoding.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2102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Coordinates, routes, regions — smart-city data.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Collection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systems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data warehouses, application &amp; event logs.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feeds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open data, vendors, partner data exchanges.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/ IoT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from machines, vehicles and infrastructure.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Human-generated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surveys, annotations and support tickets.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privacy (PDPL), lineage and access control matter from day one.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0" y="1554480"/>
            <a:ext cx="4297680" cy="3657600"/>
          </a:xfrm>
          <a:prstGeom prst="roundRect">
            <a:avLst>
              <a:gd name="adj" fmla="val 1500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dimensions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543800" y="2286000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635240" y="2368296"/>
            <a:ext cx="219456" cy="21945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6" name="Text 13"/>
          <p:cNvSpPr/>
          <p:nvPr/>
        </p:nvSpPr>
        <p:spPr>
          <a:xfrm>
            <a:off x="7955280" y="2286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43800" y="2761488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635240" y="2843784"/>
            <a:ext cx="219456" cy="21945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27614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543800" y="3236976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635240" y="3319272"/>
            <a:ext cx="219456" cy="21945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7955280" y="3236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543800" y="3712464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35240" y="3794760"/>
            <a:ext cx="219456" cy="21945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5" name="Text 22"/>
          <p:cNvSpPr/>
          <p:nvPr/>
        </p:nvSpPr>
        <p:spPr>
          <a:xfrm>
            <a:off x="7955280" y="37124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43800" y="4187952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635240" y="4270248"/>
            <a:ext cx="219456" cy="219456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8" name="Text 25"/>
          <p:cNvSpPr/>
          <p:nvPr/>
        </p:nvSpPr>
        <p:spPr>
          <a:xfrm>
            <a:off x="7955280" y="41879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543800" y="4663440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635240" y="4745736"/>
            <a:ext cx="219456" cy="219456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1" name="Text 28"/>
          <p:cNvSpPr/>
          <p:nvPr/>
        </p:nvSpPr>
        <p:spPr>
          <a:xfrm>
            <a:off x="7955280" y="4663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6638544" cy="914400"/>
          </a:xfrm>
          <a:prstGeom prst="rect">
            <a:avLst/>
          </a:prstGeom>
          <a:solidFill>
            <a:srgbClr val="1FA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554480"/>
            <a:ext cx="6638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60%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87184" y="1554480"/>
            <a:ext cx="2212848" cy="914400"/>
          </a:xfrm>
          <a:prstGeom prst="rect">
            <a:avLst/>
          </a:prstGeom>
          <a:solidFill>
            <a:srgbClr val="FBB0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87184" y="155448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20%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400032" y="1554480"/>
            <a:ext cx="2212848" cy="914400"/>
          </a:xfrm>
          <a:prstGeom prst="rect">
            <a:avLst/>
          </a:prstGeom>
          <a:solidFill>
            <a:srgbClr val="F47B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00032" y="155448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20%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2834640"/>
            <a:ext cx="351739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3232" y="299923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932688" y="29809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3291840"/>
            <a:ext cx="315163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 parameters. The model 'sees' this data.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22064" y="2834640"/>
            <a:ext cx="351739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86656" y="299923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23" name="Text 20"/>
          <p:cNvSpPr/>
          <p:nvPr/>
        </p:nvSpPr>
        <p:spPr>
          <a:xfrm>
            <a:off x="4706112" y="29809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04944" y="3291840"/>
            <a:ext cx="315163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&amp; select models without touching test.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095488" y="2834640"/>
            <a:ext cx="351739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60080" y="299923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7" name="Text 24"/>
          <p:cNvSpPr/>
          <p:nvPr/>
        </p:nvSpPr>
        <p:spPr>
          <a:xfrm>
            <a:off x="8479536" y="29809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78368" y="3291840"/>
            <a:ext cx="315163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Touched once, at the end — the honest estimate of real-world performance.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5303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the test set is sacred — never use it for any decision until the very end.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1956816" cy="457200"/>
          </a:xfrm>
          <a:prstGeom prst="rect">
            <a:avLst/>
          </a:prstGeom>
          <a:solidFill>
            <a:srgbClr val="F47B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50876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60320" y="1508760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1508760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1508760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95360" y="1508760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075688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075688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560320" y="2075688"/>
            <a:ext cx="1956816" cy="457200"/>
          </a:xfrm>
          <a:prstGeom prst="rect">
            <a:avLst/>
          </a:prstGeom>
          <a:solidFill>
            <a:srgbClr val="F47B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0" y="2075688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0" y="2075688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5360" y="2075688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642616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642616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560320" y="2642616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0" y="2642616"/>
            <a:ext cx="1956816" cy="457200"/>
          </a:xfrm>
          <a:prstGeom prst="rect">
            <a:avLst/>
          </a:prstGeom>
          <a:solidFill>
            <a:srgbClr val="F47B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0" y="2642616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95360" y="2642616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3209544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20954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560320" y="3209544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0" y="3209544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0" y="3209544"/>
            <a:ext cx="1956816" cy="457200"/>
          </a:xfrm>
          <a:prstGeom prst="rect">
            <a:avLst/>
          </a:prstGeom>
          <a:solidFill>
            <a:srgbClr val="F47B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95360" y="3209544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" y="3776472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3776472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560320" y="3776472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0" y="3776472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83680" y="3776472"/>
            <a:ext cx="1956816" cy="457200"/>
          </a:xfrm>
          <a:prstGeom prst="rect">
            <a:avLst/>
          </a:prstGeom>
          <a:solidFill>
            <a:srgbClr val="1FA6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595360" y="3776472"/>
            <a:ext cx="1956816" cy="457200"/>
          </a:xfrm>
          <a:prstGeom prst="rect">
            <a:avLst/>
          </a:prstGeom>
          <a:solidFill>
            <a:srgbClr val="F47B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332720" y="1508760"/>
            <a:ext cx="274320" cy="36576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42" name="Text 39"/>
          <p:cNvSpPr/>
          <p:nvPr/>
        </p:nvSpPr>
        <p:spPr>
          <a:xfrm>
            <a:off x="1065276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fold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0332720" y="2011680"/>
            <a:ext cx="274320" cy="36576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44" name="Text 41"/>
          <p:cNvSpPr/>
          <p:nvPr/>
        </p:nvSpPr>
        <p:spPr>
          <a:xfrm>
            <a:off x="1065276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folds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validation fold k times; average the score for a robust estimate.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class balance per fold for classification.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tuning when data is limited — not as a substitute for a final test set.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vs Underfitting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7223760" y="1463040"/>
            <a:ext cx="43891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88352" y="162763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14" name="Text 10"/>
          <p:cNvSpPr/>
          <p:nvPr/>
        </p:nvSpPr>
        <p:spPr>
          <a:xfrm>
            <a:off x="7607808" y="1609344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406640" y="192024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 — high error on both train and validation. High bias.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223760" y="2761488"/>
            <a:ext cx="43891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88352" y="2926080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18" name="Text 14"/>
          <p:cNvSpPr/>
          <p:nvPr/>
        </p:nvSpPr>
        <p:spPr>
          <a:xfrm>
            <a:off x="7607808" y="290779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406640" y="321868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signal, ignores noise — generalises to unseen data.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223760" y="4059936"/>
            <a:ext cx="43891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88352" y="4224528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2" name="Text 18"/>
          <p:cNvSpPr/>
          <p:nvPr/>
        </p:nvSpPr>
        <p:spPr>
          <a:xfrm>
            <a:off x="7607808" y="420624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406640" y="4517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Memorises noise — low train error, high validation error. High variance.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223760" y="15544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wrong assumptions — too-simple models miss signal.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sensitivity to the training sample — complex models chase noise.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 is minimised between the two extremes.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Regularisation, more data, feature work and ensembles shift the balance.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2FB67C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MODULE 1.5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 &amp; Metrics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الخوارزميات الأساسية ومقاييس التقييم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logistic regression &amp; decision trees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SVM, Naïve Bayes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classification metrics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 &amp; AUC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Algorithm: Linear Regression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5852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040880" y="15544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straight line: ŷ = β₀ + β₁x that minimises squared error.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continuous outcomes; interpret coefficients as effects.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transparent, a strong baseline.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linearity; sensitive to outliers &amp; multicollinearity.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040880" y="47548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C355E"/>
          </a:solidFill>
          <a:ln/>
        </p:spPr>
      </p:sp>
      <p:sp>
        <p:nvSpPr>
          <p:cNvPr id="14" name="Text 10"/>
          <p:cNvSpPr/>
          <p:nvPr/>
        </p:nvSpPr>
        <p:spPr>
          <a:xfrm>
            <a:off x="7040880" y="4754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β₀ + β₁x₁ + … + βₙxₙ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Algorithm: Logistic Regression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5852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040880" y="15544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Squashes a linear score through a sigmoid into a probability 0–1.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— churn, fraud, default, diagnosis.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probability to a decision; tune to the cost of errors.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calibrated, excellent baseline.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040880" y="47548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C355E"/>
          </a:solidFill>
          <a:ln/>
        </p:spPr>
      </p:sp>
      <p:sp>
        <p:nvSpPr>
          <p:cNvPr id="14" name="Text 10"/>
          <p:cNvSpPr/>
          <p:nvPr/>
        </p:nvSpPr>
        <p:spPr>
          <a:xfrm>
            <a:off x="7040880" y="4754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 / (1 + e^−z)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Algorithm: Decision Trees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017520" y="15544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C355E"/>
          </a:solidFill>
          <a:ln/>
        </p:spPr>
      </p:sp>
      <p:sp>
        <p:nvSpPr>
          <p:cNvPr id="12" name="Text 9"/>
          <p:cNvSpPr/>
          <p:nvPr/>
        </p:nvSpPr>
        <p:spPr>
          <a:xfrm>
            <a:off x="301752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&gt; 8k?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280160" y="25603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&lt; 30?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46320" y="25603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35661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B6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286000" y="35661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47B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06240" y="35661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B67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0624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52160" y="35661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47B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80960" y="164592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split features to reduce impurity.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classification and regression.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interpretable; handles non-linearities &amp; mixed types.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 — prune or move to ensembles (Day 3).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Core Algorithms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by majority vote of nearest points. Simple, no training; slow at scale.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maximum-margin boundary; kernels for non-linear data.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assumes feature independence. Fast for text classification.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2102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data into k clusters by centroid distance (unsupervised).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22064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2102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— robust, strong default (covered Day 3).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095488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2102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 correcting errors — top tabular performer (Day 3).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Regression Models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average size of errors, in original units. Robust to outliers.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— penalises large errors more. Same units as target.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variance explained (0–1). Compares to a mean baseline.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84048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43708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errors in business units (e.g. SAR, hours) so stakeholders grasp impact. Use RMSE when large misses are costly; MAE when all errors matter equally. R² alone can mislead — always pair it with an absolute error metric.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Classification Models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correct. Misleading on imbalanced data (99% legit → 99% by guessing).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are right. Cost of false alarms.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caught. Cost of misses (fraud, disease).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21024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 — one balanced number.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22064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2102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across all thresholds. 0.5 = random, 1.0 = perfect.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095488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2102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ROC for rare positives — focuses on the minority class.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Matrix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0" y="1920240"/>
            <a:ext cx="1463040" cy="1463040"/>
          </a:xfrm>
          <a:prstGeom prst="rect">
            <a:avLst/>
          </a:prstGeom>
          <a:solidFill>
            <a:srgbClr val="2FB67C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19202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06240" y="1920240"/>
            <a:ext cx="1463040" cy="1463040"/>
          </a:xfrm>
          <a:prstGeom prst="rect">
            <a:avLst/>
          </a:prstGeom>
          <a:solidFill>
            <a:srgbClr val="F47B20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0" y="19202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0" y="3383280"/>
            <a:ext cx="1463040" cy="1463040"/>
          </a:xfrm>
          <a:prstGeom prst="rect">
            <a:avLst/>
          </a:prstGeom>
          <a:solidFill>
            <a:srgbClr val="F47B20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0" y="3383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06240" y="3383280"/>
            <a:ext cx="1463040" cy="1463040"/>
          </a:xfrm>
          <a:prstGeom prst="rect">
            <a:avLst/>
          </a:prstGeom>
          <a:solidFill>
            <a:srgbClr val="2FB67C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383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7432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0" y="1874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206240" y="1874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55448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173736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matrix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 / (TP+FP); Recall = TP / (TP+FN).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threshold raises recall but lowers precision.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costlier error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Fraud/disease → favour recall; spam → favour precision.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accuracy number hides which errors you make.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ROC, AUC &amp; Precision–Recall Curves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5852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040880" y="15544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vs FPR across thresholds — the bow toward top-left is better.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ROC: probability a random positive outranks a random negative.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recall — preferred when positives are rare.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040880" y="4206240"/>
            <a:ext cx="21854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040880" y="4315968"/>
            <a:ext cx="2185416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132320" y="4789627"/>
            <a:ext cx="2002536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random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427464" y="4206240"/>
            <a:ext cx="21854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427464" y="4315968"/>
            <a:ext cx="2185416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9518904" y="4789627"/>
            <a:ext cx="2002536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perfect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scikit-learn Estimator Pattern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943600" cy="3749040"/>
          </a:xfrm>
          <a:prstGeom prst="roundRect">
            <a:avLst>
              <a:gd name="adj" fmla="val 1463"/>
            </a:avLst>
          </a:prstGeom>
          <a:solidFill>
            <a:srgbClr val="131D38"/>
          </a:solidFill>
          <a:ln w="12700">
            <a:solidFill>
              <a:srgbClr val="131D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645920"/>
            <a:ext cx="5577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classification_report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X_tr, X_te, y_tr, y_te = train_test_split(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y, test_size=0.2, random_state=42)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RandomForestClassifier(n_estimators=300)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model.fit(X_tr, y_tr)            # learn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 = model.predict(X_te)     # infer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print(classification_report(y_te, pred))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040880" y="15544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estimator learns from data the same way.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inference API across all models.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transform()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Preprocessors share the interface — composable in pipelines.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algorithms by changing one line — the contract is identical.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ML Toolstack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and numerical computing foundations.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ML: models, pipelines, metrics, selection.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for EDA and results.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2102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gradient boosting for tabular data.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2102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notebooks for exploration and storytelling.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2102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/ DVC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tracking, versioning and reproducibility.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from Day One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disparate impact across groups before deployment.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decisions to users, auditors and regulators.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417320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74520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with Saudi PDPL — minimise, consent, secure data.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62102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human owner for every model in production.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62102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against edge cases and adversarial inputs.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456432"/>
            <a:ext cx="3517392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62102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913632"/>
            <a:ext cx="31516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 for high-stakes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ML Project Pitfalls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63040"/>
            <a:ext cx="530352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2066544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accuracy on imbalanced data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from the future or target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— can't tell if the model helps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on the test set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deployment &amp; monitoring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an ML problem nobody asked for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1463040"/>
            <a:ext cx="530352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FB67C"/>
          </a:solidFill>
          <a:ln/>
        </p:spPr>
      </p:sp>
      <p:sp>
        <p:nvSpPr>
          <p:cNvPr id="19" name="Shape 16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92240" y="2066544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metrics tied to business value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preprocessing inside CV folds only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beat a simple baseline first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test set untouched until the end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serving &amp; drift from day one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real decision and need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97880" y="308152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081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DAY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Predictive Maintenance (Saudi Energy)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pump failures at a desalination plant cause costly downtime and water-supply risk.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of vibration, temperature, pressure &amp; flow telemetry + maintenance logs.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via CRISP-DM as binary classification: failure within 7 days? Features from sensor windows.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6393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baseline → random forest; recall prioritised at a fixed alert budget.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6393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82% of failures 5+ days early; ~30% reduction in unplanned downtime in pilot.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6393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windowing avoided leakage; domain experts validated features; monitoring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Discussion &amp; Reflection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205740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recall, not accuracy, the right primary metric here?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could leakage have crept in via the sensor windows?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monitor after deployment, and why?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justify the model to plant operators?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0" y="141732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&amp; share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20574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failure-prediction problem exists in YOUR organisation?
</a:t>
            </a: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its target, features and success metric in CRISP-DM terms.
</a:t>
            </a: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ethical or operational risk you'd flag early.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Predictive Model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34095" y="457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C8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المعمل: نموذجك التنبؤي الأول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371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evaluate and interpret a classifier end-to-end in scikit-learn on a real tabular dataset.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52144" y="255117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CSV, inspect shape, types and class balance.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52144" y="309981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train/test sets with a fixed random_state.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52144" y="364845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Impute, encode and scale inside a Pipeline.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52144" y="419709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 and a random forest.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52144" y="474573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confusion matrix, F1 and ROC-AUC.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152144" y="529437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feature importances; write 3 findings.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498080" y="224028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498080" y="2240280"/>
            <a:ext cx="4114800" cy="384048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36" name="Text 33"/>
          <p:cNvSpPr/>
          <p:nvPr/>
        </p:nvSpPr>
        <p:spPr>
          <a:xfrm>
            <a:off x="763524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662672" y="2697480"/>
            <a:ext cx="37856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that loads data, trains two models, and reports metrics with a short written interpretation.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498080" y="39319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498080" y="3931920"/>
            <a:ext cx="4114800" cy="384048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40" name="Text 37"/>
          <p:cNvSpPr/>
          <p:nvPr/>
        </p:nvSpPr>
        <p:spPr>
          <a:xfrm>
            <a:off x="7635240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Skills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662672" y="4434840"/>
            <a:ext cx="704088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62672" y="443484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476488" y="4434840"/>
            <a:ext cx="1170432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76488" y="443484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9756648" y="4434840"/>
            <a:ext cx="859536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756648" y="4434840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662672" y="4818888"/>
            <a:ext cx="1014984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62672" y="4818888"/>
            <a:ext cx="1014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8787384" y="4818888"/>
            <a:ext cx="781812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787384" y="4818888"/>
            <a:ext cx="7818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548640" y="598932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r>
              <a:rPr lang="en-US" sz="10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Pipeline first — it prevents leakage and makes your run reproducible.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RECAP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Key Takeaways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965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221992"/>
            <a:ext cx="420624" cy="42062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2057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reason → act → feedback, with ML as the adaptive core.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2221992"/>
            <a:ext cx="420624" cy="42062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1152" y="2057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Paradigms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RL and self-supervised — matched to tasks.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410712"/>
            <a:ext cx="420624" cy="42062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410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61872" y="32461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iterative phases from business need to monitored deployment.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31546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2512" y="3410712"/>
            <a:ext cx="420624" cy="42062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3410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31152" y="32461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decision; define target, data, metric and baseline.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599432"/>
            <a:ext cx="420624" cy="42062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61872" y="4434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splits, the right metric, confusion matrix and ROC/AUC.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4599432"/>
            <a:ext cx="420624" cy="42062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31152" y="4434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privacy and oversight begin on day one — not at the end.</a:t>
            </a:r>
            <a:endParaRPr lang="en-US" sz="1300" dirty="0"/>
          </a:p>
        </p:txBody>
      </p:sp>
      <p:pic>
        <p:nvPicPr>
          <p:cNvPr id="39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18745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Feature Engineering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البيانات وهندسة الخصائص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decides model quality. Master exploratory analysis, principled cleaning, feature engineering and leak-proof pipelines that turn raw, messy data into trustworthy model inputs.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47B2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50566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69080" y="50749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1FA6A0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53128" y="50566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Missing 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C9B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55138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069080" y="5532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FB67C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53128" y="55138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&amp; Selection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B5CA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989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59710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Leakage &amp; Reproducibility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69080" y="5989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BB034"/>
          </a:solidFill>
          <a:ln/>
        </p:spPr>
      </p:sp>
      <p:sp>
        <p:nvSpPr>
          <p:cNvPr id="34" name="Text 32"/>
          <p:cNvSpPr/>
          <p:nvPr/>
        </p:nvSpPr>
        <p:spPr>
          <a:xfrm>
            <a:off x="4069080" y="5989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53128" y="59710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&amp; Reproducible Data</a:t>
            </a:r>
            <a:endParaRPr lang="en-US" sz="1150" dirty="0"/>
          </a:p>
        </p:txBody>
      </p:sp>
      <p:pic>
        <p:nvPicPr>
          <p:cNvPr id="36" name="Image 0" descr="/home/claude/build/assets/sdai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6080760"/>
            <a:ext cx="173736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Objectives &amp; Competency Outcomes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structured EDA to understand shape, quality and relationships in data.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missingness and outliers and treat them with principled methods.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scale, transform and derive features that lift model signal.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54787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and feature selection to fight the curse of dimensionality.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54787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sklearn Pipelines that prevent data leakage and ensure reproducibility.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54787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imbalanced classes with resampling and the right evaluation.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level by end of Day 2:  Working knowledge → Confident data-preparation practitioner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Agenda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554480"/>
            <a:ext cx="1554480" cy="96012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554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31720" y="155448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and the dimensions of data quality.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651760"/>
            <a:ext cx="1554480" cy="96012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517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331720" y="265176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Missing-data taxonomy, imputation and outlier treatment.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749040"/>
            <a:ext cx="1554480" cy="96012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749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331720" y="374904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encoding, scaling, transforms, text &amp; time.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331720" y="484632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reduction, selection, leak-proof pipelines &amp; a lab.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MODULE 2.1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 الاستكشافي للبيانات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EDA precedes modelling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 bivariate analysis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skew &amp; correlation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dimensions of data quality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Exploratory Data Analysis?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shape, scale and meaning of every variable before modelling.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errors, outliers, missingness and impossible values early.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relationships that suggest useful features and target framing.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'garbage in, garbage out' trap that silently wrecks models.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mindset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before you model
•  Question every column
•  Plot, don't assume
•  Document what you find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Workflow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11526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94406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49270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57293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040173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095037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03059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5939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7340803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348826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9531706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9586570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2743200"/>
            <a:ext cx="351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13232" y="29077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7" name="Text 24"/>
          <p:cNvSpPr/>
          <p:nvPr/>
        </p:nvSpPr>
        <p:spPr>
          <a:xfrm>
            <a:off x="932688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" y="3200400"/>
            <a:ext cx="31516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dtypes, memory, head/tail, summary statistics, cardinality.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322064" y="2743200"/>
            <a:ext cx="351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86656" y="29077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31" name="Text 28"/>
          <p:cNvSpPr/>
          <p:nvPr/>
        </p:nvSpPr>
        <p:spPr>
          <a:xfrm>
            <a:off x="4706112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04944" y="3200400"/>
            <a:ext cx="31516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box plots, value counts — one variable at a time.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095488" y="2743200"/>
            <a:ext cx="351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260080" y="29077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5" name="Text 32"/>
          <p:cNvSpPr/>
          <p:nvPr/>
        </p:nvSpPr>
        <p:spPr>
          <a:xfrm>
            <a:off x="8479536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278368" y="3200400"/>
            <a:ext cx="31516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Scatter, grouped stats, correlation — relationships &amp; the target.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4187952"/>
            <a:ext cx="351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13232" y="43525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9" name="Text 36"/>
          <p:cNvSpPr/>
          <p:nvPr/>
        </p:nvSpPr>
        <p:spPr>
          <a:xfrm>
            <a:off x="932688" y="43342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31520" y="4645152"/>
            <a:ext cx="31516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map, duplicates, outliers, range &amp; type checks.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322064" y="4187952"/>
            <a:ext cx="351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486656" y="43525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43" name="Text 40"/>
          <p:cNvSpPr/>
          <p:nvPr/>
        </p:nvSpPr>
        <p:spPr>
          <a:xfrm>
            <a:off x="4706112" y="43342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504944" y="4645152"/>
            <a:ext cx="31516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features, segments and leakage risks to test.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095488" y="4187952"/>
            <a:ext cx="351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60080" y="43525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47" name="Text 44"/>
          <p:cNvSpPr/>
          <p:nvPr/>
        </p:nvSpPr>
        <p:spPr>
          <a:xfrm>
            <a:off x="8479536" y="43342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278368" y="4645152"/>
            <a:ext cx="31516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dictionary and EDA notes the whole team can trust.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Analysis: Distributions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223760" y="15544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 — and how far apart they sit.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IQR and range describe dispersion.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and kurtosis flag asymmetry and heavy tails.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inputs often benefit from a log or Box–Cox transform.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 &amp; Correlation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5852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040880" y="15544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association between two numeric variables (−1…+1).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association — robust to non-linearity &amp; outliers.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not causation, and ignores non-linear links.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correlated features destabilise linear models — check VIF.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040880" y="470916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1C355E"/>
          </a:solidFill>
          <a:ln/>
        </p:spPr>
      </p:sp>
      <p:sp>
        <p:nvSpPr>
          <p:cNvPr id="14" name="Text 10"/>
          <p:cNvSpPr/>
          <p:nvPr/>
        </p:nvSpPr>
        <p:spPr>
          <a:xfrm>
            <a:off x="7040880" y="4709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0.97  →  strong positive linear trend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&amp; Target Analysis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counts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proportion per category; spot rare levels &amp; typos.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distinct values? High cardinality needs special encoding.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statistics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mean/rate per category reveals predictive segments.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472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3611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 check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40233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this feature actually be available at prediction time? If not, it leaks the future.
</a:t>
            </a:r>
            <a:r>
              <a:rPr lang="en-US" sz="12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'Account closed date' predicts churn perfectly — because churn already happened.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Dimensions of Data Quality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required values present, or missing where they matter?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values reflect reality? Check against trusted references.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fact, same value across sources, units and formats.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456432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2102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13632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fall within allowed types, ranges and business rules.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22064" y="3456432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2102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13632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unintended duplicates inflating counts or biasing models.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95488" y="3456432"/>
            <a:ext cx="3517392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2102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0273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13632"/>
            <a:ext cx="3151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fresh enough for the decision it will inform.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MODULE 2.2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Missing Data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البيانات والقيم المفقودة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mechanisms: MCAR, MAR, MNAR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strategies &amp; trade-offs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&amp; treatment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noise &amp; inconsistencies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Data: Three Mechanisms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Completely At Random — missingness unrelated to any value. Safe to drop, but rare.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 Random — depends on observed data. Imputable from other columns.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Not At Random — depends on the missing value itself. The hardest case.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416052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dictates the fix. Dropping MNAR rows introduces bias; a missingness indicator often beats naïve imputation.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Strategies Compared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23774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63040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6080" y="1463040"/>
            <a:ext cx="32918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232" y="1463040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463040"/>
            <a:ext cx="27432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146304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0" y="1463040"/>
            <a:ext cx="265176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34272" y="1463040"/>
            <a:ext cx="25054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188366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1883664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1883664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99232" y="1883664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with column central value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1883664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1883664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Numeric, low missingness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961120" y="188366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34272" y="1883664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variance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2450592"/>
            <a:ext cx="237744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" y="2450592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926080" y="2450592"/>
            <a:ext cx="329184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99232" y="2450592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with most frequent value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17920" y="2450592"/>
            <a:ext cx="27432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91072" y="2450592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961120" y="2450592"/>
            <a:ext cx="265176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034272" y="245059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Over-weights majority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1752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1752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926080" y="301752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99232" y="3017520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nearest neighbours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217920" y="301752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91072" y="3017520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961120" y="3017520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34272" y="3017520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big data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3584448"/>
            <a:ext cx="237744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" y="3584448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(MICE)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926080" y="3584448"/>
            <a:ext cx="329184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999232" y="3584448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column from others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217920" y="3584448"/>
            <a:ext cx="27432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291072" y="3584448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MAR, complex data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961120" y="3584448"/>
            <a:ext cx="265176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3584448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tuning cost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48640" y="4151376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1792" y="4151376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+ fill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2926080" y="415137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999232" y="4151376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'was-missing' flag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217920" y="4151376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91072" y="4151376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missingness is signal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8961120" y="4151376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034272" y="4151376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columns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always impute inside a Pipeline, fit on train only — never on the full dataset.</a:t>
            </a:r>
            <a:endParaRPr lang="en-US" sz="11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Imputation Approach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37760" y="155448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C355E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missing?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280160" y="274320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274320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2C9BD6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5–40%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95360" y="274320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6B5CA5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402336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2960" y="40233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impute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drop rows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80560" y="402336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480560" y="40233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/ MICE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indicator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138160" y="402336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138160" y="40233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dropping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80760" y="2103120"/>
            <a:ext cx="0" cy="502920"/>
          </a:xfrm>
          <a:prstGeom prst="line">
            <a:avLst/>
          </a:prstGeom>
          <a:noFill/>
          <a:ln w="19050">
            <a:solidFill>
              <a:srgbClr val="C9D2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80760" y="2103120"/>
            <a:ext cx="0" cy="502920"/>
          </a:xfrm>
          <a:prstGeom prst="line">
            <a:avLst/>
          </a:prstGeom>
          <a:noFill/>
          <a:ln w="19050">
            <a:solidFill>
              <a:srgbClr val="C9D2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80760" y="2103120"/>
            <a:ext cx="3611880" cy="502920"/>
          </a:xfrm>
          <a:prstGeom prst="line">
            <a:avLst/>
          </a:prstGeom>
          <a:noFill/>
          <a:ln w="19050">
            <a:solidFill>
              <a:srgbClr val="C9D2E0"/>
            </a:solidFill>
            <a:prstDash val="solid"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223760" y="15544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points beyond ±3 standard deviations (assumes normality).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Q1−1.5·IQR or Q3+1.5·IQR — distribution-free.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&amp; LOF detect multivariate anomalies.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an error, or a rare-but-real event? Context decides.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Outliers &amp; Noise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FB67C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Robustify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robust models (trees) tolerant to outliers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robust scalers based on median &amp; IQR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Winsorize: cap at sensible percentiles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heavy-tailed variables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47B2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/ Remove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clear data-entry &amp; unit errors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physically impossible values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only with documented justification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delete rare-but-valid signal (e.g. fraud)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303580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Inconsistency &amp; Noise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rows from joins or re-ingestion — de-duplicate and log counts.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duplicates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'Riyadh' vs 'Al Riyadh' — standardise with mapping &amp; fuzzy matching.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format drift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kg/lb, date formats, Arabic/English digits — normalise everything.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keys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entity, different IDs across systems — resolve with a master key.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noise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target labels cap achievable accuracy — audit a sample.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noise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or aggregate jittery sensor streams before modelling.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— Cleaning &amp; Quality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07008" y="1563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missing because the patient was too ill to be measured is an example of: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207008" y="213055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MCAR
B)  MAR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MNAR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No missingness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82512" y="158191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9" name="Text 16"/>
          <p:cNvSpPr/>
          <p:nvPr/>
        </p:nvSpPr>
        <p:spPr>
          <a:xfrm>
            <a:off x="638251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76288" y="1563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is distribution-free for outlier detection?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76288" y="213055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Z-score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IQR rule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Mean imputation
D)  One-hot encoding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368503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0700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should be fit on: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207008" y="42336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whole dataset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training set only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test set
D)  Random rows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82512" y="368503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9" name="Text 26"/>
          <p:cNvSpPr/>
          <p:nvPr/>
        </p:nvSpPr>
        <p:spPr>
          <a:xfrm>
            <a:off x="6382512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7628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response to a rare-but-real fraud outlier: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876288" y="42336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Delete it
B)  Cap it to the mean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Keep it — it is signal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Ignore the column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answers shown in green — discuss the reasoning, not just the letter.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2C9BD6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MODULE 2.3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هندسة الخصائص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 variables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normalisation &amp; transforms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Binning, date/time &amp; text features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interaction features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The Highest-Leverage Step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features that expose signal to the model.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beats algorithm choice — better features lift every model.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knowledge, EDA findings and creative recombination.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must be reproducible and leak-free at prediction time.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features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 available at predict time
•  Encode domain meaning
•  Reduce noise
•  Generalise to new data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 Variables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22860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63040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834640" y="1463040"/>
            <a:ext cx="29260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07792" y="146304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60720" y="1463040"/>
            <a:ext cx="310896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33872" y="1463040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869680" y="1463040"/>
            <a:ext cx="27432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42832" y="146304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1883664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1883664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34640" y="1883664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07792" y="1883664"/>
            <a:ext cx="2779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column per level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1883664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33872" y="1883664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cardinality, no order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869680" y="1883664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42832" y="1883664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Explodes with many levels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2450592"/>
            <a:ext cx="22860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" y="2450592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834640" y="2450592"/>
            <a:ext cx="292608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07792" y="2450592"/>
            <a:ext cx="2779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per level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760720" y="2450592"/>
            <a:ext cx="310896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33872" y="2450592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order exists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869680" y="2450592"/>
            <a:ext cx="27432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42832" y="2450592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Implies false distance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17520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17520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Mean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834640" y="3017520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07792" y="3017520"/>
            <a:ext cx="2779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target rate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760720" y="3017520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33872" y="3017520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869680" y="301752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42832" y="3017520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— use CV folds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3584448"/>
            <a:ext cx="22860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" y="3584448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834640" y="3584448"/>
            <a:ext cx="292608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907792" y="3584448"/>
            <a:ext cx="2779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its count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760720" y="3584448"/>
            <a:ext cx="310896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833872" y="3584448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cardinality, trees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869680" y="3584448"/>
            <a:ext cx="2743200" cy="566928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942832" y="3584448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between levels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48640" y="415137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1792" y="4151376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2834640" y="4151376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907792" y="4151376"/>
            <a:ext cx="2779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buckets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5760720" y="4151376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833872" y="4151376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cardinality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8869680" y="4151376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942832" y="4151376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Collisions, opacity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handle integer encodings well; linear &amp; neural models usually need one-hot or embeddings.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&amp; Text-like Categories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districts, merchants or product IDs explode one-hot width.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level with its smoothed out-of-fold target rate.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dense vectors for categories inside a neural model.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rare levels into 'Other' to stabilise estimates.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3840480"/>
          </a:xfrm>
          <a:prstGeom prst="roundRect">
            <a:avLst>
              <a:gd name="adj" fmla="val 1429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target encoding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52360" y="2240280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131D38"/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2240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 = (n·ȳₖ + m·ȳ) / (n + m)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43800" y="32918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ȳₖ </a:t>
            </a: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mean   </a:t>
            </a:r>
            <a:r>
              <a:rPr lang="en-US" sz="1150" b="1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</a:t>
            </a: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
</a:t>
            </a:r>
            <a:r>
              <a:rPr lang="en-US" sz="1150" b="1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</a:t>
            </a: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count   </a:t>
            </a:r>
            <a:r>
              <a:rPr lang="en-US" sz="1150" b="1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</a:t>
            </a: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weight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Normalisation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C9BD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(Z)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− μ) / σ  →  mean 0, unit variance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normally-distributed inputs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by SVM, k-NN, PCA, neural nets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Min–Max / Robust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Min–Max maps to [0, 1] — bounded range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scaler uses median &amp; IQR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resists outliers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need no scaling at all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80720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fit the scaler on training data only, then apply the same transform to validation &amp; test.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for Skewed Data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223760" y="15544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Tames right-skew in income, prices, counts (use log1p for zeros).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Box–Cox / Yeo-Johnson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power transform that best normalises a variable.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Square-root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Gentler than log for moderate skew and count data.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symmetric inputs help linear models and stabilise variance.</a:t>
            </a:r>
            <a:endParaRPr lang="en-US" sz="12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 &amp; Discretisation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Equal-width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range into equal intervals — simple, sensitive to outliers.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Equal-frequency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bins with equal counts — robust to skew.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chosen to separate the target (e.g. decision-tree splits).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472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3611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bin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40233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effects, adds robustness, aids interpretability (age → bands).
</a:t>
            </a:r>
            <a:r>
              <a:rPr lang="en-US" sz="125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information and adds boundaries — let trees bin automatically when possible.</a:t>
            </a:r>
            <a:endParaRPr lang="en-US" sz="12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 &amp; Cyclical Features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day, hour, weekday, week-of-year, quarter.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Weekend, public holiday, Ramadan, Hajj season, month-end.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signup, recency, time-to-event, rolling windows.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hour &amp; month as sine/cosine so 23:00 sits near 00:00.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3840480"/>
          </a:xfrm>
          <a:prstGeom prst="roundRect">
            <a:avLst>
              <a:gd name="adj" fmla="val 1429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52360" y="228600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131D38"/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2286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B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sin_h = sin(2π·hour/24)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B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cos_h = cos(2π·hour/24)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06640" y="38404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calendar context (Hijri dates, prayer times, Hajj) often carries strong predictive signal.</a:t>
            </a:r>
            <a:endParaRPr lang="en-US" sz="11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Features: Bag-of-Words to TF-IDF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1152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94406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49270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57293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040173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095037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03059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5939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7340803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34882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9531706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9586570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(TF-IDF)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13232" y="29077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7" name="Text 24"/>
          <p:cNvSpPr/>
          <p:nvPr/>
        </p:nvSpPr>
        <p:spPr>
          <a:xfrm>
            <a:off x="932688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 occurrences — simple, sparse, ignores order.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322064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86656" y="29077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31" name="Text 28"/>
          <p:cNvSpPr/>
          <p:nvPr/>
        </p:nvSpPr>
        <p:spPr>
          <a:xfrm>
            <a:off x="4706112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04944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common words, up-weights distinctive ones.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095488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260080" y="29077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5" name="Text 32"/>
          <p:cNvSpPr/>
          <p:nvPr/>
        </p:nvSpPr>
        <p:spPr>
          <a:xfrm>
            <a:off x="8479536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278368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short phrases ('credit card') beyond single words.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13232" y="426110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9" name="Text 36"/>
          <p:cNvSpPr/>
          <p:nvPr/>
        </p:nvSpPr>
        <p:spPr>
          <a:xfrm>
            <a:off x="932688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31520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alef/hamza, remove diacritics, handle rich morphology.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322064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486656" y="426110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43" name="Text 40"/>
          <p:cNvSpPr/>
          <p:nvPr/>
        </p:nvSpPr>
        <p:spPr>
          <a:xfrm>
            <a:off x="4706112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504944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semantic vectors (word2vec, fastText, transformers).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095488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60080" y="426110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47" name="Text 44"/>
          <p:cNvSpPr/>
          <p:nvPr/>
        </p:nvSpPr>
        <p:spPr>
          <a:xfrm>
            <a:off x="8479536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278368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vectors for streaming, memory-bounded pipelines.</a:t>
            </a:r>
            <a:endParaRPr lang="en-US" sz="10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Interaction Features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Debt-to-income, price-per-m², utilisation — encode meaning compactly.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mean/max/count over transactions and time windows.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combinations (region × channel) that linear models miss.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&amp; rolling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values and moving averages for time-dependent targets.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landmark, district density, travel time (smart-city data).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&amp; flags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'Number of prior claims', 'has previous default' — strong, simple signals.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6B5CA5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MODULE 2.4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&amp; Feature Selection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تقليل الأبعاد واختيار الخصائص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manifold methods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wrapper &amp; embedded selection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feature importance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dimensions grow, data points become isolated — distance loses meaning.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than rows lets models memorise noise.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and memory grow with width.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Remedies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selection, dimensionality reduction, and regularisation.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Models that won't generalise
•  Unstable importances
•  Slow training
•  Hard-to-explain results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223760" y="15544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to new axes (components) that capture maximum variance.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/ elbow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enough components to retain ~90–95% of variance.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Compression, denoising, visualisation, collinearity relief.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linear mixes — interpretability is lost.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PCA Isn't Enough: Manifold Methods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fast, deterministic. Great first reduction &amp; decorrelation.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2-D visualisation of clusters; not for downstream features.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t-SNE, preserves more global structure.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compression to a learned latent space.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PCA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variance via the kernel trick.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projection that maximises class separation.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Three Families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20116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63040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560320" y="1463040"/>
            <a:ext cx="36576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33472" y="1463040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463040"/>
            <a:ext cx="301752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1463040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235440" y="1463040"/>
            <a:ext cx="23774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08592" y="1463040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1883664"/>
            <a:ext cx="2011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1883664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560320" y="1883664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33472" y="1883664"/>
            <a:ext cx="3511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features vs target, model-free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17920" y="1883664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1883664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χ², mutual info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235440" y="1883664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08592" y="1883664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interactions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2523744"/>
            <a:ext cx="2011680" cy="64008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" y="2523744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2560320" y="2523744"/>
            <a:ext cx="3657600" cy="64008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633472" y="2523744"/>
            <a:ext cx="3511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subsets, evaluate a model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17920" y="2523744"/>
            <a:ext cx="3017520" cy="64008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91072" y="2523744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RFE, forward/backward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235440" y="2523744"/>
            <a:ext cx="2377440" cy="64008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308592" y="2523744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overfit risk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3163824"/>
            <a:ext cx="2011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163824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2560320" y="3163824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633472" y="3163824"/>
            <a:ext cx="3511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during training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17920" y="3163824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91072" y="3163824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Lasso, tree importance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9235440" y="3163824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308592" y="3163824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one model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48640" y="397764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7240" y="41148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recipe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drop obvious noise → embedded (Lasso / tree importance) to rank → validate the chosen subset with cross-validation.</a:t>
            </a:r>
            <a:endParaRPr lang="en-US" sz="12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Feature Importance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2179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315200" y="155448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Impurity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split gains — fast, but biased to high-cardinality features.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a feature, measure score drop — model-agnostic &amp; honest.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per-prediction attributions (covered on Day 4).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features share credit — importance ≠ causation.</a:t>
            </a:r>
            <a:endParaRPr lang="en-US" sz="12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2FB67C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MODULE 2.5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Leakage &amp; Reproducibility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خطوط المعالجة والتسرّب وقابلية التكرار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— the silent killer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sklearn Pipelines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 &amp; reuse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 &amp; reproducibility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Leakage: The Silent Killer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contains information about the target unavailable at predict time.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leakage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scalers/imputers on all data before splitting leaks test stats.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future information to predict the past in time-series problems.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47472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3611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Tell-tale sign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40233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scores that look 'too good to be true' almost always are.
</a:t>
            </a:r>
            <a:r>
              <a:rPr lang="en-US" sz="12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first; fit every transformer inside a Pipeline on the training fold only.</a:t>
            </a:r>
            <a:endParaRPr lang="en-US" sz="12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Leak-Proof Pipeline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6675120" cy="3840480"/>
          </a:xfrm>
          <a:prstGeom prst="roundRect">
            <a:avLst>
              <a:gd name="adj" fmla="val 1429"/>
            </a:avLst>
          </a:prstGeom>
          <a:solidFill>
            <a:srgbClr val="131D38"/>
          </a:solidFill>
          <a:ln w="12700">
            <a:solidFill>
              <a:srgbClr val="131D38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1600200"/>
            <a:ext cx="6355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sklearn.compose import ColumnTransformer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(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StandardScaler, OneHotEncoder)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sklearn.impute import SimpleImputer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Pipeline([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("impute", SimpleImputer(strategy="median")),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("scale",  StandardScaler())])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= Pipeline([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("impute", SimpleImputer(strategy="most_frequent")),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("ohe",    OneHotEncoder(handle_unknown="ignore"))])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 = ColumnTransformer([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("num", num, num_cols),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("cat", cat, cat_cols)])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Pipeline([("prep", prep),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("clf", RandomForestClassifier())])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   # fit on train only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98080" y="16002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 model travel together — no manual leakage.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CV-safe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refits the whole pipeline per fold.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object scores production data unchanged.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Grid/Bayesian search optimises prep + model jointly.</a:t>
            </a:r>
            <a:endParaRPr lang="en-US" sz="12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Stores: Reuse &amp; Consistency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recompute the same features differently for training vs serving.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registry of versioned, documented, reusable features.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offline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serving plus batch training from one definition.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Train/serve parity, governance, and faster experimentation.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source of truth
•  Train = serve logic
•  Lineage &amp; governance
•  Reuse across teams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Data-level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under-sampling of the majority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over-sampling of the minority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SMOTE: synthesise new minority points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(SMOTE + Tomek / ENN)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C9BD6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Algorithm-level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penalise minority errors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on probabilities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Anomaly-detection framing for extremes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learning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76148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precision, recall, F1 and PR-AUC — never plain accuracy on imbalanced data.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Synthetic Minority Over-sampling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new minority samples between near-neighbour minority points.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classes without simply duplicating existing rows.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inside the CV pipeline, on the training fold only.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Borderline-SMOTE and ADASYN focus on hard regions.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3840480"/>
          </a:xfrm>
          <a:prstGeom prst="roundRect">
            <a:avLst>
              <a:gd name="adj" fmla="val 142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52360" y="21031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SMOTE before the train/test split leaks synthetic neighbours into the test set and inflates scores.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452360" y="3429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order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52360" y="38404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→ (inside CV) SMOTE the train fold → fit model → evaluate on untouched validation data.</a:t>
            </a:r>
            <a:endParaRPr lang="en-US" sz="12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Data Versioning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random_state everywhere — splits, models, samplers.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package versions; containerise the runtime.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versioning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datasets &amp; features with DVC / lakeFS snapshots.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as code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 scripted — no manual spreadsheet steps.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params, metrics &amp; artifacts (MLflow / W&amp;B).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+ datasheet so others can trust the inputs.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MODULE 2.6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Data Types &amp; Documentation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البيانات الخاصة والتوثيق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 splitting strategies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Geospatial, image, sensor &amp; streaming data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&amp; augmentation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 &amp; data-centric AI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 Splitting Strategies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23774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63040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6080" y="1463040"/>
            <a:ext cx="45720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232" y="1463040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98080" y="1463040"/>
            <a:ext cx="41148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71232" y="1463040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883664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883664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926080" y="1883664"/>
            <a:ext cx="4572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99232" y="1883664"/>
            <a:ext cx="4425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then split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98080" y="1883664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71232" y="1883664"/>
            <a:ext cx="3968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independent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2432304"/>
            <a:ext cx="2377440" cy="54864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432304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926080" y="2432304"/>
            <a:ext cx="4572000" cy="54864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99232" y="2432304"/>
            <a:ext cx="4425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class ratios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498080" y="2432304"/>
            <a:ext cx="4114800" cy="54864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71232" y="2432304"/>
            <a:ext cx="3968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classification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2980944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2980944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/ entity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2926080" y="2980944"/>
            <a:ext cx="4572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99232" y="2980944"/>
            <a:ext cx="4425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entity in one fold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498080" y="2980944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71232" y="2980944"/>
            <a:ext cx="3968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customers / patients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3529584"/>
            <a:ext cx="2377440" cy="54864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529584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2926080" y="3529584"/>
            <a:ext cx="4572000" cy="54864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99232" y="3529584"/>
            <a:ext cx="4425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trains, future tests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498080" y="3529584"/>
            <a:ext cx="4114800" cy="54864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71232" y="3529584"/>
            <a:ext cx="3968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temporal target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48640" y="4078224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4078224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2926080" y="4078224"/>
            <a:ext cx="4572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99232" y="4078224"/>
            <a:ext cx="4425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blocks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7498080" y="4078224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71232" y="4078224"/>
            <a:ext cx="3968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Autocorrelated series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splitting is a top cause of optimistic, unreproducible results — match the split to the data's 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Geospatial Data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Latitude/longitude → distance, bearing and travel time features.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joins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district, POI density and demographic context.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Geohashing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location into hierarchical cells for aggregation.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Mobility, utilities and safety analytics across NEOM &amp; metros.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1121664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88352" y="162763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7607808" y="1609344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06640" y="1920240"/>
            <a:ext cx="4023360" cy="627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nearest hospital, metro or hazard.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23760" y="2822448"/>
            <a:ext cx="4389120" cy="1121664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88352" y="2987040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7607808" y="296875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06640" y="3279648"/>
            <a:ext cx="4023360" cy="627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within a radius — congestion &amp; demand.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23760" y="4181856"/>
            <a:ext cx="4389120" cy="1121664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88352" y="4346448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7607808" y="432816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06640" y="4639056"/>
            <a:ext cx="4023360" cy="627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Origin–destination movement patterns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Sensor &amp; Streaming Data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normalise pixels, augment (flip, crop, jitter).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IoT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Resample, denoise, window into fixed-length segments.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Spectrograms / MFCCs turn sound into model inputs.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aggregates; handle late &amp; out-of-order events.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Dask for out-of-core feature pipelines.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Train/serve parity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streaming features identically online &amp; offline.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&amp; Augmentation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FB67C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helps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 sharing of sensitive data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rare classes (SMOTE, GANs)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Augmenting images, audio &amp; text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edge cases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47B2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capture real tail behaviour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amplify biases in the source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utility against real data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substitute for real signal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89864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PDPL, synthetic or de-identified data can unlock collaboration while protecting individuals.</a:t>
            </a:r>
            <a:endParaRPr lang="en-US" sz="11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Multiple Tables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entity keys across systems before any join.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each table's grain to avoid fan-out &amp; double counting.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transactions up to the prediction entity &amp; time.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only data known before the prediction timestamp.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3840480"/>
          </a:xfrm>
          <a:prstGeom prst="roundRect">
            <a:avLst>
              <a:gd name="adj" fmla="val 142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correctness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52360" y="21488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source of leakage in real pipelines is joining data that would not yet exist at prediction time.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ask: 'Would this row's value be known the moment I make the prediction?'</a:t>
            </a:r>
            <a:endParaRPr lang="en-US" sz="12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Data: Datasheets &amp; Data Cards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data come from, and under what consent?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field mean? Units, ranges, cardinality.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and when was it gathered? Known gaps &amp; biases.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cleaning &amp; transforms were applied?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uses — and uses to avoid.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refresh cadence and versioning.</a:t>
            </a:r>
            <a:endParaRPr lang="en-US" sz="11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AI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data systematically rather than only the model.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quality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guidelines &amp; audits often beat a fancier algorithm.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labelling disagreements; fix systematic errors.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data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points to the slices that need better data.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Model-centric vs data-centric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Hold the model fixed
•  Improve data quality
•  Target weak slices
•  Compounding gains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 Checklist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508760"/>
            <a:ext cx="109728" cy="56692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5087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1508760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target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leak-free label available at predict time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1488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148840"/>
            <a:ext cx="109728" cy="566928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14884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2148840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volume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rows &amp; positives for the chosen models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27889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2788920"/>
            <a:ext cx="109728" cy="566928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27889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80160" y="2788920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assured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Missingness, outliers &amp; duplicates handled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4290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3429000"/>
            <a:ext cx="109728" cy="566928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4290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80160" y="3429000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Leak-proof split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strategy matches the data structure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4069080"/>
            <a:ext cx="109728" cy="566928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06908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80160" y="4069080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data, pinned env, seeded runs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7091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4709160"/>
            <a:ext cx="109728" cy="566928"/>
          </a:xfrm>
          <a:prstGeom prst="rect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47091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280160" y="4709160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&amp; feature dictionary in place</a:t>
            </a:r>
            <a:endParaRPr lang="en-US" sz="13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DAY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Credit-Risk Features (Saudi Banking)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SAMA-regulated bank needs a fair, explainable consumer-default model.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bureau (SIMAH) history, salary deposits, utilisation — 2M records.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feature engineering: ratios, lags, target-encoded employer, behaviour windows.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6393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pipeline; out-of-fold target encoding to prevent leakage.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6393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+0.08 vs the legacy scorecard; stable across districts and segments.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6393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&amp; utilisation dominated; reject-inference and fairness checks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Discussion &amp; Reflection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205740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engineered feature is most at risk of leaking the future? Why?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target-encode 'employer' without leakage?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fairness checks would a SAMA regulator expect?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keep training and serving features identical?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0" y="141732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&amp; share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20574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team recompute features inconsistently?
</a:t>
            </a: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three engineered features for one of your own targets.
</a:t>
            </a: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one leakage risk you'll watch for first.</a:t>
            </a:r>
            <a:endParaRPr lang="en-US" sz="12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Feature-Engineering Pipeline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34095" y="457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C8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المعمل: بناء خط هندسة الخصائص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371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raw, messy tabular dataset into model-ready features using a single leak-proof ColumnTransformer pipeline.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52144" y="255117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EDA: dtypes, missingness map, cardinality, target balance.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52144" y="309981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a test set before any fitting.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52144" y="364845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branch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(median) + scale; log-transform skewed columns.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52144" y="419709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branch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+ one-hot; target-encode high-cardinality fields.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52144" y="474573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ratios, date parts and one interaction feature.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152144" y="529437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Cross-validate; confirm scores are realistic (no leakage).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498080" y="224028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498080" y="2240280"/>
            <a:ext cx="4114800" cy="384048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36" name="Text 33"/>
          <p:cNvSpPr/>
          <p:nvPr/>
        </p:nvSpPr>
        <p:spPr>
          <a:xfrm>
            <a:off x="763524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662672" y="2697480"/>
            <a:ext cx="37856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Pipeline object plus a one-page EDA note and feature dictionary.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498080" y="39319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498080" y="3931920"/>
            <a:ext cx="4114800" cy="384048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40" name="Text 37"/>
          <p:cNvSpPr/>
          <p:nvPr/>
        </p:nvSpPr>
        <p:spPr>
          <a:xfrm>
            <a:off x="7635240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Skills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662672" y="4434840"/>
            <a:ext cx="704088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62672" y="443484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476488" y="4434840"/>
            <a:ext cx="1559052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76488" y="4434840"/>
            <a:ext cx="15590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0145268" y="4434840"/>
            <a:ext cx="1248156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145268" y="4434840"/>
            <a:ext cx="1248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662672" y="4818888"/>
            <a:ext cx="1248156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62672" y="4818888"/>
            <a:ext cx="1248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9020556" y="4818888"/>
            <a:ext cx="1559052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20556" y="4818888"/>
            <a:ext cx="15590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category_encoders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548640" y="598932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r>
              <a:rPr lang="en-US" sz="10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CV score jumps suspiciously, suspect leakage before celebrating.</a:t>
            </a:r>
            <a:endParaRPr lang="en-US" sz="10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RECAP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Key Takeaways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965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221992"/>
            <a:ext cx="420624" cy="42062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2057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first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plot and question data before any modelling.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2221992"/>
            <a:ext cx="420624" cy="42062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1152" y="2057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with reason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fix to the missingness mechanism and outlier cause.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410712"/>
            <a:ext cx="420624" cy="42062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410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61872" y="32461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signal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scale, transform and derive domain-aware features.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31546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2512" y="3410712"/>
            <a:ext cx="420624" cy="42062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3410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31152" y="32461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&amp; select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selection fight the curse of dimensionality.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599432"/>
            <a:ext cx="420624" cy="42062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61872" y="4434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transforms on train only — leakage is the silent killer.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4599432"/>
            <a:ext cx="420624" cy="42062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31152" y="4434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track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inside CV; version data and seed everything.</a:t>
            </a:r>
            <a:endParaRPr lang="en-US" sz="1300" dirty="0"/>
          </a:p>
        </p:txBody>
      </p:sp>
      <p:pic>
        <p:nvPicPr>
          <p:cNvPr id="39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18745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Modelling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النمذجة المتقدمة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baselines: ensembles, principled tuning, forecasting, unsupervised discovery, deep learning, and the NLP &amp; LLM techniques that power today's intelligent systems.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47B2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50566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69080" y="50749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1FA6A0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53128" y="50566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Optimisation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C9B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55138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069080" y="5532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FB67C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53128" y="55138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Anomaly Detection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B5CA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989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59710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Networks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69080" y="5989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BB034"/>
          </a:solidFill>
          <a:ln/>
        </p:spPr>
      </p:sp>
      <p:sp>
        <p:nvSpPr>
          <p:cNvPr id="34" name="Text 32"/>
          <p:cNvSpPr/>
          <p:nvPr/>
        </p:nvSpPr>
        <p:spPr>
          <a:xfrm>
            <a:off x="4069080" y="5989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53128" y="59710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LLMs &amp; Intelligent Applications</a:t>
            </a:r>
            <a:endParaRPr lang="en-US" sz="1150" dirty="0"/>
          </a:p>
        </p:txBody>
      </p:sp>
      <p:pic>
        <p:nvPicPr>
          <p:cNvPr id="36" name="Image 0" descr="/home/claude/build/assets/sdai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6080760"/>
            <a:ext cx="173736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Objectives &amp; Competency Outcomes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models with bagging, boosting and stacking for accuracy &amp; stability.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hyperparameters with grid, random and Bayesian search.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temporal data with ARIMA, smoothing, Prophet and ML methods.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54787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and detect anomalies in unlabelled data.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54787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neural nets, CNNs, sequences and transformers.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54787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NLP, LLMs and recommenders to build intelligent systems.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level by end of Day 3:  Confident practitioner → Advanced modelling across paradigms</a:t>
            </a:r>
            <a:endParaRPr lang="en-US" sz="12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Agenda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554480"/>
            <a:ext cx="1554480" cy="96012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554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31720" y="155448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and disciplined hyperparameter optimisation.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651760"/>
            <a:ext cx="1554480" cy="96012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517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331720" y="265176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and unsupervised clustering &amp; anomaly detection.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749040"/>
            <a:ext cx="1554480" cy="96012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749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331720" y="374904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neural networks, NLP and large language models.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331720" y="484632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tune and compare a gradient-boosting model on Saudi-context data.</a:t>
            </a:r>
            <a:endParaRPr lang="en-US" sz="1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MODULE 3.1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التجميعي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many models beat one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&amp; Random Forests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&amp; gradient boosting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&amp; model blending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Ensembles Win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of crowds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diverse, decent models average out individual errors.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variance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cuts variance; boosting cuts bias — different levers.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sensitive to noise and to any single bad assumption.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dominates tabular ML competitions &amp; industry.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requirements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Models must be skilful
•  Models must be diverse
•  Combine by vote or average
•  Diversity drives the gain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&amp; Random Forests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many models on bootstrap samples; average their predictions.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decision trees + random feature subsets at each split.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baseline, low tuning, handles non-linearity &amp; mixed types.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Out-of-bag error &amp; feature importance come almost for free.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0" y="155448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1C355E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52560" y="24231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9052560" y="2423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95360" y="1801368"/>
            <a:ext cx="457200" cy="850392"/>
          </a:xfrm>
          <a:prstGeom prst="line">
            <a:avLst/>
          </a:prstGeom>
          <a:noFill/>
          <a:ln w="15875">
            <a:solidFill>
              <a:srgbClr val="C9D2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515600" y="2651760"/>
            <a:ext cx="457200" cy="868680"/>
          </a:xfrm>
          <a:prstGeom prst="line">
            <a:avLst/>
          </a:prstGeom>
          <a:noFill/>
          <a:ln w="15875">
            <a:solidFill>
              <a:srgbClr val="C9D2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2990088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9052560" y="29900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595360" y="1801368"/>
            <a:ext cx="457200" cy="1417320"/>
          </a:xfrm>
          <a:prstGeom prst="line">
            <a:avLst/>
          </a:prstGeom>
          <a:noFill/>
          <a:ln w="15875">
            <a:solidFill>
              <a:srgbClr val="C9D2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15600" y="3218688"/>
            <a:ext cx="457200" cy="301752"/>
          </a:xfrm>
          <a:prstGeom prst="line">
            <a:avLst/>
          </a:prstGeom>
          <a:noFill/>
          <a:ln w="15875">
            <a:solidFill>
              <a:srgbClr val="C9D2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2560" y="3557016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2C9BD6"/>
          </a:solidFill>
          <a:ln/>
        </p:spPr>
      </p:sp>
      <p:sp>
        <p:nvSpPr>
          <p:cNvPr id="23" name="Text 20"/>
          <p:cNvSpPr/>
          <p:nvPr/>
        </p:nvSpPr>
        <p:spPr>
          <a:xfrm>
            <a:off x="9052560" y="35570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595360" y="1801368"/>
            <a:ext cx="457200" cy="1984248"/>
          </a:xfrm>
          <a:prstGeom prst="line">
            <a:avLst/>
          </a:prstGeom>
          <a:noFill/>
          <a:ln w="15875">
            <a:solidFill>
              <a:srgbClr val="C9D2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15600" y="3785616"/>
            <a:ext cx="457200" cy="0"/>
          </a:xfrm>
          <a:prstGeom prst="line">
            <a:avLst/>
          </a:prstGeom>
          <a:noFill/>
          <a:ln w="15875">
            <a:solidFill>
              <a:srgbClr val="C9D2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52560" y="4123944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6B5CA5"/>
          </a:solidFill>
          <a:ln/>
        </p:spPr>
      </p:sp>
      <p:sp>
        <p:nvSpPr>
          <p:cNvPr id="27" name="Text 24"/>
          <p:cNvSpPr/>
          <p:nvPr/>
        </p:nvSpPr>
        <p:spPr>
          <a:xfrm>
            <a:off x="9052560" y="41239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4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595360" y="1801368"/>
            <a:ext cx="457200" cy="2551176"/>
          </a:xfrm>
          <a:prstGeom prst="line">
            <a:avLst/>
          </a:prstGeom>
          <a:noFill/>
          <a:ln w="15875">
            <a:solidFill>
              <a:srgbClr val="C9D2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15600" y="4352544"/>
            <a:ext cx="457200" cy="0"/>
          </a:xfrm>
          <a:prstGeom prst="line">
            <a:avLst/>
          </a:prstGeom>
          <a:noFill/>
          <a:ln w="15875">
            <a:solidFill>
              <a:srgbClr val="C9D2E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972800" y="3246120"/>
            <a:ext cx="868680" cy="86868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1" name="Text 28"/>
          <p:cNvSpPr/>
          <p:nvPr/>
        </p:nvSpPr>
        <p:spPr>
          <a:xfrm>
            <a:off x="10972800" y="3246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Boosting: Learning from Mistakes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model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11526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94406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49270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57293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040173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095037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errors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03059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5939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7340803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348826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9531706" y="15544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9586570" y="1554480"/>
            <a:ext cx="197144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model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283464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focuses on the residual errors of the ensemble so far.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Re-weights misclassified samples; combines weighted weak learners.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each new tree to the negative gradient of the loss.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bias and high accuracy, but more tuning and overfitting risk than bagging.</a:t>
            </a:r>
            <a:endParaRPr lang="en-US" sz="13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Libraries Compared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256032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63040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108960" y="1463040"/>
            <a:ext cx="29260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82112" y="146304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9260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08192" y="146304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0" y="1463040"/>
            <a:ext cx="265176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34272" y="1463040"/>
            <a:ext cx="25054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1883664"/>
            <a:ext cx="2560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1883664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108960" y="1883664"/>
            <a:ext cx="2926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82112" y="1883664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Regularised, battle-tested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1883664"/>
            <a:ext cx="2926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08192" y="1883664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Tabular, competitions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961120" y="1883664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34272" y="1883664"/>
            <a:ext cx="25054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knobs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2487168"/>
            <a:ext cx="2560320" cy="60350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" y="2487168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108960" y="2487168"/>
            <a:ext cx="2926080" cy="60350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82112" y="2487168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Leaf-wise, very fast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2487168"/>
            <a:ext cx="2926080" cy="60350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08192" y="2487168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961120" y="2487168"/>
            <a:ext cx="2651760" cy="60350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034272" y="2487168"/>
            <a:ext cx="25054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overfitting on small data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90672"/>
            <a:ext cx="2560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90672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108960" y="3090672"/>
            <a:ext cx="2926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182112" y="3090672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categorical handling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035040" y="3090672"/>
            <a:ext cx="2926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08192" y="3090672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categorical features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961120" y="3090672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34272" y="3090672"/>
            <a:ext cx="25054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preprocessing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3694176"/>
            <a:ext cx="2560320" cy="60350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" y="3694176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HistGBM (sklearn)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108960" y="3694176"/>
            <a:ext cx="2926080" cy="60350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182112" y="3694176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Built-in, simple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035040" y="3694176"/>
            <a:ext cx="2926080" cy="60350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08192" y="3694176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strong baseline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961120" y="3694176"/>
            <a:ext cx="2651760" cy="60350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3694176"/>
            <a:ext cx="25054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than the above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top libraries are excellent — start simple, tune learning_rate, depth, and n_estimators together.</a:t>
            </a:r>
            <a:endParaRPr lang="en-US" sz="11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&amp; Blending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64592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(base)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06040" y="1819656"/>
            <a:ext cx="1188720" cy="182880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2359152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3591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(base)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606040" y="2532888"/>
            <a:ext cx="1188720" cy="182880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072384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07238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(base)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606040" y="3246120"/>
            <a:ext cx="1188720" cy="182880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3785616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6B5CA5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785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(base)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606040" y="3959352"/>
            <a:ext cx="1188720" cy="182880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3977640" y="25603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355E"/>
          </a:solidFill>
          <a:ln/>
        </p:spPr>
      </p:sp>
      <p:sp>
        <p:nvSpPr>
          <p:cNvPr id="24" name="Text 21"/>
          <p:cNvSpPr/>
          <p:nvPr/>
        </p:nvSpPr>
        <p:spPr>
          <a:xfrm>
            <a:off x="397764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17920" y="2926080"/>
            <a:ext cx="822960" cy="201168"/>
          </a:xfrm>
          <a:prstGeom prst="rightArrow">
            <a:avLst/>
          </a:prstGeom>
          <a:solidFill>
            <a:srgbClr val="2FB67C"/>
          </a:solidFill>
          <a:ln/>
        </p:spPr>
      </p:sp>
      <p:sp>
        <p:nvSpPr>
          <p:cNvPr id="26" name="Shape 23"/>
          <p:cNvSpPr/>
          <p:nvPr/>
        </p:nvSpPr>
        <p:spPr>
          <a:xfrm>
            <a:off x="7086600" y="25603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FB67C"/>
          </a:solidFill>
          <a:ln/>
        </p:spPr>
      </p:sp>
      <p:sp>
        <p:nvSpPr>
          <p:cNvPr id="27" name="Text 24"/>
          <p:cNvSpPr/>
          <p:nvPr/>
        </p:nvSpPr>
        <p:spPr>
          <a:xfrm>
            <a:off x="7086600" y="2560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meta-model learns to combine out-of-fold predictions of diverse base models.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hold-out variant; combine on a validation split.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base predictions out-of-fold to avoid leakage; mind the extra complexity.</a:t>
            </a:r>
            <a:endParaRPr lang="en-US" sz="12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Ensemble Strategy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fast baseline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Random Forest. Minimal tuning, strong out-of-the-box.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top accuracy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Gradient boosting (XGBoost / LightGBM / CatBoost).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model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Bagging to stabilise predictions.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model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Boosting to reduce systematic error.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strong models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Stacking to squeeze the last few points.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matters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tree or RF + SHAP over a deep stack.</a:t>
            </a:r>
            <a:endParaRPr lang="en-US" sz="11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MODULE 3.2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Optimisation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ضبط المعاملات الفائقة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 hyperparameters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random &amp; Bayesian search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validation curves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best practices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 Hyperparameters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C9BD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data during training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regression weights, tree splits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optimisation algorithm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 by the practitioner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47B2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before training begins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learning rate, depth, n_estimators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search + cross-validation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capacity &amp; regularisation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89864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with cross-validation — never on the test set.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over a defined grid — thorough but exponential cost.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combinations — often finds good values far faster.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score surface; propose the most promising points next.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4720"/>
            <a:ext cx="35173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393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Hyperband / ASHA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1920"/>
            <a:ext cx="3151632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budget to promising configs, kill weak ones early.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4720"/>
            <a:ext cx="35173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393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1920"/>
            <a:ext cx="3151632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population of configs during training.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4720"/>
            <a:ext cx="35173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393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1920"/>
            <a:ext cx="3151632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Optuna, scikit-optimize, Ray Tune, sklearn's *SearchCV.</a:t>
            </a:r>
            <a:endParaRPr lang="en-US" sz="11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Optimisation Intuition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cheap model of 'config → score' from trials so far.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exploring uncertain regions vs exploiting good ones.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most promising config, update beliefs, repeat.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fewer expensive trials than grid for the same quality.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vs exploit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Try uncertain regions
•  Exploit known-good areas
•  Spend budget wisely
•  Converge faster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Validation Curves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223760" y="15544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vs data size — a big gap means high variance; more data helps.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&amp; low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curves low &amp; close → high bias; add capacity or features.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curve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vs one hyperparameter reveals under/over-fitting zones.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before you tune — know which problem you're solving.</a:t>
            </a:r>
            <a:endParaRPr lang="en-US" sz="12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Best Practices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pipeline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preprocessing + model jointly to avoid leakage.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coarse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random search first, then refine around good regions.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metric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a single business-aligned metric; track the rest.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knobs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learning_rate with more estimators; depth with regularisation.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early-stop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trials; use early stopping to save compute.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test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final numbers on data untouched during tuning.</a:t>
            </a:r>
            <a:endParaRPr lang="en-US" sz="11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2C9BD6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MODULE 3.3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التنبؤ بالسلاسل الزمنية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stationarity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&amp; exponential smoothing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&amp; ML forecasting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&amp; forecast metrics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Time Series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223760" y="15544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direction (growth in electricity demand).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cycles — summer cooling peaks in the Gulf.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business or economic swings.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noise after removing 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&amp; Differencing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mean, variance &amp; autocorrelation over time.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(ARIMA) assume a stationary series.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and KPSS tests check for unit roots / stationarity.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Differencing, log/Box-Cox, and seasonal differencing.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3840480"/>
          </a:xfrm>
          <a:prstGeom prst="roundRect">
            <a:avLst>
              <a:gd name="adj" fmla="val 1429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stationary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543800" y="2286000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7543800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55280" y="2258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&amp; inspect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43800" y="2852928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7543800" y="2852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0" y="28254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variance (log)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543800" y="3419856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7543800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955280" y="33924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the trend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543800" y="3986784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7543800" y="3986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955280" y="39593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difference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43800" y="4553712"/>
            <a:ext cx="310896" cy="310896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7" name="Text 24"/>
          <p:cNvSpPr/>
          <p:nvPr/>
        </p:nvSpPr>
        <p:spPr>
          <a:xfrm>
            <a:off x="7543800" y="4553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55280" y="4526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(ADF / KPSS)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ARIMA Family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(p)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Autoregression — depends on its own recent past values.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(d)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differencing applied to reach stationarity.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(q)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— depends on recent forecast errors.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472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361188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&amp; SARIMAX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seasonal terms (P,D,Q,m) and exogenous regressors (weather, holidays). Use ACF/PACF plots or auto_arima to choose orders.</a:t>
            </a:r>
            <a:endParaRPr lang="en-US" sz="13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Smoothing &amp; Prophet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(ETS)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recent observations more heavily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level, trend &amp; seasonality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or multiplicative seasonality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robust classical baseline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6B5CA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Decomposable trend + seasonality + holidays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data &amp; outliers gracefully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holiday/Ramadan effect modelling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business series with strong seasonality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303580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Forecasting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forecasting into supervised learning with lag &amp; window features.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Lags, rolling stats, calendar flags, weather, exogenous drivers.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for tabular; LSTM / Temporal Fusion for sequences.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effects &amp; many related series at once.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3840480"/>
          </a:xfrm>
          <a:prstGeom prst="roundRect">
            <a:avLst>
              <a:gd name="adj" fmla="val 142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vs local models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52360" y="21488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one model per series — simple, but ignores shared patterns.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one model across many series — learns shared seasonality and scales to thousands of SKUs, branches or meters.</a:t>
            </a:r>
            <a:endParaRPr lang="en-US" sz="12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&amp; Forecast Metrics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evaluation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83080"/>
            <a:ext cx="1920240" cy="365760"/>
          </a:xfrm>
          <a:prstGeom prst="rect">
            <a:avLst/>
          </a:prstGeom>
          <a:solidFill>
            <a:srgbClr val="1F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68880" y="1783080"/>
            <a:ext cx="768096" cy="365760"/>
          </a:xfrm>
          <a:prstGeom prst="rect">
            <a:avLst/>
          </a:prstGeom>
          <a:solidFill>
            <a:srgbClr val="F47B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350008"/>
            <a:ext cx="2688336" cy="365760"/>
          </a:xfrm>
          <a:prstGeom prst="rect">
            <a:avLst/>
          </a:prstGeom>
          <a:solidFill>
            <a:srgbClr val="1F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36976" y="2350008"/>
            <a:ext cx="768096" cy="365760"/>
          </a:xfrm>
          <a:prstGeom prst="rect">
            <a:avLst/>
          </a:prstGeom>
          <a:solidFill>
            <a:srgbClr val="F47B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916936"/>
            <a:ext cx="3456432" cy="365760"/>
          </a:xfrm>
          <a:prstGeom prst="rect">
            <a:avLst/>
          </a:prstGeom>
          <a:solidFill>
            <a:srgbClr val="1F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5072" y="2916936"/>
            <a:ext cx="768096" cy="365760"/>
          </a:xfrm>
          <a:prstGeom prst="rect">
            <a:avLst/>
          </a:prstGeom>
          <a:solidFill>
            <a:srgbClr val="F47B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5204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(teal) → forecast (orange), origin rolls forward.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66560" y="1463040"/>
            <a:ext cx="484632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66560" y="1463040"/>
            <a:ext cx="4846320" cy="420624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21" name="Text 18"/>
          <p:cNvSpPr/>
          <p:nvPr/>
        </p:nvSpPr>
        <p:spPr>
          <a:xfrm>
            <a:off x="6903720" y="146304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metrics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03720" y="20116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same units, robust.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misses more heavily.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error; fails near zero values.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sMAPE / MASE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metrics; MASE compares to a naïve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6B5CA5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MODULE 3.4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Anomaly Detection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العنقدة وكشف الشذوذ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methods &amp; use cases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and choosing k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&amp; density methods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at scale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Discovery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customers, patients or assets by behaviour.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data with representative prototypes.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rare points: fraud, faults, intrusions.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labels become features for supervised models.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discovery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themes in documents and tickets.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structure when labels are scarce or absent.</a:t>
            </a:r>
            <a:endParaRPr lang="en-US" sz="11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5852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040880" y="15544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points to nearest centroid; recompute; repeat to convergence.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chosen k, scaled features, and roughly spherical clusters.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seeding avoids poor local minima.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varied density, non-convex shapes &amp; outliers.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040880" y="470916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1C355E"/>
          </a:solidFill>
          <a:ln/>
        </p:spPr>
      </p:sp>
      <p:sp>
        <p:nvSpPr>
          <p:cNvPr id="14" name="Text 10"/>
          <p:cNvSpPr/>
          <p:nvPr/>
        </p:nvSpPr>
        <p:spPr>
          <a:xfrm>
            <a:off x="7040880" y="4709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minimise Σ ‖xᵢ − μ_c‖²  (within-cluster SSE)</a:t>
            </a:r>
            <a:endParaRPr lang="en-US" sz="1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Number of Clusters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46304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223760" y="15544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inertia vs k; pick where gains flatten (~k=3 here).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cohesion vs separation; higher is better.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statistic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clustering to a random-data reference.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'right' k must also be actionable for the team.</a:t>
            </a:r>
            <a:endParaRPr lang="en-US" sz="13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&amp; Density Clustering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C9BD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tree (dendrogram) of merges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pre-specify k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tree at a chosen level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costly on large data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FB67C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/ HDBSCAN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— finds arbitrary shapes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sparse points as noise/outliers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k; needs eps &amp; min_samples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spatial &amp; anomaly tasks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303580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Methods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Z-score, IQR, Gaussian likelihood for univariate outliers.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isolate points — anomalies need fewer splits.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 point's density to its neighbours'.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boundary around 'normal' data.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reconstruction error flags anomalies.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residuals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deviation from expected value = anomaly.</a:t>
            </a:r>
            <a:endParaRPr lang="en-US" sz="11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CLUSTERING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Customer Segmentation (Saudi Retail)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retailer wants actionable customer segments for loyalty &amp; marketing.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features — recency, frequency, monetary — from 18 months of transactions.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→ k-means (k via silhouette) → profile &amp; name segments.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6393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segments: Champions, Loyal, At-risk, New, Hibernating.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6393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offers lifted campaign conversion ~18% vs a blanket blast.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6393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business naming made clusters usable; revisit quarterly as behaviour drifts.</a:t>
            </a:r>
            <a:endParaRPr lang="en-US" sz="11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2FB67C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MODULE 3.5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Networks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العميق والشبكات العصبية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perceptron to deep 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regularisation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for vision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Sequences: RNNs &amp; transformers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Artificial Neuron &amp; Networks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11680" y="219456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2" name="Shape 9"/>
          <p:cNvSpPr/>
          <p:nvPr/>
        </p:nvSpPr>
        <p:spPr>
          <a:xfrm>
            <a:off x="2011680" y="310896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402336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0" y="3657600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0" y="4572000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0" y="2651760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19" name="Shape 16"/>
          <p:cNvSpPr/>
          <p:nvPr/>
        </p:nvSpPr>
        <p:spPr>
          <a:xfrm>
            <a:off x="7132320" y="3566160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0" name="Shape 17"/>
          <p:cNvSpPr/>
          <p:nvPr/>
        </p:nvSpPr>
        <p:spPr>
          <a:xfrm>
            <a:off x="2468880" y="242316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68880" y="2423160"/>
            <a:ext cx="2103120" cy="54864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68880" y="2423160"/>
            <a:ext cx="2103120" cy="146304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68880" y="2423160"/>
            <a:ext cx="2103120" cy="237744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468880" y="333756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468880" y="333756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68880" y="3337560"/>
            <a:ext cx="2103120" cy="54864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68880" y="3337560"/>
            <a:ext cx="2103120" cy="146304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468880" y="425196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468880" y="425196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68880" y="425196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68880" y="4251960"/>
            <a:ext cx="2103120" cy="54864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29200" y="2057400"/>
            <a:ext cx="2103120" cy="82296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0" y="2057400"/>
            <a:ext cx="2103120" cy="173736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0" y="297180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29200" y="2971800"/>
            <a:ext cx="2103120" cy="82296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0" y="388620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29200" y="388620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0" y="480060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029200" y="4800600"/>
            <a:ext cx="2103120" cy="0"/>
          </a:xfrm>
          <a:prstGeom prst="line">
            <a:avLst/>
          </a:prstGeom>
          <a:noFill/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78308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34340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903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229600" y="155448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→ activation (ReLU, sigmoid).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layers learn hierarchical features.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units can approximate complex functions.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data, compute &amp; care to train well.</a:t>
            </a:r>
            <a:endParaRPr lang="en-US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Neural Networks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1152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94406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49270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57293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040173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095037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03059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5939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7340803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(SGD/Adam)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34882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9531706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9586570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epochs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13232" y="29077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7" name="Text 24"/>
          <p:cNvSpPr/>
          <p:nvPr/>
        </p:nvSpPr>
        <p:spPr>
          <a:xfrm>
            <a:off x="932688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for classes; MSE for regression.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322064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86656" y="29077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31" name="Text 28"/>
          <p:cNvSpPr/>
          <p:nvPr/>
        </p:nvSpPr>
        <p:spPr>
          <a:xfrm>
            <a:off x="4706112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04944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adapts learning rates; tune the base LR.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095488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260080" y="29077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5" name="Text 32"/>
          <p:cNvSpPr/>
          <p:nvPr/>
        </p:nvSpPr>
        <p:spPr>
          <a:xfrm>
            <a:off x="8479536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278368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Mini-batches trade speed against gradient noise.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13232" y="426110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9" name="Text 36"/>
          <p:cNvSpPr/>
          <p:nvPr/>
        </p:nvSpPr>
        <p:spPr>
          <a:xfrm>
            <a:off x="932688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31520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&amp; decay stabilise and sharpen training.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322064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486656" y="426110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43" name="Text 40"/>
          <p:cNvSpPr/>
          <p:nvPr/>
        </p:nvSpPr>
        <p:spPr>
          <a:xfrm>
            <a:off x="4706112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&amp; norm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504944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init + batch/layer norm ease optimisation.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095488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60080" y="426110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47" name="Text 44"/>
          <p:cNvSpPr/>
          <p:nvPr/>
        </p:nvSpPr>
        <p:spPr>
          <a:xfrm>
            <a:off x="8479536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278368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when validation loss stops improving.</a:t>
            </a:r>
            <a:endParaRPr lang="en-US" sz="10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Regularising Deep Models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drop units during training to prevent co-adaptation.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 keeps weights small and the model smoother.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Synthetically expand data (flips, crops, noise) for robustness.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validation curve to stop before overfitting.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pretrained weights — less data, faster convergence.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Batch/Layer norm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activations and allow higher learning rates.</a:t>
            </a:r>
            <a:endParaRPr lang="en-US" sz="13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Networks for Vision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1152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94406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49270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ReLU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57293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040173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095037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03059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5939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7340803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34882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9531706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9586570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class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283464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filters detect edges, textures, then complex parts.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Down-samples for translation invariance &amp; efficiency.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EfficientNet, ViT fine-tune on small datasets.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uses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(SEHA), quality inspection, crowd analytics for Hajj.</a:t>
            </a:r>
            <a:endParaRPr lang="en-US" sz="13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Sequences: RNNs to Transformers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/ GRU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sequences step-by-step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cells capture short/long context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parallelise; long-range fade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useful for small sequence tasks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6B5CA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relates all positions at once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parallel; scales to huge data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of modern NLP, vision &amp; speech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large language models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303580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FBB034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MODULE 3.6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LLMs &amp; Intelligent Applications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معالجة اللغة والنماذج اللغوية الكبيرة والتطبيقات الذكية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NLP pipeline &amp; representations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large language models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agents &amp; Arabic NLP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Recommenders, vision &amp; robotics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9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NLP Pipeline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1152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94406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49270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57293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040173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095037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03059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5939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7340803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34882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9531706" y="155448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9586570" y="15544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task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13232" y="29077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7" name="Text 24"/>
          <p:cNvSpPr/>
          <p:nvPr/>
        </p:nvSpPr>
        <p:spPr>
          <a:xfrm>
            <a:off x="932688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reps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&amp; TF-IDF — sparse, interpretable.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322064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86656" y="29077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31" name="Text 28"/>
          <p:cNvSpPr/>
          <p:nvPr/>
        </p:nvSpPr>
        <p:spPr>
          <a:xfrm>
            <a:off x="4706112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embeddings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04944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word2vec, GloVe, fastText — dense semantics.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095488" y="2743200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260080" y="29077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5" name="Text 32"/>
          <p:cNvSpPr/>
          <p:nvPr/>
        </p:nvSpPr>
        <p:spPr>
          <a:xfrm>
            <a:off x="8479536" y="28895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278368" y="3200400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BERT-style embeddings vary by sentence context.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13232" y="426110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9" name="Text 36"/>
          <p:cNvSpPr/>
          <p:nvPr/>
        </p:nvSpPr>
        <p:spPr>
          <a:xfrm>
            <a:off x="932688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31520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NER, QA, summarisation, generation.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322064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486656" y="426110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43" name="Text 40"/>
          <p:cNvSpPr/>
          <p:nvPr/>
        </p:nvSpPr>
        <p:spPr>
          <a:xfrm>
            <a:off x="4706112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504944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Sub-word (BPE) handles rare &amp; morphological words.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095488" y="4096512"/>
            <a:ext cx="3517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60080" y="426110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47" name="Text 44"/>
          <p:cNvSpPr/>
          <p:nvPr/>
        </p:nvSpPr>
        <p:spPr>
          <a:xfrm>
            <a:off x="8479536" y="424281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278368" y="4553712"/>
            <a:ext cx="315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Diacritics, orthography &amp; dialects need special care.</a:t>
            </a:r>
            <a:endParaRPr lang="en-US" sz="105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token over web-scale text to learn language &amp; knowledge.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unlocks reasoning, translation and few-shot abilities.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Instruction-tuning &amp; RLHF align models to follow tasks safely.
</a:t>
            </a: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Drafting, extraction, classification, coding and conversation.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3840480"/>
          </a:xfrm>
          <a:prstGeom prst="roundRect">
            <a:avLst>
              <a:gd name="adj" fmla="val 1429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ALLaM &amp; Arabic LLMs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98080" y="21945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SDAIA's ALLaM is a leading Arabic-first large language model, advancing high-quality Arabic understanding and generation for national and enterprise use.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models matter: they respect morphology, dialects and cultural context that English-centric models miss.</a:t>
            </a:r>
            <a:endParaRPr lang="en-US" sz="1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Agents &amp; Tool Use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3736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" y="173736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11526" y="206197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5" name="Shape 12"/>
          <p:cNvSpPr/>
          <p:nvPr/>
        </p:nvSpPr>
        <p:spPr>
          <a:xfrm>
            <a:off x="2794406" y="173736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1FA6A0"/>
          </a:solidFill>
          <a:ln/>
        </p:spPr>
      </p:sp>
      <p:sp>
        <p:nvSpPr>
          <p:cNvPr id="16" name="Text 13"/>
          <p:cNvSpPr/>
          <p:nvPr/>
        </p:nvSpPr>
        <p:spPr>
          <a:xfrm>
            <a:off x="2849270" y="173736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docs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57293" y="206197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8" name="Shape 15"/>
          <p:cNvSpPr/>
          <p:nvPr/>
        </p:nvSpPr>
        <p:spPr>
          <a:xfrm>
            <a:off x="5040173" y="173736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2C9BD6"/>
          </a:solidFill>
          <a:ln/>
        </p:spPr>
      </p:sp>
      <p:sp>
        <p:nvSpPr>
          <p:cNvPr id="19" name="Text 16"/>
          <p:cNvSpPr/>
          <p:nvPr/>
        </p:nvSpPr>
        <p:spPr>
          <a:xfrm>
            <a:off x="5095037" y="173736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prompt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103059" y="206197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1" name="Shape 18"/>
          <p:cNvSpPr/>
          <p:nvPr/>
        </p:nvSpPr>
        <p:spPr>
          <a:xfrm>
            <a:off x="7285939" y="173736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2FB67C"/>
          </a:solidFill>
          <a:ln/>
        </p:spPr>
      </p:sp>
      <p:sp>
        <p:nvSpPr>
          <p:cNvPr id="22" name="Text 19"/>
          <p:cNvSpPr/>
          <p:nvPr/>
        </p:nvSpPr>
        <p:spPr>
          <a:xfrm>
            <a:off x="7340803" y="173736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348826" y="206197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4" name="Shape 21"/>
          <p:cNvSpPr/>
          <p:nvPr/>
        </p:nvSpPr>
        <p:spPr>
          <a:xfrm>
            <a:off x="9531706" y="173736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586570" y="173736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" y="2880360"/>
            <a:ext cx="3517392" cy="1046988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13232" y="304495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8" name="Text 25"/>
          <p:cNvSpPr/>
          <p:nvPr/>
        </p:nvSpPr>
        <p:spPr>
          <a:xfrm>
            <a:off x="932688" y="30266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31520" y="3337560"/>
            <a:ext cx="315163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answers in your data; cuts hallucination; cites sources.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22064" y="2880360"/>
            <a:ext cx="3517392" cy="1046988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486656" y="304495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32" name="Text 29"/>
          <p:cNvSpPr/>
          <p:nvPr/>
        </p:nvSpPr>
        <p:spPr>
          <a:xfrm>
            <a:off x="4706112" y="30266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04944" y="3337560"/>
            <a:ext cx="315163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that plan, call tools/APIs and act over multiple steps.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095488" y="2880360"/>
            <a:ext cx="3517392" cy="1046988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260080" y="304495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6" name="Text 33"/>
          <p:cNvSpPr/>
          <p:nvPr/>
        </p:nvSpPr>
        <p:spPr>
          <a:xfrm>
            <a:off x="8479536" y="30266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278368" y="3337560"/>
            <a:ext cx="315163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human-in-the-loop and policy checks for safety.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48640" y="4165092"/>
            <a:ext cx="3517392" cy="1046988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13232" y="43296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40" name="Text 37"/>
          <p:cNvSpPr/>
          <p:nvPr/>
        </p:nvSpPr>
        <p:spPr>
          <a:xfrm>
            <a:off x="932688" y="43113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31520" y="4622292"/>
            <a:ext cx="315163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relevance &amp; task success — not vibes.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322064" y="4165092"/>
            <a:ext cx="3517392" cy="1046988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486656" y="43296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44" name="Text 41"/>
          <p:cNvSpPr/>
          <p:nvPr/>
        </p:nvSpPr>
        <p:spPr>
          <a:xfrm>
            <a:off x="4706112" y="43113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4504944" y="4622292"/>
            <a:ext cx="315163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route to smaller models, batch where possible.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095488" y="4165092"/>
            <a:ext cx="3517392" cy="1046988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260080" y="43296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48" name="Text 45"/>
          <p:cNvSpPr/>
          <p:nvPr/>
        </p:nvSpPr>
        <p:spPr>
          <a:xfrm>
            <a:off x="8479536" y="43113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8278368" y="4622292"/>
            <a:ext cx="315163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(PDPL), audit trails and access control.</a:t>
            </a:r>
            <a:endParaRPr lang="en-US" sz="105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C9BD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user–item interactions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factorisation / embeddings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'Users like you also chose…'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for new users/items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hybrid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item &amp; user features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cold-start with metadata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blends both signals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media, retail &amp; services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89864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ranking metrics (Precision@k, NDCG) and watch for popularity bias &amp; filter bubbles.</a:t>
            </a:r>
            <a:endParaRPr lang="en-US" sz="11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Robotics in Intelligent Systems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8191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objects — vehicles, defects, PPE compliance on sites.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8191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masks for medical imaging &amp; remote sensing.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417320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8191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636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74520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documents, plates &amp; forms — Arabic &amp; English.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64388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lets robots &amp; vehicles understand surroundings.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6438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(RL)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for manipulation &amp; navigation.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79292"/>
            <a:ext cx="3517392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64388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62559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context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936492"/>
            <a:ext cx="3151632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 smart-city sensing, logistics automation, Hajj crowd safety.</a:t>
            </a:r>
            <a:endParaRPr lang="en-US" sz="11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FBB034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MODULE 3.7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&amp; Practical Modelling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النمذجة العملية المتينة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methods &amp; probabilistic models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Multiclass, calibration &amp; soft clustering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Semi-supervised, active &amp; graph learning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&amp; evaluating generative AI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9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&amp; the Kernel Trick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margin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finds the boundary with the widest gap between classes — robust to noise.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boundary-defining points matter; the rest can be ignored.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into higher dimensions implicitly to separate non-linear classes.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C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margin width against training errors; γ controls kernel reach.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⟂</a:t>
            </a:r>
            <a:endParaRPr lang="en-US" sz="6400" dirty="0"/>
          </a:p>
        </p:txBody>
      </p:sp>
      <p:sp>
        <p:nvSpPr>
          <p:cNvPr id="15" name="Text 12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Small-to-medium, high-dimensional data
•  Clear margin of separation
•  Text / bioinformatics features
•  Kernels: linear · RBF · polynomial</a:t>
            </a:r>
            <a:endParaRPr lang="en-US" sz="1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 &amp; Probabilistic Models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∝ likelihood × prior — update belief as evidence arrives.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‘Naïve’ assumption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independent given the class — simplistic but often effective.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one pass; a strong, cheap baseline for text.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383280"/>
            <a:ext cx="27432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338328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91840" y="3383280"/>
            <a:ext cx="36576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64992" y="3383280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949440" y="3383280"/>
            <a:ext cx="46634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22592" y="3383280"/>
            <a:ext cx="4517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380390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3803904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291840" y="3803904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64992" y="3803904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features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949440" y="3803904"/>
            <a:ext cx="4663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022592" y="3803904"/>
            <a:ext cx="4517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tabular data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4224528"/>
            <a:ext cx="27432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422452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291840" y="4224528"/>
            <a:ext cx="36576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64992" y="4224528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/ frequencies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949440" y="4224528"/>
            <a:ext cx="46634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22592" y="4224528"/>
            <a:ext cx="4517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classification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48640" y="4645152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4645152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NB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3291840" y="4645152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364992" y="4645152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features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949440" y="4645152"/>
            <a:ext cx="4663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022592" y="4645152"/>
            <a:ext cx="4517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&amp; presence/absence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models output calibrated-ish likelihoods — useful when you need confidence, not just a label.</a:t>
            </a:r>
            <a:endParaRPr lang="en-US" sz="11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&amp; Multilabel Strategies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(one label of many)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One-vs-Rest: N binary classifiers, pick highest score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One-vs-One: N(N-1)/2 pairwise votes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softmax in trees, NNs &amp; logistic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defect type A / B / C / none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6B5CA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 (many labels at once)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label an independent binary head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chains model label correlations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Hamming loss, micro/macro-F1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image tagged road + sign + person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67004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framing that matches the business question before choosing an algorithm.</a:t>
            </a:r>
            <a:endParaRPr lang="en-US" sz="12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rank well yet output untrustworthy probabilities. Calibration aligns predicted scores with real frequencies.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96596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213055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21122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242316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thresholds, expected-value decisions &amp; pricing need true probabilities.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96596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213055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21122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curve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242316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predicted vs observed; the diagonal means perfectly calibrated.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96596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213055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21122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242316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of probabilities — lower is better.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977640"/>
            <a:ext cx="27432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397764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91840" y="3977640"/>
            <a:ext cx="45720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64992" y="3977640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863840" y="3977640"/>
            <a:ext cx="37490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3977640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48640" y="439826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" y="4398264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3291840" y="4398264"/>
            <a:ext cx="4572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64992" y="4398264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sigmoid to scores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863840" y="4398264"/>
            <a:ext cx="3749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36992" y="4398264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SVMs, small data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48640" y="4818888"/>
            <a:ext cx="27432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" y="481888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3291840" y="4818888"/>
            <a:ext cx="45720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64992" y="4818888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step fit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7863840" y="4818888"/>
            <a:ext cx="37490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36992" y="4818888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datasets</a:t>
            </a:r>
            <a:endParaRPr lang="en-US" sz="11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 — Soft Clustering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assignment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gets a probability of belonging to every cluster, not a hard label.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algorithm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Expectation &amp; Maximisation to fit cluster means &amp; covariances.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shapes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Elliptical clusters — more expressive than K-means' spheres.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BIC / AIC to choose the number of components.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GMM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K-means → hard, spherical
•  GMM → soft, elliptical
•  GMM gives uncertainty
•  Use for density &amp; novelty</a:t>
            </a:r>
            <a:endParaRPr lang="en-US" sz="1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&amp; Active Learning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expensive. These paradigms squeeze maximum value from a small labelled set plus abundant unlabelled data.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920240"/>
            <a:ext cx="53035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9202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FB67C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2148840"/>
            <a:ext cx="5303520" cy="22860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2523744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Self-training: model labels its own confident data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Pseudo-labelling &amp; consistency regularisation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structure in unlabelled data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confident mistakes compound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1920240"/>
            <a:ext cx="53035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9202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47B20"/>
          </a:solidFill>
          <a:ln/>
        </p:spPr>
      </p:sp>
      <p:sp>
        <p:nvSpPr>
          <p:cNvPr id="19" name="Shape 16"/>
          <p:cNvSpPr/>
          <p:nvPr/>
        </p:nvSpPr>
        <p:spPr>
          <a:xfrm>
            <a:off x="6309360" y="2148840"/>
            <a:ext cx="5303520" cy="2286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92240" y="2523744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asks humans to label the most informative points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by uncertainty or disagreement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annotation budgets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label savings on rare classes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97880" y="308152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081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context: bootstrap an Arabic document classifier from a few hundred labels plus millions of unlabelled records.</a:t>
            </a:r>
            <a:endParaRPr lang="en-US" sz="11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Machine Learning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carry signal: who-transacts-with-whom, who-follows-whom.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embeddings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vectors that encode a node's neighbourhood &amp; role.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Message-passing networks aggregate information from neighbours.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107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tasks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accounts, detect bots, score credit.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107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tasks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connections; predict interactions.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107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expose collusion invisible to row-wise models.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features often lift fraud, AML and recommendation models well beyond tabular baselines.</a:t>
            </a:r>
            <a:endParaRPr lang="en-US" sz="11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LLMs: Prompt → RAG → Fine-Tune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0876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72968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3355848" y="150876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3410712" y="150876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knowledge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0176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6163056" y="150876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50876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787384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8970264" y="150876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9025128" y="150876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2697480"/>
            <a:ext cx="27432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269748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291840" y="2697480"/>
            <a:ext cx="29260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64992" y="269748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17920" y="2697480"/>
            <a:ext cx="164592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91072" y="2697480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863840" y="2697480"/>
            <a:ext cx="37490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2697480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48640" y="311810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" y="3118104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91840" y="3118104"/>
            <a:ext cx="2926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64992" y="3118104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only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17920" y="3118104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91072" y="3118104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863840" y="3118104"/>
            <a:ext cx="3749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36992" y="3118104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iteration, general tasks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3538728"/>
            <a:ext cx="27432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" y="353872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291840" y="3538728"/>
            <a:ext cx="29260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364992" y="353872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private knowledge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217920" y="3538728"/>
            <a:ext cx="16459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91072" y="353872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863840" y="3538728"/>
            <a:ext cx="37490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36992" y="3538728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in your documents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48640" y="3959352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1792" y="3959352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291840" y="3959352"/>
            <a:ext cx="2926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364992" y="3959352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217920" y="3959352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91072" y="3959352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863840" y="3959352"/>
            <a:ext cx="3749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936992" y="3959352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Style, format, narrow domain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48640" y="4379976"/>
            <a:ext cx="27432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1792" y="4379976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3291840" y="4379976"/>
            <a:ext cx="29260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364992" y="4379976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base model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6217920" y="4379976"/>
            <a:ext cx="16459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291072" y="4379976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7863840" y="4379976"/>
            <a:ext cx="37490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936992" y="4379976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models (e.g. ALLaM)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ladder only as far as the problem demands — most needs are met by prompting + RAG.</a:t>
            </a:r>
            <a:endParaRPr lang="en-US" sz="11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Generative-AI Systems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systems have no single ‘accuracy’. Evaluate across quality, safety and cost with layered methods.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96596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213055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21122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metrics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242316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BLEU, ROUGE, exact-match — quick but shallow.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96596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213055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21122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242316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model scores faithfulness, relevance &amp; tone.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96596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213055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21122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242316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for nuance, safety &amp; Arabic fluency.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400507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9867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metrics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429768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context precision/recall, groundedness.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84048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400507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9867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429768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Toxicity, jailbreak resistance, PII leakage, bias.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84048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400507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9867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429768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cost-per-call, hallucination rate.</a:t>
            </a:r>
            <a:endParaRPr lang="en-US" sz="11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&amp; Model Selection in Production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23774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17320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6080" y="1417320"/>
            <a:ext cx="41148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232" y="1417320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040880" y="1417320"/>
            <a:ext cx="45720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14032" y="1417320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tactic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837944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837944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26080" y="1837944"/>
            <a:ext cx="4114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99232" y="1837944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↑ vs cost &amp; latency ↑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40880" y="1837944"/>
            <a:ext cx="4572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14032" y="1837944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smallest model that passes evals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258568"/>
            <a:ext cx="23774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25856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926080" y="2258568"/>
            <a:ext cx="41148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99232" y="2258568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faster, slight quality loss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040880" y="2258568"/>
            <a:ext cx="45720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14032" y="2258568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/ 4-bit for edge &amp; scale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679192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2679192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926080" y="2679192"/>
            <a:ext cx="4114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99232" y="2679192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a big model into a small one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040880" y="2679192"/>
            <a:ext cx="4572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14032" y="2679192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student on teacher outputs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99816"/>
            <a:ext cx="23774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99816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926080" y="3099816"/>
            <a:ext cx="41148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99232" y="3099816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recomputing identical calls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040880" y="3099816"/>
            <a:ext cx="45720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14032" y="3099816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embeddings &amp; frequent answers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3520440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3520440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2926080" y="3520440"/>
            <a:ext cx="4114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99232" y="3520440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 for each request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040880" y="3520440"/>
            <a:ext cx="4572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14032" y="3520440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 first, escalate hard cases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ML is an optimisation across accuracy, latency, cost and reliability — never accuracy alone.</a:t>
            </a:r>
            <a:endParaRPr lang="en-US" sz="12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Modelling Mistakes — and How to Avoid Them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1732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45920"/>
            <a:ext cx="5303520" cy="2286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20824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accuracy on imbalanced data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on the test set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calibration &amp; uncertainty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complex model by default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to beat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a metric the business ignores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1732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1732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FB67C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45920"/>
            <a:ext cx="5303520" cy="22860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practice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20824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PR-AUC, recall &amp; cost-sensitive metrics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 test set; tune via CV only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reliability curves; report intervals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simple; add complexity if it pays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ship a dumb baseline first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the metric to a decision &amp; its value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317296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DAY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Real-Time Fraud Detection (Saudi Finance)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fraudulent card transactions in milliseconds with very few positives.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transactions; &lt;0.2% fraud — severe class imbalance.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+ isolation-forest score; threshold tuned to alert budget.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6393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features (velocity, geo-jump); class weights; PR-AUC optimised.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6393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+22% at the same review cost; faster blocking of fraud rings.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6393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over accuracy; concept drift demands frequent retraining &amp;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Discussion &amp; Reflection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205740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PR-AUC more honest than accuracy for fraud?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real-time features risk leakage, and how do you prevent it?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detect and respond to concept drift?
</a:t>
            </a:r>
            <a:r>
              <a:rPr lang="en-US" sz="12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cost trade-off between false positives and missed fraud?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0" y="141732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&amp; share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20574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600"/>
              </a:spcAft>
              <a:buNone/>
            </a:pP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your domain do rare events carry high cost?
</a:t>
            </a: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ensemble + metric for that imbalanced problem.
</a:t>
            </a: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  </a:t>
            </a: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your retraining trigger be?</a:t>
            </a:r>
            <a:endParaRPr lang="en-US" sz="12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FORECASTING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Case: Electricity-Demand Forecasting (Saudi Utilities)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hourly national load to plan generation and avoid shortfalls.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hour, weekday, holidays, Ramadan &amp; Hajj effects.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371600"/>
            <a:ext cx="3517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28800"/>
            <a:ext cx="315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baseline vs gradient-boosting with weather &amp; calendar features.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6393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backtesting; MASE vs a seasonal-naïve baseline.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6393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cut peak-hour MAPE ~30%, improving reserve planning.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47472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6393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93192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features dominated; calendar effects crucial in the Saudi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— Advanced Modelling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07008" y="1563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primarily reduces: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207008" y="213055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Bias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Variance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Data size
D)  Latency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82512" y="158191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9" name="Text 16"/>
          <p:cNvSpPr/>
          <p:nvPr/>
        </p:nvSpPr>
        <p:spPr>
          <a:xfrm>
            <a:off x="638251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76288" y="1563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search models the score surface to pick the next trial?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76288" y="213055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Grid
B)  Random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Bayesian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Manual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368503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0700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assumes the series is: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207008" y="42336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Seasonal only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Stationary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Non-numeric
D)  Imbalanced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82512" y="368503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9" name="Text 26"/>
          <p:cNvSpPr/>
          <p:nvPr/>
        </p:nvSpPr>
        <p:spPr>
          <a:xfrm>
            <a:off x="6382512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7628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metric for highly imbalanced fraud detection: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876288" y="42336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Accuracy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PR-AUC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R²
D)  MAPE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562356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13232" y="578815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34" name="Text 31"/>
          <p:cNvSpPr/>
          <p:nvPr/>
        </p:nvSpPr>
        <p:spPr>
          <a:xfrm>
            <a:off x="713232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207008" y="57698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is the core of: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207008" y="633679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Random forests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Transformers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K-means
D)  ARIMA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217920" y="562356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82512" y="578815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39" name="Text 36"/>
          <p:cNvSpPr/>
          <p:nvPr/>
        </p:nvSpPr>
        <p:spPr>
          <a:xfrm>
            <a:off x="6382512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76288" y="57698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DBSCAN's advantage over k-means is that it: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876288" y="633679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Needs k upfront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Finds arbitrary shapes &amp; noise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Is always faster
D)  Requires labels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4864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answers shown in green — discuss the reasoning, not just the letter.</a:t>
            </a:r>
            <a:endParaRPr lang="en-US" sz="10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 Gradient-Boosting Model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34095" y="457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C8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المعمل: ضبط نموذج التعزيز التدرّجي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9EDF4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371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tune a gradient-boosting classifier on an imbalanced Saudi-context dataset, beating a Random-Forest baseline.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52144" y="255117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Random Forest inside your Day-2 pipeline; record PR-AUC.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52144" y="309981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LightGBM / XGBoost with class weights.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52144" y="364845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 Bayesian search over LR, depth, n_estimators.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52144" y="419709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CV; optimise PR-AUC, not accuracy.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52144" y="474573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 to the cost of errors.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152144" y="5294376"/>
            <a:ext cx="5980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SHAP / importance; write three insights.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498080" y="224028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498080" y="2240280"/>
            <a:ext cx="4114800" cy="384048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36" name="Text 33"/>
          <p:cNvSpPr/>
          <p:nvPr/>
        </p:nvSpPr>
        <p:spPr>
          <a:xfrm>
            <a:off x="763524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662672" y="2697480"/>
            <a:ext cx="37856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model card: best params, CV PR-AUC, threshold rationale and top drivers.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498080" y="39319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498080" y="3931920"/>
            <a:ext cx="4114800" cy="384048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40" name="Text 37"/>
          <p:cNvSpPr/>
          <p:nvPr/>
        </p:nvSpPr>
        <p:spPr>
          <a:xfrm>
            <a:off x="7635240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Skills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662672" y="4434840"/>
            <a:ext cx="859536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62672" y="4434840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631936" y="4434840"/>
            <a:ext cx="704088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31936" y="443484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9445752" y="4434840"/>
            <a:ext cx="1403604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445752" y="4434840"/>
            <a:ext cx="14036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662672" y="4818888"/>
            <a:ext cx="704088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62672" y="4818888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8476488" y="4818888"/>
            <a:ext cx="548640" cy="274320"/>
          </a:xfrm>
          <a:prstGeom prst="roundRect">
            <a:avLst>
              <a:gd name="adj" fmla="val 56667"/>
            </a:avLst>
          </a:prstGeom>
          <a:solidFill>
            <a:srgbClr val="F2F2F2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476488" y="48188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548640" y="598932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r>
              <a:rPr lang="en-US" sz="10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learning rate and raise n_estimators together — then add early stopping.</a:t>
            </a:r>
            <a:endParaRPr lang="en-US" sz="10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RECAP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Key Takeaways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965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221992"/>
            <a:ext cx="420624" cy="42062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2057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cuts variance; boosting cuts bias; stacking blends strengths.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2221992"/>
            <a:ext cx="420624" cy="42062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1152" y="2057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search + CV on the pipeline; report on a held-out test.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410712"/>
            <a:ext cx="420624" cy="42062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410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61872" y="32461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Stationarity, ARIMA/ETS/Prophet &amp; ML, validated by backtesting.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31546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2512" y="3410712"/>
            <a:ext cx="420624" cy="42062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3410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31152" y="32461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for discovery; many methods for anomalies.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599432"/>
            <a:ext cx="420624" cy="42062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61872" y="4434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for vision, transformers for sequences &amp; language.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4599432"/>
            <a:ext cx="420624" cy="42062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31152" y="4434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apps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agents, Arabic NLP (ALLaM), recommenders &amp; vision.</a:t>
            </a:r>
            <a:endParaRPr lang="en-US" sz="1300" dirty="0"/>
          </a:p>
        </p:txBody>
      </p:sp>
      <p:pic>
        <p:nvPicPr>
          <p:cNvPr id="39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9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18745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Deployment &amp; MLOps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التحقّق والنشر وعمليات تعلّم الآلة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trained models into reliable production systems: rigorous validation, interpretability &amp; responsible AI, the MLOps lifecycle, monitoring &amp; drift, and a capstone that ties it all together.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47B2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50566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Validation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69080" y="50749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1FA6A0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53128" y="50566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Responsible AI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C9B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55138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Deployment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069080" y="5532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FB67C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53128" y="55138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Drift &amp; Maintenance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B5CA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989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597103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Maturity, Capstone &amp; The Road Ahead</a:t>
            </a:r>
            <a:endParaRPr lang="en-US" sz="1150" dirty="0"/>
          </a:p>
        </p:txBody>
      </p:sp>
      <p:pic>
        <p:nvPicPr>
          <p:cNvPr id="33" name="Image 0" descr="/home/claude/build/assets/sdai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6080760"/>
            <a:ext cx="173736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Objectives &amp; Competency Outcomes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evaluation that survives contact with the real world.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models and apply responsible-AI &amp; PDPL principles.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Package, serve and automate models with MLOps practices.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54787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drift, retrain, and secure models in production.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54787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MLOps maturity and avoid common production failures.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383280"/>
            <a:ext cx="3517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54787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52958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840480"/>
            <a:ext cx="3151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present an end-to-end capstone ML system.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level by end of Day 4:  Advanced practitioner → Ships &amp; operates trustworthy intelligent systems</a:t>
            </a:r>
            <a:endParaRPr lang="en-US" sz="12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Agenda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554480"/>
            <a:ext cx="1554480" cy="96012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554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31720" y="155448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validation and model interpretability &amp; responsible AI.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651760"/>
            <a:ext cx="1554480" cy="96012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517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331720" y="265176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lifecycle, deployment patterns and CI/CD for ML.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749040"/>
            <a:ext cx="1554480" cy="96012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749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331720" y="374904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drift, security, and the MLOps maturity model.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331720" y="484632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plan and present an end-to-end intelligent system.</a:t>
            </a:r>
            <a:endParaRPr lang="en-US" sz="14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MODULE 4.1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Validation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التحقّق المتين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train-vs-reality gap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strategies &amp; nested CV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&amp; grouped validation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models &amp; business value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9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Gap: Why Good Models Fail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≠ online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test accuracy rarely guarantees real-world performance.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differs from your curated training set.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actions change the very environment it learns from.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monitoring, models decay invisibly for months.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6400" dirty="0"/>
          </a:p>
        </p:txBody>
      </p:sp>
      <p:sp>
        <p:nvSpPr>
          <p:cNvPr id="15" name="Text 12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Validate like production
•  Measure business value
•  Monitor after launch
•  Plan to retrain</a:t>
            </a:r>
            <a:endParaRPr lang="en-US" sz="1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Strategies &amp; Nested CV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29260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37160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371600"/>
            <a:ext cx="42976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1371600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0" y="1371600"/>
            <a:ext cx="38404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45552" y="1371600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792224"/>
            <a:ext cx="2926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792224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474720" y="1792224"/>
            <a:ext cx="4297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47872" y="1792224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k train/validation splits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0" y="1792224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792224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tabular data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2212848"/>
            <a:ext cx="29260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2128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474720" y="2212848"/>
            <a:ext cx="42976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47872" y="2212848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class ratios per fold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772400" y="2212848"/>
            <a:ext cx="38404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2212848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classification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2633472"/>
            <a:ext cx="2926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2633472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k-Fold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474720" y="2633472"/>
            <a:ext cx="4297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2633472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group entirely in one fold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772400" y="2633472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45552" y="2633472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users, devices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3054096"/>
            <a:ext cx="29260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54096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474720" y="3054096"/>
            <a:ext cx="42976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547872" y="3054096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tunes, outer loop scores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772400" y="3054096"/>
            <a:ext cx="38404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45552" y="3054096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model selection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 separates tuning from evaluation — the only honest way to report a tuned model's expected performance.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84632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F47B20"/>
          </a:solidFill>
          <a:ln/>
        </p:spPr>
      </p:sp>
      <p:sp>
        <p:nvSpPr>
          <p:cNvPr id="43" name="Text 40"/>
          <p:cNvSpPr/>
          <p:nvPr/>
        </p:nvSpPr>
        <p:spPr>
          <a:xfrm>
            <a:off x="603504" y="484632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611526" y="51709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45" name="Shape 42"/>
          <p:cNvSpPr/>
          <p:nvPr/>
        </p:nvSpPr>
        <p:spPr>
          <a:xfrm>
            <a:off x="2794406" y="484632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1FA6A0"/>
          </a:solidFill>
          <a:ln/>
        </p:spPr>
      </p:sp>
      <p:sp>
        <p:nvSpPr>
          <p:cNvPr id="46" name="Text 43"/>
          <p:cNvSpPr/>
          <p:nvPr/>
        </p:nvSpPr>
        <p:spPr>
          <a:xfrm>
            <a:off x="2849270" y="484632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train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857293" y="51709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48" name="Shape 45"/>
          <p:cNvSpPr/>
          <p:nvPr/>
        </p:nvSpPr>
        <p:spPr>
          <a:xfrm>
            <a:off x="5040173" y="484632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2C9BD6"/>
          </a:solidFill>
          <a:ln/>
        </p:spPr>
      </p:sp>
      <p:sp>
        <p:nvSpPr>
          <p:cNvPr id="49" name="Text 46"/>
          <p:cNvSpPr/>
          <p:nvPr/>
        </p:nvSpPr>
        <p:spPr>
          <a:xfrm>
            <a:off x="5095037" y="484632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103059" y="51709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51" name="Shape 48"/>
          <p:cNvSpPr/>
          <p:nvPr/>
        </p:nvSpPr>
        <p:spPr>
          <a:xfrm>
            <a:off x="7285939" y="484632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2FB67C"/>
          </a:solidFill>
          <a:ln/>
        </p:spPr>
      </p:sp>
      <p:sp>
        <p:nvSpPr>
          <p:cNvPr id="52" name="Text 49"/>
          <p:cNvSpPr/>
          <p:nvPr/>
        </p:nvSpPr>
        <p:spPr>
          <a:xfrm>
            <a:off x="7340803" y="484632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hold-out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9348826" y="51709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54" name="Shape 51"/>
          <p:cNvSpPr/>
          <p:nvPr/>
        </p:nvSpPr>
        <p:spPr>
          <a:xfrm>
            <a:off x="9531706" y="4846320"/>
            <a:ext cx="2081174" cy="777240"/>
          </a:xfrm>
          <a:prstGeom prst="roundRect">
            <a:avLst>
              <a:gd name="adj" fmla="val 7059"/>
            </a:avLst>
          </a:prstGeom>
          <a:solidFill>
            <a:srgbClr val="6B5CA5"/>
          </a:solidFill>
          <a:ln/>
        </p:spPr>
      </p:sp>
      <p:sp>
        <p:nvSpPr>
          <p:cNvPr id="55" name="Text 52"/>
          <p:cNvSpPr/>
          <p:nvPr/>
        </p:nvSpPr>
        <p:spPr>
          <a:xfrm>
            <a:off x="9586570" y="4846320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folds</a:t>
            </a:r>
            <a:endParaRPr lang="en-US" sz="9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&amp; Grouped Validation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CV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shuffle — respect time order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/ expanding window backtests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past, validate on future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gap to avoid leakage at the seam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6B5CA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CV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entity must not span train &amp; test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patient, customer or site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identity leakage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deployment on new entities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80720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validation split to how the model will actually be used — future data, or unseen entities.</a:t>
            </a:r>
            <a:endParaRPr lang="en-US" sz="12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Pitfalls &amp; Evaluation Leakage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on full data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or imputing before the split leaks test statistics into training.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on test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peeking at the test set quietly overfits to it.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encodes the answer (e.g. ‘discharge_date’ for readmission).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future information to predict the past.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 across splits inflate scores.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granularity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splits when decisions are entity-level.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build all preprocessing inside a pipeline fitted only on training folds.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Models &amp; Statistical Significance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one split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0.3% gap on one test set is usually noise.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&amp; average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across folds / seeds; report mean ± std.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or McNemar's to confirm real differences.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107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CIs communicate uncertainty honestly.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107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vs statistical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gain may still be too small to matter.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107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complexity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the simpler model when scores overlap.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ranges, not single numbers — executives make better decisions when they see the uncertainty.</a:t>
            </a:r>
            <a:endParaRPr lang="en-US" sz="11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Metrics to Business Value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46304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72968" y="18105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3355848" y="146304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3410712" y="146304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0176" y="18105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6163056" y="146304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46304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787384" y="18105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8970264" y="146304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9025128" y="146304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 Value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2697480"/>
            <a:ext cx="33832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2697480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931920" y="2697480"/>
            <a:ext cx="38404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05072" y="2697480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metric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772400" y="2697480"/>
            <a:ext cx="38404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45552" y="2697480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lever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118104"/>
            <a:ext cx="3383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1792" y="3118104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fraud loss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931920" y="3118104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05072" y="3118104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at fixed review cost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772400" y="3118104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45552" y="3118104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prevented per alert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3538728"/>
            <a:ext cx="33832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792" y="3538728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hospital readmissions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931920" y="3538728"/>
            <a:ext cx="38404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005072" y="3538728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for outreach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72400" y="3538728"/>
            <a:ext cx="38404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45552" y="3538728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 &amp; cost saved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3959352"/>
            <a:ext cx="3383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1792" y="3959352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uptime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931920" y="3959352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005072" y="3959352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of failure alerts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772400" y="3959352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845552" y="3959352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downtime hours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48640" y="4379976"/>
            <a:ext cx="33832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1792" y="4379976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revenue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931920" y="4379976"/>
            <a:ext cx="38404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05072" y="4379976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/ conversion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772400" y="4379976"/>
            <a:ext cx="38404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845552" y="4379976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SAR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every metric into a decision and its monetary or mission value before you ship.</a:t>
            </a:r>
            <a:endParaRPr lang="en-US" sz="12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Validation Checklist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52144" y="1408176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pipeline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fitted inside CV folds; no peeking at test.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2176272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52144" y="2121408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split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/ grouped split that mirrors deployment.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2889504"/>
            <a:ext cx="457200" cy="45720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52144" y="2834640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baseline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a simple rule and last-period benchmark.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52144" y="3547872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analysis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checked across segments, regions &amp; subgroups.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48640" y="4315968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52144" y="4261104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reliable where thresholds are applied.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52144" y="4974336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sign-off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tied to a decision, value quantified, risk reviewed.</a:t>
            </a:r>
            <a:endParaRPr lang="en-US" sz="13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MODULE 4.2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Responsible AI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القابلية للتفسير والذكاء الاصطناعي المسؤول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matters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explanations (SHAP, LIME)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bias &amp; governance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 &amp; SDAIA AI Ethics Principles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9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Matters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adopt models they can understand &amp; question.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reveal leakage, bias &amp; spurious features.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 &amp; sector rules increasingly require explanations.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and correct discriminatory behaviour.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and why a model is likely to fail.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Recourse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people what to change to get a better outcome.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is not a luxury — for high-stakes decisions it is a requirement.</a:t>
            </a:r>
            <a:endParaRPr lang="en-US" sz="12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vs Opaque Models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FB67C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Intrinsically interpretable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 regression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decision trees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&amp; GAMs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model directly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6B5CA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(black-box)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&amp; random forests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
</a:t>
            </a:r>
            <a:r>
              <a:rPr lang="en-US" sz="12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post-hoc explanations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76148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Interpretability–accuracy trade-off: prefer the simplest model that meets the need; explain the rest with SHAP/LIME.</a:t>
            </a:r>
            <a:endParaRPr lang="en-US" sz="12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Explanations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methods describe the model's overall behaviour — what drives predictions across the whole population.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(illustrative)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228600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6400800" y="2286000"/>
            <a:ext cx="521208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65392" y="24505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6" name="Text 12"/>
          <p:cNvSpPr/>
          <p:nvPr/>
        </p:nvSpPr>
        <p:spPr>
          <a:xfrm>
            <a:off x="6784848" y="2432304"/>
            <a:ext cx="4700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83680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a feature; measure the drop in performance.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0" y="3401568"/>
            <a:ext cx="521208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65392" y="3566160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0" name="Text 16"/>
          <p:cNvSpPr/>
          <p:nvPr/>
        </p:nvSpPr>
        <p:spPr>
          <a:xfrm>
            <a:off x="6784848" y="3547872"/>
            <a:ext cx="4700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SHAP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83680" y="38587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SHAP values rank overall impact.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0" y="4517136"/>
            <a:ext cx="521208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65392" y="4681728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4" name="Text 20"/>
          <p:cNvSpPr/>
          <p:nvPr/>
        </p:nvSpPr>
        <p:spPr>
          <a:xfrm>
            <a:off x="6784848" y="4663440"/>
            <a:ext cx="4700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583680" y="497433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simple tree to mimic the black box.</a:t>
            </a:r>
            <a:endParaRPr lang="en-US" sz="11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Explanations: LIME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model-agnostic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 single prediction for any model.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&amp; fit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points around the instance and fits a simple local model.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weights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pushed this case up or down.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across runs; sensitive to the sampling neighbourhood.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LIME for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Quick case-level intuition
•  Text &amp; image explanations
•  Stakeholder demos
•  Pair with SHAP to confirm</a:t>
            </a:r>
            <a:endParaRPr lang="en-US" sz="12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Explanations: SHAP Values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theory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attributes a prediction to each feature's contribution.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&amp; locally accurate — values sum to the output.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global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case or aggregate across the dataset.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383280"/>
            <a:ext cx="310896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3383280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657600" y="3383280"/>
            <a:ext cx="484632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30752" y="3383280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503920" y="3383280"/>
            <a:ext cx="310896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77072" y="3383280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3803904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3803904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/ force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657600" y="3803904"/>
            <a:ext cx="4846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30752" y="3803904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 prediction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503920" y="3803904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77072" y="3803904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reviewers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4224528"/>
            <a:ext cx="310896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422452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summary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657600" y="4224528"/>
            <a:ext cx="48463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30752" y="4224528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impact &amp; direction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503920" y="4224528"/>
            <a:ext cx="310896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77072" y="422452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48640" y="4645152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4645152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plot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3657600" y="4645152"/>
            <a:ext cx="4846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730752" y="4645152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feature interacts with output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503920" y="4645152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577072" y="4645152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Modellers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is today's default for explaining tree ensembles and tabular models in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&amp; Counterfactuals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/ ICE plots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PDP: average effect of a feature on output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ICE: one line per instance — reveals heterogeneity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non-linear &amp; threshold effects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correlated-feature artefacts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47B2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‘Change X to Y and the decision flips’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recourse for individuals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feasible &amp; realistic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fairness &amp; appeals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80720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PDPs (how features behave) with counterfactuals (what a person can do) for complete explanations.</a:t>
            </a:r>
            <a:endParaRPr lang="en-US" sz="12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in Machine Learning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bias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inequities baked into the training data.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bias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groups under-represented in the data.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features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Innocent variables that encode protected attributes.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337560"/>
            <a:ext cx="310896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3337560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notion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657600" y="3337560"/>
            <a:ext cx="42976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30752" y="3337560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955280" y="3337560"/>
            <a:ext cx="36576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28432" y="3337560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3758184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3758184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657600" y="3758184"/>
            <a:ext cx="4297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30752" y="3758184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positive rates across groups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55280" y="3758184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28432" y="3758184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ignore real base rates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4178808"/>
            <a:ext cx="310896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417880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opportunity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657600" y="4178808"/>
            <a:ext cx="42976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30752" y="4178808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true-positive rates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955280" y="4178808"/>
            <a:ext cx="36576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28432" y="4178808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labelled outcomes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4599432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4599432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657600" y="4599432"/>
            <a:ext cx="4297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730752" y="4599432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mean the same per group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955280" y="4599432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028432" y="4599432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conflict with parity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definition fits all — choose fairness criteria with stakeholders &amp; ethics review, then measure.</a:t>
            </a:r>
            <a:endParaRPr lang="en-US" sz="115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SDAIA AI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Principles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unjust discrimination; test across groups.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data per PDPL; secure the pipeline.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decisions; document data &amp; models.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human ownership of outcomes.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safety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tested, and monitored in production.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Human-centricity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people; keep humans in the loop.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mirror SDAIA's AI Ethics Principles — embed them from design, not as an afterthought.</a:t>
            </a:r>
            <a:endParaRPr lang="en-US" sz="12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PDPL &amp; Documentation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 compliance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basis, consent, minimisation &amp; data-subject rights in Saudi Arabia.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gates, risk tiers, and a model inventory.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Datasheets, model cards &amp; decision logs for every release.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data, code &amp; models for traceability.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to keep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sheet &amp; lineage
•  Model card &amp; risk tier
•  Eval &amp; fairness report
•  Sign-off &amp; change log</a:t>
            </a:r>
            <a:endParaRPr lang="en-US" sz="12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Explanations to Executives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decision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business action, not the algorithm.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drivers, plainly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‘Three factors raised this risk’ beats raw SHAP plots.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uncertainty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ranges build trust, not false precision.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clear visual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force plot or PDP, well-labelled.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limits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 about what the model cannot do.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to value &amp; risk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SAR impact and responsible-AI posture.</a:t>
            </a:r>
            <a:endParaRPr lang="en-US" sz="11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Explainability Approach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2918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17320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840480" y="1417320"/>
            <a:ext cx="38404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13632" y="1417320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80960" y="1417320"/>
            <a:ext cx="393192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1417320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837944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837944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High-stakes, regulated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0" y="1837944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13632" y="1837944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model + SHAP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80960" y="1837944"/>
            <a:ext cx="3931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54112" y="1837944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transparency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258568"/>
            <a:ext cx="32918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25856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black-box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0480" y="2258568"/>
            <a:ext cx="38404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13632" y="2258568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(TreeExplainer)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680960" y="2258568"/>
            <a:ext cx="39319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54112" y="2258568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consistent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679192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26791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case demo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840480" y="2679192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13632" y="2679192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/ counterfactual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680960" y="2679192"/>
            <a:ext cx="3931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54112" y="2679192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Intuitive, local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99816"/>
            <a:ext cx="32918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99816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behaviour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0" y="3099816"/>
            <a:ext cx="38404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13632" y="3099816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+ PDP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680960" y="3099816"/>
            <a:ext cx="39319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54112" y="3099816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view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3520440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3520440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images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840480" y="3520440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913632" y="3520440"/>
            <a:ext cx="3694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/ saliency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680960" y="3520440"/>
            <a:ext cx="3931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54112" y="3520440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Modality-specific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method to the audience and the stakes — and validate explanations as carefully as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2C9BD6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MODULE 4.3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Lifecycle &amp; Deployment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حياة عمليات تعلّم الآلة والنشر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MLOps lifecycle &amp; three pipelines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Packaging, serving &amp; containers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and experiment tracking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edge &amp; infrastructure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9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MLOps Lifecycle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1706880" cy="868680"/>
          </a:xfrm>
          <a:prstGeom prst="roundRect">
            <a:avLst>
              <a:gd name="adj" fmla="val 6316"/>
            </a:avLst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" y="1554480"/>
            <a:ext cx="1597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37232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5" name="Shape 12"/>
          <p:cNvSpPr/>
          <p:nvPr/>
        </p:nvSpPr>
        <p:spPr>
          <a:xfrm>
            <a:off x="2420112" y="1554480"/>
            <a:ext cx="1706880" cy="868680"/>
          </a:xfrm>
          <a:prstGeom prst="roundRect">
            <a:avLst>
              <a:gd name="adj" fmla="val 6316"/>
            </a:avLst>
          </a:prstGeom>
          <a:solidFill>
            <a:srgbClr val="1FA6A0"/>
          </a:solidFill>
          <a:ln/>
        </p:spPr>
      </p:sp>
      <p:sp>
        <p:nvSpPr>
          <p:cNvPr id="16" name="Text 13"/>
          <p:cNvSpPr/>
          <p:nvPr/>
        </p:nvSpPr>
        <p:spPr>
          <a:xfrm>
            <a:off x="2474976" y="1554480"/>
            <a:ext cx="1597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08704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8" name="Shape 15"/>
          <p:cNvSpPr/>
          <p:nvPr/>
        </p:nvSpPr>
        <p:spPr>
          <a:xfrm>
            <a:off x="4291584" y="1554480"/>
            <a:ext cx="1706880" cy="868680"/>
          </a:xfrm>
          <a:prstGeom prst="roundRect">
            <a:avLst>
              <a:gd name="adj" fmla="val 6316"/>
            </a:avLst>
          </a:prstGeom>
          <a:solidFill>
            <a:srgbClr val="2C9BD6"/>
          </a:solidFill>
          <a:ln/>
        </p:spPr>
      </p:sp>
      <p:sp>
        <p:nvSpPr>
          <p:cNvPr id="19" name="Text 16"/>
          <p:cNvSpPr/>
          <p:nvPr/>
        </p:nvSpPr>
        <p:spPr>
          <a:xfrm>
            <a:off x="4346448" y="1554480"/>
            <a:ext cx="1597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80176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1" name="Shape 18"/>
          <p:cNvSpPr/>
          <p:nvPr/>
        </p:nvSpPr>
        <p:spPr>
          <a:xfrm>
            <a:off x="6163056" y="1554480"/>
            <a:ext cx="1706880" cy="868680"/>
          </a:xfrm>
          <a:prstGeom prst="roundRect">
            <a:avLst>
              <a:gd name="adj" fmla="val 6316"/>
            </a:avLst>
          </a:prstGeom>
          <a:solidFill>
            <a:srgbClr val="2FB67C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0" y="1554480"/>
            <a:ext cx="1597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851648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4" name="Shape 21"/>
          <p:cNvSpPr/>
          <p:nvPr/>
        </p:nvSpPr>
        <p:spPr>
          <a:xfrm>
            <a:off x="8034528" y="1554480"/>
            <a:ext cx="1706880" cy="868680"/>
          </a:xfrm>
          <a:prstGeom prst="roundRect">
            <a:avLst>
              <a:gd name="adj" fmla="val 6316"/>
            </a:avLst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8089392" y="1554480"/>
            <a:ext cx="1597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723120" y="192481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7" name="Shape 24"/>
          <p:cNvSpPr/>
          <p:nvPr/>
        </p:nvSpPr>
        <p:spPr>
          <a:xfrm>
            <a:off x="9906000" y="1554480"/>
            <a:ext cx="1706880" cy="868680"/>
          </a:xfrm>
          <a:prstGeom prst="roundRect">
            <a:avLst>
              <a:gd name="adj" fmla="val 6316"/>
            </a:avLst>
          </a:prstGeom>
          <a:solidFill>
            <a:srgbClr val="FBB034"/>
          </a:solidFill>
          <a:ln/>
        </p:spPr>
      </p:sp>
      <p:sp>
        <p:nvSpPr>
          <p:cNvPr id="28" name="Text 25"/>
          <p:cNvSpPr/>
          <p:nvPr/>
        </p:nvSpPr>
        <p:spPr>
          <a:xfrm>
            <a:off x="9960864" y="1554480"/>
            <a:ext cx="1597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" y="2834640"/>
            <a:ext cx="540410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13232" y="299923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1" name="Text 28"/>
          <p:cNvSpPr/>
          <p:nvPr/>
        </p:nvSpPr>
        <p:spPr>
          <a:xfrm>
            <a:off x="932688" y="298094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31520" y="3291840"/>
            <a:ext cx="5038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makes the loop automated &amp; repeatable, not one-off.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208776" y="2834640"/>
            <a:ext cx="540410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373368" y="299923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35" name="Text 32"/>
          <p:cNvSpPr/>
          <p:nvPr/>
        </p:nvSpPr>
        <p:spPr>
          <a:xfrm>
            <a:off x="6592824" y="298094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391656" y="3291840"/>
            <a:ext cx="5038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ML and software engineering working as one team.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48640" y="4187952"/>
            <a:ext cx="540410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13232" y="4352544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9" name="Text 36"/>
          <p:cNvSpPr/>
          <p:nvPr/>
        </p:nvSpPr>
        <p:spPr>
          <a:xfrm>
            <a:off x="932688" y="433425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31520" y="4645152"/>
            <a:ext cx="5038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code, models &amp; configs all tracked together.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208776" y="4187952"/>
            <a:ext cx="540410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373368" y="43525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43" name="Text 40"/>
          <p:cNvSpPr/>
          <p:nvPr/>
        </p:nvSpPr>
        <p:spPr>
          <a:xfrm>
            <a:off x="6592824" y="433425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391656" y="4645152"/>
            <a:ext cx="5038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for quality, risk &amp; responsible-AI at each stage.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= DevOps + data + models — the discipline of running ML reliably in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Pipelines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11064240" cy="1030224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2763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609344"/>
            <a:ext cx="10552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pipeline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920240"/>
            <a:ext cx="10698480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validate, transform &amp; store features. Feeds everything downstream.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2731008"/>
            <a:ext cx="11064240" cy="1030224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3232" y="2895600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932688" y="2877312"/>
            <a:ext cx="10552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Training pipeline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188208"/>
            <a:ext cx="10698480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tune, evaluate &amp; register models on fresh data, on a schedule or trigger.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998976"/>
            <a:ext cx="11064240" cy="1030224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3232" y="4163568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932688" y="4145280"/>
            <a:ext cx="10552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Serving pipeline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4456176"/>
            <a:ext cx="10698480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registered model, serve predictions, log inputs &amp; outputs.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these three pipelines is the core architectural idea of production ML.</a:t>
            </a:r>
            <a:endParaRPr lang="en-US" sz="12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Serialization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2918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17320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840480" y="1417320"/>
            <a:ext cx="41148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13632" y="1417320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55280" y="1417320"/>
            <a:ext cx="36576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28432" y="1417320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837944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837944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/ joblib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0" y="1837944"/>
            <a:ext cx="4114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13632" y="1837944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sklearn models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955280" y="1837944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28432" y="1837944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&amp; security risks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258568"/>
            <a:ext cx="32918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25856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0480" y="2258568"/>
            <a:ext cx="41148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13632" y="2258568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Cross-framework, fast inference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55280" y="2258568"/>
            <a:ext cx="36576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28432" y="2258568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coverage limits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679192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26791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SavedModel / TorchScript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840480" y="2679192"/>
            <a:ext cx="4114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13632" y="2679192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/ PyTorch serving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55280" y="2679192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28432" y="2679192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Framework-bound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99816"/>
            <a:ext cx="32918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99816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PMML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0" y="3099816"/>
            <a:ext cx="41148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13632" y="3099816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enterprise tools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955280" y="3099816"/>
            <a:ext cx="36576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28432" y="3099816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model types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full pipeline — preprocessing + model — and pin every dependency for reproducible serving.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66344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13232" y="482803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44" name="Text 41"/>
          <p:cNvSpPr/>
          <p:nvPr/>
        </p:nvSpPr>
        <p:spPr>
          <a:xfrm>
            <a:off x="932688" y="48097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31520" y="512064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library &amp; Python versions in the artifact.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322064" y="466344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486656" y="482803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48" name="Text 45"/>
          <p:cNvSpPr/>
          <p:nvPr/>
        </p:nvSpPr>
        <p:spPr>
          <a:xfrm>
            <a:off x="4706112" y="48097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preprocessing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4504944" y="512064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train/serve skew by shipping one object.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095488" y="466344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8260080" y="482803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52" name="Text 49"/>
          <p:cNvSpPr/>
          <p:nvPr/>
        </p:nvSpPr>
        <p:spPr>
          <a:xfrm>
            <a:off x="8479536" y="48097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register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8278368" y="512064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a model registry with metadata.</a:t>
            </a:r>
            <a:endParaRPr lang="en-US" sz="105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Serving: Batch vs Real-Time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offline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large sets on a schedule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throughput, relaxed latency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predictions to a store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nightly churn or risk scores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47B2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online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one request in milliseconds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high availability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an API / stream
</a:t>
            </a:r>
            <a:r>
              <a:rPr lang="en-US" sz="12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fraud check at checkout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85292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consider streaming and embedded/edge serving — pick the pattern the decision latency demands.</a:t>
            </a:r>
            <a:endParaRPr lang="en-US" sz="12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Model APIs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an API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model via REST/gRPC (FastAPI, BentoML, TF-Serving).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bundles model, code &amp; dependencies identically everywhere.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scales replicas, handles rollout &amp; self-healing.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request/response schemas; version the API.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stack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/ BentoML
•  Docker image
•  Kubernetes / serverless
•  Load balancer + autoscale</a:t>
            </a:r>
            <a:endParaRPr lang="en-US" sz="12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Machine Learning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5448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code &amp; data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72968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3355848" y="155448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3410712" y="155448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0176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6163056" y="155448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55448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approve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787384" y="190195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8970264" y="1554480"/>
            <a:ext cx="2642616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9025128" y="1554480"/>
            <a:ext cx="2532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2743200"/>
            <a:ext cx="540410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29077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4" name="Text 21"/>
          <p:cNvSpPr/>
          <p:nvPr/>
        </p:nvSpPr>
        <p:spPr>
          <a:xfrm>
            <a:off x="932688" y="288950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" y="3200400"/>
            <a:ext cx="5038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data validation, lint &amp; reproducible builds.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08776" y="2743200"/>
            <a:ext cx="540410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73368" y="29077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8" name="Text 25"/>
          <p:cNvSpPr/>
          <p:nvPr/>
        </p:nvSpPr>
        <p:spPr>
          <a:xfrm>
            <a:off x="6592824" y="288950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Training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91656" y="3200400"/>
            <a:ext cx="5038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triggered by schedule or drift.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48640" y="4096512"/>
            <a:ext cx="540410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13232" y="4261104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2" name="Text 29"/>
          <p:cNvSpPr/>
          <p:nvPr/>
        </p:nvSpPr>
        <p:spPr>
          <a:xfrm>
            <a:off x="932688" y="424281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31520" y="4553712"/>
            <a:ext cx="5038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&amp; blue-green rollouts with automatic rollback.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208776" y="4096512"/>
            <a:ext cx="5404104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373368" y="426110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6" name="Text 33"/>
          <p:cNvSpPr/>
          <p:nvPr/>
        </p:nvSpPr>
        <p:spPr>
          <a:xfrm>
            <a:off x="6592824" y="424281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&amp; A/B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391656" y="4553712"/>
            <a:ext cx="5038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new models on live traffic before promotion.</a:t>
            </a:r>
            <a:endParaRPr lang="en-US" sz="11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&amp; Reproducibility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everything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metrics, code SHA, data version &amp; artifacts per run.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models: dev → staging → production with lineage.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 versioning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/ feature store so runs are reproducible.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environment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seeds; containerise the environment.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MLflow, W&amp;B, or platform-native trackers.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reproduce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result rebuildable from logged metadata.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reproduce a result, you can't trust, audit, or improve it.</a:t>
            </a:r>
            <a:endParaRPr lang="en-US" sz="12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Platforms, Edge &amp; Infrastructure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2918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17320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840480" y="1417320"/>
            <a:ext cx="41148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13632" y="1417320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55280" y="1417320"/>
            <a:ext cx="36576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28432" y="1417320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837944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837944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ML platform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0" y="1837944"/>
            <a:ext cx="4114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13632" y="1837944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pipelines &amp; registry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955280" y="1837944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28432" y="1837944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 teams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258568"/>
            <a:ext cx="32918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25856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inference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0480" y="2258568"/>
            <a:ext cx="41148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13632" y="2258568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zero, pay-per-call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55280" y="2258568"/>
            <a:ext cx="36576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28432" y="2258568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Spiky or low traffic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679192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26791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840480" y="2679192"/>
            <a:ext cx="4114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13632" y="2679192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large deep models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55280" y="2679192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28432" y="2679192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&amp; LLM workloads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99816"/>
            <a:ext cx="32918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99816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on-device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0" y="3099816"/>
            <a:ext cx="41148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13632" y="3099816"/>
            <a:ext cx="3968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offline, private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955280" y="3099816"/>
            <a:ext cx="36576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28432" y="3099816"/>
            <a:ext cx="3511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robotics, mobile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keeps cloud &amp; edge deployments consistent, reviewable and recoverable.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66344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13232" y="482803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44" name="Text 41"/>
          <p:cNvSpPr/>
          <p:nvPr/>
        </p:nvSpPr>
        <p:spPr>
          <a:xfrm>
            <a:off x="932688" y="48097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31520" y="512064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regulated Saudi data in-Kingdom, PDPL-aligned.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322064" y="466344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486656" y="482803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48" name="Text 45"/>
          <p:cNvSpPr/>
          <p:nvPr/>
        </p:nvSpPr>
        <p:spPr>
          <a:xfrm>
            <a:off x="4706112" y="48097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4504944" y="512064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compute; autoscale; spot for training.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095488" y="466344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8260080" y="482803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52" name="Text 49"/>
          <p:cNvSpPr/>
          <p:nvPr/>
        </p:nvSpPr>
        <p:spPr>
          <a:xfrm>
            <a:off x="8479536" y="480974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8278368" y="512064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health checks &amp; graceful degradation.</a:t>
            </a:r>
            <a:endParaRPr lang="en-US" sz="105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 &amp; Model Registry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of each feature, reused everywhere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for training &amp; serving — kills skew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(low-latency) + offline (batch) stores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Discoverable, versioned &amp; governed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C9BD6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2C9BD6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catalogue of every model version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dev → staging → production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Lineage: data, code &amp; metrics per model
</a:t>
            </a:r>
            <a:r>
              <a:rPr lang="en-US" sz="1200" b="1" dirty="0">
                <a:solidFill>
                  <a:srgbClr val="2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rollback &amp; audit trail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80720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make ML assets reusable, traceable and safe to promote — the backbone of mature MLOps.</a:t>
            </a:r>
            <a:endParaRPr lang="en-US" sz="12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DAY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Hospital Readmission Prediction (Saudi Health)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540410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5038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30-day readmission risk to target follow-up care &amp; cut avoidable returns.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08776" y="1371600"/>
            <a:ext cx="540410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73368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6592824" y="151790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91656" y="1828800"/>
            <a:ext cx="5038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records: demographics, diagnoses, labs, prior admissions — PDPL-governed.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2450592"/>
            <a:ext cx="540410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13232" y="2615184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932688" y="259689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" y="2907792"/>
            <a:ext cx="5038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CV by patient, gradient boosting, SHAP explanations, calibrated risk.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08776" y="2450592"/>
            <a:ext cx="540410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73368" y="261518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6" name="Text 23"/>
          <p:cNvSpPr/>
          <p:nvPr/>
        </p:nvSpPr>
        <p:spPr>
          <a:xfrm>
            <a:off x="6592824" y="259689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91656" y="2907792"/>
            <a:ext cx="5038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focuses nurse outreach; ~15% fewer avoidable readmissions in pilot.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4747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13232" y="36393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0" name="Text 27"/>
          <p:cNvSpPr/>
          <p:nvPr/>
        </p:nvSpPr>
        <p:spPr>
          <a:xfrm>
            <a:off x="932688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1520" y="39319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nightly scoring; care-team dashboard; monthly retraining.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322064" y="34747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486656" y="36393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4706112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04944" y="39319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split avoided leakage; SHAP built clinician trust; calibration mattered.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095488" y="34747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60080" y="3639312"/>
            <a:ext cx="146304" cy="146304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8" name="Text 35"/>
          <p:cNvSpPr/>
          <p:nvPr/>
        </p:nvSpPr>
        <p:spPr>
          <a:xfrm>
            <a:off x="8479536" y="36210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278368" y="39319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checked across regions; human clinician keeps final decision.</a:t>
            </a:r>
            <a:endParaRPr lang="en-US" sz="105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Case — Discussion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52144" y="1408176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patient-grouped, temporal split essential here?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52144" y="2157984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set the risk cut-off given limited outreach capacity?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2962656"/>
            <a:ext cx="457200" cy="45720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52144" y="2907792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subgroups must you check, and how would you act on a gap?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52144" y="3657600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real-world changes could degrade this model over time?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52144" y="4407408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documentation does PDPL &amp; clinical sign-off require?</a:t>
            </a:r>
            <a:endParaRPr lang="en-US" sz="135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6B5CA5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MODULE 4.4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Drift &amp; Maintenance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المراقبة والانحراف والصيانة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models decay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 concept drift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alerting &amp; retraining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 &amp; reference architecture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9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Models Decay in Production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changes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behaviour, prices &amp; policies shift over time.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changes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schemas, sensors &amp; sources drift or break.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2" name="Text 19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own decisions alter future data.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3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actively adapt to evade detection.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0" name="Text 27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the model never saw (Hajj, Ramadan, events).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4" name="Text 31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pipelines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feature defaults quietly to zero.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never ‘done’ — performance is a moving target that must be watched.</a:t>
            </a:r>
            <a:endParaRPr lang="en-US" sz="12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vs Concept Drift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3035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(covariate) drift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66544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 P(X) changes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relationship X→y still holds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PSI, KS-test, KL-divergence
</a:t>
            </a:r>
            <a:r>
              <a:rPr lang="en-US" sz="12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new customer segment arrives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53035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630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66544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P(y|X) changes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patterns no longer predict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rising error vs delayed labels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fraud tactics evolve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276148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watch label drift and prediction drift — monitor inputs, outputs and, when available,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Stack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27432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1732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91840" y="1417320"/>
            <a:ext cx="45720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64992" y="1417320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63840" y="1417320"/>
            <a:ext cx="37490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36992" y="1417320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83794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837944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91840" y="1837944"/>
            <a:ext cx="4572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64992" y="1837944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errors, throughput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63840" y="1837944"/>
            <a:ext cx="3749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36992" y="1837944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258568"/>
            <a:ext cx="27432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25856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2258568"/>
            <a:ext cx="45720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64992" y="2258568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ranges, missingness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863840" y="2258568"/>
            <a:ext cx="37490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36992" y="2258568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integrity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679192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2679192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drift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291840" y="2679192"/>
            <a:ext cx="4572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64992" y="2679192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863840" y="2679192"/>
            <a:ext cx="3749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36992" y="2679192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/ KS alerts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99816"/>
            <a:ext cx="27432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99816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291840" y="3099816"/>
            <a:ext cx="45720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64992" y="3099816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distribution &amp; rates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863840" y="3099816"/>
            <a:ext cx="37490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36992" y="3099816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shift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3520440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352044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291840" y="3520440"/>
            <a:ext cx="4572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364992" y="3520440"/>
            <a:ext cx="4425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ground truth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863840" y="3520440"/>
            <a:ext cx="3749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36992" y="3520440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decay (delayed)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monitors from cheap &amp; immediate (ops) to gold-standard but delayed (performance vs labels).</a:t>
            </a:r>
            <a:endParaRPr lang="en-US" sz="115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Strategies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a fixed cadence — simple &amp; predictable.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when drift or error crosses a threshold.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incremental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 with streaming data.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107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promote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must beat the incumbent on a fresh hold-out.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107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/ challenger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the new model, then promote on evidence.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107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ready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prior version one click away.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loop, but keep a human approval gate for high-stakes promotions.</a:t>
            </a:r>
            <a:endParaRPr lang="en-US" sz="12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Adversarial ML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corrupt training data to plant backdoors.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attacks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inputs fool the model at inference 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to clone a proprietary model.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whether a record was in the training set.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(LLMs)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hidden in inputs/content.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rate limits, robustness tests, monitoring.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ML system as an attack surface — threat-model it like any other critical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Federated Learning &amp; PDPL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retain only what the task truly needs (PDPL).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calibrated noise so individuals can't be re-identified.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sites without moving raw data off-premises.
</a:t>
            </a:r>
            <a:r>
              <a:rPr lang="en-US" sz="135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</a:t>
            </a: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  </a:t>
            </a: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Mask, hash &amp; aggregate; beware re-identification risk.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91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toolkit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3337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Consent &amp; lawful basis
•  In-Kingdom storage
•  Encryption at rest/in transit
•  Access controls &amp; audit</a:t>
            </a:r>
            <a:endParaRPr lang="en-US" sz="12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Reference Architecture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50876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11526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94406" y="150876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49270" y="150876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57293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5040173" y="150876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095037" y="150876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03059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5939" y="150876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7340803" y="150876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348826" y="185623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9531706" y="150876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9586570" y="150876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251460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F47B20"/>
          </a:solidFill>
          <a:ln/>
        </p:spPr>
      </p:sp>
      <p:sp>
        <p:nvSpPr>
          <p:cNvPr id="26" name="Text 23"/>
          <p:cNvSpPr/>
          <p:nvPr/>
        </p:nvSpPr>
        <p:spPr>
          <a:xfrm>
            <a:off x="603504" y="251460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611526" y="286207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28" name="Shape 25"/>
          <p:cNvSpPr/>
          <p:nvPr/>
        </p:nvSpPr>
        <p:spPr>
          <a:xfrm>
            <a:off x="2794406" y="251460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1FA6A0"/>
          </a:solidFill>
          <a:ln/>
        </p:spPr>
      </p:sp>
      <p:sp>
        <p:nvSpPr>
          <p:cNvPr id="29" name="Text 26"/>
          <p:cNvSpPr/>
          <p:nvPr/>
        </p:nvSpPr>
        <p:spPr>
          <a:xfrm>
            <a:off x="2849270" y="251460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alerts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857293" y="286207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31" name="Shape 28"/>
          <p:cNvSpPr/>
          <p:nvPr/>
        </p:nvSpPr>
        <p:spPr>
          <a:xfrm>
            <a:off x="5040173" y="251460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C9BD6"/>
          </a:solidFill>
          <a:ln/>
        </p:spPr>
      </p:sp>
      <p:sp>
        <p:nvSpPr>
          <p:cNvPr id="32" name="Text 29"/>
          <p:cNvSpPr/>
          <p:nvPr/>
        </p:nvSpPr>
        <p:spPr>
          <a:xfrm>
            <a:off x="5095037" y="251460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103059" y="286207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34" name="Shape 31"/>
          <p:cNvSpPr/>
          <p:nvPr/>
        </p:nvSpPr>
        <p:spPr>
          <a:xfrm>
            <a:off x="7285939" y="251460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2FB67C"/>
          </a:solidFill>
          <a:ln/>
        </p:spPr>
      </p:sp>
      <p:sp>
        <p:nvSpPr>
          <p:cNvPr id="35" name="Text 32"/>
          <p:cNvSpPr/>
          <p:nvPr/>
        </p:nvSpPr>
        <p:spPr>
          <a:xfrm>
            <a:off x="7340803" y="251460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348826" y="2862072"/>
            <a:ext cx="201168" cy="128016"/>
          </a:xfrm>
          <a:prstGeom prst="rightArrow">
            <a:avLst/>
          </a:prstGeom>
          <a:solidFill>
            <a:srgbClr val="1C355E"/>
          </a:solidFill>
          <a:ln/>
        </p:spPr>
      </p:sp>
      <p:sp>
        <p:nvSpPr>
          <p:cNvPr id="37" name="Shape 34"/>
          <p:cNvSpPr/>
          <p:nvPr/>
        </p:nvSpPr>
        <p:spPr>
          <a:xfrm>
            <a:off x="9531706" y="2514600"/>
            <a:ext cx="2081174" cy="822960"/>
          </a:xfrm>
          <a:prstGeom prst="roundRect">
            <a:avLst>
              <a:gd name="adj" fmla="val 6667"/>
            </a:avLst>
          </a:prstGeom>
          <a:solidFill>
            <a:srgbClr val="6B5CA5"/>
          </a:solidFill>
          <a:ln/>
        </p:spPr>
      </p:sp>
      <p:sp>
        <p:nvSpPr>
          <p:cNvPr id="38" name="Text 35"/>
          <p:cNvSpPr/>
          <p:nvPr/>
        </p:nvSpPr>
        <p:spPr>
          <a:xfrm>
            <a:off x="9586570" y="251460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deploy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48640" y="3657600"/>
            <a:ext cx="351739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13232" y="3822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41" name="Text 38"/>
          <p:cNvSpPr/>
          <p:nvPr/>
        </p:nvSpPr>
        <p:spPr>
          <a:xfrm>
            <a:off x="932688" y="3803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31520" y="41148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&amp; connects every pipeline reliably.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322064" y="3657600"/>
            <a:ext cx="351739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486656" y="3822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45" name="Text 42"/>
          <p:cNvSpPr/>
          <p:nvPr/>
        </p:nvSpPr>
        <p:spPr>
          <a:xfrm>
            <a:off x="4706112" y="3803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4504944" y="41148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approvals &amp; responsible-AI checks throughout.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095488" y="3657600"/>
            <a:ext cx="351739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260080" y="3822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49" name="Text 46"/>
          <p:cNvSpPr/>
          <p:nvPr/>
        </p:nvSpPr>
        <p:spPr>
          <a:xfrm>
            <a:off x="8479536" y="3803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8278368" y="41148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 &amp; dashboards across the whole loop.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is versioned, monitored and governed — that is what ‘production-grade ML’ means.</a:t>
            </a:r>
            <a:endParaRPr lang="en-US" sz="12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Incident Response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thresholds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business-relevant shifts, not every wiggle.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severity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warning, degraded and critical states.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has an on-call owner &amp; runbook.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52144" y="3328416"/>
            <a:ext cx="10460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Drift, performance or pipeline alert fires.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52144" y="3931920"/>
            <a:ext cx="10460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scope &amp; business impact quickly.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52144" y="4535424"/>
            <a:ext cx="10460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back, fall back to a rule, or pause the model.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152144" y="5138928"/>
            <a:ext cx="10460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&amp; learn
</a:t>
            </a: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root cause; run a blameless post-mortem.</a:t>
            </a:r>
            <a:endParaRPr lang="en-US" sz="125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355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1D3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548640"/>
            <a:ext cx="640080" cy="502920"/>
          </a:xfrm>
          <a:prstGeom prst="parallelogram">
            <a:avLst/>
          </a:prstGeom>
          <a:solidFill>
            <a:srgbClr val="2FB67C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577840"/>
            <a:ext cx="731520" cy="566928"/>
          </a:xfrm>
          <a:prstGeom prst="parallelogram">
            <a:avLst/>
          </a:prstGeom>
          <a:solidFill>
            <a:srgbClr val="F47B2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4937760"/>
            <a:ext cx="548640" cy="438912"/>
          </a:xfrm>
          <a:prstGeom prst="parallelogram">
            <a:avLst/>
          </a:prstGeom>
          <a:solidFill>
            <a:srgbClr val="1FA6A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MODULE 4.5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Maturity, Capstone &amp; The Road Ahead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النضج والمشروع الختامي والطريق إلى الأمام</a:t>
            </a:r>
            <a:endParaRPr lang="en-US" sz="1600" dirty="0"/>
          </a:p>
        </p:txBody>
      </p:sp>
      <p:pic>
        <p:nvPicPr>
          <p:cNvPr id="12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54864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75504" y="20208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maturity &amp; failure modes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75504" y="2587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capstone project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754880" y="3218688"/>
            <a:ext cx="310896" cy="310896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75504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trends &amp; intelligent systems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754880" y="3785616"/>
            <a:ext cx="310896" cy="310896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5504" y="3721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90-day roadmap</a:t>
            </a:r>
            <a:endParaRPr lang="en-US" sz="1350" dirty="0"/>
          </a:p>
        </p:txBody>
      </p:sp>
      <p:pic>
        <p:nvPicPr>
          <p:cNvPr id="26" name="Image 1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9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Maturity Model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274320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141732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91840" y="1417320"/>
            <a:ext cx="484632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64992" y="1417320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38160" y="1417320"/>
            <a:ext cx="347472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1312" y="1417320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183794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1837944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Manual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91840" y="1837944"/>
            <a:ext cx="4846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64992" y="1837944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hand-off, ad-hoc deploys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38160" y="1837944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1312" y="1837944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fragile, no monitoring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2258568"/>
            <a:ext cx="27432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225856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Automated training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91840" y="2258568"/>
            <a:ext cx="48463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64992" y="2258568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experiment tracking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38160" y="2258568"/>
            <a:ext cx="34747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11312" y="2258568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still manual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2679192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" y="2679192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Automated deployment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91840" y="2679192"/>
            <a:ext cx="4846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64992" y="2679192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registry, tests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138160" y="2679192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11312" y="2679192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reactive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3099816"/>
            <a:ext cx="274320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" y="3099816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Full MLOps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291840" y="3099816"/>
            <a:ext cx="48463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64992" y="3099816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monitor, drift-trigger retrain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138160" y="3099816"/>
            <a:ext cx="34747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11312" y="3099816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strong governance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sit at Level 0–1. The goal is steady, deliberate progress — not Level 3 overnight.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48640" y="470916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13232" y="487375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45" name="Text 42"/>
          <p:cNvSpPr/>
          <p:nvPr/>
        </p:nvSpPr>
        <p:spPr>
          <a:xfrm>
            <a:off x="932688" y="48554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31520" y="516636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rate your current level per use case.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322064" y="470916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486656" y="487375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49" name="Text 46"/>
          <p:cNvSpPr/>
          <p:nvPr/>
        </p:nvSpPr>
        <p:spPr>
          <a:xfrm>
            <a:off x="4706112" y="48554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4504944" y="516636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most painful manual step first.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095488" y="4709160"/>
            <a:ext cx="35173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60080" y="487375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53" name="Text 50"/>
          <p:cNvSpPr/>
          <p:nvPr/>
        </p:nvSpPr>
        <p:spPr>
          <a:xfrm>
            <a:off x="8479536" y="485546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8278368" y="5166360"/>
            <a:ext cx="3151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 lift every future project.</a:t>
            </a:r>
            <a:endParaRPr lang="en-US" sz="105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Failure Modes — and Fixes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41732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645920"/>
            <a:ext cx="5303520" cy="2286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020824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Train/serve skew in preprocessing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 → silent decay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without re-validation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no clear owner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wrong problem well
</a:t>
            </a: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cost, latency &amp; UX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41732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41732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2FB67C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645920"/>
            <a:ext cx="5303520" cy="228600"/>
          </a:xfrm>
          <a:prstGeom prst="rect">
            <a:avLst/>
          </a:prstGeom>
          <a:solidFill>
            <a:srgbClr val="2FB67C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2020824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pipeline object across train &amp; serve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inputs, outputs &amp; performance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every promotion on a fresh hold-out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accountable owners &amp; on-call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decision &amp; its value
</a:t>
            </a:r>
            <a:r>
              <a:rPr lang="en-US" sz="12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them as first-class requirements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7880" y="3172968"/>
            <a:ext cx="365760" cy="365760"/>
          </a:xfrm>
          <a:prstGeom prst="ellipse">
            <a:avLst/>
          </a:prstGeom>
          <a:solidFill>
            <a:srgbClr val="1C355E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Overview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end-to-end intelligent system for a Saudi-context problem of your choice — applying every stage of the 4-day journey.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057400"/>
            <a:ext cx="3517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" y="22219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22037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2514600"/>
            <a:ext cx="3151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Readmission, triage or imaging support.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22064" y="2057400"/>
            <a:ext cx="3517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86656" y="22219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6112" y="22037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04944" y="2514600"/>
            <a:ext cx="3151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credit risk or AML detection.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95488" y="2057400"/>
            <a:ext cx="3517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60080" y="22219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3" name="Text 20"/>
          <p:cNvSpPr/>
          <p:nvPr/>
        </p:nvSpPr>
        <p:spPr>
          <a:xfrm>
            <a:off x="8479536" y="22037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78368" y="2514600"/>
            <a:ext cx="3151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or quality control.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3776472"/>
            <a:ext cx="3517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13232" y="394106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7" name="Text 24"/>
          <p:cNvSpPr/>
          <p:nvPr/>
        </p:nvSpPr>
        <p:spPr>
          <a:xfrm>
            <a:off x="932688" y="392277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" y="4233672"/>
            <a:ext cx="3151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Mobility, energy or NEOM-style sensing.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22064" y="3776472"/>
            <a:ext cx="3517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86656" y="394106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31" name="Text 28"/>
          <p:cNvSpPr/>
          <p:nvPr/>
        </p:nvSpPr>
        <p:spPr>
          <a:xfrm>
            <a:off x="4706112" y="392277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04944" y="4233672"/>
            <a:ext cx="3151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or anomaly detection.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095488" y="3776472"/>
            <a:ext cx="3517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260080" y="394106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5" name="Text 32"/>
          <p:cNvSpPr/>
          <p:nvPr/>
        </p:nvSpPr>
        <p:spPr>
          <a:xfrm>
            <a:off x="8479536" y="392277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278368" y="4233672"/>
            <a:ext cx="3151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or Hajj operations.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small teams — one realistic problem, end to end.</a:t>
            </a:r>
            <a:endParaRPr lang="en-US" sz="12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Problem Framing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52144" y="1408176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will the model inform, and who acts on it?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2176272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52144" y="2121408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formulation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regression, forecasting, ranking or clustering?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2889504"/>
            <a:ext cx="457200" cy="45720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52144" y="2834640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labels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exists, how is it labelled, and what's the PDPL basis?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52144" y="3547872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ML metric + the business value it maps to.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48640" y="4315968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52144" y="4261104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rule or current process you must beat.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52144" y="4974336"/>
            <a:ext cx="10460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cost, fairness, explainability &amp; sovereignty.</a:t>
            </a:r>
            <a:endParaRPr lang="en-US" sz="135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Requirements &amp; Timeline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1463040"/>
            <a:ext cx="0" cy="3781958"/>
          </a:xfrm>
          <a:prstGeom prst="line">
            <a:avLst/>
          </a:prstGeom>
          <a:noFill/>
          <a:ln w="25400">
            <a:solidFill>
              <a:srgbClr val="C9D2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" y="1463040"/>
            <a:ext cx="347472" cy="347472"/>
          </a:xfrm>
          <a:prstGeom prst="ellipse">
            <a:avLst/>
          </a:prstGeom>
          <a:solidFill>
            <a:srgbClr val="F47B20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141732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Frame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data audit, success metric &amp; baseline defined.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" y="2267712"/>
            <a:ext cx="347472" cy="347472"/>
          </a:xfrm>
          <a:prstGeom prst="ellipse">
            <a:avLst/>
          </a:prstGeom>
          <a:solidFill>
            <a:srgbClr val="1FA6A0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221992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Build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features, model selection, tuning &amp; validation.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3072384"/>
            <a:ext cx="347472" cy="347472"/>
          </a:xfrm>
          <a:prstGeom prst="ellipse">
            <a:avLst/>
          </a:prstGeom>
          <a:solidFill>
            <a:srgbClr val="2C9BD6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3026664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Trust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fairness checks &amp; responsible-AI review.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3504" y="3877056"/>
            <a:ext cx="347472" cy="347472"/>
          </a:xfrm>
          <a:prstGeom prst="ellipse">
            <a:avLst/>
          </a:prstGeom>
          <a:solidFill>
            <a:srgbClr val="2FB67C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3831336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Operate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design, monitoring &amp; retraining plan.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3504" y="4681728"/>
            <a:ext cx="347472" cy="347472"/>
          </a:xfrm>
          <a:prstGeom prst="ellipse">
            <a:avLst/>
          </a:prstGeom>
          <a:solidFill>
            <a:srgbClr val="6B5CA5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4636008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Present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story: problem → solution → value → roadmap.</a:t>
            </a:r>
            <a:endParaRPr lang="en-US" sz="13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Deliverables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brief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page: question, formulation, metric &amp; value.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model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Notebook/pipeline with leak-free CV results.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pack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fairness slice analysis.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design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pattern + reference architecture diagram.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plan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metrics &amp; retraining strategy.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presentation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slide story for decision-makers.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over quantity — a well-framed, honest, end-to-end system beats a flashy model with no plan.</a:t>
            </a:r>
            <a:endParaRPr lang="en-US" sz="12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Evaluation Rubric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29260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41732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417320"/>
            <a:ext cx="557784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1417320"/>
            <a:ext cx="5431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look for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52560" y="1417320"/>
            <a:ext cx="256032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25712" y="1417320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1837944"/>
            <a:ext cx="2926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1837944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0" y="1837944"/>
            <a:ext cx="5577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47872" y="1837944"/>
            <a:ext cx="5431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decision, metric &amp; value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52560" y="1837944"/>
            <a:ext cx="2560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25712" y="1837944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258568"/>
            <a:ext cx="29260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25856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rigour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474720" y="2258568"/>
            <a:ext cx="55778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47872" y="2258568"/>
            <a:ext cx="5431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validation, sound methods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52560" y="2258568"/>
            <a:ext cx="25603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25712" y="225856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679192"/>
            <a:ext cx="2926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2679192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74720" y="2679192"/>
            <a:ext cx="5577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2679192"/>
            <a:ext cx="5431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fairness, PDPL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052560" y="2679192"/>
            <a:ext cx="2560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25712" y="2679192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099816"/>
            <a:ext cx="292608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3099816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474720" y="3099816"/>
            <a:ext cx="557784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547872" y="3099816"/>
            <a:ext cx="5431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 plan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052560" y="3099816"/>
            <a:ext cx="2560320" cy="420624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25712" y="3099816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3520440"/>
            <a:ext cx="2926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" y="352044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474720" y="3520440"/>
            <a:ext cx="5577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547872" y="3520440"/>
            <a:ext cx="5431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clarity &amp; storytelling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052560" y="3520440"/>
            <a:ext cx="2560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25712" y="3520440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rewards the full lifecycle — exactly what separates a model from an intelligent system.</a:t>
            </a:r>
            <a:endParaRPr lang="en-US" sz="115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Presenting to Executives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52144" y="1408176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the problem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business pain and what a solution is worth.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52144" y="2157984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approach simply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diagram of data → model → decision.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2962656"/>
            <a:ext cx="457200" cy="457200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52144" y="2907792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results with uncertainty, vs the baseline.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52144" y="3657600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trustworthy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fairness &amp; responsible-AI in one slide.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52144" y="4407408"/>
            <a:ext cx="104607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the roadmap
</a:t>
            </a:r>
            <a:r>
              <a:rPr lang="en-US" sz="11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monitoring and the next 90 days.</a:t>
            </a:r>
            <a:endParaRPr lang="en-US" sz="135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Trends in Intelligent Systems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7240" y="1417320"/>
            <a:ext cx="0" cy="3867912"/>
          </a:xfrm>
          <a:prstGeom prst="line">
            <a:avLst/>
          </a:prstGeom>
          <a:noFill/>
          <a:ln w="25400">
            <a:solidFill>
              <a:srgbClr val="C9D2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" y="1417320"/>
            <a:ext cx="347472" cy="347472"/>
          </a:xfrm>
          <a:prstGeom prst="ellipse">
            <a:avLst/>
          </a:prstGeom>
          <a:solidFill>
            <a:srgbClr val="F47B20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1371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&amp; LLMs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models adapted via prompting, RAG &amp; fine-tuning — including Arabic ALLaM.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" y="2240280"/>
            <a:ext cx="347472" cy="347472"/>
          </a:xfrm>
          <a:prstGeom prst="ellipse">
            <a:avLst/>
          </a:prstGeom>
          <a:solidFill>
            <a:srgbClr val="1FA6A0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21945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plan, use tools &amp; act — with governance &amp; human oversight.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" y="3063240"/>
            <a:ext cx="347472" cy="347472"/>
          </a:xfrm>
          <a:prstGeom prst="ellipse">
            <a:avLst/>
          </a:prstGeom>
          <a:solidFill>
            <a:srgbClr val="2C9BD6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30175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models over text, vision, audio &amp; sensors.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3504" y="3886200"/>
            <a:ext cx="347472" cy="347472"/>
          </a:xfrm>
          <a:prstGeom prst="ellipse">
            <a:avLst/>
          </a:prstGeom>
          <a:solidFill>
            <a:srgbClr val="2FB67C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3840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efficient ML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Quantised, distilled models running on-device, privately.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3504" y="4709160"/>
            <a:ext cx="347472" cy="347472"/>
          </a:xfrm>
          <a:prstGeom prst="ellipse">
            <a:avLst/>
          </a:prstGeom>
          <a:solidFill>
            <a:srgbClr val="6B5CA5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46634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&amp; sovereign AI   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PDPL alignment &amp; in-Kingdom capability as defaults.</a:t>
            </a:r>
            <a:endParaRPr lang="en-US" sz="13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Intelligent Systems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Augmentation, not replacement — humans on high-stakes calls.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&amp; specialised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domain models alongside giant generalists.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with guardrails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agents, more rigorous oversight.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as the moat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fairness &amp; explainability win adoption.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driving Saudi growth across sectors &amp; services.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learning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moves fast — keep practising &amp; updating.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organisations pair strong models with strong operations, governance and people.</a:t>
            </a:r>
            <a:endParaRPr lang="en-US" sz="12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90-Day Roadmap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11064240" cy="1030224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10552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 · Apply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10698480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real problem; frame it; build a validated baseline.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2639568"/>
            <a:ext cx="11064240" cy="1030224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3232" y="2804160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932688" y="2785872"/>
            <a:ext cx="10552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 · Strengthen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096768"/>
            <a:ext cx="10698480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features, tuning, explainability &amp; a fairness check.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907536"/>
            <a:ext cx="11064240" cy="1030224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3232" y="4072128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932688" y="4053840"/>
            <a:ext cx="10552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 · Operationalise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4364736"/>
            <a:ext cx="10698480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prototype with monitoring &amp; a retraining plan.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shipping — one end-to-end project teaches more than ten tutorials.</a:t>
            </a:r>
            <a:endParaRPr lang="en-US" sz="12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Your Learning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statistics, linear algebra &amp; Python.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 &amp; open datasets; reproduce papers.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registries &amp; monitoring hands-on.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38144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explainability &amp; SDAIA ethics guidance.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38144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tracks &amp; national capacity programs.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73552"/>
            <a:ext cx="351739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38144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419856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30752"/>
            <a:ext cx="315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build in public &amp; teach others.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 offers continued pathways to deepen these skills toward Vision 2030.</a:t>
            </a:r>
            <a:endParaRPr lang="en-US" sz="12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ML Team &amp; Operating Model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36192"/>
            <a:ext cx="146304" cy="14630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engineer, ML engineer, data scientist, ML/product owner.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064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6656" y="1536192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112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4944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Centralised, embedded, or a hub-and-spoke blend.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5488" y="137160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0080" y="1536192"/>
            <a:ext cx="146304" cy="14630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1" name="Text 18"/>
          <p:cNvSpPr/>
          <p:nvPr/>
        </p:nvSpPr>
        <p:spPr>
          <a:xfrm>
            <a:off x="8479536" y="151790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8368" y="182880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tooling lifts every team's velocity &amp; safety.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3410712"/>
            <a:ext cx="146304" cy="14630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tiers, review boards &amp; responsible-AI gates.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22064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6656" y="3410712"/>
            <a:ext cx="146304" cy="14630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6"/>
          <p:cNvSpPr/>
          <p:nvPr/>
        </p:nvSpPr>
        <p:spPr>
          <a:xfrm>
            <a:off x="4706112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04944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backlog between business &amp; ML teams.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246120"/>
            <a:ext cx="3517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60080" y="3410712"/>
            <a:ext cx="146304" cy="14630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3" name="Text 30"/>
          <p:cNvSpPr/>
          <p:nvPr/>
        </p:nvSpPr>
        <p:spPr>
          <a:xfrm>
            <a:off x="8479536" y="3392424"/>
            <a:ext cx="3005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building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78368" y="3703320"/>
            <a:ext cx="31516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upskilling — the SDAIA Academy mandate.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process matter as much as models — operating models decide whether ML scales or stalls.</a:t>
            </a:r>
            <a:endParaRPr lang="en-US" sz="12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206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Key Terms</a:t>
            </a:r>
            <a:endParaRPr lang="en-US" sz="2500" dirty="0"/>
          </a:p>
        </p:txBody>
      </p:sp>
      <p:pic>
        <p:nvPicPr>
          <p:cNvPr id="7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292608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37160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371600"/>
            <a:ext cx="8138160" cy="420624"/>
          </a:xfrm>
          <a:prstGeom prst="rect">
            <a:avLst/>
          </a:prstGeom>
          <a:solidFill>
            <a:srgbClr val="1C3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1371600"/>
            <a:ext cx="7991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1792224"/>
            <a:ext cx="2926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17922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0" y="1792224"/>
            <a:ext cx="8138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47872" y="1792224"/>
            <a:ext cx="7991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Memorising training data; poor generalisation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2249424"/>
            <a:ext cx="2926080" cy="45720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2494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74720" y="2249424"/>
            <a:ext cx="8138160" cy="45720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47872" y="2249424"/>
            <a:ext cx="7991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splits to estimate true performance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706624"/>
            <a:ext cx="2926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27066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474720" y="2706624"/>
            <a:ext cx="8138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47872" y="2706624"/>
            <a:ext cx="7991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informative model inputs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3163824"/>
            <a:ext cx="2926080" cy="45720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" y="31638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474720" y="3163824"/>
            <a:ext cx="8138160" cy="45720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47872" y="3163824"/>
            <a:ext cx="7991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models for accuracy &amp; stability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3621024"/>
            <a:ext cx="2926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" y="36210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474720" y="3621024"/>
            <a:ext cx="8138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47872" y="3621024"/>
            <a:ext cx="7991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attributing a prediction to each feature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4078224"/>
            <a:ext cx="2926080" cy="45720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40782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474720" y="4078224"/>
            <a:ext cx="8138160" cy="45720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547872" y="4078224"/>
            <a:ext cx="7991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 relationships changing after deployment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535424"/>
            <a:ext cx="2926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" y="45354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474720" y="4535424"/>
            <a:ext cx="8138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547872" y="4535424"/>
            <a:ext cx="7991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of running ML reliably in production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4992624"/>
            <a:ext cx="2926080" cy="45720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" y="49926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474720" y="4992624"/>
            <a:ext cx="8138160" cy="457200"/>
          </a:xfrm>
          <a:prstGeom prst="rect">
            <a:avLst/>
          </a:prstGeom>
          <a:solidFill>
            <a:srgbClr val="E9EDF4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547872" y="4992624"/>
            <a:ext cx="7991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an LLM in your own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182880" y="5806440"/>
            <a:ext cx="2377440" cy="12344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228600"/>
            <a:ext cx="2377440" cy="1143000"/>
          </a:xfrm>
          <a:prstGeom prst="triangl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66928" cy="566928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402336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BB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16736" y="640080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— Validation, Deployment &amp; MLOps</a:t>
            </a:r>
            <a:endParaRPr lang="en-US" sz="2500" dirty="0"/>
          </a:p>
        </p:txBody>
      </p:sp>
      <p:pic>
        <p:nvPicPr>
          <p:cNvPr id="8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07008" y="1563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honest way to report a tuned model's performance: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207008" y="213055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Single train/test split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Nested cross-validation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Training accuracy
D)  Best fold only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82512" y="158191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19" name="Text 16"/>
          <p:cNvSpPr/>
          <p:nvPr/>
        </p:nvSpPr>
        <p:spPr>
          <a:xfrm>
            <a:off x="638251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76288" y="1563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changes but P(X) stays the same. This is: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76288" y="213055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Data drift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Concept drift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Sampling bias
D)  Leakage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368503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0700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Game-theoretic, consistent local + global explanations: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207008" y="42336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LIME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SHAP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PDP
D)  Permutation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82512" y="368503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29" name="Text 26"/>
          <p:cNvSpPr/>
          <p:nvPr/>
        </p:nvSpPr>
        <p:spPr>
          <a:xfrm>
            <a:off x="6382512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7628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way to avoid train/serve skew: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876288" y="42336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Separate scripts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One shared pipeline object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Retrain daily
D)  More features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562356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13232" y="578815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34" name="Text 31"/>
          <p:cNvSpPr/>
          <p:nvPr/>
        </p:nvSpPr>
        <p:spPr>
          <a:xfrm>
            <a:off x="713232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207008" y="57698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serving pattern for fraud check at checkout: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207008" y="633679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Nightly batch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Real-time / online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Manual review
D)  Spreadsheet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217920" y="562356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8A93A6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82512" y="5788152"/>
            <a:ext cx="384048" cy="384048"/>
          </a:xfrm>
          <a:prstGeom prst="ellipse">
            <a:avLst/>
          </a:prstGeom>
          <a:solidFill>
            <a:srgbClr val="1C355E"/>
          </a:solidFill>
          <a:ln/>
        </p:spPr>
      </p:sp>
      <p:sp>
        <p:nvSpPr>
          <p:cNvPr id="39" name="Text 36"/>
          <p:cNvSpPr/>
          <p:nvPr/>
        </p:nvSpPr>
        <p:spPr>
          <a:xfrm>
            <a:off x="6382512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76288" y="57698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 when framing a capstone: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876288" y="633679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Pick the model
</a:t>
            </a:r>
            <a:r>
              <a:rPr lang="en-US" sz="1100" b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Define decision &amp; value
</a:t>
            </a:r>
            <a:r>
              <a:rPr lang="en-US" sz="11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Tune hyperparameters
D)  Build the API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4864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FB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answers shown in green — discuss the reasoning, not just the letter.</a:t>
            </a:r>
            <a:endParaRPr lang="en-US" sz="105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RECAP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Recap — 4 Days, One Journey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965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221992"/>
            <a:ext cx="420624" cy="420624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2057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paradigms, CRISP-DM workflow &amp; honest evaluation.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2221992"/>
            <a:ext cx="420624" cy="42062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1152" y="2057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craft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cleaning &amp; feature engineering drive performance.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410712"/>
            <a:ext cx="420624" cy="420624"/>
          </a:xfrm>
          <a:prstGeom prst="ellipse">
            <a:avLst/>
          </a:prstGeom>
          <a:solidFill>
            <a:srgbClr val="2C9BD6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410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61872" y="32461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Ensembles, forecasting, deep learning, NLP &amp; LLMs.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31546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2512" y="3410712"/>
            <a:ext cx="420624" cy="420624"/>
          </a:xfrm>
          <a:prstGeom prst="ellipse">
            <a:avLst/>
          </a:prstGeom>
          <a:solidFill>
            <a:srgbClr val="2FB67C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3410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31152" y="32461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explainability, fairness &amp; responsible AI.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599432"/>
            <a:ext cx="420624" cy="420624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61872" y="4434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lifecycle, deployment, monitoring &amp; retraining.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243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4599432"/>
            <a:ext cx="420624" cy="420624"/>
          </a:xfrm>
          <a:prstGeom prst="ellipse">
            <a:avLst/>
          </a:prstGeom>
          <a:solidFill>
            <a:srgbClr val="FBB034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31152" y="4434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
</a:t>
            </a: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thinking that turns models into value.</a:t>
            </a:r>
            <a:endParaRPr lang="en-US" sz="1300" dirty="0"/>
          </a:p>
        </p:txBody>
      </p:sp>
      <p:pic>
        <p:nvPicPr>
          <p:cNvPr id="39" name="Image 0" descr="/home/claude/build/assets/sdaia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9260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77824" y="6364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253935" y="6364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1441887" y="6364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9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131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55E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"/>
            <a:ext cx="822960" cy="640080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82296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1645920"/>
            <a:ext cx="731520" cy="566928"/>
          </a:xfrm>
          <a:prstGeom prst="parallelogram">
            <a:avLst/>
          </a:prstGeom>
          <a:solidFill>
            <a:srgbClr val="6B5CA5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2286000"/>
            <a:ext cx="548640" cy="457200"/>
          </a:xfrm>
          <a:prstGeom prst="parallelogram">
            <a:avLst/>
          </a:prstGeom>
          <a:solidFill>
            <a:srgbClr val="1FA6A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3291840"/>
            <a:ext cx="868680" cy="658368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114800"/>
            <a:ext cx="640080" cy="502920"/>
          </a:xfrm>
          <a:prstGeom prst="parallelogram">
            <a:avLst/>
          </a:prstGeom>
          <a:solidFill>
            <a:srgbClr val="131D38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4846320"/>
            <a:ext cx="914400" cy="713232"/>
          </a:xfrm>
          <a:prstGeom prst="parallelogram">
            <a:avLst/>
          </a:prstGeom>
          <a:solidFill>
            <a:srgbClr val="F47B2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669280"/>
            <a:ext cx="640080" cy="502920"/>
          </a:xfrm>
          <a:prstGeom prst="parallelogram">
            <a:avLst/>
          </a:prstGeom>
          <a:solidFill>
            <a:srgbClr val="2FB67C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5577840"/>
            <a:ext cx="548640" cy="457200"/>
          </a:xfrm>
          <a:prstGeom prst="parallelogram">
            <a:avLst/>
          </a:prstGeom>
          <a:solidFill>
            <a:srgbClr val="27337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6035040"/>
            <a:ext cx="502920" cy="411480"/>
          </a:xfrm>
          <a:prstGeom prst="parallelogram">
            <a:avLst/>
          </a:prstGeom>
          <a:solidFill>
            <a:srgbClr val="2C9BD6"/>
          </a:solidFill>
          <a:ln/>
        </p:spPr>
      </p:sp>
      <p:pic>
        <p:nvPicPr>
          <p:cNvPr id="13" name="Image 0" descr="/home/claude/build/assets/sdaia_logo_white.png"/>
          <p:cNvPicPr>
            <a:picLocks noChangeAspect="1"/>
          </p:cNvPicPr>
          <p:nvPr/>
        </p:nvPicPr>
        <p:blipFill>
          <a:blip r:embed="rId3"/>
          <a:srcRect t="-17472" b="-17472"/>
          <a:stretch/>
        </p:blipFill>
        <p:spPr>
          <a:xfrm>
            <a:off x="5090008" y="1371600"/>
            <a:ext cx="2011680" cy="868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Intelligent Systems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الآلي التطبيقي للأنظمة الذكية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986888" y="5029200"/>
            <a:ext cx="2011680" cy="365760"/>
          </a:xfrm>
          <a:prstGeom prst="roundRect">
            <a:avLst>
              <a:gd name="adj" fmla="val 42500"/>
            </a:avLst>
          </a:prstGeom>
          <a:solidFill>
            <a:srgbClr val="F47B20"/>
          </a:solidFill>
          <a:ln/>
        </p:spPr>
      </p:sp>
      <p:sp>
        <p:nvSpPr>
          <p:cNvPr id="18" name="Text 15"/>
          <p:cNvSpPr/>
          <p:nvPr/>
        </p:nvSpPr>
        <p:spPr>
          <a:xfrm>
            <a:off x="2986888" y="5029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Validate · Deploy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81448" y="5029200"/>
            <a:ext cx="1737360" cy="365760"/>
          </a:xfrm>
          <a:prstGeom prst="roundRect">
            <a:avLst>
              <a:gd name="adj" fmla="val 42500"/>
            </a:avLst>
          </a:prstGeom>
          <a:solidFill>
            <a:srgbClr val="1FA6A0"/>
          </a:solidFill>
          <a:ln/>
        </p:spPr>
      </p:sp>
      <p:sp>
        <p:nvSpPr>
          <p:cNvPr id="20" name="Text 17"/>
          <p:cNvSpPr/>
          <p:nvPr/>
        </p:nvSpPr>
        <p:spPr>
          <a:xfrm>
            <a:off x="5181448" y="5029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01688" y="5029200"/>
            <a:ext cx="2103120" cy="365760"/>
          </a:xfrm>
          <a:prstGeom prst="roundRect">
            <a:avLst>
              <a:gd name="adj" fmla="val 42500"/>
            </a:avLst>
          </a:prstGeom>
          <a:solidFill>
            <a:srgbClr val="2FB67C"/>
          </a:solidFill>
          <a:ln/>
        </p:spPr>
      </p:sp>
      <p:sp>
        <p:nvSpPr>
          <p:cNvPr id="22" name="Text 19"/>
          <p:cNvSpPr/>
          <p:nvPr/>
        </p:nvSpPr>
        <p:spPr>
          <a:xfrm>
            <a:off x="7101688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Vision 2030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 · Capacity Building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21300</Words>
  <Application>Microsoft Office PowerPoint</Application>
  <PresentationFormat>Widescreen</PresentationFormat>
  <Paragraphs>3872</Paragraphs>
  <Slides>233</Slides>
  <Notes>233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233</vt:i4>
      </vt:variant>
    </vt:vector>
  </HeadingPairs>
  <TitlesOfParts>
    <vt:vector size="23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SDAIA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Machine Learning for Intelligent Systems</dc:title>
  <dc:subject>Applied Machine Learning for Intelligent Systems</dc:subject>
  <dc:creator>SDAIA Academy</dc:creator>
  <cp:lastModifiedBy>Mamdouh Alenezi</cp:lastModifiedBy>
  <cp:revision>3</cp:revision>
  <dcterms:created xsi:type="dcterms:W3CDTF">2026-06-30T04:36:02Z</dcterms:created>
  <dcterms:modified xsi:type="dcterms:W3CDTF">2026-06-30T05:30:29Z</dcterms:modified>
</cp:coreProperties>
</file>