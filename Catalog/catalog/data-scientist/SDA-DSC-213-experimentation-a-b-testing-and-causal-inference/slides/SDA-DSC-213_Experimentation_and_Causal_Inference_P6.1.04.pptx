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7" r:id="rId7"/>
    <p:sldId id="258" r:id="rId8"/>
    <p:sldId id="259" r:id="rId9"/>
    <p:sldId id="260" r:id="rId10"/>
    <p:sldId id="261" r:id="rId11"/>
    <p:sldId id="262" r:id="rId12"/>
    <p:sldId id="263" r:id="rId13"/>
    <p:sldId id="264" r:id="rId14"/>
    <p:sldId id="265" r:id="rId15"/>
    <p:sldId id="266" r:id="rId16"/>
    <p:sldId id="267" r:id="rId17"/>
    <p:sldId id="268" r:id="rId18"/>
    <p:sldId id="494" r:id="rId245"/>
    <p:sldId id="269" r:id="rId19"/>
    <p:sldId id="270" r:id="rId20"/>
    <p:sldId id="271" r:id="rId21"/>
    <p:sldId id="495" r:id="rId246"/>
    <p:sldId id="272" r:id="rId22"/>
    <p:sldId id="273" r:id="rId23"/>
    <p:sldId id="274" r:id="rId24"/>
    <p:sldId id="275" r:id="rId25"/>
    <p:sldId id="276" r:id="rId26"/>
    <p:sldId id="277" r:id="rId27"/>
    <p:sldId id="278" r:id="rId28"/>
    <p:sldId id="496" r:id="rId247"/>
    <p:sldId id="279" r:id="rId29"/>
    <p:sldId id="280" r:id="rId30"/>
    <p:sldId id="281" r:id="rId31"/>
    <p:sldId id="282" r:id="rId32"/>
    <p:sldId id="497" r:id="rId248"/>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498" r:id="rId249"/>
    <p:sldId id="300" r:id="rId50"/>
    <p:sldId id="301" r:id="rId51"/>
    <p:sldId id="302" r:id="rId52"/>
    <p:sldId id="303" r:id="rId53"/>
    <p:sldId id="499" r:id="rId250"/>
    <p:sldId id="304" r:id="rId54"/>
    <p:sldId id="305" r:id="rId55"/>
    <p:sldId id="306" r:id="rId56"/>
    <p:sldId id="307" r:id="rId57"/>
    <p:sldId id="308" r:id="rId58"/>
    <p:sldId id="500" r:id="rId251"/>
    <p:sldId id="309" r:id="rId59"/>
    <p:sldId id="310" r:id="rId60"/>
    <p:sldId id="311" r:id="rId61"/>
    <p:sldId id="312" r:id="rId62"/>
    <p:sldId id="313" r:id="rId63"/>
    <p:sldId id="501" r:id="rId252"/>
    <p:sldId id="502" r:id="rId253"/>
    <p:sldId id="314" r:id="rId64"/>
    <p:sldId id="315" r:id="rId65"/>
    <p:sldId id="316" r:id="rId66"/>
    <p:sldId id="317" r:id="rId67"/>
    <p:sldId id="318" r:id="rId68"/>
    <p:sldId id="319" r:id="rId69"/>
    <p:sldId id="320" r:id="rId70"/>
    <p:sldId id="321" r:id="rId71"/>
    <p:sldId id="322" r:id="rId72"/>
    <p:sldId id="323" r:id="rId73"/>
    <p:sldId id="324" r:id="rId74"/>
    <p:sldId id="503" r:id="rId254"/>
    <p:sldId id="325" r:id="rId75"/>
    <p:sldId id="326" r:id="rId76"/>
    <p:sldId id="327" r:id="rId77"/>
    <p:sldId id="328" r:id="rId78"/>
    <p:sldId id="329" r:id="rId79"/>
    <p:sldId id="330" r:id="rId80"/>
    <p:sldId id="331" r:id="rId81"/>
    <p:sldId id="504" r:id="rId255"/>
    <p:sldId id="505" r:id="rId256"/>
    <p:sldId id="506" r:id="rId257"/>
    <p:sldId id="507" r:id="rId258"/>
    <p:sldId id="332" r:id="rId82"/>
    <p:sldId id="508" r:id="rId259"/>
    <p:sldId id="333" r:id="rId83"/>
    <p:sldId id="334" r:id="rId84"/>
    <p:sldId id="509" r:id="rId260"/>
    <p:sldId id="335" r:id="rId85"/>
    <p:sldId id="510" r:id="rId261"/>
    <p:sldId id="336" r:id="rId86"/>
    <p:sldId id="337" r:id="rId87"/>
    <p:sldId id="338" r:id="rId88"/>
    <p:sldId id="339" r:id="rId89"/>
    <p:sldId id="340" r:id="rId90"/>
    <p:sldId id="341" r:id="rId91"/>
    <p:sldId id="342" r:id="rId92"/>
    <p:sldId id="343" r:id="rId93"/>
    <p:sldId id="344" r:id="rId94"/>
    <p:sldId id="345" r:id="rId95"/>
    <p:sldId id="346" r:id="rId96"/>
    <p:sldId id="511" r:id="rId262"/>
    <p:sldId id="347" r:id="rId97"/>
    <p:sldId id="512" r:id="rId263"/>
    <p:sldId id="348" r:id="rId98"/>
    <p:sldId id="513" r:id="rId264"/>
    <p:sldId id="349" r:id="rId99"/>
    <p:sldId id="514" r:id="rId265"/>
    <p:sldId id="350" r:id="rId100"/>
    <p:sldId id="351" r:id="rId101"/>
    <p:sldId id="352" r:id="rId102"/>
    <p:sldId id="353" r:id="rId103"/>
    <p:sldId id="515" r:id="rId266"/>
    <p:sldId id="354" r:id="rId104"/>
    <p:sldId id="355" r:id="rId105"/>
    <p:sldId id="356" r:id="rId106"/>
    <p:sldId id="357" r:id="rId107"/>
    <p:sldId id="358" r:id="rId108"/>
    <p:sldId id="359" r:id="rId109"/>
    <p:sldId id="360" r:id="rId110"/>
    <p:sldId id="516" r:id="rId267"/>
    <p:sldId id="361" r:id="rId111"/>
    <p:sldId id="362" r:id="rId112"/>
    <p:sldId id="517" r:id="rId268"/>
    <p:sldId id="363" r:id="rId113"/>
    <p:sldId id="364" r:id="rId114"/>
    <p:sldId id="365" r:id="rId115"/>
    <p:sldId id="366" r:id="rId116"/>
    <p:sldId id="367" r:id="rId117"/>
    <p:sldId id="518" r:id="rId269"/>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519" r:id="rId270"/>
    <p:sldId id="384" r:id="rId134"/>
    <p:sldId id="385" r:id="rId135"/>
    <p:sldId id="520" r:id="rId271"/>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256" r:id="rId6"/>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521" r:id="rId27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522" r:id="rId273"/>
    <p:sldId id="455" r:id="rId205"/>
    <p:sldId id="456" r:id="rId206"/>
    <p:sldId id="457" r:id="rId207"/>
    <p:sldId id="458" r:id="rId208"/>
    <p:sldId id="459" r:id="rId209"/>
    <p:sldId id="460" r:id="rId210"/>
    <p:sldId id="461" r:id="rId211"/>
    <p:sldId id="462" r:id="rId212"/>
    <p:sldId id="463" r:id="rId213"/>
    <p:sldId id="464" r:id="rId214"/>
    <p:sldId id="465" r:id="rId215"/>
    <p:sldId id="523" r:id="rId274"/>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4" roundtripDataSignature="AMtx7mjMlSNBNp5AhzvPeQv7iPceLz6S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C4230F-BFAA-4733-B5D7-E1172E9C1B61}">
  <a:tblStyle styleId="{B3C4230F-BFAA-4733-B5D7-E1172E9C1B6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8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4.xml"/><Relationship Id="rId55" Type="http://schemas.openxmlformats.org/officeDocument/2006/relationships/slide" Target="slides/slide55.xml"/><Relationship Id="rId56" Type="http://schemas.openxmlformats.org/officeDocument/2006/relationships/slide" Target="slides/slide56.xml"/><Relationship Id="rId57" Type="http://schemas.openxmlformats.org/officeDocument/2006/relationships/slide" Target="slides/slide57.xml"/><Relationship Id="rId58" Type="http://schemas.openxmlformats.org/officeDocument/2006/relationships/slide" Target="slides/slide58.xml"/><Relationship Id="rId59" Type="http://schemas.openxmlformats.org/officeDocument/2006/relationships/slide" Target="slides/slide60.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7.xml"/><Relationship Id="rId65" Type="http://schemas.openxmlformats.org/officeDocument/2006/relationships/slide" Target="slides/slide68.xml"/><Relationship Id="rId66" Type="http://schemas.openxmlformats.org/officeDocument/2006/relationships/slide" Target="slides/slide69.xml"/><Relationship Id="rId67" Type="http://schemas.openxmlformats.org/officeDocument/2006/relationships/slide" Target="slides/slide70.xml"/><Relationship Id="rId68" Type="http://schemas.openxmlformats.org/officeDocument/2006/relationships/slide" Target="slides/slide71.xml"/><Relationship Id="rId69" Type="http://schemas.openxmlformats.org/officeDocument/2006/relationships/slide" Target="slides/slide72.xml"/><Relationship Id="rId70" Type="http://schemas.openxmlformats.org/officeDocument/2006/relationships/slide" Target="slides/slide73.xml"/><Relationship Id="rId71" Type="http://schemas.openxmlformats.org/officeDocument/2006/relationships/slide" Target="slides/slide74.xml"/><Relationship Id="rId72" Type="http://schemas.openxmlformats.org/officeDocument/2006/relationships/slide" Target="slides/slide75.xml"/><Relationship Id="rId73" Type="http://schemas.openxmlformats.org/officeDocument/2006/relationships/slide" Target="slides/slide76.xml"/><Relationship Id="rId74" Type="http://schemas.openxmlformats.org/officeDocument/2006/relationships/slide" Target="slides/slide77.xml"/><Relationship Id="rId75" Type="http://schemas.openxmlformats.org/officeDocument/2006/relationships/slide" Target="slides/slide79.xml"/><Relationship Id="rId76" Type="http://schemas.openxmlformats.org/officeDocument/2006/relationships/slide" Target="slides/slide80.xml"/><Relationship Id="rId77" Type="http://schemas.openxmlformats.org/officeDocument/2006/relationships/slide" Target="slides/slide81.xml"/><Relationship Id="rId78" Type="http://schemas.openxmlformats.org/officeDocument/2006/relationships/slide" Target="slides/slide82.xml"/><Relationship Id="rId79" Type="http://schemas.openxmlformats.org/officeDocument/2006/relationships/slide" Target="slides/slide83.xml"/><Relationship Id="rId80" Type="http://schemas.openxmlformats.org/officeDocument/2006/relationships/slide" Target="slides/slide84.xml"/><Relationship Id="rId81" Type="http://schemas.openxmlformats.org/officeDocument/2006/relationships/slide" Target="slides/slide85.xml"/><Relationship Id="rId82" Type="http://schemas.openxmlformats.org/officeDocument/2006/relationships/slide" Target="slides/slide90.xml"/><Relationship Id="rId83" Type="http://schemas.openxmlformats.org/officeDocument/2006/relationships/slide" Target="slides/slide92.xml"/><Relationship Id="rId84" Type="http://schemas.openxmlformats.org/officeDocument/2006/relationships/slide" Target="slides/slide93.xml"/><Relationship Id="rId85" Type="http://schemas.openxmlformats.org/officeDocument/2006/relationships/slide" Target="slides/slide95.xml"/><Relationship Id="rId86" Type="http://schemas.openxmlformats.org/officeDocument/2006/relationships/slide" Target="slides/slide97.xml"/><Relationship Id="rId87" Type="http://schemas.openxmlformats.org/officeDocument/2006/relationships/slide" Target="slides/slide98.xml"/><Relationship Id="rId88" Type="http://schemas.openxmlformats.org/officeDocument/2006/relationships/slide" Target="slides/slide99.xml"/><Relationship Id="rId89" Type="http://schemas.openxmlformats.org/officeDocument/2006/relationships/slide" Target="slides/slide100.xml"/><Relationship Id="rId90" Type="http://schemas.openxmlformats.org/officeDocument/2006/relationships/slide" Target="slides/slide101.xml"/><Relationship Id="rId91" Type="http://schemas.openxmlformats.org/officeDocument/2006/relationships/slide" Target="slides/slide102.xml"/><Relationship Id="rId92" Type="http://schemas.openxmlformats.org/officeDocument/2006/relationships/slide" Target="slides/slide103.xml"/><Relationship Id="rId93" Type="http://schemas.openxmlformats.org/officeDocument/2006/relationships/slide" Target="slides/slide104.xml"/><Relationship Id="rId94" Type="http://schemas.openxmlformats.org/officeDocument/2006/relationships/slide" Target="slides/slide105.xml"/><Relationship Id="rId95" Type="http://schemas.openxmlformats.org/officeDocument/2006/relationships/slide" Target="slides/slide106.xml"/><Relationship Id="rId96" Type="http://schemas.openxmlformats.org/officeDocument/2006/relationships/slide" Target="slides/slide107.xml"/><Relationship Id="rId97" Type="http://schemas.openxmlformats.org/officeDocument/2006/relationships/slide" Target="slides/slide109.xml"/><Relationship Id="rId98" Type="http://schemas.openxmlformats.org/officeDocument/2006/relationships/slide" Target="slides/slide111.xml"/><Relationship Id="rId99" Type="http://schemas.openxmlformats.org/officeDocument/2006/relationships/slide" Target="slides/slide113.xml"/><Relationship Id="rId100" Type="http://schemas.openxmlformats.org/officeDocument/2006/relationships/slide" Target="slides/slide115.xml"/><Relationship Id="rId101" Type="http://schemas.openxmlformats.org/officeDocument/2006/relationships/slide" Target="slides/slide116.xml"/><Relationship Id="rId102" Type="http://schemas.openxmlformats.org/officeDocument/2006/relationships/slide" Target="slides/slide117.xml"/><Relationship Id="rId103" Type="http://schemas.openxmlformats.org/officeDocument/2006/relationships/slide" Target="slides/slide118.xml"/><Relationship Id="rId104" Type="http://schemas.openxmlformats.org/officeDocument/2006/relationships/slide" Target="slides/slide120.xml"/><Relationship Id="rId105" Type="http://schemas.openxmlformats.org/officeDocument/2006/relationships/slide" Target="slides/slide121.xml"/><Relationship Id="rId106" Type="http://schemas.openxmlformats.org/officeDocument/2006/relationships/slide" Target="slides/slide122.xml"/><Relationship Id="rId107" Type="http://schemas.openxmlformats.org/officeDocument/2006/relationships/slide" Target="slides/slide123.xml"/><Relationship Id="rId108" Type="http://schemas.openxmlformats.org/officeDocument/2006/relationships/slide" Target="slides/slide124.xml"/><Relationship Id="rId109" Type="http://schemas.openxmlformats.org/officeDocument/2006/relationships/slide" Target="slides/slide125.xml"/><Relationship Id="rId110" Type="http://schemas.openxmlformats.org/officeDocument/2006/relationships/slide" Target="slides/slide126.xml"/><Relationship Id="rId111" Type="http://schemas.openxmlformats.org/officeDocument/2006/relationships/slide" Target="slides/slide128.xml"/><Relationship Id="rId112" Type="http://schemas.openxmlformats.org/officeDocument/2006/relationships/slide" Target="slides/slide129.xml"/><Relationship Id="rId113" Type="http://schemas.openxmlformats.org/officeDocument/2006/relationships/slide" Target="slides/slide131.xml"/><Relationship Id="rId114" Type="http://schemas.openxmlformats.org/officeDocument/2006/relationships/slide" Target="slides/slide132.xml"/><Relationship Id="rId115" Type="http://schemas.openxmlformats.org/officeDocument/2006/relationships/slide" Target="slides/slide133.xml"/><Relationship Id="rId116" Type="http://schemas.openxmlformats.org/officeDocument/2006/relationships/slide" Target="slides/slide134.xml"/><Relationship Id="rId117" Type="http://schemas.openxmlformats.org/officeDocument/2006/relationships/slide" Target="slides/slide135.xml"/><Relationship Id="rId118" Type="http://schemas.openxmlformats.org/officeDocument/2006/relationships/slide" Target="slides/slide137.xml"/><Relationship Id="rId119" Type="http://schemas.openxmlformats.org/officeDocument/2006/relationships/slide" Target="slides/slide138.xml"/><Relationship Id="rId120" Type="http://schemas.openxmlformats.org/officeDocument/2006/relationships/slide" Target="slides/slide139.xml"/><Relationship Id="rId121" Type="http://schemas.openxmlformats.org/officeDocument/2006/relationships/slide" Target="slides/slide140.xml"/><Relationship Id="rId122" Type="http://schemas.openxmlformats.org/officeDocument/2006/relationships/slide" Target="slides/slide141.xml"/><Relationship Id="rId123" Type="http://schemas.openxmlformats.org/officeDocument/2006/relationships/slide" Target="slides/slide142.xml"/><Relationship Id="rId124" Type="http://schemas.openxmlformats.org/officeDocument/2006/relationships/slide" Target="slides/slide143.xml"/><Relationship Id="rId125" Type="http://schemas.openxmlformats.org/officeDocument/2006/relationships/slide" Target="slides/slide144.xml"/><Relationship Id="rId126" Type="http://schemas.openxmlformats.org/officeDocument/2006/relationships/slide" Target="slides/slide145.xml"/><Relationship Id="rId127" Type="http://schemas.openxmlformats.org/officeDocument/2006/relationships/slide" Target="slides/slide146.xml"/><Relationship Id="rId128" Type="http://schemas.openxmlformats.org/officeDocument/2006/relationships/slide" Target="slides/slide147.xml"/><Relationship Id="rId129" Type="http://schemas.openxmlformats.org/officeDocument/2006/relationships/slide" Target="slides/slide148.xml"/><Relationship Id="rId130" Type="http://schemas.openxmlformats.org/officeDocument/2006/relationships/slide" Target="slides/slide149.xml"/><Relationship Id="rId131" Type="http://schemas.openxmlformats.org/officeDocument/2006/relationships/slide" Target="slides/slide150.xml"/><Relationship Id="rId132" Type="http://schemas.openxmlformats.org/officeDocument/2006/relationships/slide" Target="slides/slide151.xml"/><Relationship Id="rId133" Type="http://schemas.openxmlformats.org/officeDocument/2006/relationships/slide" Target="slides/slide152.xml"/><Relationship Id="rId134" Type="http://schemas.openxmlformats.org/officeDocument/2006/relationships/slide" Target="slides/slide154.xml"/><Relationship Id="rId135" Type="http://schemas.openxmlformats.org/officeDocument/2006/relationships/slide" Target="slides/slide155.xml"/><Relationship Id="rId136" Type="http://schemas.openxmlformats.org/officeDocument/2006/relationships/slide" Target="slides/slide157.xml"/><Relationship Id="rId137" Type="http://schemas.openxmlformats.org/officeDocument/2006/relationships/slide" Target="slides/slide158.xml"/><Relationship Id="rId138" Type="http://schemas.openxmlformats.org/officeDocument/2006/relationships/slide" Target="slides/slide159.xml"/><Relationship Id="rId139" Type="http://schemas.openxmlformats.org/officeDocument/2006/relationships/slide" Target="slides/slide160.xml"/><Relationship Id="rId140" Type="http://schemas.openxmlformats.org/officeDocument/2006/relationships/slide" Target="slides/slide161.xml"/><Relationship Id="rId141" Type="http://schemas.openxmlformats.org/officeDocument/2006/relationships/slide" Target="slides/slide162.xml"/><Relationship Id="rId142" Type="http://schemas.openxmlformats.org/officeDocument/2006/relationships/slide" Target="slides/slide163.xml"/><Relationship Id="rId143" Type="http://schemas.openxmlformats.org/officeDocument/2006/relationships/slide" Target="slides/slide164.xml"/><Relationship Id="rId144" Type="http://schemas.openxmlformats.org/officeDocument/2006/relationships/slide" Target="slides/slide165.xml"/><Relationship Id="rId145" Type="http://schemas.openxmlformats.org/officeDocument/2006/relationships/slide" Target="slides/slide166.xml"/><Relationship Id="rId146" Type="http://schemas.openxmlformats.org/officeDocument/2006/relationships/slide" Target="slides/slide167.xml"/><Relationship Id="rId147" Type="http://schemas.openxmlformats.org/officeDocument/2006/relationships/slide" Target="slides/slide168.xml"/><Relationship Id="rId148" Type="http://schemas.openxmlformats.org/officeDocument/2006/relationships/slide" Target="slides/slide169.xml"/><Relationship Id="rId149" Type="http://schemas.openxmlformats.org/officeDocument/2006/relationships/slide" Target="slides/slide170.xml"/><Relationship Id="rId150" Type="http://schemas.openxmlformats.org/officeDocument/2006/relationships/slide" Target="slides/slide171.xml"/><Relationship Id="rId151" Type="http://schemas.openxmlformats.org/officeDocument/2006/relationships/slide" Target="slides/slide172.xml"/><Relationship Id="rId152" Type="http://schemas.openxmlformats.org/officeDocument/2006/relationships/slide" Target="slides/slide173.xml"/><Relationship Id="rId153" Type="http://schemas.openxmlformats.org/officeDocument/2006/relationships/slide" Target="slides/slide174.xml"/><Relationship Id="rId154" Type="http://schemas.openxmlformats.org/officeDocument/2006/relationships/slide" Target="slides/slide175.xml"/><Relationship Id="rId155" Type="http://schemas.openxmlformats.org/officeDocument/2006/relationships/slide" Target="slides/slide176.xml"/><Relationship Id="rId156" Type="http://schemas.openxmlformats.org/officeDocument/2006/relationships/slide" Target="slides/slide177.xml"/><Relationship Id="rId157" Type="http://schemas.openxmlformats.org/officeDocument/2006/relationships/slide" Target="slides/slide178.xml"/><Relationship Id="rId158" Type="http://schemas.openxmlformats.org/officeDocument/2006/relationships/slide" Target="slides/slide179.xml"/><Relationship Id="rId159" Type="http://schemas.openxmlformats.org/officeDocument/2006/relationships/slide" Target="slides/slide180.xml"/><Relationship Id="rId160" Type="http://schemas.openxmlformats.org/officeDocument/2006/relationships/slide" Target="slides/slide181.xml"/><Relationship Id="rId161" Type="http://schemas.openxmlformats.org/officeDocument/2006/relationships/slide" Target="slides/slide182.xml"/><Relationship Id="rId162" Type="http://schemas.openxmlformats.org/officeDocument/2006/relationships/slide" Target="slides/slide183.xml"/><Relationship Id="rId163" Type="http://schemas.openxmlformats.org/officeDocument/2006/relationships/slide" Target="slides/slide185.xml"/><Relationship Id="rId164" Type="http://schemas.openxmlformats.org/officeDocument/2006/relationships/slide" Target="slides/slide186.xml"/><Relationship Id="rId165" Type="http://schemas.openxmlformats.org/officeDocument/2006/relationships/slide" Target="slides/slide187.xml"/><Relationship Id="rId166" Type="http://schemas.openxmlformats.org/officeDocument/2006/relationships/slide" Target="slides/slide188.xml"/><Relationship Id="rId167" Type="http://schemas.openxmlformats.org/officeDocument/2006/relationships/slide" Target="slides/slide189.xml"/><Relationship Id="rId168" Type="http://schemas.openxmlformats.org/officeDocument/2006/relationships/slide" Target="slides/slide190.xml"/><Relationship Id="rId169" Type="http://schemas.openxmlformats.org/officeDocument/2006/relationships/slide" Target="slides/slide191.xml"/><Relationship Id="rId170" Type="http://schemas.openxmlformats.org/officeDocument/2006/relationships/slide" Target="slides/slide192.xml"/><Relationship Id="rId171" Type="http://schemas.openxmlformats.org/officeDocument/2006/relationships/slide" Target="slides/slide193.xml"/><Relationship Id="rId172" Type="http://schemas.openxmlformats.org/officeDocument/2006/relationships/slide" Target="slides/slide194.xml"/><Relationship Id="rId173" Type="http://schemas.openxmlformats.org/officeDocument/2006/relationships/slide" Target="slides/slide195.xml"/><Relationship Id="rId174" Type="http://schemas.openxmlformats.org/officeDocument/2006/relationships/slide" Target="slides/slide196.xml"/><Relationship Id="rId175" Type="http://schemas.openxmlformats.org/officeDocument/2006/relationships/slide" Target="slides/slide197.xml"/><Relationship Id="rId176" Type="http://schemas.openxmlformats.org/officeDocument/2006/relationships/slide" Target="slides/slide198.xml"/><Relationship Id="rId177" Type="http://schemas.openxmlformats.org/officeDocument/2006/relationships/slide" Target="slides/slide199.xml"/><Relationship Id="rId178" Type="http://schemas.openxmlformats.org/officeDocument/2006/relationships/slide" Target="slides/slide200.xml"/><Relationship Id="rId179" Type="http://schemas.openxmlformats.org/officeDocument/2006/relationships/slide" Target="slides/slide201.xml"/><Relationship Id="rId180" Type="http://schemas.openxmlformats.org/officeDocument/2006/relationships/slide" Target="slides/slide202.xml"/><Relationship Id="rId181" Type="http://schemas.openxmlformats.org/officeDocument/2006/relationships/slide" Target="slides/slide203.xml"/><Relationship Id="rId182" Type="http://schemas.openxmlformats.org/officeDocument/2006/relationships/slide" Target="slides/slide204.xml"/><Relationship Id="rId183" Type="http://schemas.openxmlformats.org/officeDocument/2006/relationships/slide" Target="slides/slide206.xml"/><Relationship Id="rId184" Type="http://schemas.openxmlformats.org/officeDocument/2006/relationships/slide" Target="slides/slide207.xml"/><Relationship Id="rId185" Type="http://schemas.openxmlformats.org/officeDocument/2006/relationships/slide" Target="slides/slide208.xml"/><Relationship Id="rId186" Type="http://schemas.openxmlformats.org/officeDocument/2006/relationships/slide" Target="slides/slide209.xml"/><Relationship Id="rId187" Type="http://schemas.openxmlformats.org/officeDocument/2006/relationships/slide" Target="slides/slide210.xml"/><Relationship Id="rId188" Type="http://schemas.openxmlformats.org/officeDocument/2006/relationships/slide" Target="slides/slide211.xml"/><Relationship Id="rId189" Type="http://schemas.openxmlformats.org/officeDocument/2006/relationships/slide" Target="slides/slide212.xml"/><Relationship Id="rId190" Type="http://schemas.openxmlformats.org/officeDocument/2006/relationships/slide" Target="slides/slide213.xml"/><Relationship Id="rId191" Type="http://schemas.openxmlformats.org/officeDocument/2006/relationships/slide" Target="slides/slide214.xml"/><Relationship Id="rId192" Type="http://schemas.openxmlformats.org/officeDocument/2006/relationships/slide" Target="slides/slide215.xml"/><Relationship Id="rId193" Type="http://schemas.openxmlformats.org/officeDocument/2006/relationships/slide" Target="slides/slide216.xml"/><Relationship Id="rId194" Type="http://schemas.openxmlformats.org/officeDocument/2006/relationships/slide" Target="slides/slide217.xml"/><Relationship Id="rId195" Type="http://schemas.openxmlformats.org/officeDocument/2006/relationships/slide" Target="slides/slide218.xml"/><Relationship Id="rId196" Type="http://schemas.openxmlformats.org/officeDocument/2006/relationships/slide" Target="slides/slide219.xml"/><Relationship Id="rId197" Type="http://schemas.openxmlformats.org/officeDocument/2006/relationships/slide" Target="slides/slide220.xml"/><Relationship Id="rId198" Type="http://schemas.openxmlformats.org/officeDocument/2006/relationships/slide" Target="slides/slide221.xml"/><Relationship Id="rId199" Type="http://schemas.openxmlformats.org/officeDocument/2006/relationships/slide" Target="slides/slide222.xml"/><Relationship Id="rId200" Type="http://schemas.openxmlformats.org/officeDocument/2006/relationships/slide" Target="slides/slide223.xml"/><Relationship Id="rId201" Type="http://schemas.openxmlformats.org/officeDocument/2006/relationships/slide" Target="slides/slide224.xml"/><Relationship Id="rId202" Type="http://schemas.openxmlformats.org/officeDocument/2006/relationships/slide" Target="slides/slide225.xml"/><Relationship Id="rId203" Type="http://schemas.openxmlformats.org/officeDocument/2006/relationships/slide" Target="slides/slide226.xml"/><Relationship Id="rId204" Type="http://schemas.openxmlformats.org/officeDocument/2006/relationships/slide" Target="slides/slide227.xml"/><Relationship Id="rId205" Type="http://schemas.openxmlformats.org/officeDocument/2006/relationships/slide" Target="slides/slide229.xml"/><Relationship Id="rId206" Type="http://schemas.openxmlformats.org/officeDocument/2006/relationships/slide" Target="slides/slide230.xml"/><Relationship Id="rId207" Type="http://schemas.openxmlformats.org/officeDocument/2006/relationships/slide" Target="slides/slide231.xml"/><Relationship Id="rId208" Type="http://schemas.openxmlformats.org/officeDocument/2006/relationships/slide" Target="slides/slide232.xml"/><Relationship Id="rId209" Type="http://schemas.openxmlformats.org/officeDocument/2006/relationships/slide" Target="slides/slide233.xml"/><Relationship Id="rId210" Type="http://schemas.openxmlformats.org/officeDocument/2006/relationships/slide" Target="slides/slide234.xml"/><Relationship Id="rId211" Type="http://schemas.openxmlformats.org/officeDocument/2006/relationships/slide" Target="slides/slide235.xml"/><Relationship Id="rId212" Type="http://schemas.openxmlformats.org/officeDocument/2006/relationships/slide" Target="slides/slide236.xml"/><Relationship Id="rId213" Type="http://schemas.openxmlformats.org/officeDocument/2006/relationships/slide" Target="slides/slide237.xml"/><Relationship Id="rId214" Type="http://schemas.openxmlformats.org/officeDocument/2006/relationships/slide" Target="slides/slide238.xml"/><Relationship Id="rId215" Type="http://schemas.openxmlformats.org/officeDocument/2006/relationships/slide" Target="slides/slide239.xml"/><Relationship Id="rId216" Type="http://schemas.openxmlformats.org/officeDocument/2006/relationships/slide" Target="slides/slide241.xml"/><Relationship Id="rId217" Type="http://schemas.openxmlformats.org/officeDocument/2006/relationships/slide" Target="slides/slide242.xml"/><Relationship Id="rId218" Type="http://schemas.openxmlformats.org/officeDocument/2006/relationships/slide" Target="slides/slide243.xml"/><Relationship Id="rId219" Type="http://schemas.openxmlformats.org/officeDocument/2006/relationships/slide" Target="slides/slide244.xml"/><Relationship Id="rId220" Type="http://schemas.openxmlformats.org/officeDocument/2006/relationships/slide" Target="slides/slide245.xml"/><Relationship Id="rId221" Type="http://schemas.openxmlformats.org/officeDocument/2006/relationships/slide" Target="slides/slide246.xml"/><Relationship Id="rId222" Type="http://schemas.openxmlformats.org/officeDocument/2006/relationships/slide" Target="slides/slide247.xml"/><Relationship Id="rId223" Type="http://schemas.openxmlformats.org/officeDocument/2006/relationships/slide" Target="slides/slide248.xml"/><Relationship Id="rId224" Type="http://schemas.openxmlformats.org/officeDocument/2006/relationships/slide" Target="slides/slide249.xml"/><Relationship Id="rId225" Type="http://schemas.openxmlformats.org/officeDocument/2006/relationships/slide" Target="slides/slide250.xml"/><Relationship Id="rId226" Type="http://schemas.openxmlformats.org/officeDocument/2006/relationships/slide" Target="slides/slide251.xml"/><Relationship Id="rId227" Type="http://schemas.openxmlformats.org/officeDocument/2006/relationships/slide" Target="slides/slide252.xml"/><Relationship Id="rId228" Type="http://schemas.openxmlformats.org/officeDocument/2006/relationships/slide" Target="slides/slide253.xml"/><Relationship Id="rId229" Type="http://schemas.openxmlformats.org/officeDocument/2006/relationships/slide" Target="slides/slide254.xml"/><Relationship Id="rId230" Type="http://schemas.openxmlformats.org/officeDocument/2006/relationships/slide" Target="slides/slide255.xml"/><Relationship Id="rId231" Type="http://schemas.openxmlformats.org/officeDocument/2006/relationships/slide" Target="slides/slide256.xml"/><Relationship Id="rId232" Type="http://schemas.openxmlformats.org/officeDocument/2006/relationships/slide" Target="slides/slide257.xml"/><Relationship Id="rId233" Type="http://schemas.openxmlformats.org/officeDocument/2006/relationships/slide" Target="slides/slide258.xml"/><Relationship Id="rId234" Type="http://schemas.openxmlformats.org/officeDocument/2006/relationships/slide" Target="slides/slide259.xml"/><Relationship Id="rId235" Type="http://schemas.openxmlformats.org/officeDocument/2006/relationships/slide" Target="slides/slide260.xml"/><Relationship Id="rId236" Type="http://schemas.openxmlformats.org/officeDocument/2006/relationships/slide" Target="slides/slide261.xml"/><Relationship Id="rId237" Type="http://schemas.openxmlformats.org/officeDocument/2006/relationships/slide" Target="slides/slide262.xml"/><Relationship Id="rId238" Type="http://schemas.openxmlformats.org/officeDocument/2006/relationships/slide" Target="slides/slide263.xml"/><Relationship Id="rId239" Type="http://schemas.openxmlformats.org/officeDocument/2006/relationships/slide" Target="slides/slide264.xml"/><Relationship Id="rId240" Type="http://schemas.openxmlformats.org/officeDocument/2006/relationships/slide" Target="slides/slide265.xml"/><Relationship Id="rId241" Type="http://schemas.openxmlformats.org/officeDocument/2006/relationships/slide" Target="slides/slide266.xml"/><Relationship Id="rId242" Type="http://schemas.openxmlformats.org/officeDocument/2006/relationships/slide" Target="slides/slide267.xml"/><Relationship Id="rId243" Type="http://schemas.openxmlformats.org/officeDocument/2006/relationships/slide" Target="slides/slide268.xml"/><Relationship Id="rId244" Type="http://customschemas.google.com/relationships/presentationmetadata" Target="metadata"/><Relationship Id="rId245" Type="http://schemas.openxmlformats.org/officeDocument/2006/relationships/slide" Target="slides/slide13.xml"/><Relationship Id="rId246" Type="http://schemas.openxmlformats.org/officeDocument/2006/relationships/slide" Target="slides/slide17.xml"/><Relationship Id="rId247" Type="http://schemas.openxmlformats.org/officeDocument/2006/relationships/slide" Target="slides/slide25.xml"/><Relationship Id="rId248" Type="http://schemas.openxmlformats.org/officeDocument/2006/relationships/slide" Target="slides/slide30.xml"/><Relationship Id="rId249" Type="http://schemas.openxmlformats.org/officeDocument/2006/relationships/slide" Target="slides/slide48.xml"/><Relationship Id="rId250" Type="http://schemas.openxmlformats.org/officeDocument/2006/relationships/slide" Target="slides/slide53.xml"/><Relationship Id="rId251" Type="http://schemas.openxmlformats.org/officeDocument/2006/relationships/slide" Target="slides/slide59.xml"/><Relationship Id="rId252" Type="http://schemas.openxmlformats.org/officeDocument/2006/relationships/slide" Target="slides/slide65.xml"/><Relationship Id="rId253" Type="http://schemas.openxmlformats.org/officeDocument/2006/relationships/slide" Target="slides/slide66.xml"/><Relationship Id="rId254" Type="http://schemas.openxmlformats.org/officeDocument/2006/relationships/slide" Target="slides/slide78.xml"/><Relationship Id="rId255" Type="http://schemas.openxmlformats.org/officeDocument/2006/relationships/slide" Target="slides/slide86.xml"/><Relationship Id="rId256" Type="http://schemas.openxmlformats.org/officeDocument/2006/relationships/slide" Target="slides/slide87.xml"/><Relationship Id="rId257" Type="http://schemas.openxmlformats.org/officeDocument/2006/relationships/slide" Target="slides/slide88.xml"/><Relationship Id="rId258" Type="http://schemas.openxmlformats.org/officeDocument/2006/relationships/slide" Target="slides/slide89.xml"/><Relationship Id="rId259" Type="http://schemas.openxmlformats.org/officeDocument/2006/relationships/slide" Target="slides/slide91.xml"/><Relationship Id="rId260" Type="http://schemas.openxmlformats.org/officeDocument/2006/relationships/slide" Target="slides/slide94.xml"/><Relationship Id="rId261" Type="http://schemas.openxmlformats.org/officeDocument/2006/relationships/slide" Target="slides/slide96.xml"/><Relationship Id="rId262" Type="http://schemas.openxmlformats.org/officeDocument/2006/relationships/slide" Target="slides/slide108.xml"/><Relationship Id="rId263" Type="http://schemas.openxmlformats.org/officeDocument/2006/relationships/slide" Target="slides/slide110.xml"/><Relationship Id="rId264" Type="http://schemas.openxmlformats.org/officeDocument/2006/relationships/slide" Target="slides/slide112.xml"/><Relationship Id="rId265" Type="http://schemas.openxmlformats.org/officeDocument/2006/relationships/slide" Target="slides/slide114.xml"/><Relationship Id="rId266" Type="http://schemas.openxmlformats.org/officeDocument/2006/relationships/slide" Target="slides/slide119.xml"/><Relationship Id="rId267" Type="http://schemas.openxmlformats.org/officeDocument/2006/relationships/slide" Target="slides/slide127.xml"/><Relationship Id="rId268" Type="http://schemas.openxmlformats.org/officeDocument/2006/relationships/slide" Target="slides/slide130.xml"/><Relationship Id="rId269" Type="http://schemas.openxmlformats.org/officeDocument/2006/relationships/slide" Target="slides/slide136.xml"/><Relationship Id="rId270" Type="http://schemas.openxmlformats.org/officeDocument/2006/relationships/slide" Target="slides/slide153.xml"/><Relationship Id="rId271" Type="http://schemas.openxmlformats.org/officeDocument/2006/relationships/slide" Target="slides/slide156.xml"/><Relationship Id="rId272" Type="http://schemas.openxmlformats.org/officeDocument/2006/relationships/slide" Target="slides/slide205.xml"/><Relationship Id="rId273" Type="http://schemas.openxmlformats.org/officeDocument/2006/relationships/slide" Target="slides/slide228.xml"/><Relationship Id="rId274" Type="http://schemas.openxmlformats.org/officeDocument/2006/relationships/slide" Target="slides/slide2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50–75 minutes. Use the package vignette for the supported estimator sequence.</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https://bcallaway11.github.io/did/</a:t>
            </a:r>
            <a:endParaRPr/>
          </a:p>
          <a:p>
            <a:pPr indent="0" lvl="0" marL="0" rtl="0" algn="l">
              <a:spcBef>
                <a:spcPts val="0"/>
              </a:spcBef>
              <a:spcAft>
                <a:spcPts val="0"/>
              </a:spcAft>
              <a:buNone/>
            </a:pPr>
            <a:r>
              <a:rPr lang="en-US" sz="1200"/>
              <a:t>- https://rdrr.io/cran/did/man/mpdta.html</a:t>
            </a:r>
            <a:endParaRPr/>
          </a:p>
        </p:txBody>
      </p:sp>
      <p:sp>
        <p:nvSpPr>
          <p:cNvPr id="14" name="Google Shape;14;p15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 name="Google Shape;46;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2 min - Course opening, title slide</a:t>
            </a:r>
          </a:p>
          <a:p>
            <a:r>
              <a:t>Do not read the metadata aloud; the room can see it. Use the minute to set the promise: by Thursday everyone here will have produced a causal estimate they can defend to a sceptical stakeholder, not just a p-value. Introduce yourself with one experiment you personally got wrong, because it buys credibility cheaply and signals a course about judgment rather than formulas. Flag that one synthetic case, the Injaz (إنجاز) digital-government services platform, runs through every lab and the capstone.</a:t>
            </a:r>
          </a:p>
          <a:p>
            <a:r>
              <a:t>ASK: Who has watched a decision get made on a number they privately did not trust? Most hands go up, and that discomfort is the week's motivation.</a:t>
            </a:r>
          </a:p>
          <a:p>
            <a:r>
              <a:t>WATCH FOR: Participants expecting a tools course. Say plainly that roughly 80 percent of an estimate's credibility is fixed before any model is fit.</a:t>
            </a:r>
          </a:p>
          <a:p>
            <a:r>
              <a:t>LINK: Injaz datasets appear first in Lab 1 and return through the capstone.</a:t>
            </a:r>
          </a:p>
        </p:txBody>
      </p:sp>
      <p:sp>
        <p:nvSpPr>
          <p:cNvPr id="47" name="Google Shape;47;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Course at a glance, opening block</a:t>
            </a:r>
          </a:p>
          <a:p>
            <a:r>
              <a:t>The number worth dwelling on is 45 percent of contact time in labs. This is a code-forward course, and anyone planning to watch passively should learn that now rather than on Wednesday. Explain what expert level means here: SF-3 and DS-1 are assumed, so nobody re-teaches hypothesis testing or pandas, and the Day 3 pace is unforgiving. Every day ends in graded hands-on work, so a working Python environment is not optional.</a:t>
            </a:r>
          </a:p>
          <a:p>
            <a:r>
              <a:t>ASK: Who has a Colab or local Jupyter environment running right now? Anyone without one should fix it during the first break, not during Lab 1.</a:t>
            </a:r>
          </a:p>
          <a:p>
            <a:r>
              <a:t>WATCH FOR: The assumption that labs are optional enrichment around the lectures. Labs and the capstone together carry 70 percent of the composite score.</a:t>
            </a:r>
          </a:p>
          <a:p>
            <a:r>
              <a:t>LINK: Assessment weights are on the certification slide; Lab 1 starts in Day 1 Hour 5.</a:t>
            </a:r>
          </a:p>
        </p:txBody>
      </p:sp>
      <p:sp>
        <p:nvSpPr>
          <p:cNvPr id="58" name="Google Shape;5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Welcome, the argument slide for the week</a:t>
            </a:r>
          </a:p>
          <a:p>
            <a:r>
              <a:t>This is where you make the case for the whole course, so let the 80/20 claim land rather than skimming it. The argument: credibility is decided by design and identification before any estimator is chosen, and a beautifully fitted model on a confounded comparison is a confident wrong answer. Give the instance they meet today: the Injaz guided uploader looks like plus 19.3 points in self-selected data and plus 5.0 once assignment is randomised. The modelling was never the problem.</a:t>
            </a:r>
          </a:p>
          <a:p>
            <a:r>
              <a:t>ASK: Where in your own workflow is the design decision actually made, and does a data scientist sit in that meeting? Usually not, and that habit is what this course is trying to change.</a:t>
            </a:r>
          </a:p>
          <a:p>
            <a:r>
              <a:t>WATCH FOR: Polite agreement with no behaviour change. Push for a named decision at their organisation that currently rests on an observational comparison.</a:t>
            </a:r>
          </a:p>
          <a:p>
            <a:r>
              <a:t>LINK: The plus 19.3 versus plus 5.0 contrast is the headline figure of Hour 2 and of Lab 1.</a:t>
            </a:r>
          </a:p>
        </p:txBody>
      </p:sp>
      <p:sp>
        <p:nvSpPr>
          <p:cNvPr id="86" name="Google Shape;8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Learning outcomes, first half</a:t>
            </a:r>
          </a:p>
          <a:p>
            <a:r>
              <a:t>Read these as a contract, not a list, and point at how each is assessed: LO1 and LO2 by the capstone's estimand and assumptions section, LO3 by the power calculation participants must justify, LO4 by Lab 2. Say LO2 is the outcome experienced practitioners most underestimate. Almost everyone can fit a matching model; very few can state in one sentence which assumption their number dies on when a director pushes back.</a:t>
            </a:r>
          </a:p>
          <a:p>
            <a:r>
              <a:t>ASK: Which of these four can you already do today? Hands go up for LO4 and stay down for LO2, which is precisely the gap the course targets.</a:t>
            </a:r>
          </a:p>
          <a:p>
            <a:r>
              <a:t>WATCH FOR: Treating ITT and LATE as jargon to memorise. They are the difference between what a rollout actually delivers and what the feature does to those who use it.</a:t>
            </a:r>
          </a:p>
          <a:p>
            <a:r>
              <a:t>LINK: LO1 estimands are covered in Hour 2 today; LO3 power and MDE land in Day 2 Hour 4.</a:t>
            </a:r>
          </a:p>
        </p:txBody>
      </p:sp>
      <p:sp>
        <p:nvSpPr>
          <p:cNvPr id="109" name="Google Shape;10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Learning outcomes, second half</a:t>
            </a:r>
          </a:p>
          <a:p>
            <a:r>
              <a:t>These are the Day 3 and Day 4 outcomes, where the course gets hard, so preview the shape. LO5 and LO6 look like a toolbox, but frame them as the ladder of evidence will: each method buys an answer with a different, less testable assumption. LO7 separates a defensible analysis from a plausible one, since clustered and bootstrap standard errors routinely move an interval across zero. LO8 stops a valid estimate being generalised to a population it was never about.</a:t>
            </a:r>
          </a:p>
          <a:p>
            <a:r>
              <a:t>ASK: Which of these do you already produce in your reports? Standard errors usually yes, sensitivity analysis almost never, and that is the honest gap in the room.</a:t>
            </a:r>
          </a:p>
          <a:p>
            <a:r>
              <a:t>WATCH FOR: The idea that doubly-robust methods remove the need for assumptions. They relax which working model must be correct, not whether confounding was measured.</a:t>
            </a:r>
          </a:p>
          <a:p>
            <a:r>
              <a:t>LINK: LO7 opens Day 4, where clustering widens a standard error from 0.00166 to 0.00267.</a:t>
            </a:r>
          </a:p>
        </p:txBody>
      </p:sp>
      <p:sp>
        <p:nvSpPr>
          <p:cNvPr id="135" name="Google Shape;135;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Prerequisites and audience</a:t>
            </a:r>
          </a:p>
          <a:p>
            <a:r>
              <a:t>Use this slide diagnostically rather than decoratively. Ask for hands on the two prerequisites separately, because the failure modes differ: someone shaky on conditional expectation will struggle in Hour 2 today, while someone shaky on pandas will struggle from Lab 1 onward but can be paired with a stronger neighbour. Then name the audience mix out loud. Experimentation analysts and administrative-data analysts want different things from Day 3, and acknowledging the split early lets you calibrate which examples you lean on all week.</a:t>
            </a:r>
          </a:p>
          <a:p>
            <a:r>
              <a:t>ASK: Who works mostly with experiment data and who mostly with observational or administrative data? Use the answer to decide how much air to give Day 3 material.</a:t>
            </a:r>
          </a:p>
          <a:p>
            <a:r>
              <a:t>WATCH FOR: Strong machine-learning practitioners assuming causal inference is a special case of prediction. The prediction versus causation contrast later this hour exists for them.</a:t>
            </a:r>
          </a:p>
          <a:p>
            <a:r>
              <a:t>LINK: Pair the weakest coders with stronger ones before Lab 1 in Hour 5.</a:t>
            </a:r>
          </a:p>
        </p:txBody>
      </p:sp>
      <p:sp>
        <p:nvSpPr>
          <p:cNvPr id="160" name="Google Shape;16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Four-day roadmap</a:t>
            </a:r>
          </a:p>
          <a:p>
            <a:r>
              <a:t>Give the logic of the sequence, not its contents. Day 1 builds the language, Day 2 uses the one design that makes the assumptions true by construction, Day 3 gives that up and works down the ladder of evidence, and Day 4 asks how wrong you could be and still be right. Days 3 and 4 are not a grab bag: every method there fills in the same missing counterfactual column that Hour 2 introduces today.</a:t>
            </a:r>
          </a:p>
          <a:p>
            <a:r>
              <a:t>ASK: If you could only take one day away, which does your job need most? Most say Day 3, and the answer is that Day 1 is what makes Day 3 usable.</a:t>
            </a:r>
          </a:p>
          <a:p>
            <a:r>
              <a:t>WATCH FOR: People planning to treat Day 1 as revision they can half-attend. The estimand vocabulary from Hour 2 is used relentlessly for three more days.</a:t>
            </a:r>
          </a:p>
          <a:p>
            <a:r>
              <a:t>LINK: The ladder of evidence figure at the end of today's Hour 4 previews the Day 3 sequence.</a:t>
            </a:r>
          </a:p>
        </p:txBody>
      </p:sp>
      <p:sp>
        <p:nvSpPr>
          <p:cNvPr id="191" name="Google Shape;19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Learning model and cadence</a:t>
            </a:r>
          </a:p>
          <a:p>
            <a:r>
              <a:t>Set expectations for how the room runs. The 55/45 split means half of every day is participants typing, and the discussions are deliberate practice at the skill that matters most on the job: saying aloud which assumption a colleague's design depends on. Tell them the knowledge checks are formative and low stakes, meant to surface a misconception in front of forty people so it dies quickly, not to rank anyone.</a:t>
            </a:r>
          </a:p>
          <a:p>
            <a:r>
              <a:t>ASK: What would make a discussion useful for you here, your own live problem or a clean worked case? Steer toward the live one, since the Day 1 discussion asks for exactly that.</a:t>
            </a:r>
          </a:p>
          <a:p>
            <a:r>
              <a:t>WATCH FOR: Silence in discussions when participants sit near their own managers. Seed the first one by describing a flawed design of your own before asking for theirs.</a:t>
            </a:r>
          </a:p>
          <a:p>
            <a:r>
              <a:t>LINK: The Day 1 Hour 5 discussion asks each pair to bring a real question from their work.</a:t>
            </a:r>
          </a:p>
        </p:txBody>
      </p:sp>
      <p:sp>
        <p:nvSpPr>
          <p:cNvPr id="212" name="Google Shape;21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Assessment and certification</a:t>
            </a:r>
          </a:p>
          <a:p>
            <a:r>
              <a:t>Walk the weights quickly, then say what actually fails people. It is rarely the post-test. It is a capstone that reports a statistically significant lift and recommends shipping without ever checking the effect against the practical significance threshold. Say now that the capstone data is built so the confidence interval straddles that threshold, so the defensible verdict is hold or extend, and that concluding p is under 0.05 so ship it will be marked down however clean the notebook is.</a:t>
            </a:r>
          </a:p>
          <a:p>
            <a:r>
              <a:t>ASK: What is the practical significance threshold for the last experiment your team ran? Most rooms cannot answer, which is exactly the habit the capstone rubric targets.</a:t>
            </a:r>
          </a:p>
          <a:p>
            <a:r>
              <a:t>WATCH FOR: Optimising for the post-test. It is 10 percent of the score, while applied work is 70 percent.</a:t>
            </a:r>
          </a:p>
          <a:p>
            <a:r>
              <a:t>LINK: The capstone uses injaz_autofill_ab.csv, 70,000 users, a true lift of plus 1.4 points against a 1.0 point threshold.</a:t>
            </a:r>
          </a:p>
        </p:txBody>
      </p:sp>
      <p:sp>
        <p:nvSpPr>
          <p:cNvPr id="238" name="Google Shape;238;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1 divider</a:t>
            </a:r>
          </a:p>
          <a:p>
            <a:r>
              <a:t>Divider, one sentence and move on. Say that today buys no techniques at all: no matching, no difference-in-differences, no models. Today builds the language that makes those techniques arguable, and by Hour 5 the room will have watched a plus 19.3 point effect collapse to plus 5.0 with nothing changed except how treatment was assigned.</a:t>
            </a:r>
          </a:p>
          <a:p>
            <a:r>
              <a:t>ASK: How many of you expected to be fitting models before lunch? Set the expectation that today's payoff is vocabulary and design instinct, not code.</a:t>
            </a:r>
          </a:p>
          <a:p>
            <a:r>
              <a:t>WATCH FOR: Impatience from practitioners who want code immediately. Promise that Hour 5 is a lab and that Days 2 to 4 are mostly code.</a:t>
            </a:r>
          </a:p>
          <a:p>
            <a:r>
              <a:t>LINK: Hour 5 is Lab 1, the simulator that produces the plus 19.3 versus plus 5.0 contrast.</a:t>
            </a:r>
          </a:p>
        </p:txBody>
      </p:sp>
      <p:sp>
        <p:nvSpPr>
          <p:cNvPr id="249" name="Google Shape;24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1, opening concept</a:t>
            </a:r>
          </a:p>
          <a:p>
            <a:r>
              <a:t>The ladder earns four minutes because it hands the room vocabulary for a fight they already have with stakeholders. Make rungs one and two collide: a churn model showing that users who contact support churn more is rung one and perfectly true, while removing support access to reduce churn is a rung two claim the model never supported. Stress the key distinction: conditioning filters the world as it is, intervening changes it, and nearly every analytics error is that confusion.</a:t>
            </a:r>
          </a:p>
          <a:p>
            <a:r>
              <a:t>ASK: Give me a rung one finding from your dashboard that someone has treated as rung two. Steer toward cases where the correlated variable is a symptom rather than a cause.</a:t>
            </a:r>
          </a:p>
          <a:p>
            <a:r>
              <a:t>WATCH FOR: The idea that rung three is just rung two with better data. Counterfactuals are about a specific unit's unrealised world, which no experiment on other units recovers.</a:t>
            </a:r>
          </a:p>
          <a:p>
            <a:r>
              <a:t>LINK: Rung three is formalised as Y(1) and Y(0) in Hour 2.</a:t>
            </a:r>
          </a:p>
        </p:txBody>
      </p:sp>
      <p:sp>
        <p:nvSpPr>
          <p:cNvPr id="260" name="Google Shape;260;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1, the four rival stories</a:t>
            </a:r>
          </a:p>
          <a:p>
            <a:r>
              <a:t>The value here is that all four stories produce an identical scatter plot, so no amount of staring at the data distinguishes them. Take reverse causation seriously, since sicker patients receiving more treatment is the cleanest picture anyone has. Then make the closing point: only the chance story is fixed by more data. Confounding and selection converge cheerfully on the wrong number at any sample size, which is what the cost slide quantifies next.</a:t>
            </a:r>
          </a:p>
          <a:p>
            <a:r>
              <a:t>ASK: For the last association your team reported, which of these four did you rule out, and how? The honest answer is that ruling them out required knowledge from outside the dataset.</a:t>
            </a:r>
          </a:p>
          <a:p>
            <a:r>
              <a:t>WATCH FOR: Collapsing selection bias into confounding. Selection is created by conditioning on how units entered the sample, and it can appear even when treatment was randomised.</a:t>
            </a:r>
          </a:p>
          <a:p>
            <a:r>
              <a:t>LINK: Collider and selection bias return on Day 3, where conditioning flips a correlation from 0.00 to minus 0.20.</a:t>
            </a:r>
          </a:p>
        </p:txBody>
      </p:sp>
      <p:sp>
        <p:nvSpPr>
          <p:cNvPr id="282" name="Google Shape;282;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1 Hour 1, why design beats sample size</a:t>
            </a:r>
          </a:p>
          <a:p>
            <a:r>
              <a:t>Three numbers, and the third is the one to defend properly. Explain the infinity symbol literally: with a confounded design the estimator converges, and it converges on a number that is not the effect. That is qualitatively different from noise, and it is why sample size cannot buy credibility. Quote the 50 percent replication figure carefully as coming from review studies across several fields, not a single trial, because someone will ask.</a:t>
            </a:r>
          </a:p>
          <a:p>
            <a:r>
              <a:t>ASK: What is your organisation's default response to a contested result? If the answer is collect more data, this slide is the counter-argument to have ready.</a:t>
            </a:r>
          </a:p>
          <a:p>
            <a:r>
              <a:t>WATCH FOR: Treating bias and variance as two sizes of the same problem. Ask what happens to each as n grows: variance vanishes, bias does not move at all.</a:t>
            </a:r>
          </a:p>
          <a:p>
            <a:r>
              <a:t>LINK: The Hour 5 figure shows exactly this, with both curves converging, one on plus 5.0 and one on plus 19.3.</a:t>
            </a:r>
          </a:p>
        </p:txBody>
      </p:sp>
      <p:sp>
        <p:nvSpPr>
          <p:cNvPr id="304" name="Google Shape;304;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1, the running example</a:t>
            </a:r>
          </a:p>
          <a:p>
            <a:r>
              <a:t>This example is the spine of the next two days, so do not resolve it. Let the room sit with the 14 point gap and push them to generate the confounders themselves: newer cohorts, power users, platform, marketing exposure. The disciplined move at the bottom is the real content. Define the target quantity, list what must be true, then choose a design. A good analyst's first response here is a question about assignment, not a request for the data.</a:t>
            </a:r>
          </a:p>
          <a:p>
            <a:r>
              <a:t>ASK: What single variable would you most want to know before believing the 14 points? Steer toward anything predicting both exposure to the flow and retention.</a:t>
            </a:r>
          </a:p>
          <a:p>
            <a:r>
              <a:t>WATCH FOR: Immediate jumps to regression with controls. Ask which controls, and whether any of them were measured before the flow shipped.</a:t>
            </a:r>
          </a:p>
          <a:p>
            <a:r>
              <a:t>LINK: The same question is answered from a randomised test on Day 2 and from observational data on Day 3.</a:t>
            </a:r>
          </a:p>
        </p:txBody>
      </p:sp>
      <p:sp>
        <p:nvSpPr>
          <p:cNvPr id="323" name="Google Shape;323;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1, the five-step spine</a:t>
            </a:r>
          </a:p>
          <a:p>
            <a:r>
              <a:t>Give the room the spine and tell them it becomes the checklist for every remaining analysis, including the capstone rubric. The step that disappears in practice is step two: teams jump from a business question straight to a model, and identification becomes an afterthought in the discussion section. Emphasise that step three is downstream of step two, so a fancier estimator can never repair a broken identification argument.</a:t>
            </a:r>
          </a:p>
          <a:p>
            <a:r>
              <a:t>ASK: Which of these five steps does your current reporting template actually contain? Most templates have steps three and four only, and that omission is the gap.</a:t>
            </a:r>
          </a:p>
          <a:p>
            <a:r>
              <a:t>WATCH FOR: Reading step one as writing a hypothesis. An estimand names whose effect, of what, on whom, on which outcome, and a hypothesis rarely does all four.</a:t>
            </a:r>
          </a:p>
          <a:p>
            <a:r>
              <a:t>LINK: The capstone deliverable is scored against exactly these five steps.</a:t>
            </a:r>
          </a:p>
        </p:txBody>
      </p:sp>
      <p:sp>
        <p:nvSpPr>
          <p:cNvPr id="345" name="Google Shape;345;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1 Hour 1, vocabulary</a:t>
            </a:r>
          </a:p>
          <a:p>
            <a:r>
              <a:t>This slide is cheap to skim and expensive to skip. The distinction that pays off all week is estimand, estimator, estimate, meaning the true quantity, the procedure and the number, because most confused arguments about experiments are two people using one word for all three. The other load-bearing line is that covariates are pre-treatment characteristics only. Make the room say that back to you, because it is violated constantly in production feature pipelines where nobody records when a column was computed.</a:t>
            </a:r>
          </a:p>
          <a:p>
            <a:r>
              <a:t>ASK: Take a model you have shipped. Were any of its features measured after the treatment or exposure occurred? In production pipelines the answer is almost always yes.</a:t>
            </a:r>
          </a:p>
          <a:p>
            <a:r>
              <a:t>WATCH FOR: Treating the unit as obvious. A user, a session and a device are three different units producing three different estimands and three different standard errors.</a:t>
            </a:r>
          </a:p>
          <a:p>
            <a:r>
              <a:t>LINK: The good controls and bad controls slide in Hour 3 makes the pre-treatment rule precise.</a:t>
            </a:r>
          </a:p>
        </p:txBody>
      </p:sp>
      <p:sp>
        <p:nvSpPr>
          <p:cNvPr id="375" name="Google Shape;375;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2 min - Day 1 Hour 1, quote slide</a:t>
            </a:r>
          </a:p>
          <a:p>
            <a:r>
              <a:t>Two minutes, no more, but do not skip it, because this is the sentence the course keeps returning to. No statistical procedure converts association into causation. Something causal must be brought from outside the data: a randomisation you performed, a DAG you will defend in front of domain experts, or an instrument you argue is as good as random. The corollary is uncomfortable: if a method seems to need no causal assumption, you have not found it yet.</a:t>
            </a:r>
          </a:p>
          <a:p>
            <a:r>
              <a:t>ASK: For your last causal claim, what did you bring to the data? If nobody can name it, that claim was association wearing causal language.</a:t>
            </a:r>
          </a:p>
          <a:p>
            <a:r>
              <a:t>WATCH FOR: The idea that flexible machine learning weakens this. Flexible estimators help with functional form and never with identification.</a:t>
            </a:r>
          </a:p>
          <a:p>
            <a:r>
              <a:t>LINK: Ignorability in Hour 3 is precisely such an assumption, and it is untestable.</a:t>
            </a:r>
          </a:p>
        </p:txBody>
      </p:sp>
      <p:sp>
        <p:nvSpPr>
          <p:cNvPr id="395" name="Google Shape;39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1, well-defined interventions</a:t>
            </a:r>
          </a:p>
          <a:p>
            <a:r>
              <a:t>The manipulation test is the usable content: if you cannot describe how treatment could in principle be set, the question is ill-posed. Handle the race example precisely. The effect of race is not well defined as an intervention, while the effect of a name on a CV in a callback audit is, and that reframing is what made the actual studies possible. Then push the room to apply the test to their own vague questions.</a:t>
            </a:r>
          </a:p>
          <a:p>
            <a:r>
              <a:t>ASK: State the intervention behind the effect of digital maturity. If nobody in the room can, the question needs rewriting before any data is collected.</a:t>
            </a:r>
          </a:p>
          <a:p>
            <a:r>
              <a:t>WATCH FOR: Hearing this as a claim that such questions are unimportant. They are important and badly posed, and those are different problems with different fixes.</a:t>
            </a:r>
          </a:p>
          <a:p>
            <a:r>
              <a:t>LINK: SUTVA and consistency in Hour 3 formalise what one version of treatment means.</a:t>
            </a:r>
          </a:p>
        </p:txBody>
      </p:sp>
      <p:sp>
        <p:nvSpPr>
          <p:cNvPr id="407" name="Google Shape;407;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1, the contrast that matters</a:t>
            </a:r>
          </a:p>
          <a:p>
            <a:r>
              <a:t>This is the slide the strong machine-learning people need. The sharpest line: any feature improving prediction is welcome, including post-treatment ones, so a churn model may legitimately use last week's support tickets and that same feature destroys a causal estimate. Say the adjustment set is chosen by causal structure, never by cross-validation, and that variable selection by fit is a common way a competent modeller produces a biased effect.</a:t>
            </a:r>
          </a:p>
          <a:p>
            <a:r>
              <a:t>ASK: Would you drop a control that increases your validation error? For prediction yes, for causal estimation the question is irrelevant, and that reversal is the whole slide.</a:t>
            </a:r>
          </a:p>
          <a:p>
            <a:r>
              <a:t>WATCH FOR: The claim that a high R-squared means confounding has been handled. Fit says nothing about whether the backdoor path is closed.</a:t>
            </a:r>
          </a:p>
          <a:p>
            <a:r>
              <a:t>LINK: The Day 3 collider demonstration shows a control that improves fit and flips a correlation from 0.00 to minus 0.20.</a:t>
            </a:r>
          </a:p>
        </p:txBody>
      </p:sp>
      <p:sp>
        <p:nvSpPr>
          <p:cNvPr id="426" name="Google Shape;426;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1 Hour 1, knowledge check</a:t>
            </a:r>
          </a:p>
          <a:p>
            <a:r>
              <a:t>Run this on hands or in the chat, then debrief each item. Q1 is predictive: nothing is being set, we are ranking units by likelihood. Q2 is causal, because offering the discount is a manipulation and the question concerns the world after it. Q3 is counterfactual rather than merely causal, since it asks about a world for units that actually did experience the launch, which no experiment on future users can reach.</a:t>
            </a:r>
          </a:p>
          <a:p>
            <a:r>
              <a:t>ASK: For Q3, could an A/B test starting today answer it? No, because it asks about the past for a specific population, which is why rung three sits above rung two.</a:t>
            </a:r>
          </a:p>
          <a:p>
            <a:r>
              <a:t>WATCH FOR: Q2 answered as predictive because a model would be used to produce the number. The tool never makes a question causal; the target quantity does.</a:t>
            </a:r>
          </a:p>
          <a:p>
            <a:r>
              <a:t>LINK: Q3 is the counterfactual language formalised in Hour 2 as Y(0) for the treated units.</a:t>
            </a:r>
          </a:p>
        </p:txBody>
      </p:sp>
      <p:sp>
        <p:nvSpPr>
          <p:cNvPr id="457" name="Google Shape;457;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1 Hour 2 divider</a:t>
            </a:r>
          </a:p>
          <a:p>
            <a:r>
              <a:t>One minute only. Say that everything so far has been intuition and the next hour turns it into arithmetic. Frame the Neyman-Rubin model as the move that converts philosophical arguments about causation into a missing-data problem with a specific missing column, which is what allows the rest of the course to be taught as a sequence of methods rather than a debate.</a:t>
            </a:r>
          </a:p>
          <a:p>
            <a:r>
              <a:t>ASK: Nothing new here. Take one leftover question from Hour 1 instead, answer it briefly, and move.</a:t>
            </a:r>
          </a:p>
          <a:p>
            <a:r>
              <a:t>WATCH FOR: Letting the divider run long. The worked example and the bias decomposition both need their full five minutes later in this hour.</a:t>
            </a:r>
          </a:p>
          <a:p>
            <a:r>
              <a:t>LINK: The estimands introduced here are used every day for the rest of the week.</a:t>
            </a:r>
          </a:p>
        </p:txBody>
      </p:sp>
      <p:sp>
        <p:nvSpPr>
          <p:cNvPr id="482" name="Google Shape;482;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2, core notation</a:t>
            </a:r>
          </a:p>
          <a:p>
            <a:r>
              <a:t>The unit table is the mental image to install, so spend your time there rather than on the notation. Draw a spreadsheet with a Y(1) column and a Y(0) column, then physically cover one cell in each row. Reality hands you one cell per row and hides the other. Say that this reframing is the discipline's central trick: causal inference becomes missing-data imputation, and every method over the next three days is a different strategy for the hidden column.</a:t>
            </a:r>
          </a:p>
          <a:p>
            <a:r>
              <a:t>ASK: For the treated units, which column is missing? Y(0). Then ask who could plausibly stand in for it, because that is the entire design question in one line.</a:t>
            </a:r>
          </a:p>
          <a:p>
            <a:r>
              <a:t>WATCH FOR: Reading Y(1) as the treated group's outcome. Y(1) is defined for every unit, including those never treated, and that is the whole point of the notation.</a:t>
            </a:r>
          </a:p>
          <a:p>
            <a:r>
              <a:t>LINK: The two-worlds figure on the next slide makes the covered cell visual.</a:t>
            </a:r>
          </a:p>
        </p:txBody>
      </p:sp>
      <p:sp>
        <p:nvSpPr>
          <p:cNvPr id="493" name="Google Shape;493;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5" name="Google Shape;51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2, the impossibility and the pivot</a:t>
            </a:r>
          </a:p>
          <a:p>
            <a:r>
              <a:t>The pivot here is the switch of target, and present it as a concession rather than a triumph. We wanted individual effects, we cannot have them, so we settle for averages over populations or subgroups because those can be identified under a design. Say explicitly that this is why personalisation is hard: CATE estimation claws back as much of the individual level as the data supports and never reaches the individual effect.</a:t>
            </a:r>
          </a:p>
          <a:p>
            <a:r>
              <a:t>ASK: If we can never know any individual effect, how does a doctor decide for one patient? Through a conditional average over people like them, and the room should feel the compromise in that.</a:t>
            </a:r>
          </a:p>
          <a:p>
            <a:r>
              <a:t>WATCH FOR: The belief that a large enough dataset eventually reveals individual effects. It is a logical impossibility, not a sample-size problem.</a:t>
            </a:r>
          </a:p>
          <a:p>
            <a:r>
              <a:t>LINK: CATE appears on the estimands slide next and returns in Day 2 Hour 3.</a:t>
            </a:r>
          </a:p>
        </p:txBody>
      </p:sp>
      <p:sp>
        <p:nvSpPr>
          <p:cNvPr id="516" name="Google Shape;516;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1 Hour 2, the estimand family</a:t>
            </a:r>
          </a:p>
          <a:p>
            <a:r>
              <a:t>Five minutes, because this vocabulary is used for three more days. Anchor each estimand on a decision rather than a formula: ATE for whether to roll out to everyone, ATT for whether the programme helped those who took it, CATE for whom to target, ITT for what a rollout actually delivers once people ignore things. Make ITT concrete: only 62 percent of assigned Injaz users ever trigger the uploader, so the assigned-population number is necessarily smaller.</a:t>
            </a:r>
          </a:p>
          <a:p>
            <a:r>
              <a:t>ASK: A minister asks whether the training programme worked. Which estimand? ATT, because the question is about those who actually enrolled, not a hypothetical universal rollout.</a:t>
            </a:r>
          </a:p>
          <a:p>
            <a:r>
              <a:t>WATCH FOR: Choosing ATE by default because it sounds the most general. The policy-relevant quantity is usually ATT or ITT.</a:t>
            </a:r>
          </a:p>
          <a:p>
            <a:r>
              <a:t>LINK: Day 2 shows plus 2.2 points among triggered users diluting to plus 1.3 across all assigned users.</a:t>
            </a:r>
          </a:p>
        </p:txBody>
      </p:sp>
      <p:sp>
        <p:nvSpPr>
          <p:cNvPr id="538" name="Google Shape;538;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3" name="Google Shape;563;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1 Hour 2, worked arithmetic</a:t>
            </a:r>
          </a:p>
          <a:p>
            <a:r>
              <a:t>Do this arithmetic live on the board rather than reading it. Compute the oracle ATE of plus 4.17 days, then cover the counterfactual cells and compute 35 minus 23.7, giving plus 11.3. With six units that gap is not noise; it follows systematically from units one, three and five having higher Y(0) before anything happened. Say the ratio aloud: selection inflated the estimate 2.7 times, and no estimator on the observed cells can detect that.</a:t>
            </a:r>
          </a:p>
          <a:p>
            <a:r>
              <a:t>ASK: Which number on this slide could you never compute in real life? The oracle ATE, because it uses cells that do not exist outside a simulation.</a:t>
            </a:r>
          </a:p>
          <a:p>
            <a:r>
              <a:t>WATCH FOR: Participants trying to rescue the naive estimate by controlling for something. Nothing is measured here to control for, which is precisely the point.</a:t>
            </a:r>
          </a:p>
          <a:p>
            <a:r>
              <a:t>LINK: Lab 1 in Hour 5 is this example at N equal to 5,000, giving plus 5.0 true against plus 19.3 naive.</a:t>
            </a:r>
          </a:p>
        </p:txBody>
      </p:sp>
      <p:sp>
        <p:nvSpPr>
          <p:cNvPr id="564" name="Google Shape;564;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6" name="Google Shape;586;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1 Hour 2, the decomposition</a:t>
            </a:r>
          </a:p>
          <a:p>
            <a:r>
              <a:t>This is the most important algebra of Day 1, so write it out and read the braces aloud in words: the observed gap equals the real effect on the treated plus how different the groups already were. Stress that the bias term is a contrast of Y(0) between groups, a quantity about the world without treatment, which is why it leaves no trace in the data. Every design in the course argues that term is zero or bounds it.</a:t>
            </a:r>
          </a:p>
          <a:p>
            <a:r>
              <a:t>ASK: In the six-user example, what was the bias term numerically? About plus 7.1 days, the difference between the naive 11.3 and the true 4.17.</a:t>
            </a:r>
          </a:p>
          <a:p>
            <a:r>
              <a:t>WATCH FOR: Reading the braces as an error term that averages out. It is a systematic baseline difference and it does not shrink with sample size.</a:t>
            </a:r>
          </a:p>
          <a:p>
            <a:r>
              <a:t>LINK: The next figure gives the same decomposition for Injaz: plus 19.3 naive equals plus 5.0 effect plus roughly 14 points of selection.</a:t>
            </a:r>
          </a:p>
        </p:txBody>
      </p:sp>
      <p:sp>
        <p:nvSpPr>
          <p:cNvPr id="587" name="Google Shape;587;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8" name="Google Shape;608;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2, misreadings to kill early</a:t>
            </a:r>
          </a:p>
          <a:p>
            <a:r>
              <a:t>Take these one at a time and ask why each is wrong before explaining. The one causing most downstream damage is the third: an ATE of zero gets reported as no effect when positive and negative subgroup effects have simply cancelled, and that becomes a decision to withhold a feature from the people it helps. The fourth matters for the simulation-minded: potential outcomes are fixed attributes, and randomness enters only through which one we see.</a:t>
            </a:r>
          </a:p>
          <a:p>
            <a:r>
              <a:t>ASK: If the ATE is zero but the CATE for new users is plus 5 points, what is the right decision? Ship to new users only, and the aggregate test would never have told you.</a:t>
            </a:r>
          </a:p>
          <a:p>
            <a:r>
              <a:t>WATCH FOR: Confusing the within-unit contrast with a between-group difference. They coincide only when the groups are exchangeable, which is what randomisation buys you.</a:t>
            </a:r>
          </a:p>
          <a:p>
            <a:r>
              <a:t>LINK: Heterogeneous effects and CATE estimation are covered in Day 2 Hour 3.</a:t>
            </a:r>
          </a:p>
        </p:txBody>
      </p:sp>
      <p:sp>
        <p:nvSpPr>
          <p:cNvPr id="609" name="Google Shape;609;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6" name="Google Shape;62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1 Hour 2, knowledge check</a:t>
            </a:r>
          </a:p>
          <a:p>
            <a:r>
              <a:t>The answers are B, C and C. Q1 is ATT, because among firms that adopted is explicit conditioning on treatment status; ATE tempts because regulators talk as though the answer generalises to non-adopters. Q2 is CATE, since personalisation needs effects that vary with X, and ATE tempts because it is what people routinely compute. Q3 is ITT, the effect of assignment rather than uptake, with LATE as the strong distractor.</a:t>
            </a:r>
          </a:p>
          <a:p>
            <a:r>
              <a:t>ASK: For Q1, what would change if the regulator instead asked what would happen if all firms adopted? It becomes ATE, and the two answers can differ substantially.</a:t>
            </a:r>
          </a:p>
          <a:p>
            <a:r>
              <a:t>WATCH FOR: Q3 answered as ATT. ATT conditions on actually receiving treatment, which in a compliance setting is a self-selected subgroup rather than the assigned one.</a:t>
            </a:r>
          </a:p>
          <a:p>
            <a:r>
              <a:t>LINK: LATE and compliance return in the Day 3 instrumental-variables session, where the true LATE is plus 8.0 points.</a:t>
            </a:r>
          </a:p>
        </p:txBody>
      </p:sp>
      <p:sp>
        <p:nvSpPr>
          <p:cNvPr id="627" name="Google Shape;627;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0" name="Google Shape;650;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1 Hour 3 divider</a:t>
            </a:r>
          </a:p>
          <a:p>
            <a:r>
              <a:t>One minute. Frame the hour as the answer to a question the room should already feel: we have named quantities we cannot observe, so under what conditions can observed data recover them. Say that the four assumptions coming next are not technicalities to nod through. They are where every methodological argument in these participants' professional lives actually takes place.</a:t>
            </a:r>
          </a:p>
          <a:p>
            <a:r>
              <a:t>ASK: Nothing here. Move straight into A1 to A4 to protect the time, since good controls and the knowledge check each need a full five minutes.</a:t>
            </a:r>
          </a:p>
          <a:p>
            <a:r>
              <a:t>WATCH FOR: Letting a divider absorb three minutes. This hour is the densest of Day 1.</a:t>
            </a:r>
          </a:p>
          <a:p>
            <a:r>
              <a:t>LINK: These four assumptions become the checklist for every method on Days 3 and 4.</a:t>
            </a:r>
          </a:p>
        </p:txBody>
      </p:sp>
      <p:sp>
        <p:nvSpPr>
          <p:cNvPr id="651" name="Google Shape;651;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1" name="Google Shape;661;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1 Hour 3, the assumption set</a:t>
            </a:r>
          </a:p>
          <a:p>
            <a:r>
              <a:t>Define identified first, as meaning the estimand can be written as a function of the observed-data distribution, because that line separates identification from estimation cleanly and most participants have never heard it stated. Then present A1 to A4 as a set that must hold jointly, and highlight the asymmetry that matters in practice: in a randomised experiment A2 holds by design and A3 by construction, so all the arguing is about A1 and A4. In observational work all four are contestable.</a:t>
            </a:r>
          </a:p>
          <a:p>
            <a:r>
              <a:t>ASK: Which of these four does randomisation not give you for free? SUTVA and consistency, which is why interference can ruin a perfectly randomised test.</a:t>
            </a:r>
          </a:p>
          <a:p>
            <a:r>
              <a:t>WATCH FOR: Treating identification as a statistical property to be tested. It is an assumption set, and no goodness-of-fit statistic speaks to it at all.</a:t>
            </a:r>
          </a:p>
          <a:p>
            <a:r>
              <a:t>LINK: SUTVA gets its own slide next; positivity diagnostics return in the Day 3 propensity-score lab.</a:t>
            </a:r>
          </a:p>
        </p:txBody>
      </p:sp>
      <p:sp>
        <p:nvSpPr>
          <p:cNvPr id="662" name="Google Shape;662;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7" name="Google Shape;687;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3, SUTVA in depth</a:t>
            </a:r>
          </a:p>
          <a:p>
            <a:r>
              <a:t>The two clauses fail in different ways and both are common. No interference dies in marketplaces, social products and anything with word of mouth, because treating one side changes the environment the control side experiences, so the control group stops measuring the untreated world. One version of treatment dies quietly whenever a feature ships inconsistently across platforms or regions and then gets analysed under a single label. Say that the marketplace warning is not hypothetical: user-level tests on two-sided platforms can be biased in a direction that flatters the treatment.</a:t>
            </a:r>
          </a:p>
          <a:p>
            <a:r>
              <a:t>ASK: Which of your products has interference you currently ignore? Anything with shared inventory, shared supply, queues or social features qualifies.</a:t>
            </a:r>
          </a:p>
          <a:p>
            <a:r>
              <a:t>WATCH FOR: Assuming randomisation fixes interference. Randomisation controls assignment, while interference is about outcomes depending on other units' assignment.</a:t>
            </a:r>
          </a:p>
          <a:p>
            <a:r>
              <a:t>LINK: The spillover and cannibalisation figure in Day 2 Hour 1 shows both failure shapes.</a:t>
            </a:r>
          </a:p>
        </p:txBody>
      </p:sp>
      <p:sp>
        <p:nvSpPr>
          <p:cNvPr id="688" name="Google Shape;688;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9" name="Google Shape;70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3, the load-bearing wall</a:t>
            </a:r>
          </a:p>
          <a:p>
            <a:r>
              <a:t>The line to land is that ignorability is a fact in a randomised trial and an assumption everywhere else, untestable in principle rather than merely hard to test. Push on why: a confounder you never measured leaves no signature in the data, so balance checks on measured covariates are reassurance, not evidence. That is why Day 4 spends an hour on sensitivity analysis, quantifying how wrong the assumption could be before the conclusion flips.</a:t>
            </a:r>
          </a:p>
          <a:p>
            <a:r>
              <a:t>ASK: For the Injaz training programme, what unmeasured driver of both enrolment and outcome worries you most? Motivation is the usual answer, and it is absent from every administrative dataset.</a:t>
            </a:r>
          </a:p>
          <a:p>
            <a:r>
              <a:t>WATCH FOR: Balance tables offered as proof of unconfoundedness. They demonstrate only that the covariates you happened to measure are balanced.</a:t>
            </a:r>
          </a:p>
          <a:p>
            <a:r>
              <a:t>LINK: Rosenbaum bounds on Day 4 give that training programme a gamma of about 1.2, meaning moderately fragile.</a:t>
            </a:r>
          </a:p>
        </p:txBody>
      </p:sp>
      <p:sp>
        <p:nvSpPr>
          <p:cNvPr id="710" name="Google Shape;710;p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8" name="Google Shape;728;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3, overlap</a:t>
            </a:r>
          </a:p>
          <a:p>
            <a:r>
              <a:t>Separate the two failure modes clearly, because the remedies differ. A structural violation means no data can ever fill that counterfactual, and the honest response is to redefine the estimand to a population where both arms exist. A practical violation is about propensity scores near zero or one producing enormous weights, where a handful of units end up dominating the estimate. Point at the diagnostic line: overlaid propensity distributions by arm are the first plot in any observational analysis, produced before any effect is computed.</a:t>
            </a:r>
          </a:p>
          <a:p>
            <a:r>
              <a:t>ASK: If under-18s are legally ineligible, what is the effect of treatment on under-18s? Undefined, and the correct move is to change the estimand rather than extrapolate into that region.</a:t>
            </a:r>
          </a:p>
          <a:p>
            <a:r>
              <a:t>WATCH FOR: Trimming presented as harmless data cleaning. Trimming changes the population the estimate refers to, and that change must be reported.</a:t>
            </a:r>
          </a:p>
          <a:p>
            <a:r>
              <a:t>LINK: The Day 3 matching lab plots these distributions and trims to common support.</a:t>
            </a:r>
          </a:p>
        </p:txBody>
      </p:sp>
      <p:sp>
        <p:nvSpPr>
          <p:cNvPr id="729" name="Google Shape;729;p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1" name="Google Shape;751;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1 Hour 3, the control-selection rules</a:t>
            </a:r>
          </a:p>
          <a:p>
            <a:r>
              <a:t>This is the highest-value five minutes of the hour, because it contradicts a habit almost everyone has. Adding controls is not neutral: a confounder removes bias, a mediator removes part of the effect you wanted, and a collider creates bias where none existed. The practical rule is the last box, keep the adjustment set strictly pre-treatment, and in a production feature store it takes real work to know when each variable was computed.</a:t>
            </a:r>
          </a:p>
          <a:p>
            <a:r>
              <a:t>ASK: For the uploader question, should support_calls be a control? No. Support calls happen after the feature and sit on the causal path, so adjusting erases part of the effect.</a:t>
            </a:r>
          </a:p>
          <a:p>
            <a:r>
              <a:t>WATCH FOR: The kitchen-sink instinct of throwing everything in and letting regularisation sort it out. Regularisation selects on fit, and collider bias is invisible to fit.</a:t>
            </a:r>
          </a:p>
          <a:p>
            <a:r>
              <a:t>LINK: The Day 3 DAG lab gives the minimal adjustment set here as digital_literacy and device_age only.</a:t>
            </a:r>
          </a:p>
        </p:txBody>
      </p:sp>
      <p:sp>
        <p:nvSpPr>
          <p:cNvPr id="752" name="Google Shape;752;p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3" name="Google Shape;773;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3, the bridge to estimation</a:t>
            </a:r>
          </a:p>
          <a:p>
            <a:r>
              <a:t>The point is that identification comes first and then two different estimators become available for the same target. The g-formula models the outcome, IPW models the treatment, and under A1 to A4 both are consistent for the same ATE. That means a disagreement between them is diagnostic information about model misspecification rather than a coin flip. Preview doubly-robust honestly: it protects you against getting one of the two working models wrong, and never against an unmeasured confounder.</a:t>
            </a:r>
          </a:p>
          <a:p>
            <a:r>
              <a:t>ASK: If your g-formula and IPW estimates differ by a factor of two, what have you learned? That at least one working model is wrong, and it is worth investigating before reporting either.</a:t>
            </a:r>
          </a:p>
          <a:p>
            <a:r>
              <a:t>WATCH FOR: Hearing doubly robust as twice as safe against confounding. It is robustness to model form only, and the identification assumptions are untouched.</a:t>
            </a:r>
          </a:p>
          <a:p>
            <a:r>
              <a:t>LINK: Both estimators and the doubly-robust combination are implemented in the Day 3 lab.</a:t>
            </a:r>
          </a:p>
        </p:txBody>
      </p:sp>
      <p:sp>
        <p:nvSpPr>
          <p:cNvPr id="774" name="Google Shape;774;p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1" name="Google Shape;791;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1 Hour 3, knowledge check</a:t>
            </a:r>
          </a:p>
          <a:p>
            <a:r>
              <a:t>The answers are A, B and A. Q1 is SUTVA, since treated users recruiting control users means one unit's assignment changes another unit's outcome; ignorability tempts people because the referral feels like confounding, but assignment itself was still random. Q2 is positivity and specifically a structural violation, because the over-65 group has propensity exactly zero. Q3 is ignorability and it is untestable, and that second half is the part participants drop.</a:t>
            </a:r>
          </a:p>
          <a:p>
            <a:r>
              <a:t>ASK: In Q2, what is the right fix? Redefine the estimand to the eligible population rather than extrapolating to a group that could never have received treatment.</a:t>
            </a:r>
          </a:p>
          <a:p>
            <a:r>
              <a:t>WATCH FOR: Q1 answered as ignorability. Ask what was randomised: assignment was fine, and it is the outcome that depends on other units' assignment.</a:t>
            </a:r>
          </a:p>
          <a:p>
            <a:r>
              <a:t>LINK: Cluster randomisation on Day 2 is the standard design response to the situation in Q1.</a:t>
            </a:r>
          </a:p>
        </p:txBody>
      </p:sp>
      <p:sp>
        <p:nvSpPr>
          <p:cNvPr id="792" name="Google Shape;792;p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5" name="Google Shape;815;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1 Hour 4 divider</a:t>
            </a:r>
          </a:p>
          <a:p>
            <a:r>
              <a:t>One minute. Frame this hour as the payoff for Hour 3. Randomisation is the single design that makes the load-bearing assumption true by construction rather than by argument, and understanding exactly why is what lets you judge how far the quasi-experimental methods on Day 3 fall short of it.</a:t>
            </a:r>
          </a:p>
          <a:p>
            <a:r>
              <a:t>ASK: Nothing here. Move on and protect the time, since Fisher and the knowledge check both need five minutes.</a:t>
            </a:r>
          </a:p>
          <a:p>
            <a:r>
              <a:t>WATCH FOR: Nothing specific; simply keep the divider short so the hour does not overrun into the lab.</a:t>
            </a:r>
          </a:p>
          <a:p>
            <a:r>
              <a:t>LINK: The ladder of evidence figure at the end of this hour sets up Days 3 and 4.</a:t>
            </a:r>
          </a:p>
        </p:txBody>
      </p:sp>
      <p:sp>
        <p:nvSpPr>
          <p:cNvPr id="816" name="Google Shape;816;p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6" name="Google Shape;826;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4, what randomisation guarantees</a:t>
            </a:r>
          </a:p>
          <a:p>
            <a:r>
              <a:t>Three benefits, and they are not independent, because ignorability without covariates is exactly what makes the naive difference in means unbiased for the ATE. The line to dwell on is balance of unmeasured covariates. Randomisation balances confounders nobody has thought of, which is a guarantee no observational method can offer at any sample size. Say that this is why a well-run experiment on 5,000 users beats an observational study on five million rows.</a:t>
            </a:r>
          </a:p>
          <a:p>
            <a:r>
              <a:t>ASK: What does randomisation not protect you from? Interference, non-compliance, bad measurement and peeking, all of which Day 2 is devoted to.</a:t>
            </a:r>
          </a:p>
          <a:p>
            <a:r>
              <a:t>WATCH FOR: The impression that random assignment makes the analysis trivial. Assignment is one line of code; the design decisions around it fill all of tomorrow.</a:t>
            </a:r>
          </a:p>
          <a:p>
            <a:r>
              <a:t>LINK: Lab 1 shows the naive plus 19.3 becoming plus 5.0 once assignment is randomised.</a:t>
            </a:r>
          </a:p>
        </p:txBody>
      </p:sp>
      <p:sp>
        <p:nvSpPr>
          <p:cNvPr id="827" name="Google Shape;827;p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9" name="Google Shape;849;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4, expectation versus realisation</a:t>
            </a:r>
          </a:p>
          <a:p>
            <a:r>
              <a:t>The subtlety here has operational consequences. Randomisation guarantees balance across hypothetical repetitions, not within the single draw you ran, so a covariate can differ noticeably with nothing having gone wrong. The rule at the bottom is violated regularly: never drop units to force balance after seeing assignment, because that conditions on realised assignment and destroys what you paid for. Block in advance, or adjust with pre-treatment covariates.</a:t>
            </a:r>
          </a:p>
          <a:p>
            <a:r>
              <a:t>ASK: Your randomised test shows treatment three years older on average. What do you do? Adjust for age as a pre-treatment covariate, or accept it, but never re-randomise after seeing outcomes.</a:t>
            </a:r>
          </a:p>
          <a:p>
            <a:r>
              <a:t>WATCH FOR: Balance-test p-values used as a pass-fail gate. Under a valid randomisation, one covariate in twenty fails at the 5 percent level by construction.</a:t>
            </a:r>
          </a:p>
          <a:p>
            <a:r>
              <a:t>LINK: Blocking and stratification are Day 2 Hour 1; covariate adjustment and CUPED are Day 2 Hour 3.</a:t>
            </a:r>
          </a:p>
        </p:txBody>
      </p:sp>
      <p:sp>
        <p:nvSpPr>
          <p:cNvPr id="850" name="Google Shape;850;p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1" name="Google Shape;871;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4, where the randomness lives</a:t>
            </a:r>
          </a:p>
          <a:p>
            <a:r>
              <a:t>This slide answers a question most practitioners have never been asked: where does the randomness in your standard error come from. In design-based inference the potential outcomes are fixed and only assignment is random, so there is no outcome model, no super-population and no distributional assumption. Model-based inference treats units as a sample from a population. The two can give genuinely different standard errors, and design-based is our default because it assumes least.</a:t>
            </a:r>
          </a:p>
          <a:p>
            <a:r>
              <a:t>ASK: If you ran the experiment on your entire user base, what is the sampling frame for a model-based standard error? There is no obvious one, which is when design-based reasoning is cleaner.</a:t>
            </a:r>
          </a:p>
          <a:p>
            <a:r>
              <a:t>WATCH FOR: Assuming the standard error printed by a regression package is design-based. Default OLS standard errors are model-based and assume homoscedasticity.</a:t>
            </a:r>
          </a:p>
          <a:p>
            <a:r>
              <a:t>LINK: Day 2 Hour 2 implements both; Day 4 adds robust, clustered and bootstrap alternatives.</a:t>
            </a:r>
          </a:p>
        </p:txBody>
      </p:sp>
      <p:sp>
        <p:nvSpPr>
          <p:cNvPr id="872" name="Google Shape;872;p4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3" name="Google Shape;893;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1 Hour 4, randomisation inference</a:t>
            </a:r>
          </a:p>
          <a:p>
            <a:r>
              <a:t>Build the mechanism slowly, because most participants have met it only as a black-box permutation test. Under the sharp null every unit's two potential outcomes are equal, so the missing column is filled in by assumption, so the statistic can be recomputed under every assignment the randomisation could have produced. The p-value is a counting exercise over that set. Emphasise exact: no central limit theorem, no normality, valid at any sample size.</a:t>
            </a:r>
          </a:p>
          <a:p>
            <a:r>
              <a:t>ASK: Why must the null be sharp rather than an average null? Because only zero effect for every unit lets you impute the missing potential outcome for every unit.</a:t>
            </a:r>
          </a:p>
          <a:p>
            <a:r>
              <a:t>WATCH FOR: Confusing this with the bootstrap. Permuting treatment labels reuses the actual assignment mechanism, while the bootstrap resamples units from the data.</a:t>
            </a:r>
          </a:p>
          <a:p>
            <a:r>
              <a:t>LINK: Lab 1 step six asks for a randomisation-inference p-value from 1,000 label permutations.</a:t>
            </a:r>
          </a:p>
        </p:txBody>
      </p:sp>
      <p:sp>
        <p:nvSpPr>
          <p:cNvPr id="894" name="Google Shape;894;p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6" name="Google Shape;916;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4, Neyman's estimator</a:t>
            </a:r>
          </a:p>
          <a:p>
            <a:r>
              <a:t>Position Neyman against Fisher rather than merely after him: Fisher tests whether there is any effect at all, Neyman estimates the average effect and its sampling variance. The technical point worth making is why the classic variance is conservative. The covariance between Y(1) and Y(0) is never identified, because the two are never observed together, so the formula substitutes a worst case. Practically your intervals come out slightly too wide, which is the acceptable direction in which to be wrong.</a:t>
            </a:r>
          </a:p>
          <a:p>
            <a:r>
              <a:t>ASK: Is a conservative variance a problem? Only if you are marginally underpowered, since it costs you some true positives and never produces false ones.</a:t>
            </a:r>
          </a:p>
          <a:p>
            <a:r>
              <a:t>WATCH FOR: The expectation that Fisher and Neyman must agree. They test different nulls, and disagreement is informative when effects are heterogeneous.</a:t>
            </a:r>
          </a:p>
          <a:p>
            <a:r>
              <a:t>LINK: Day 2 Hour 2 runs both on the 80,000-user Injaz experiment data.</a:t>
            </a:r>
          </a:p>
        </p:txBody>
      </p:sp>
      <p:sp>
        <p:nvSpPr>
          <p:cNvPr id="917" name="Google Shape;917;p4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5" name="Google Shape;935;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1 Hour 4, the motivation for Days 3 and 4</a:t>
            </a:r>
          </a:p>
          <a:p>
            <a:r>
              <a:t>Three minutes, framed as motivation rather than content. The four constraints are real and worth grounding: you cannot randomise a harmful exposure, you cannot randomise a national policy at unit level, and you cannot re-run a rollout that already happened. Then make the pivot that carries the second half of the course. Quasi-experiments do not escape the need for randomness; they hunt for variation that is plausibly as good as random and argue for it.</a:t>
            </a:r>
          </a:p>
          <a:p>
            <a:r>
              <a:t>ASK: Which of these four constraints blocks the experiment you most want to run? Cost and history are the usual answers in government analytics.</a:t>
            </a:r>
          </a:p>
          <a:p>
            <a:r>
              <a:t>WATCH FOR: Treating observational work as second class. A well-argued natural experiment beats a badly run randomised test with 40 percent attrition.</a:t>
            </a:r>
          </a:p>
          <a:p>
            <a:r>
              <a:t>LINK: The regional reminder rollout on Day 3 is exactly this: 13 regions activating in periods 10, 13, 16 and 19.</a:t>
            </a:r>
          </a:p>
        </p:txBody>
      </p:sp>
      <p:sp>
        <p:nvSpPr>
          <p:cNvPr id="936" name="Google Shape;936;p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5" name="Google Shape;955;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1 Hour 4, knowledge check</a:t>
            </a:r>
          </a:p>
          <a:p>
            <a:r>
              <a:t>The answers are B, C and B. Q1 is in expectation across repetitions; option A tempts anyone who has heard randomisation described as guaranteeing balance, and option C tempts people conflating balance with large-sample consistency. Q2 is the assignment mechanism, and the entire point of Fisher's test is that it needs neither normality nor the central limit theorem, so both distributional distractors are worth discussing. Q3 is every unit, and the average distractor is the single most common misreading in the deck.</a:t>
            </a:r>
          </a:p>
          <a:p>
            <a:r>
              <a:t>ASK: Why does the Q3 distinction matter in practice? Because rejecting the sharp null tells you somebody was affected, not that the average effect is non-zero.</a:t>
            </a:r>
          </a:p>
          <a:p>
            <a:r>
              <a:t>WATCH FOR: Q1 answered as only if n is large. Unbiasedness holds at any sample size; it is precision that improves as n grows.</a:t>
            </a:r>
          </a:p>
          <a:p>
            <a:r>
              <a:t>LINK: Both tests are implemented in Lab 1 this hour and again in Day 2 Hour 2.</a:t>
            </a:r>
          </a:p>
        </p:txBody>
      </p:sp>
      <p:sp>
        <p:nvSpPr>
          <p:cNvPr id="956" name="Google Shape;956;p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9" name="Google Shape;979;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1 Hour 5 divider</a:t>
            </a:r>
          </a:p>
          <a:p>
            <a:r>
              <a:t>One minute. Set the frame for the lab: participants build a world in which they own the full potential-outcomes table, so for once the truth is knowable and every estimator can be scored against it. That is the only setting in which you can see bias directly rather than infer its existence from an argument.</a:t>
            </a:r>
          </a:p>
          <a:p>
            <a:r>
              <a:t>ASK: Nothing here. Use the minute for logistics: environment check, notebook location, and pairing anyone who is still struggling to run code.</a:t>
            </a:r>
          </a:p>
          <a:p>
            <a:r>
              <a:t>WATCH FOR: Environment problems eating lab time. Anyone without a working notebook should already have been paired at the break.</a:t>
            </a:r>
          </a:p>
          <a:p>
            <a:r>
              <a:t>LINK: Lab 1 is the guided-uploader simulator: true ATE plus 5.0 points, naive plus 19.3 points.</a:t>
            </a:r>
          </a:p>
        </p:txBody>
      </p:sp>
      <p:sp>
        <p:nvSpPr>
          <p:cNvPr id="980" name="Google Shape;980;p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0" name="Google Shape;990;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1 Hour 5, lab brief</a:t>
            </a:r>
          </a:p>
          <a:p>
            <a:r>
              <a:t>Brief the objective and the deliverable, then let them work; walking all six steps will consume the hour. Flag the two sticking points. Step three needs the selection probability to depend on the same X that drives Y(0), or nothing is confounded and the lab has no lesson. Step six must permute treatment labels only, holding outcomes fixed. The three numbers to write down are true ATE, naive estimate and randomised estimate.</a:t>
            </a:r>
          </a:p>
          <a:p>
            <a:r>
              <a:t>ASK: Before you run it, predict the sign and rough size of the naive bias. Predicting first is what makes the resulting 14 point gap memorable rather than merely observed.</a:t>
            </a:r>
          </a:p>
          <a:p>
            <a:r>
              <a:t>WATCH FOR: Participants regenerating outcomes after re-randomising, which quietly destroys the comparison. The potential outcomes are fixed; only T is allowed to change.</a:t>
            </a:r>
          </a:p>
          <a:p>
            <a:r>
              <a:t>LINK: Expected results are plus 5.0 true, plus 19.3 naive and plus 5.0 randomised, debriefed on the next slide.</a:t>
            </a:r>
          </a:p>
        </p:txBody>
      </p:sp>
      <p:sp>
        <p:nvSpPr>
          <p:cNvPr id="991" name="Google Shape;991;p4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3" name="Google Shape;1023;p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Hour 5, lab debrief</a:t>
            </a:r>
          </a:p>
          <a:p>
            <a:r>
              <a:t>Collect numbers from three tables before you show anything. The randomised estimates will scatter around plus 5.0 while the naive ones cluster tightly near plus 19.3, and the room seeing that pattern in their own results is worth more than your summary of it. The key observation is the asymmetry: the randomised estimate is noisy but centred, and the naive estimate is precise and wrong. Then move to the balance plot and name it as the diagnostic they will use for the rest of the week.</a:t>
            </a:r>
          </a:p>
          <a:p>
            <a:r>
              <a:t>ASK: Whose naive estimate came closest to plus 5.0? Almost certainly nobody, and that is the point, because the errors do not vary around the truth.</a:t>
            </a:r>
          </a:p>
          <a:p>
            <a:r>
              <a:t>WATCH FOR: Relief that someone's randomised estimate was not exactly 5.0. Unbiased means centred over repetitions, not correct in any single draw.</a:t>
            </a:r>
          </a:p>
          <a:p>
            <a:r>
              <a:t>LINK: The next figure runs this same simulation at every sample size from 100 to 20,000.</a:t>
            </a:r>
          </a:p>
        </p:txBody>
      </p:sp>
      <p:sp>
        <p:nvSpPr>
          <p:cNvPr id="1024" name="Google Shape;1024;p4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2" name="Google Shape;1042;p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10 min - Day 1 Hour 5, paired discussion</a:t>
            </a:r>
          </a:p>
          <a:p>
            <a:r>
              <a:t>Ten minutes in pairs, then surface three examples to the room. Give the four prompts in order and insist on the estimand step, because that is where vagueness shows: most real questions arrive as does X work and have to be pushed into whose effect, of what, on whom, on which outcome. When you surface examples, deliberately pick one that could be randomised and one that clearly cannot, so the room sees both branches of the week ahead.</a:t>
            </a:r>
          </a:p>
          <a:p>
            <a:r>
              <a:t>ASK: For your question, could you randomise? If not, what natural variation exists: a staggered rollout, an eligibility cutoff, or a distance constraint? Those three are DiD, RDD and IV in disguise.</a:t>
            </a:r>
          </a:p>
          <a:p>
            <a:r>
              <a:t>WATCH FOR: Pairs choosing a comfortable question whose answer they already know. Push them toward the contested one their organisation is currently arguing about.</a:t>
            </a:r>
          </a:p>
          <a:p>
            <a:r>
              <a:t>LINK: Questions raised here should be recycled as capstone candidates on Day 4.</a:t>
            </a:r>
          </a:p>
        </p:txBody>
      </p:sp>
      <p:sp>
        <p:nvSpPr>
          <p:cNvPr id="1043" name="Google Shape;1043;p4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0" name="Google Shape;1060;p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1 wrap</a:t>
            </a:r>
          </a:p>
          <a:p>
            <a:r>
              <a:t>Close on the four ideas, but get the room to supply them rather than reading them out. Test identification first hardest: ask what the order of the five workflow steps was and why estimation only comes third. Then give the honest bridge to tomorrow. Today was the only setting in which the assumptions can be made true by design, and from Day 3 onward every method is an argument for approximating what randomisation hands you for free.</a:t>
            </a:r>
          </a:p>
          <a:p>
            <a:r>
              <a:t>ASK: In one sentence, why did the naive estimate fail in Lab 1? Because treated and control units differed in Y(0) before any treatment, which is the Hour 2 decomposition.</a:t>
            </a:r>
          </a:p>
          <a:p>
            <a:r>
              <a:t>WATCH FOR: People leaving with methods anxiety because they learned no techniques. Name it directly: today was language and design, and it is what makes tomorrow's techniques arguable.</a:t>
            </a:r>
          </a:p>
          <a:p>
            <a:r>
              <a:t>LINK: Day 2 opens with design of experiments and ends with a full production A/B analysis in Lab 2.</a:t>
            </a:r>
          </a:p>
        </p:txBody>
      </p:sp>
      <p:sp>
        <p:nvSpPr>
          <p:cNvPr id="1061" name="Google Shape;1061;p4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5" name="Google Shape;1085;p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2 divider</a:t>
            </a:r>
          </a:p>
          <a:p>
            <a:r>
              <a:t>One minute. Frame the day as moving from why randomisation works to how to run one without ruining it. Warn the room that most of today concerns the ways a technically valid randomisation still produces a wrong answer: the wrong unit of assignment, peeking at interim results, dilution by users who never trigger the feature, and interference between units. Every one of those failures survives a perfectly clean p-value.</a:t>
            </a:r>
          </a:p>
          <a:p>
            <a:r>
              <a:t>ASK: Nothing here. Go straight to the overview slide, because Hour 1 is dense and includes three figures.</a:t>
            </a:r>
          </a:p>
          <a:p>
            <a:r>
              <a:t>WATCH FOR: Letting this run long. Hour 1 has eleven slides to get through before the first break.</a:t>
            </a:r>
          </a:p>
          <a:p>
            <a:r>
              <a:t>LINK: Lab 2 in Hour 5 uses injaz_experiment_results.csv with 80,000 users.</a:t>
            </a:r>
          </a:p>
        </p:txBody>
      </p:sp>
      <p:sp>
        <p:nvSpPr>
          <p:cNvPr id="1086" name="Google Shape;1086;p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6" name="Google Shape;1096;p5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2 overview</a:t>
            </a:r>
          </a:p>
          <a:p>
            <a:r>
              <a:t>Give the arc rather than the list. Hours 1 and 2 are design and valid inference, Hour 3 is how to get more precision from the same sample, and Hour 4 is the catalogue of ways production experiments go wrong. Preview two numbers so the room knows it becomes concrete: CUPED buys a 13.5 percent variance reduction on the course data at a pre-post correlation of 0.37, and peeking twenty times turns a 5 percent false-positive rate into 25 percent.</a:t>
            </a:r>
          </a:p>
          <a:p>
            <a:r>
              <a:t>ASK: Which of these five hours matches a problem you have right now? Use the answer to decide where to slow down and where to move briskly.</a:t>
            </a:r>
          </a:p>
          <a:p>
            <a:r>
              <a:t>WATCH FOR: Experienced A/B practitioners assuming Hour 1 is revision. The randomisation-unit material catches out most production teams.</a:t>
            </a:r>
          </a:p>
          <a:p>
            <a:r>
              <a:t>LINK: Lab 2 in Hour 5 pulls all five hours together on the 80,000-user Injaz experiment.</a:t>
            </a:r>
          </a:p>
        </p:txBody>
      </p:sp>
      <p:sp>
        <p:nvSpPr>
          <p:cNvPr id="1097" name="Google Shape;1097;p5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p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0" name="Google Shape;1120;p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2 Hour 1, design vocabulary</a:t>
            </a:r>
          </a:p>
          <a:p>
            <a:r>
              <a:t>The vocabulary here decides what an estimate means, so treat it as design rather than admin. Emphasise that the unit of randomisation must match both where interference stops and the level at which the decision will actually be made, and that adding arms is not free because power splits and comparisons multiply. Guardrail metrics deserve a moment of their own: a feature that lifts completions while degrading latency or raising complaints is not a win, and guardrails must be pre-specified or they become post-hoc excuses.</a:t>
            </a:r>
          </a:p>
          <a:p>
            <a:r>
              <a:t>ASK: Name a guardrail metric for the Injaz guided uploader. Support-call volume and time-to-complete are the good answers, since both catch a feature that shifts effort onto users.</a:t>
            </a:r>
          </a:p>
          <a:p>
            <a:r>
              <a:t>WATCH FOR: Multiple primary metrics. If everything is primary, the experiment has an unmanaged multiple-comparison problem before a single user is enrolled.</a:t>
            </a:r>
          </a:p>
          <a:p>
            <a:r>
              <a:t>LINK: The Injaz design figure on the next slide makes all six of these decisions concrete.</a:t>
            </a:r>
          </a:p>
        </p:txBody>
      </p:sp>
      <p:sp>
        <p:nvSpPr>
          <p:cNvPr id="1121" name="Google Shape;1121;p5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5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2" name="Google Shape;1142;p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2 Hour 1, the scheme menu</a:t>
            </a:r>
          </a:p>
          <a:p>
            <a:r>
              <a:t>Present these as a decision with trade-offs rather than four equal options. Complete randomisation is the default and is fine at large n. Blocking is nearly free precision whenever you have a strong pre-treatment predictor. Cluster randomisation is what you do when interference or delivery forces your hand, and it costs power. Factorial is what you use when you have more questions than traffic. The choice is driven by interference first, then variance, then operational reality, and in that order.</a:t>
            </a:r>
          </a:p>
          <a:p>
            <a:r>
              <a:t>ASK: You have 2,000 users and one covariate that predicts the outcome well. Which scheme? Block on it, because the variance win is largest exactly where chance imbalance is most likely.</a:t>
            </a:r>
          </a:p>
          <a:p>
            <a:r>
              <a:t>WATCH FOR: Choosing cluster randomisation because it is easier to implement. If interference does not require it, you are paying a power tax for nothing.</a:t>
            </a:r>
          </a:p>
          <a:p>
            <a:r>
              <a:t>LINK: Each of the next three slides takes one of these schemes in depth.</a:t>
            </a:r>
          </a:p>
        </p:txBody>
      </p:sp>
      <p:sp>
        <p:nvSpPr>
          <p:cNvPr id="1143" name="Google Shape;1143;p5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8" name="Google Shape;1168;p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2 Hour 1, blocking</a:t>
            </a:r>
          </a:p>
          <a:p>
            <a:r>
              <a:t>The idea worth teaching is that you can spend knowledge instead of sample size. Stratifying on a strong pre-treatment predictor removes chance imbalance before it can occur, and the variance reduction is roughly the share of outcome variance that predictor explains. The line people skip is the third: if you block in the design you must include stratum indicators in the analysis, or you paid for precision and then discarded it.</a:t>
            </a:r>
          </a:p>
          <a:p>
            <a:r>
              <a:t>ASK: What is the best blocking variable for an Injaz completion experiment? Prior-period completion, because past behaviour is almost always the strongest predictor of future behaviour.</a:t>
            </a:r>
          </a:p>
          <a:p>
            <a:r>
              <a:t>WATCH FOR: Blocking on a post-treatment variable or on the outcome itself. The blocking variable must be known before assignment, with no exceptions.</a:t>
            </a:r>
          </a:p>
          <a:p>
            <a:r>
              <a:t>LINK: CUPED in Hour 3 is the same idea applied in analysis rather than design, worth 13.5 percent variance reduction at rho equal to 0.37.</a:t>
            </a:r>
          </a:p>
        </p:txBody>
      </p:sp>
      <p:sp>
        <p:nvSpPr>
          <p:cNvPr id="1169" name="Google Shape;1169;p5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p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1" name="Google Shape;1191;p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2 Hour 1, the price of clusters</a:t>
            </a:r>
          </a:p>
          <a:p>
            <a:r>
              <a:t>Make the design effect concrete with numbers rather than with the formula alone. With clusters of 50 and an intra-cluster correlation of 0.05, the multiplier is 1 plus 49 times 0.05, roughly 3.5, so 10,000 users carry about the information of 2,900 independent ones. That is why the answer to an underpowered cluster trial is more clusters, not more people inside them. The common-mistake box is the real content: randomise by cluster, analyse by individual, and you will manufacture wins.</a:t>
            </a:r>
          </a:p>
          <a:p>
            <a:r>
              <a:t>ASK: You have 12 regions and 2 million users. What limits your power? The 12, and no amount of user volume inside those regions changes it.</a:t>
            </a:r>
          </a:p>
          <a:p>
            <a:r>
              <a:t>WATCH FOR: Treating a small intra-cluster correlation as negligible. Multiplied by a large cluster size, even 0.02 becomes a substantial penalty.</a:t>
            </a:r>
          </a:p>
          <a:p>
            <a:r>
              <a:t>LINK: The regional panel on Day 3 has exactly this shape, with 13 regions and only 4 never-treated.</a:t>
            </a:r>
          </a:p>
        </p:txBody>
      </p:sp>
      <p:sp>
        <p:nvSpPr>
          <p:cNvPr id="1192" name="Google Shape;1192;p5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p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3" name="Google Shape;1213;p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2 Hour 1, factorial designs</a:t>
            </a:r>
          </a:p>
          <a:p>
            <a:r>
              <a:t>The efficiency claim is what to defend. Main effects use the whole sample, so a two-by-two costs roughly what a single test costs while answering two questions. The catch is the interaction: if the new headline only works at the new price, main effects give an answer true on average and wrong in every cell. Interactions need far more sample, so if the interaction is the question, power for it rather than for main effects.</a:t>
            </a:r>
          </a:p>
          <a:p>
            <a:r>
              <a:t>ASK: When is a factorial design a bad idea? When you expect the treatments to interact strongly and cannot afford the sample needed to estimate that interaction.</a:t>
            </a:r>
          </a:p>
          <a:p>
            <a:r>
              <a:t>WATCH FOR: Assuming a two-by-two gives you two experiments free at full power. It gives two main effects cheaply; the interaction is expensive.</a:t>
            </a:r>
          </a:p>
          <a:p>
            <a:r>
              <a:t>LINK: The multiple-comparisons material in Hour 4 applies directly to the extra cells and arms.</a:t>
            </a:r>
          </a:p>
        </p:txBody>
      </p:sp>
      <p:sp>
        <p:nvSpPr>
          <p:cNvPr id="1214" name="Google Shape;1214;p5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p5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2" name="Google Shape;1232;p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2 Hour 1, unit of assignment versus unit of analysis</a:t>
            </a:r>
          </a:p>
          <a:p>
            <a:r>
              <a:t>This is where experienced practitioners get caught, so slow down. The rule is one sentence, never analyse finer than you assigned, and the reason is that repeated observations from one unit are not independent draws. Session-level randomisation looks attractive because it multiplies the sample, but the moment a user returns they are in both arms, contamination is guaranteed, and the estimate becomes a blend of treated and untreated experience. The contamination problem and the fake-precision problem are separate failures, and both apply.</a:t>
            </a:r>
          </a:p>
          <a:p>
            <a:r>
              <a:t>ASK: How would you detect contamination after the fact? Count the users appearing in both arms; on a returning-user product that number is large and almost never checked.</a:t>
            </a:r>
          </a:p>
          <a:p>
            <a:r>
              <a:t>WATCH FOR: The belief that clustered standard errors repair session-level randomisation. Clustering fixes the standard error, not the contaminated point estimate.</a:t>
            </a:r>
          </a:p>
          <a:p>
            <a:r>
              <a:t>LINK: The next figure gives the three-question procedure for choosing the unit.</a:t>
            </a:r>
          </a:p>
        </p:txBody>
      </p:sp>
      <p:sp>
        <p:nvSpPr>
          <p:cNvPr id="1233" name="Google Shape;1233;p5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p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0" name="Google Shape;1250;p5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2 Hour 1, knowledge check</a:t>
            </a:r>
          </a:p>
          <a:p>
            <a:r>
              <a:t>The answers are B, B and B. Q1 is cluster by city, because the treatment is delivered per city and neighbours hear about it; complete randomisation tempts anyone optimising for power and violates SUTVA outright. Q2 is stratify, since adding arms costs power, ignoring the covariate wastes free precision, and dropping imbalanced units is the dangerous distractor. Q3 is understate the standard error, which is why cluster-randomised tests analysed at individual level generate a steady stream of false wins.</a:t>
            </a:r>
          </a:p>
          <a:p>
            <a:r>
              <a:t>ASK: In Q3, is the point estimate also wrong? Usually not badly. The estimate is roughly fine and the uncertainty is fiction, which is what makes this error so hard to catch.</a:t>
            </a:r>
          </a:p>
          <a:p>
            <a:r>
              <a:t>WATCH FOR: Q2 answered as drop imbalanced units. It feels intuitive, it conditions on the realised assignment, and it destroys the property randomisation bought you.</a:t>
            </a:r>
          </a:p>
          <a:p>
            <a:r>
              <a:t>LINK: The Day 4 clustering example quantifies Q3 at 1.6 times wider standard errors.</a:t>
            </a:r>
          </a:p>
        </p:txBody>
      </p:sp>
      <p:sp>
        <p:nvSpPr>
          <p:cNvPr id="1251" name="Google Shape;1251;p5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4" name="Google Shape;1274;p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opens Day 2 Hour 2.</a:t>
            </a:r>
          </a:p>
          <a:p>
            <a:r>
              <a:t>Frame the transition rather than reading the subtitle. Hour 1 gave them a design; this hour turns a design into a number with an honest interval, and the argument throughout is that the design, not a distributional assumption, licenses the inference. They will meet two traditions answering different questions, and the practical payoff is knowing which standard error to write in a report.</a:t>
            </a:r>
          </a:p>
          <a:p>
            <a:r>
              <a:t>ASK: Where does the randomness in a p-value come from here? Steer to: the assignment mechanism we controlled, not sampling from a population.</a:t>
            </a:r>
          </a:p>
          <a:p>
            <a:r>
              <a:t>WATCH FOR: participants who assume a t-test is the default and everything else exotic; in design-based thinking it is the reverse.</a:t>
            </a:r>
          </a:p>
          <a:p>
            <a:r>
              <a:t>LINK: Lab 2 uses these standard errors on the Injaz A/B data.</a:t>
            </a:r>
          </a:p>
        </p:txBody>
      </p:sp>
      <p:sp>
        <p:nvSpPr>
          <p:cNvPr id="1275" name="Google Shape;1275;p5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6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5" name="Google Shape;1285;p6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first content slide of the inference hour.</a:t>
            </a:r>
          </a:p>
          <a:p>
            <a:r>
              <a:t>The point to land is that permutation is not a fallback for small samples, it is the inference that matches the design exactly. Say plainly that if you permute freely when you assigned within blocks, you are testing a design you did not run and your p-value is wrong. Note that inverting the test over candidate effects yields a confidence interval, so this is not testing only.</a:t>
            </a:r>
          </a:p>
          <a:p>
            <a:r>
              <a:t>ASK: We blocked by region. What exactly do we shuffle? Steer to: labels within each region, never across regions.</a:t>
            </a:r>
          </a:p>
          <a:p>
            <a:r>
              <a:t>WATCH FOR: the claim that permutation needs normality; it needs nothing but random assignment.</a:t>
            </a:r>
          </a:p>
          <a:p>
            <a:r>
              <a:t>LINK: revisits the Day 1 permutation demonstration; returns in the Lab 3 design check.</a:t>
            </a:r>
          </a:p>
        </p:txBody>
      </p:sp>
      <p:sp>
        <p:nvSpPr>
          <p:cNvPr id="1286" name="Google Shape;1286;p6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6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8" name="Google Shape;1308;p6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pairs directly with the previous slide.</a:t>
            </a:r>
          </a:p>
          <a:p>
            <a:r>
              <a:t>Neyman derives the variance from the assignment mechanism, so nothing assumes normal outcomes or equal arm variances. Name the conservative part: the covariance of the two potential outcomes is unidentifiable, so the interval is slightly wide, and that direction is the safe one. The HC2 equivalence is the useful line, because a regression of Y on T with HC2 errors is not a shortcut but the same estimator, which is how they will compute it in the labs.</a:t>
            </a:r>
          </a:p>
          <a:p>
            <a:r>
              <a:t>ASK: Why can we never estimate the variance of the individual treatment effect? Steer to: we never observe both potential outcomes for the same user.</a:t>
            </a:r>
          </a:p>
          <a:p>
            <a:r>
              <a:t>WATCH FOR: default OLS standard errors, then puzzlement at intervals that look too narrow when arm variances differ.</a:t>
            </a:r>
          </a:p>
          <a:p>
            <a:r>
              <a:t>LINK: the regression-as-estimator slide in Hour 3.</a:t>
            </a:r>
          </a:p>
        </p:txBody>
      </p:sp>
      <p:sp>
        <p:nvSpPr>
          <p:cNvPr id="1309" name="Google Shape;1309;p6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p6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7" name="Google Shape;1327;p6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comparison slide; do not read the columns.</a:t>
            </a:r>
          </a:p>
          <a:p>
            <a:r>
              <a:t>Make the difference concrete through the nulls. Fisher's sharp null says no user was affected at all; Neyman's says the average effect is zero, a weaker claim that permits effects which cancel. Rejecting Fisher tells you something happened somewhere; rejecting Neyman tells you the average moved and hands you an interval a product owner can act on. Neyman dominates in production, but Fisher is the honest choice for a forty-unit pilot.</a:t>
            </a:r>
          </a:p>
          <a:p>
            <a:r>
              <a:t>ASK: A treatment helps half the users and harms the other half equally. Which null is false? Steer to: Fisher's sharp null is false, Neyman's average null is true.</a:t>
            </a:r>
          </a:p>
          <a:p>
            <a:r>
              <a:t>WATCH FOR: treating these as rival schools rather than answers to two different questions.</a:t>
            </a:r>
          </a:p>
          <a:p>
            <a:r>
              <a:t>LINK: the Lab 2 Injaz analysis reports the Neyman estimate.</a:t>
            </a:r>
          </a:p>
        </p:txBody>
      </p:sp>
      <p:sp>
        <p:nvSpPr>
          <p:cNvPr id="1328" name="Google Shape;1328;p6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p6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0" name="Google Shape;1360;p6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the report-writing slide of this hour.</a:t>
            </a:r>
          </a:p>
          <a:p>
            <a:r>
              <a:t>Insist that a result is never a p-value alone: estimate in real units, interval, and the assumptions behind both travel together. Use the course numbers so it bites. A plus 2.2 pp lift on the guided uploader means little until you say 2.2 pp on a 55 percent baseline, roughly four percent relative, applying to triggered users only. The assumptions ledger always gets dropped, yet naming the randomization unit and the standard-error type is what lets a reviewer catch a clustering error.</a:t>
            </a:r>
          </a:p>
          <a:p>
            <a:r>
              <a:t>ASK: What three things must every readout in your team contain? Steer to: estimate, interval, and the design and standard-error assumptions.</a:t>
            </a:r>
          </a:p>
          <a:p>
            <a:r>
              <a:t>WATCH FOR: relative lift quoted without the baseline, which makes tiny absolute effects sound enormous.</a:t>
            </a:r>
          </a:p>
          <a:p>
            <a:r>
              <a:t>LINK: the capstone, where plus 1.4 pp is judged against a 1.0 pp threshold.</a:t>
            </a:r>
          </a:p>
        </p:txBody>
      </p:sp>
      <p:sp>
        <p:nvSpPr>
          <p:cNvPr id="1361" name="Google Shape;1361;p6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p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9" name="Google Shape;1379;p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the misconception slide; slow down here.</a:t>
            </a:r>
          </a:p>
          <a:p>
            <a:r>
              <a:t>Expert audiences nod at these and violate them in the next meeting, so make each one cost something. For the inversion, ask what a five percent error rate is a rate of. For the p above 0.05 error, show that a wide interval around zero and a tight interval around zero are completely different findings sharing a p-value. For the large-sample case, note that with 80,000 Injaz users a 0.1 pp difference can be significant and worth nothing.</a:t>
            </a:r>
          </a:p>
          <a:p>
            <a:r>
              <a:t>ASK: Our test returns p equals 0.31. What do we tell the product owner? Steer to: the data are compatible with no effect and with effects out to the interval's edge, so report the interval.</a:t>
            </a:r>
          </a:p>
          <a:p>
            <a:r>
              <a:t>WATCH FOR: the null is 31 percent likely, the most common expert-level slip.</a:t>
            </a:r>
          </a:p>
          <a:p>
            <a:r>
              <a:t>LINK: the peeking slides, where the five percent promise is broken by procedure.</a:t>
            </a:r>
          </a:p>
        </p:txBody>
      </p:sp>
      <p:sp>
        <p:nvSpPr>
          <p:cNvPr id="1380" name="Google Shape;1380;p6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p6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7" name="Google Shape;1397;p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6 min · knowledge check closing Hour 2. Poll first, then explain.</a:t>
            </a:r>
          </a:p>
          <a:p>
            <a:r>
              <a:t>Q1 is B: Neyman gives an estimate with a standard error, while A tests the sharp null and produces no effect size. Q2 is B, HC2, and this is the one people miss, because classical OLS errors assume a homoskedasticity that a binary treatment with unequal arm variances violates; clustered is right only when assignment was clustered. Q3 is B; A and C are the absence-of-evidence fallacy, and D offers randomization, which fixes bias rather than the logic of an inconclusive p-value.</a:t>
            </a:r>
          </a:p>
          <a:p>
            <a:r>
              <a:t>ASK: Who answered clustered on Q2, and what would make that correct? Steer to: assignment at a group level, which is a design fact rather than a data fact.</a:t>
            </a:r>
          </a:p>
          <a:p>
            <a:r>
              <a:t>WATCH FOR: strong participants defending C on Q3 by conflating power with interpretation.</a:t>
            </a:r>
          </a:p>
        </p:txBody>
      </p:sp>
      <p:sp>
        <p:nvSpPr>
          <p:cNvPr id="1398" name="Google Shape;1398;p6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p6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1" name="Google Shape;1421;p6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opens Day 2 Hour 3.</a:t>
            </a:r>
          </a:p>
          <a:p>
            <a:r>
              <a:t>One sentence of framing. Hour 2 gave an honest but noisy estimate; this hour is about precision and resolution, first shrinking the interval without moving the point estimate, then refusing to report one average when the effect differs across users. Flag the through-line now: everything safe here is pre-treatment and everything dangerous is post-treatment.</a:t>
            </a:r>
          </a:p>
          <a:p>
            <a:r>
              <a:t>ASK: Randomization already gave us an unbiased estimate, so why touch covariates? Steer to: not for bias but for variance, because the same data can buy a tighter interval.</a:t>
            </a:r>
          </a:p>
          <a:p>
            <a:r>
              <a:t>WATCH FOR: participants expecting adjustment to change the answer; a large move is a signal about imbalance, not a success.</a:t>
            </a:r>
          </a:p>
          <a:p>
            <a:r>
              <a:t>LINK: the CUPED figure two slides on, and Lab 2 step 4.</a:t>
            </a:r>
          </a:p>
        </p:txBody>
      </p:sp>
      <p:sp>
        <p:nvSpPr>
          <p:cNvPr id="1422" name="Google Shape;1422;p6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p6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2" name="Google Shape;1432;p6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the workhorse slide of the hour.</a:t>
            </a:r>
          </a:p>
          <a:p>
            <a:r>
              <a:t>Regression inside an experiment is not a modelling exercise: the model can be wrong and the treatment coefficient is still unbiased, because randomization rather than functional form does the identification. That is a different stance from predictive modelling and worth saying aloud to data scientists. Cover Lin's estimator honestly, since plain adjustment can lose efficiency in small samples and interacting treatment with centred covariates removes that worry. Then hammer the box: pre-treatment covariates only.</a:t>
            </a:r>
          </a:p>
          <a:p>
            <a:r>
              <a:t>ASK: Can I adjust for support calls made during the experiment? Steer to: no, that is post-treatment and is itself affected by the treatment.</a:t>
            </a:r>
          </a:p>
          <a:p>
            <a:r>
              <a:t>WATCH FOR: adding covariates until the coefficient looks nicer, which is specification search rather than adjustment.</a:t>
            </a:r>
          </a:p>
          <a:p>
            <a:r>
              <a:t>LINK: the mediator discussion on the Day 3 Injaz DAG.</a:t>
            </a:r>
          </a:p>
        </p:txBody>
      </p:sp>
      <p:sp>
        <p:nvSpPr>
          <p:cNvPr id="1433" name="Google Shape;1433;p6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p6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4" name="Google Shape;1454;p6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the variance-reduction idea, before the real-data figure.</a:t>
            </a:r>
          </a:p>
          <a:p>
            <a:r>
              <a:t>Sell this as the highest-return technique in the deck: one join to a pre-period table buys sample size. State the mechanism aloud, that you analyse the outcome minus theta times the pre-period metric, and because that metric cannot respond to a treatment which had not launched, the expectation is untouched. Set expectations before the next slide: the two-times figure here needs a correlation of 0.7, optimistic for most government-service metrics.</a:t>
            </a:r>
          </a:p>
          <a:p>
            <a:r>
              <a:t>ASK: Which pre-period metric would you use for the uploader test? Steer to: the same user's pre-period completion rate, since the same metric measured earlier is almost always strongest.</a:t>
            </a:r>
          </a:p>
          <a:p>
            <a:r>
              <a:t>WATCH FOR: enthusiasm for many covariates; the gain comes from correlation with the outcome, not covariate count.</a:t>
            </a:r>
          </a:p>
          <a:p>
            <a:r>
              <a:t>LINK: the next slide shows the real correlation of 0.37 on course data.</a:t>
            </a:r>
          </a:p>
        </p:txBody>
      </p:sp>
      <p:sp>
        <p:nvSpPr>
          <p:cNvPr id="1455" name="Google Shape;1455;p6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p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7" name="Google Shape;1477;p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the pivot from precision to resolution.</a:t>
            </a:r>
          </a:p>
          <a:p>
            <a:r>
              <a:t>Motivate this with the uploader: a plus 5.0 pp average almost certainly hides a large effect for low digital-literacy users and close to nothing for users who already file confidently. That is exactly the segment a government platform wants to reach, so heterogeneity is a policy question. Separate three things people merge: descriptive subgroup differences, causal effect modification, and the value of a targeting policy. Only the last justifies a rollout decision.</a:t>
            </a:r>
          </a:p>
          <a:p>
            <a:r>
              <a:t>ASK: Which subgroup has the highest completion rate after treatment, and which has the largest treatment effect? Steer to: usually different groups, and only the second should drive targeting.</a:t>
            </a:r>
          </a:p>
          <a:p>
            <a:r>
              <a:t>WATCH FOR: subgroup analysis collapsing into who converts most, the classic targeting error.</a:t>
            </a:r>
          </a:p>
          <a:p>
            <a:r>
              <a:t>LINK: Day 4's policy-learning and fairness material builds on tau of x.</a:t>
            </a:r>
          </a:p>
        </p:txBody>
      </p:sp>
      <p:sp>
        <p:nvSpPr>
          <p:cNvPr id="1478" name="Google Shape;1478;p6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p7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6" name="Google Shape;1496;p7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vocabulary slide; keep it practical.</a:t>
            </a:r>
          </a:p>
          <a:p>
            <a:r>
              <a:t>Give each learner a failure mode rather than a definition. The S-learner's regulariser shrinks the treatment coefficient toward zero, so the one-to-two pp effects this course lives in get flattened. The T-learner fits two models whose independent noise adds, producing a jagged effect surface. The X-learner exists for the ninety-ten split, which is what a cautious government rollout looks like. DR and R learners are the library default because they come with usable confidence intervals.</a:t>
            </a:r>
          </a:p>
          <a:p>
            <a:r>
              <a:t>ASK: We ramped to five percent of traffic. Which learner, and why? Steer to: the X-learner, because it borrows the large control arm to impute treated effects.</a:t>
            </a:r>
          </a:p>
          <a:p>
            <a:r>
              <a:t>WATCH FOR: assuming better AUC or lower prediction error means a better effect estimate; the target is the difference, not the level.</a:t>
            </a:r>
          </a:p>
          <a:p>
            <a:r>
              <a:t>LINK: doubly-robust estimation returns on Day 3.</a:t>
            </a:r>
          </a:p>
        </p:txBody>
      </p:sp>
      <p:sp>
        <p:nvSpPr>
          <p:cNvPr id="1497" name="Google Shape;1497;p7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p7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2" name="Google Shape;1522;p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the discipline slide; where credible experiments quietly go wrong.</a:t>
            </a:r>
          </a:p>
          <a:p>
            <a:r>
              <a:t>Make the arithmetic explicit. Twenty independent subgroup tests at five percent give roughly a sixty-four percent chance of at least one significant result, and the winner always arrives with a plausible story attached. Say clearly that the story is not evidence, because it was generated after seeing the number. Then give the protocol they can enforce: a short pre-registered list, everything else labelled exploratory, and a confirmatory follow-up before any targeting rule ships.</a:t>
            </a:r>
          </a:p>
          <a:p>
            <a:r>
              <a:t>ASK: The effect is plus 8 pp in one region and flat elsewhere, and nobody pre-registered region. What do you write? Steer to: an exploratory hypothesis for a follow-up, never a recommendation.</a:t>
            </a:r>
          </a:p>
          <a:p>
            <a:r>
              <a:t>WATCH FOR: but it makes sense offered as a defence; plausibility is what lets false findings survive.</a:t>
            </a:r>
          </a:p>
          <a:p>
            <a:r>
              <a:t>LINK: multiple-testing corrections in Hour 4, and the capstone verdict.</a:t>
            </a:r>
          </a:p>
        </p:txBody>
      </p:sp>
      <p:sp>
        <p:nvSpPr>
          <p:cNvPr id="1523" name="Google Shape;1523;p7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p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1" name="Google Shape;1541;p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6 min · knowledge check closing Hour 3.</a:t>
            </a:r>
          </a:p>
          <a:p>
            <a:r>
              <a:t>Q1 is C, pre-treatment, the single fact from CUPED worth remembering; A and B are the exact errors that turn variance reduction into bias. Q2 is C, the X-learner, built for very unequal arms; T tempts because it also fits per arm, but with a tiny treated arm its treated-side model is the noisiest thing in the room. Q3 is B; A is wrong because the problem is too many tests rather than too few units, and C tempts people because confounding is the default explanation for any surprise, yet this design was randomised.</a:t>
            </a:r>
          </a:p>
          <a:p>
            <a:r>
              <a:t>ASK: Would Bonferroni have saved the Q3 analysis? Steer to: only if the family had been declared before looking.</a:t>
            </a:r>
          </a:p>
          <a:p>
            <a:r>
              <a:t>WATCH FOR: answering A on Q1 by confusing the pre-period metric with the outcome; they are one variable at two times.</a:t>
            </a:r>
          </a:p>
        </p:txBody>
      </p:sp>
      <p:sp>
        <p:nvSpPr>
          <p:cNvPr id="1542" name="Google Shape;1542;p7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p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5" name="Google Shape;1565;p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opens Day 2 Hour 4, the most practical hour of the day.</a:t>
            </a:r>
          </a:p>
          <a:p>
            <a:r>
              <a:t>Frame it as the hour where statistics meets an organisation. Everything so far assumed the experiment ran cleanly; this hour covers the decisions taken before launch that determine whether it can, and the failure modes that quietly invalidate results afterwards. Give them the spine so they can navigate: power and MDE, sample size into a date, peeking, multiplicity and guardrails, then the failure catalogue.</a:t>
            </a:r>
          </a:p>
          <a:p>
            <a:r>
              <a:t>ASK: What is the most common reason an A/B test produces an untrustworthy answer in your organisation? Steer to: something decided, or not decided, before launch.</a:t>
            </a:r>
          </a:p>
          <a:p>
            <a:r>
              <a:t>WATCH FOR: an audience expecting more estimator theory; say up front that this hour is deliberately operational.</a:t>
            </a:r>
          </a:p>
          <a:p>
            <a:r>
              <a:t>LINK: Lab 2 implements the power calculation and peeking simulation from this hour.</a:t>
            </a:r>
          </a:p>
        </p:txBody>
      </p:sp>
      <p:sp>
        <p:nvSpPr>
          <p:cNvPr id="1566" name="Google Shape;1566;p7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p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6" name="Google Shape;1576;p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the map for the hour.</a:t>
            </a:r>
          </a:p>
          <a:p>
            <a:r>
              <a:t>Use this to place the failure modes, not to describe a process everyone recognises. The claim is that steps one and two decide whether step four can be honest, and that almost every disaster later in this hour is a step-one or step-two omission surfacing weeks later. Point out that the A/A test in step three is the cheapest insurance in the lifecycle, catching broken assignment and exposure logging before a decision depends on them.</a:t>
            </a:r>
          </a:p>
          <a:p>
            <a:r>
              <a:t>ASK: Which of the four steps is most often skipped? Steer to: the guardrails in step one, usually named only after something regresses in production.</a:t>
            </a:r>
          </a:p>
          <a:p>
            <a:r>
              <a:t>WATCH FOR: teams treating pre-registration as bureaucracy; reframe it as what makes their result defensible to an auditor.</a:t>
            </a:r>
          </a:p>
          <a:p>
            <a:r>
              <a:t>LINK: Lab 2 walks these steps in order; the capstone repeats them on the autofill test.</a:t>
            </a:r>
          </a:p>
        </p:txBody>
      </p:sp>
      <p:sp>
        <p:nvSpPr>
          <p:cNvPr id="1577" name="Google Shape;1577;p7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p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2" name="Google Shape;1602;p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the core planning slide.</a:t>
            </a:r>
          </a:p>
          <a:p>
            <a:r>
              <a:t>The teaching point is the word locked. Product owners believe all four quantities are negotiable at once; they are not, and your job is to make the trade visible in the room. Use the Injaz numbers rather than symbols: at a 55 percent baseline, five percent significance and eighty percent power, plus 2.0 pp needs about 9,700 per arm, plus 1.0 pp about 38,800, plus 0.5 pp about 155,000. Then say that an underpowered test which finds nothing has told you nothing.</a:t>
            </a:r>
          </a:p>
          <a:p>
            <a:r>
              <a:t>ASK: We have 20,000 users a week and want an answer in two weeks. What MDE can we honestly promise? Steer to: work backwards from n to MDE and state it before launch.</a:t>
            </a:r>
          </a:p>
          <a:p>
            <a:r>
              <a:t>WATCH FOR: let us just run it and see, which is how underpowered tests get relabelled exploratory.</a:t>
            </a:r>
          </a:p>
          <a:p>
            <a:r>
              <a:t>LINK: the next three figures make the scaling and runtime concrete.</a:t>
            </a:r>
          </a:p>
        </p:txBody>
      </p:sp>
      <p:sp>
        <p:nvSpPr>
          <p:cNvPr id="1603" name="Google Shape;1603;p7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p7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5" name="Google Shape;1625;p7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the ethics-of-procedure slide.</a:t>
            </a:r>
          </a:p>
          <a:p>
            <a:r>
              <a:t>State it as a property of the procedure, not the person: an analyst who looks daily and stops at the first green result has changed the test, because the nominal five percent was a promise about one look at a pre-declared sample size. Preview the numbers so the next figure lands: under a true null the course simulations give five percent at one look, nine at two, fourteen at five, nineteen at ten and twenty-five at twenty looks. The fix is not to stop looking but to use inference designed for looking.</a:t>
            </a:r>
          </a:p>
          <a:p>
            <a:r>
              <a:t>ASK: Is it acceptable to monitor daily for guardrail breaches? Steer to: yes, monitoring for harm is a different decision from stopping for a win.</a:t>
            </a:r>
          </a:p>
          <a:p>
            <a:r>
              <a:t>WATCH FOR: the belief that peeking only costs power; it inflates the false-positive rate directly.</a:t>
            </a:r>
          </a:p>
          <a:p>
            <a:r>
              <a:t>LINK: the peeking figure next, and Lab 2 steps 5 and 6.</a:t>
            </a:r>
          </a:p>
        </p:txBody>
      </p:sp>
      <p:sp>
        <p:nvSpPr>
          <p:cNvPr id="1626" name="Google Shape;1626;p7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p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7" name="Google Shape;1647;p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the constructive answer after the scare.</a:t>
            </a:r>
          </a:p>
          <a:p>
            <a:r>
              <a:t>The framing that helps is a budget: alpha is a fixed five percent you may spend across looks however you pre-commit. Group-sequential spends it at a few planned interims and suits regulated or slow-moving rollouts. SPRT and always-valid confidence sequences let you look continuously at the cost of wider intervals, and naming that cost is the honest part. Bayesian monitoring is valid when the prior and the decision loss are fixed in advance, which is the step teams skip.</a:t>
            </a:r>
          </a:p>
          <a:p>
            <a:r>
              <a:t>ASK: Which fits a dashboard anyone can refresh at any moment? Steer to: always-valid confidence sequences, because validity holds at any stopping time including an unplanned one.</a:t>
            </a:r>
          </a:p>
          <a:p>
            <a:r>
              <a:t>WATCH FOR: the idea that sequential methods are free; they buy early stopping by widening the interval at every look.</a:t>
            </a:r>
          </a:p>
          <a:p>
            <a:r>
              <a:t>LINK: Lab 2 step 6 returns the error rate to nominal.</a:t>
            </a:r>
          </a:p>
        </p:txBody>
      </p:sp>
      <p:sp>
        <p:nvSpPr>
          <p:cNvPr id="1648" name="Google Shape;1648;p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1" name="Shape 1671"/>
        <p:cNvGrpSpPr/>
        <p:nvPr/>
      </p:nvGrpSpPr>
      <p:grpSpPr>
        <a:xfrm>
          <a:off x="0" y="0"/>
          <a:ext cx="0" cy="0"/>
          <a:chOff x="0" y="0"/>
          <a:chExt cx="0" cy="0"/>
        </a:xfrm>
      </p:grpSpPr>
      <p:sp>
        <p:nvSpPr>
          <p:cNvPr id="1672" name="Google Shape;1672;p7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3" name="Google Shape;1673;p7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connects Hour 3's subgroup discipline to production practice.</a:t>
            </a:r>
          </a:p>
          <a:p>
            <a:r>
              <a:t>The useful distinction is between the two error rates. Bonferroni controls the chance of any false positive, which is what you want when one false claim would be costly, such as a public statement. Benjamini-Hochberg controls the expected share of false positives among discoveries, which suits screening many metrics. Then make guardrails operational: a guardrail is not a metric you hope stays flat, it is a metric with a pre-agreed threshold that blocks a ship decision even when the primary wins.</a:t>
            </a:r>
          </a:p>
          <a:p>
            <a:r>
              <a:t>ASK: Latency regresses forty milliseconds while completions rise two pp. Who decides? Steer to: the decision belonged in the analysis plan before launch.</a:t>
            </a:r>
          </a:p>
          <a:p>
            <a:r>
              <a:t>WATCH FOR: promoting a secondary metric to primary after the fact because the primary came out flat.</a:t>
            </a:r>
          </a:p>
          <a:p>
            <a:r>
              <a:t>LINK: the correction-family figure next, and the capstone verdict.</a:t>
            </a:r>
          </a:p>
        </p:txBody>
      </p:sp>
      <p:sp>
        <p:nvSpPr>
          <p:cNvPr id="1674" name="Google Shape;1674;p7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p7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2" name="Google Shape;1692;p7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the checklist participants will photograph.</a:t>
            </a:r>
          </a:p>
          <a:p>
            <a:r>
              <a:t>Do not read six bullets; assign weight. Sample-ratio mismatch and peeking invalidate a result outright and each gets its own treatment here. Interference matters most for Injaz features touching shared queues or household accounts. Novelty explains why a two-day lift is not a result, since a change to a familiar government form generates curiosity traffic that decays. Simpson's paradox and the winner's curse are both mix problems, and the second explains why shipped effects routinely underperform their estimate.</a:t>
            </a:r>
          </a:p>
          <a:p>
            <a:r>
              <a:t>ASK: Which of these six would your current review process actually catch? Steer to: usually only SRM, and only if someone checks the split.</a:t>
            </a:r>
          </a:p>
          <a:p>
            <a:r>
              <a:t>WATCH FOR: interference dismissed as a marketplace-only concern; shared-resource and referral effects occur in government services too.</a:t>
            </a:r>
          </a:p>
          <a:p>
            <a:r>
              <a:t>LINK: the SRM figure next; winner's curse returns on Day 4.</a:t>
            </a:r>
          </a:p>
        </p:txBody>
      </p:sp>
      <p:sp>
        <p:nvSpPr>
          <p:cNvPr id="1693" name="Google Shape;1693;p7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2" name="Shape 1712"/>
        <p:cNvGrpSpPr/>
        <p:nvPr/>
      </p:nvGrpSpPr>
      <p:grpSpPr>
        <a:xfrm>
          <a:off x="0" y="0"/>
          <a:ext cx="0" cy="0"/>
          <a:chOff x="0" y="0"/>
          <a:chExt cx="0" cy="0"/>
        </a:xfrm>
      </p:grpSpPr>
      <p:sp>
        <p:nvSpPr>
          <p:cNvPr id="1713" name="Google Shape;1713;p8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4" name="Google Shape;1714;p8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knowledge check closing Hour 4.</a:t>
            </a:r>
          </a:p>
          <a:p>
            <a:r>
              <a:t>Q1 is B, roughly four times, because n scales with one over the squared effect, the 9,700 to 38,800 jump on the earlier figure; A is the linear guess and is why this question exists. Q2 is B; A is exactly the invalid procedure, C trades away the error rate they promised, and D names the problem as a solution. Q3 is B, sample-ratio mismatch; C tempts because novelty is the other explanation people reach for when numbers look odd, yet novelty affects outcomes rather than the split.</a:t>
            </a:r>
          </a:p>
          <a:p>
            <a:r>
              <a:t>ASK: What is the first thing you do after detecting SRM? Steer to: stop and find the bug, because the experiment is invalid rather than adjustable.</a:t>
            </a:r>
          </a:p>
          <a:p>
            <a:r>
              <a:t>WATCH FOR: answering A on Q1 from linear intuition; send them back to the figure rather than correcting directly.</a:t>
            </a:r>
          </a:p>
        </p:txBody>
      </p:sp>
      <p:sp>
        <p:nvSpPr>
          <p:cNvPr id="1715" name="Google Shape;1715;p8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p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8" name="Google Shape;1738;p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opens Day 2 Hour 5.</a:t>
            </a:r>
          </a:p>
          <a:p>
            <a:r>
              <a:t>Keep this to a sentence and move. The lab is deliberately end to end rather than a single technique: they plan a test, simulate its traffic, analyse it correctly, then break it twice on purpose. The last two steps are the point, because watching their own peeking simulation climb is far more persuasive than any slide you can show them.</a:t>
            </a:r>
          </a:p>
          <a:p>
            <a:r>
              <a:t>ASK: Before we start, what must be fixed before any data are generated? Steer to: the analysis plan, meaning alpha, power, MDE, the primary metric and the horizon.</a:t>
            </a:r>
          </a:p>
          <a:p>
            <a:r>
              <a:t>WATCH FOR: participants jumping to step four because estimation feels like the real work; the planning steps are what this lab tests.</a:t>
            </a:r>
          </a:p>
          <a:p>
            <a:r>
              <a:t>LINK: the lab2 notebook in course_assets, with helpers in causal_utils.</a:t>
            </a:r>
          </a:p>
        </p:txBody>
      </p:sp>
      <p:sp>
        <p:nvSpPr>
          <p:cNvPr id="1739" name="Google Shape;1739;p8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7" name="Shape 1747"/>
        <p:cNvGrpSpPr/>
        <p:nvPr/>
      </p:nvGrpSpPr>
      <p:grpSpPr>
        <a:xfrm>
          <a:off x="0" y="0"/>
          <a:ext cx="0" cy="0"/>
          <a:chOff x="0" y="0"/>
          <a:chExt cx="0" cy="0"/>
        </a:xfrm>
      </p:grpSpPr>
      <p:sp>
        <p:nvSpPr>
          <p:cNvPr id="1748" name="Google Shape;1748;p8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9" name="Google Shape;1749;p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brief the lab, then release the room.</a:t>
            </a:r>
          </a:p>
          <a:p>
            <a:r>
              <a:t>Read the deliverable rather than the steps, which are in the notebook. Set expected numbers so groups self-check as they go: the power calculation should land near 9,700 per arm for a 2.0 pp MDE at a 55 percent baseline, CUPED at a correlation near 0.37 should cut variance about 13.5 percent, and daily peeking should push the false-positive rate from five percent toward twenty or twenty-five. Tell them the A/A step is not a formality, because if it fails nothing downstream is interpretable.</a:t>
            </a:r>
          </a:p>
          <a:p>
            <a:r>
              <a:t>ASK: What will you do if your A/A test comes back significant? Steer to: check split and simulation logic, but remember one A/A in twenty is significant by chance, so repeat first.</a:t>
            </a:r>
          </a:p>
          <a:p>
            <a:r>
              <a:t>WATCH FOR: teams reporting the CUPED point estimate as an improvement; CUPED moves the interval, not the effect.</a:t>
            </a:r>
          </a:p>
          <a:p>
            <a:r>
              <a:t>LINK: the lab2 notebook and the peeking figure.</a:t>
            </a:r>
          </a:p>
        </p:txBody>
      </p:sp>
      <p:sp>
        <p:nvSpPr>
          <p:cNvPr id="1750" name="Google Shape;1750;p8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0" name="Shape 1780"/>
        <p:cNvGrpSpPr/>
        <p:nvPr/>
      </p:nvGrpSpPr>
      <p:grpSpPr>
        <a:xfrm>
          <a:off x="0" y="0"/>
          <a:ext cx="0" cy="0"/>
          <a:chOff x="0" y="0"/>
          <a:chExt cx="0" cy="0"/>
        </a:xfrm>
      </p:grpSpPr>
      <p:sp>
        <p:nvSpPr>
          <p:cNvPr id="1781" name="Google Shape;1781;p8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2" name="Google Shape;1782;p8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debrief; collect numbers from the room before you talk.</a:t>
            </a:r>
          </a:p>
          <a:p>
            <a:r>
              <a:t>Ask two or three groups for their CUPED standard errors and realised peeking rates and put them on the board, because the spread across groups is itself instructive. Then land the takeaways with real magnitudes: about 13.5 percent variance reduction from a correlation of 0.37, roughly 1.16 times the sample for free; a daily-peeking false-positive rate near twenty percent at ten looks; and nominal error restored under the sequential boundary at the price of a wider interval.</a:t>
            </a:r>
          </a:p>
          <a:p>
            <a:r>
              <a:t>ASK: Which of the three would change something in your team next week? Steer to: CUPED, because it is a data-engineering task with no statistical negotiation.</a:t>
            </a:r>
          </a:p>
          <a:p>
            <a:r>
              <a:t>WATCH FOR: groups whose peeking rate came out near five percent, which usually means they peeked but never stopped early.</a:t>
            </a:r>
          </a:p>
          <a:p>
            <a:r>
              <a:t>LINK: the capstone, where both techniques reappear.</a:t>
            </a:r>
          </a:p>
        </p:txBody>
      </p:sp>
      <p:sp>
        <p:nvSpPr>
          <p:cNvPr id="1783" name="Google Shape;1783;p8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9" name="Shape 1799"/>
        <p:cNvGrpSpPr/>
        <p:nvPr/>
      </p:nvGrpSpPr>
      <p:grpSpPr>
        <a:xfrm>
          <a:off x="0" y="0"/>
          <a:ext cx="0" cy="0"/>
          <a:chOff x="0" y="0"/>
          <a:chExt cx="0" cy="0"/>
        </a:xfrm>
      </p:grpSpPr>
      <p:sp>
        <p:nvSpPr>
          <p:cNvPr id="1800" name="Google Shape;1800;p8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1" name="Google Shape;1801;p8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8 min · group discussion; the last teaching block of Day 2.</a:t>
            </a:r>
          </a:p>
          <a:p>
            <a:r>
              <a:t>Run it as a timed audit: five minutes in groups, then one flaw per group so nobody repeats. The report is seeded with defects matching the five prompts, so let groups find them. The two most often missed are the standard-error mismatch, session-level errors reported for a user-level randomisation, which on course data is 0.00166 against 0.00267 and so 1.6 times too narrow, and unregistered subgroup claims wrapped in a plausible story.</a:t>
            </a:r>
          </a:p>
          <a:p>
            <a:r>
              <a:t>ASK: Which single flaw would you refuse to sign off on? Steer to: SRM or a peeked stop, because both make the result invalid rather than merely weak.</a:t>
            </a:r>
          </a:p>
          <a:p>
            <a:r>
              <a:t>WATCH FOR: groups grading writing quality instead of validity; redirect them to the five prompts.</a:t>
            </a:r>
          </a:p>
          <a:p>
            <a:r>
              <a:t>LINK: the failure-mode field guide in Hour 4.</a:t>
            </a:r>
          </a:p>
        </p:txBody>
      </p:sp>
      <p:sp>
        <p:nvSpPr>
          <p:cNvPr id="1802" name="Google Shape;1802;p8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9" name="Shape 1819"/>
        <p:cNvGrpSpPr/>
        <p:nvPr/>
      </p:nvGrpSpPr>
      <p:grpSpPr>
        <a:xfrm>
          <a:off x="0" y="0"/>
          <a:ext cx="0" cy="0"/>
          <a:chOff x="0" y="0"/>
          <a:chExt cx="0" cy="0"/>
        </a:xfrm>
      </p:grpSpPr>
      <p:sp>
        <p:nvSpPr>
          <p:cNvPr id="1820" name="Google Shape;1820;p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1" name="Google Shape;1821;p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closes Day 2.</a:t>
            </a:r>
          </a:p>
          <a:p>
            <a:r>
              <a:t>Recap by decision rather than topic. The four boxes are four questions they can now answer in any design review: what is the randomization unit, does the standard error match it, can we buy precision from pre-period data, and was the horizon fixed before launch. If a team answers those four honestly, most of Hour 4's failure modes cannot survive review. Then set up tomorrow: everything today rested on an assignment mechanism you controlled, and that guarantee now disappears.</a:t>
            </a:r>
          </a:p>
          <a:p>
            <a:r>
              <a:t>ASK: Which single practice from today would most have improved your last experiment? Steer to: usually the pre-registered horizon, because it is free and forecloses peeking.</a:t>
            </a:r>
          </a:p>
          <a:p>
            <a:r>
              <a:t>WATCH FOR: participants leaving with CUPED as the headline; the headline is that design determines validity and inference must match design.</a:t>
            </a:r>
          </a:p>
          <a:p>
            <a:r>
              <a:t>LINK: Day 3 opens with confounding and DAGs.</a:t>
            </a:r>
          </a:p>
        </p:txBody>
      </p:sp>
      <p:sp>
        <p:nvSpPr>
          <p:cNvPr id="1822" name="Google Shape;1822;p8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4" name="Shape 1844"/>
        <p:cNvGrpSpPr/>
        <p:nvPr/>
      </p:nvGrpSpPr>
      <p:grpSpPr>
        <a:xfrm>
          <a:off x="0" y="0"/>
          <a:ext cx="0" cy="0"/>
          <a:chOff x="0" y="0"/>
          <a:chExt cx="0" cy="0"/>
        </a:xfrm>
      </p:grpSpPr>
      <p:sp>
        <p:nvSpPr>
          <p:cNvPr id="1845" name="Google Shape;1845;p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6" name="Google Shape;1846;p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3 title slide.</a:t>
            </a:r>
          </a:p>
          <a:p>
            <a:r>
              <a:t>Mark the change of regime in one sentence: for two days randomisation did the identification work for free, and from here on you argue for it. Day 3 is not a bag of tricks but one question asked four ways, namely what would have happened to these units without the treatment, and every method today is a different bet about where to find that counterfactual.</a:t>
            </a:r>
          </a:p>
          <a:p>
            <a:r>
              <a:t>ASK: What did randomisation actually give us that we now have to reconstruct? Steer to: balance on everything, measured and unmeasured alike.</a:t>
            </a:r>
          </a:p>
          <a:p>
            <a:r>
              <a:t>WATCH FOR: an expectation that observational methods are second class; they are the only option for most policy questions, which is why the standard of argument must be higher.</a:t>
            </a:r>
          </a:p>
          <a:p>
            <a:r>
              <a:t>LINK: the Injaz training-programme and regional-rollout datasets carry today's examples.</a:t>
            </a:r>
          </a:p>
        </p:txBody>
      </p:sp>
      <p:sp>
        <p:nvSpPr>
          <p:cNvPr id="1847" name="Google Shape;1847;p8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5" name="Shape 1855"/>
        <p:cNvGrpSpPr/>
        <p:nvPr/>
      </p:nvGrpSpPr>
      <p:grpSpPr>
        <a:xfrm>
          <a:off x="0" y="0"/>
          <a:ext cx="0" cy="0"/>
          <a:chOff x="0" y="0"/>
          <a:chExt cx="0" cy="0"/>
        </a:xfrm>
      </p:grpSpPr>
      <p:sp>
        <p:nvSpPr>
          <p:cNvPr id="1856" name="Google Shape;1856;p8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7" name="Google Shape;1857;p8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2 min · agenda slide; place the day, then move on.</a:t>
            </a:r>
          </a:p>
          <a:p>
            <a:r>
              <a:t>Give each hour a one-line purpose rather than reading the list. Hour 1 decides what to adjust for, Hour 2 does the adjusting, and Hours 3 and 4 stop adjusting altogether and exploit timing or thresholds instead. Plant the real dividing line now: Hours 1 and 2 assume you have measured the confounders, while Hours 3 and 4 are designs for when you have not.</a:t>
            </a:r>
          </a:p>
          <a:p>
            <a:r>
              <a:t>ASK: Which hour would you reach for if the confounder you care about cannot be measured at all? Steer to: Hour 3 or 4, because DiD, synthetic control, IV and RDD sidestep measurement rather than requiring it.</a:t>
            </a:r>
          </a:p>
          <a:p>
            <a:r>
              <a:t>WATCH FOR: reading the list as increasing sophistication; these are different bets, not a ladder.</a:t>
            </a:r>
          </a:p>
          <a:p>
            <a:r>
              <a:t>LINK: Lab 3 estimates one effect four ways and reconciles the differences.</a:t>
            </a:r>
          </a:p>
        </p:txBody>
      </p:sp>
      <p:sp>
        <p:nvSpPr>
          <p:cNvPr id="1858" name="Google Shape;1858;p8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9" name="Shape 1879"/>
        <p:cNvGrpSpPr/>
        <p:nvPr/>
      </p:nvGrpSpPr>
      <p:grpSpPr>
        <a:xfrm>
          <a:off x="0" y="0"/>
          <a:ext cx="0" cy="0"/>
          <a:chOff x="0" y="0"/>
          <a:chExt cx="0" cy="0"/>
        </a:xfrm>
      </p:grpSpPr>
      <p:sp>
        <p:nvSpPr>
          <p:cNvPr id="1880" name="Google Shape;1880;p8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1" name="Google Shape;1881;p8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sets the frame for the whole day.</a:t>
            </a:r>
          </a:p>
          <a:p>
            <a:r>
              <a:t>Make the training programme concrete before any theory. In the Injaz data the naive enrolled versus not-enrolled difference is plus 11.5 pp while the true effect on the treated is plus 6.0 pp, so roughly five points of the headline is selection: motivated users enrol and would have improved anyway. Then name the honesty tax. Unconfoundedness is untestable, so an observational estimate without a sensitivity analysis is an incomplete deliverable rather than a finished one.</a:t>
            </a:r>
          </a:p>
          <a:p>
            <a:r>
              <a:t>ASK: What would have to be true about the covariates for the naive comparison to be correct? Steer to: every common cause of enrolling and improving is measured and adjusted for.</a:t>
            </a:r>
          </a:p>
          <a:p>
            <a:r>
              <a:t>WATCH FOR: we have hundreds of features so we are fine; unconfoundedness is about the right variables, not many of them.</a:t>
            </a:r>
          </a:p>
          <a:p>
            <a:r>
              <a:t>LINK: matching recovers plus 6.5 pp in Lab 3; sensitivity analysis is Day 4.</a:t>
            </a:r>
          </a:p>
        </p:txBody>
      </p:sp>
      <p:sp>
        <p:nvSpPr>
          <p:cNvPr id="1882" name="Google Shape;1882;p8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1" name="Shape 1901"/>
        <p:cNvGrpSpPr/>
        <p:nvPr/>
      </p:nvGrpSpPr>
      <p:grpSpPr>
        <a:xfrm>
          <a:off x="0" y="0"/>
          <a:ext cx="0" cy="0"/>
          <a:chOff x="0" y="0"/>
          <a:chExt cx="0" cy="0"/>
        </a:xfrm>
      </p:grpSpPr>
      <p:sp>
        <p:nvSpPr>
          <p:cNvPr id="1902" name="Google Shape;1902;p8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3" name="Google Shape;1903;p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introduces the tool.</a:t>
            </a:r>
          </a:p>
          <a:p>
            <a:r>
              <a:t>The selling point for data scientists is that a DAG converts an argument about controls into a rule anyone can check. Emphasise the line that is easy to skip, that the absent arrows are the assumptions. Anyone can draw a graph with every arrow present, so the content lies in what you rule out, and that is a domain claim you must defend. A DAG is not fitted from data, which is why it belongs in the analysis plan and is reviewed by someone who knows the service.</a:t>
            </a:r>
          </a:p>
          <a:p>
            <a:r>
              <a:t>ASK: Who in your organisation is qualified to say an arrow does not exist? Steer to: the operational owner of the service, not the analyst.</a:t>
            </a:r>
          </a:p>
          <a:p>
            <a:r>
              <a:t>WATCH FOR: attempts to learn the DAG from data; causal discovery has uses, but identification does not rest on it here.</a:t>
            </a:r>
          </a:p>
          <a:p>
            <a:r>
              <a:t>LINK: the Injaz uploader DAG appears in full later this hour.</a:t>
            </a:r>
          </a:p>
        </p:txBody>
      </p:sp>
      <p:sp>
        <p:nvSpPr>
          <p:cNvPr id="1904" name="Google Shape;1904;p8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0" name="Shape 1920"/>
        <p:cNvGrpSpPr/>
        <p:nvPr/>
      </p:nvGrpSpPr>
      <p:grpSpPr>
        <a:xfrm>
          <a:off x="0" y="0"/>
          <a:ext cx="0" cy="0"/>
          <a:chOff x="0" y="0"/>
          <a:chExt cx="0" cy="0"/>
        </a:xfrm>
      </p:grpSpPr>
      <p:sp>
        <p:nvSpPr>
          <p:cNvPr id="1921" name="Google Shape;1921;p9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2" name="Google Shape;1922;p9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the mechanical core of the hour.</a:t>
            </a:r>
          </a:p>
          <a:p>
            <a:r>
              <a:t>Spend the time here, because everything later depends on these rules being automatic. Give each a concrete Injaz reading. Digital literacy is a fork causing both uploader use and completion, so adjust. Support calls sit between uploader and completion as a chain, so adjusting removes part of the effect. Session completion is a common effect of both, so adjusting opens a closed path. Repeat the inversion until it sticks.</a:t>
            </a:r>
          </a:p>
          <a:p>
            <a:r>
              <a:t>ASK: Which of the three do you block by doing nothing at all? Steer to: the collider, where inaction is the correct action.</a:t>
            </a:r>
          </a:p>
          <a:p>
            <a:r>
              <a:t>WATCH FOR: the instinct that more controls can only help, which is right for prediction and wrong for causal estimation.</a:t>
            </a:r>
          </a:p>
          <a:p>
            <a:r>
              <a:t>LINK: the junctions figure next, and the collider demonstration later this hour.</a:t>
            </a:r>
          </a:p>
        </p:txBody>
      </p:sp>
      <p:sp>
        <p:nvSpPr>
          <p:cNvPr id="1923" name="Google Shape;1923;p9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2" name="Shape 1942"/>
        <p:cNvGrpSpPr/>
        <p:nvPr/>
      </p:nvGrpSpPr>
      <p:grpSpPr>
        <a:xfrm>
          <a:off x="0" y="0"/>
          <a:ext cx="0" cy="0"/>
          <a:chOff x="0" y="0"/>
          <a:chExt cx="0" cy="0"/>
        </a:xfrm>
      </p:grpSpPr>
      <p:sp>
        <p:nvSpPr>
          <p:cNvPr id="1943" name="Google Shape;1943;p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4" name="Google Shape;1944;p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the rule the rest of the day depends on.</a:t>
            </a:r>
          </a:p>
          <a:p>
            <a:r>
              <a:t>Present it as a procedure a reviewer can run, not a theorem. Define a backdoor path physically, one that leaves treatment against the arrow, and note that only those carry confounding. The second condition is the one people violate: no descendants of treatment, which rules out mediators and anything measured after treatment began. Say honestly that the criterion is sufficient rather than necessary, but that failing it is a reason to redraw the graph.</a:t>
            </a:r>
          </a:p>
          <a:p>
            <a:r>
              <a:t>ASK: Is age a valid adjustment for the uploader question? Steer to: only if it causes both uptake and completion and is not a descendant of treatment, so draw it before answering.</a:t>
            </a:r>
          </a:p>
          <a:p>
            <a:r>
              <a:t>WATCH FOR: adjust for everything pre-treatment offered as a safe default; pre-treatment colliders and instruments both do damage.</a:t>
            </a:r>
          </a:p>
          <a:p>
            <a:r>
              <a:t>LINK: the derived Injaz adjustment set on the next slide.</a:t>
            </a:r>
          </a:p>
        </p:txBody>
      </p:sp>
      <p:sp>
        <p:nvSpPr>
          <p:cNvPr id="1945" name="Google Shape;1945;p9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5" name="Shape 1965"/>
        <p:cNvGrpSpPr/>
        <p:nvPr/>
      </p:nvGrpSpPr>
      <p:grpSpPr>
        <a:xfrm>
          <a:off x="0" y="0"/>
          <a:ext cx="0" cy="0"/>
          <a:chOff x="0" y="0"/>
          <a:chExt cx="0" cy="0"/>
        </a:xfrm>
      </p:grpSpPr>
      <p:sp>
        <p:nvSpPr>
          <p:cNvPr id="1966" name="Google Shape;1966;p9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7" name="Google Shape;1967;p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the counter-intuitive case, in words before the picture.</a:t>
            </a:r>
          </a:p>
          <a:p>
            <a:r>
              <a:t>Lead with selection rather than regression, because that is how it reaches them: every filtered dataset is a conditioning statement. Only users who completed a session, only funded startups, only hospitalised patients, and in each case the filter is a common effect, so restricting to it manufactures correlations between independent causes. No regression was written in any of those examples; the damage happened in the WHERE clause.</a:t>
            </a:r>
          </a:p>
          <a:p>
            <a:r>
              <a:t>ASK: Our analysis uses only users who completed onboarding. What have we conditioned on? Steer to: a variable caused by both the treatment and the outcome's drivers, which is a collider.</a:t>
            </a:r>
          </a:p>
          <a:p>
            <a:r>
              <a:t>WATCH FOR: participants who accept this in theory and then defend their own active-users filter as a data-quality decision.</a:t>
            </a:r>
          </a:p>
          <a:p>
            <a:r>
              <a:t>LINK: the collider simulation next moves the correlation from 0.00 to minus 0.20.</a:t>
            </a:r>
          </a:p>
        </p:txBody>
      </p:sp>
      <p:sp>
        <p:nvSpPr>
          <p:cNvPr id="1968" name="Google Shape;1968;p9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4" name="Shape 1984"/>
        <p:cNvGrpSpPr/>
        <p:nvPr/>
      </p:nvGrpSpPr>
      <p:grpSpPr>
        <a:xfrm>
          <a:off x="0" y="0"/>
          <a:ext cx="0" cy="0"/>
          <a:chOff x="0" y="0"/>
          <a:chExt cx="0" cy="0"/>
        </a:xfrm>
      </p:grpSpPr>
      <p:sp>
        <p:nvSpPr>
          <p:cNvPr id="1985" name="Google Shape;1985;p9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6" name="Google Shape;1986;p9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procedural summary of the hour.</a:t>
            </a:r>
          </a:p>
          <a:p>
            <a:r>
              <a:t>Frame the order as load bearing. The DAG is drawn before looking at correlations, because otherwise the data choose the graph and a graph chosen to fit is no longer an assumption. The measurement check in step four ends most projects honestly: if the confounder is unmeasured, no estimator rescues you and you should say so in writing. Shipping the graph with the analysis lets a reviewer attack the assumption instead of guessing at it.</a:t>
            </a:r>
          </a:p>
          <a:p>
            <a:r>
              <a:t>ASK: What do you do when the DAG says you need income and income is not in the warehouse? Steer to: report non-identifiability, then propose a design such as an instrument or a discontinuity.</a:t>
            </a:r>
          </a:p>
          <a:p>
            <a:r>
              <a:t>WATCH FOR: quietly substituting a proxy; a noisy proxy leaves residual confounding of unknown size.</a:t>
            </a:r>
          </a:p>
          <a:p>
            <a:r>
              <a:t>LINK: the identification verdict figure next.</a:t>
            </a:r>
          </a:p>
        </p:txBody>
      </p:sp>
      <p:sp>
        <p:nvSpPr>
          <p:cNvPr id="1987" name="Google Shape;1987;p9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4" name="Shape 2004"/>
        <p:cNvGrpSpPr/>
        <p:nvPr/>
      </p:nvGrpSpPr>
      <p:grpSpPr>
        <a:xfrm>
          <a:off x="0" y="0"/>
          <a:ext cx="0" cy="0"/>
          <a:chOff x="0" y="0"/>
          <a:chExt cx="0" cy="0"/>
        </a:xfrm>
      </p:grpSpPr>
      <p:sp>
        <p:nvSpPr>
          <p:cNvPr id="2005" name="Google Shape;2005;p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6" name="Google Shape;2006;p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knowledge check closing Hour 1.</a:t>
            </a:r>
          </a:p>
          <a:p>
            <a:r>
              <a:t>Q1 is B, a confounder, which is the fork; A tempts anyone reading arrows without attending to direction. Q2 is B, opens a spurious path, and A is the exact inversion and the most instructive wrong answer, since it comes from the habit that conditioning removes bias. Q3 is C, a descendant of treatment; B tempts people who half-remember that some pre-treatment variables are bad controls, but the criterion's explicit prohibition is on descendants.</a:t>
            </a:r>
          </a:p>
          <a:p>
            <a:r>
              <a:t>ASK: Name a real filter in your own data that conditions on a collider. Steer to: any completion, retention or survival filter applied after treatment could have started.</a:t>
            </a:r>
          </a:p>
          <a:p>
            <a:r>
              <a:t>WATCH FOR: confident answers of A on Q2; treat that as the signal to re-run the three-junctions inversion before moving into Hour 2.</a:t>
            </a:r>
          </a:p>
        </p:txBody>
      </p:sp>
      <p:sp>
        <p:nvSpPr>
          <p:cNvPr id="2007" name="Google Shape;2007;p9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8" name="Shape 2028"/>
        <p:cNvGrpSpPr/>
        <p:nvPr/>
      </p:nvGrpSpPr>
      <p:grpSpPr>
        <a:xfrm>
          <a:off x="0" y="0"/>
          <a:ext cx="0" cy="0"/>
          <a:chOff x="0" y="0"/>
          <a:chExt cx="0" cy="0"/>
        </a:xfrm>
      </p:grpSpPr>
      <p:sp>
        <p:nvSpPr>
          <p:cNvPr id="2029" name="Google Shape;2029;p9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0" name="Google Shape;2030;p9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opens Day 3 Hour 2.</a:t>
            </a:r>
          </a:p>
          <a:p>
            <a:r>
              <a:t>One sentence: Hour 1 decided what to adjust for, and this hour is only about how. The estimators differ in what they model, the outcome, the treatment, or both, and their real differences show up in how they fail rather than in the estimand they target. Flag that overlap and balance diagnostics come before any point estimate, because every estimator here will confidently return a number where no comparable units exist.</a:t>
            </a:r>
          </a:p>
          <a:p>
            <a:r>
              <a:t>ASK: If four estimators target the same quantity, why does the choice matter? Steer to: each depends on a different model being right, and the doubly-robust one needs only one of two.</a:t>
            </a:r>
          </a:p>
          <a:p>
            <a:r>
              <a:t>WATCH FOR: an expectation that you will rank them; the answer is a sensible default plus diagnostics.</a:t>
            </a:r>
          </a:p>
          <a:p>
            <a:r>
              <a:t>LINK: Lab 3 runs matching, IPW and a doubly-robust estimator on the same data.</a:t>
            </a:r>
          </a:p>
        </p:txBody>
      </p:sp>
      <p:sp>
        <p:nvSpPr>
          <p:cNvPr id="2031" name="Google Shape;2031;p9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9" name="Shape 2039"/>
        <p:cNvGrpSpPr/>
        <p:nvPr/>
      </p:nvGrpSpPr>
      <p:grpSpPr>
        <a:xfrm>
          <a:off x="0" y="0"/>
          <a:ext cx="0" cy="0"/>
          <a:chOff x="0" y="0"/>
          <a:chExt cx="0" cy="0"/>
        </a:xfrm>
      </p:grpSpPr>
      <p:sp>
        <p:nvSpPr>
          <p:cNvPr id="2040" name="Google Shape;2040;p9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1" name="Google Shape;2041;p9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the map of the hour.</a:t>
            </a:r>
          </a:p>
          <a:p>
            <a:r>
              <a:t>Give each method its failure mode rather than its definition, because failure is what distinguishes them. Outcome regression fails silently under misspecification and extrapolates into regions with no controls. Matching is the easiest to defend in a policy meeting but discards units and so quietly changes the estimand. Propensity methods collapse many covariates into one score, a diagnostic gift. IPW rebuilds a pseudo-population and fails when the treatment model is wrong or propensities approach zero or one.</a:t>
            </a:r>
          </a:p>
          <a:p>
            <a:r>
              <a:t>ASK: Which would you take into a meeting with a non-technical director? Steer to: matching, because we compared similar people survives translation.</a:t>
            </a:r>
          </a:p>
          <a:p>
            <a:r>
              <a:t>WATCH FOR: expecting these to agree closely; on the Injaz data they differ, and reconciling them is the point of Lab 3.</a:t>
            </a:r>
          </a:p>
          <a:p>
            <a:r>
              <a:t>LINK: Lab 3 estimates the training-programme effect four ways.</a:t>
            </a:r>
          </a:p>
        </p:txBody>
      </p:sp>
      <p:sp>
        <p:nvSpPr>
          <p:cNvPr id="2042" name="Google Shape;2042;p9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5" name="Shape 2065"/>
        <p:cNvGrpSpPr/>
        <p:nvPr/>
      </p:nvGrpSpPr>
      <p:grpSpPr>
        <a:xfrm>
          <a:off x="0" y="0"/>
          <a:ext cx="0" cy="0"/>
          <a:chOff x="0" y="0"/>
          <a:chExt cx="0" cy="0"/>
        </a:xfrm>
      </p:grpSpPr>
      <p:sp>
        <p:nvSpPr>
          <p:cNvPr id="2066" name="Google Shape;2066;p9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7" name="Google Shape;2067;p9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the central theoretical result of the hour.</a:t>
            </a:r>
          </a:p>
          <a:p>
            <a:r>
              <a:t>Make the balancing property concrete: within a stratum of the propensity score, treated and untreated units share the same covariate distribution, so each stratum behaves like a small randomised experiment. Then spend real time on the third box, because it inverts a machine-learning instinct. A propensity model with excellent discrimination is bad news: predictable treatment means regions with no comparable controls. Judge by balance achieved; matching takes the worst absolute standardised difference from 0.57 to 0.03 on this data.</a:t>
            </a:r>
          </a:p>
          <a:p>
            <a:r>
              <a:t>ASK: My propensity model has an AUC of 0.95. Good news or bad? Steer to: bad, because near deterministic treatment means no overlap.</a:t>
            </a:r>
          </a:p>
          <a:p>
            <a:r>
              <a:t>WATCH FOR: tuning the propensity model for predictive accuracy, the most common misuse.</a:t>
            </a:r>
          </a:p>
          <a:p>
            <a:r>
              <a:t>LINK: the overlap figure next; balance diagnostics in Lab 3.</a:t>
            </a:r>
          </a:p>
        </p:txBody>
      </p:sp>
      <p:sp>
        <p:nvSpPr>
          <p:cNvPr id="2068" name="Google Shape;2068;p9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7" name="Shape 2087"/>
        <p:cNvGrpSpPr/>
        <p:nvPr/>
      </p:nvGrpSpPr>
      <p:grpSpPr>
        <a:xfrm>
          <a:off x="0" y="0"/>
          <a:ext cx="0" cy="0"/>
          <a:chOff x="0" y="0"/>
          <a:chExt cx="0" cy="0"/>
        </a:xfrm>
      </p:grpSpPr>
      <p:sp>
        <p:nvSpPr>
          <p:cNvPr id="2088" name="Google Shape;2088;p9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9" name="Google Shape;2089;p9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the weighting alternative.</a:t>
            </a:r>
          </a:p>
          <a:p>
            <a:r>
              <a:t>Give a survey-weighting intuition: a treated user who looked very unlikely to be treated stands in for many similar untreated users, so she counts for more. State the danger as a number, because a propensity of 0.01 produces a weight of 100 and a handful of such units can dominate both the estimate and its variance. Insist they plot the weight distribution and report the effective sample size before trusting anything.</a:t>
            </a:r>
          </a:p>
          <a:p>
            <a:r>
              <a:t>ASK: One unit carries eight percent of the total weight. Is the estimate usable? Steer to: no, report the effective sample size and consider overlap weights or a restricted estimand.</a:t>
            </a:r>
          </a:p>
          <a:p>
            <a:r>
              <a:t>WATCH FOR: trimming chosen after seeing the estimate, which is specification search dressed as hygiene.</a:t>
            </a:r>
          </a:p>
          <a:p>
            <a:r>
              <a:t>LINK: doubly-robust estimation next pairs weighting with an outcome model.</a:t>
            </a:r>
          </a:p>
        </p:txBody>
      </p:sp>
      <p:sp>
        <p:nvSpPr>
          <p:cNvPr id="2090" name="Google Shape;2090;p9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6" name="Shape 2106"/>
        <p:cNvGrpSpPr/>
        <p:nvPr/>
      </p:nvGrpSpPr>
      <p:grpSpPr>
        <a:xfrm>
          <a:off x="0" y="0"/>
          <a:ext cx="0" cy="0"/>
          <a:chOff x="0" y="0"/>
          <a:chExt cx="0" cy="0"/>
        </a:xfrm>
      </p:grpSpPr>
      <p:sp>
        <p:nvSpPr>
          <p:cNvPr id="2107" name="Google Shape;2107;p9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8" name="Google Shape;2108;p9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the recommended default of the hour.</a:t>
            </a:r>
          </a:p>
          <a:p>
            <a:r>
              <a:t>State the claim precisely: an AIPW estimator is consistent if either the outcome model or the propensity model is correctly specified, which is two independent chances rather than a guarantee. Then explain cross-fitting, because that is what lets them use gradient boosting for the nuisance models without the confidence intervals becoming meaningless. Fit on one fold, predict on the held-out fold, rotate; that decoupling preserves valid inference and is why the course library defaults to it.</a:t>
            </a:r>
          </a:p>
          <a:p>
            <a:r>
              <a:t>ASK: Both models are somewhat wrong. Does double robustness save us? Steer to: no, it is one of two correct, not tolerance for two approximations.</a:t>
            </a:r>
          </a:p>
          <a:p>
            <a:r>
              <a:t>WATCH FOR: doubly robust misread as twice as accurate; it removes one modelling assumption and does nothing for a broken adjustment set.</a:t>
            </a:r>
          </a:p>
          <a:p>
            <a:r>
              <a:t>LINK: Lab 3 compares it against matching and IPW.</a:t>
            </a:r>
          </a:p>
        </p:txBody>
      </p:sp>
      <p:sp>
        <p:nvSpPr>
          <p:cNvPr id="2109" name="Google Shape;2109;p9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9" name="Shape 2129"/>
        <p:cNvGrpSpPr/>
        <p:nvPr/>
      </p:nvGrpSpPr>
      <p:grpSpPr>
        <a:xfrm>
          <a:off x="0" y="0"/>
          <a:ext cx="0" cy="0"/>
          <a:chOff x="0" y="0"/>
          <a:chExt cx="0" cy="0"/>
        </a:xfrm>
      </p:grpSpPr>
      <p:sp>
        <p:nvSpPr>
          <p:cNvPr id="2130" name="Google Shape;2130;p10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1" name="Google Shape;2131;p10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comparison slide; make it a choice, not a summary.</a:t>
            </a:r>
          </a:p>
          <a:p>
            <a:r>
              <a:t>The line that matters is the estimand. Matching that drops unmatched treated units silently changes who the answer is about, so an honest report names the matched population. Weighting keeps everyone and targets the average effect or the effect on the treated cleanly, at the price of variance when weights are extreme. Give the course rule: match to communicate and diagnose, since a balance table is legible to anyone, and weight inside a doubly-robust estimator to produce the reported number.</a:t>
            </a:r>
          </a:p>
          <a:p>
            <a:r>
              <a:t>ASK: You match and lose thirty percent of the treated units. What must the readout say? Steer to: the effect applies to the matched subpopulation, plus who was dropped.</a:t>
            </a:r>
          </a:p>
          <a:p>
            <a:r>
              <a:t>WATCH FOR: the belief that matching is more assumption-light; both rest on the same unconfoundedness claim.</a:t>
            </a:r>
          </a:p>
          <a:p>
            <a:r>
              <a:t>LINK: Lab 3 reports both, and the reconciliation is the deliverable.</a:t>
            </a:r>
          </a:p>
        </p:txBody>
      </p:sp>
      <p:sp>
        <p:nvSpPr>
          <p:cNvPr id="2132" name="Google Shape;2132;p10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2" name="Shape 2162"/>
        <p:cNvGrpSpPr/>
        <p:nvPr/>
      </p:nvGrpSpPr>
      <p:grpSpPr>
        <a:xfrm>
          <a:off x="0" y="0"/>
          <a:ext cx="0" cy="0"/>
          <a:chOff x="0" y="0"/>
          <a:chExt cx="0" cy="0"/>
        </a:xfrm>
      </p:grpSpPr>
      <p:sp>
        <p:nvSpPr>
          <p:cNvPr id="2163" name="Google Shape;2163;p10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4" name="Google Shape;2164;p10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the operational summary of the hour.</a:t>
            </a:r>
          </a:p>
          <a:p>
            <a:r>
              <a:t>Insist on the order, because each step gates the next. The estimand comes first: for the training programme the decision concerns people like those who enrolled, so the effect on the treated is the target and plus 6.0 pp is the truth being recovered. The adjustment set comes from the DAG, not from fit. Overlap precedes estimation. Balance is checked afterwards below 0.1, and 0.57 falling to 0.03 is what a passing table looks like.</a:t>
            </a:r>
          </a:p>
          <a:p>
            <a:r>
              <a:t>ASK: Which step does your team currently skip? Steer to: usually the balance table or the sensitivity analysis, because both are reported rather than computed.</a:t>
            </a:r>
          </a:p>
          <a:p>
            <a:r>
              <a:t>WATCH FOR: running the checklist out of order, especially estimating first and diagnosing after.</a:t>
            </a:r>
          </a:p>
          <a:p>
            <a:r>
              <a:t>LINK: Day 4's Rosenbaum bounds, where this dataset gives a gamma of about 1.2.</a:t>
            </a:r>
          </a:p>
        </p:txBody>
      </p:sp>
      <p:sp>
        <p:nvSpPr>
          <p:cNvPr id="2165" name="Google Shape;2165;p10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4" name="Shape 2184"/>
        <p:cNvGrpSpPr/>
        <p:nvPr/>
      </p:nvGrpSpPr>
      <p:grpSpPr>
        <a:xfrm>
          <a:off x="0" y="0"/>
          <a:ext cx="0" cy="0"/>
          <a:chOff x="0" y="0"/>
          <a:chExt cx="0" cy="0"/>
        </a:xfrm>
      </p:grpSpPr>
      <p:sp>
        <p:nvSpPr>
          <p:cNvPr id="2185" name="Google Shape;2185;p10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6" name="Google Shape;2186;p10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knowledge check closing Hour 2.</a:t>
            </a:r>
          </a:p>
          <a:p>
            <a:r>
              <a:t>Q1 is B, either model correct. A is the careful-sounding wrong answer and worth naming as such, since requiring both would make the estimator no more robust than its components. Q2 is B, covariate balance achieved; A is the trap for a machine-learning audience and inverts the goal, because a high AUC signals poor overlap. Q3 is B, extreme weights and high variance; A tempts people who expect every problem to be bias, but IPW with correct propensities stays unbiased while becoming unusably noisy.</a:t>
            </a:r>
          </a:p>
          <a:p>
            <a:r>
              <a:t>ASK: What would you report alongside the estimate to expose the Q3 problem? Steer to: the effective sample size and the largest single weight share.</a:t>
            </a:r>
          </a:p>
          <a:p>
            <a:r>
              <a:t>WATCH FOR: defending A on Q1 as the safer answer; the point of double robustness is that it requires strictly less.</a:t>
            </a:r>
          </a:p>
        </p:txBody>
      </p:sp>
      <p:sp>
        <p:nvSpPr>
          <p:cNvPr id="2187" name="Google Shape;2187;p10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8" name="Shape 2208"/>
        <p:cNvGrpSpPr/>
        <p:nvPr/>
      </p:nvGrpSpPr>
      <p:grpSpPr>
        <a:xfrm>
          <a:off x="0" y="0"/>
          <a:ext cx="0" cy="0"/>
          <a:chOff x="0" y="0"/>
          <a:chExt cx="0" cy="0"/>
        </a:xfrm>
      </p:grpSpPr>
      <p:sp>
        <p:nvSpPr>
          <p:cNvPr id="2209" name="Google Shape;2209;p1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0" name="Google Shape;2210;p10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opens Day 3 Hour 3.</a:t>
            </a:r>
          </a:p>
          <a:p>
            <a:r>
              <a:t>Say what changes. Hours 1 and 2 required you to measure the confounders, and this hour stops requiring it. Difference-in-differences trades measurement for timing: any time-invariant difference between regions may be arbitrarily large and completely unmeasured, provided the groups would have moved together. That trade is the entire value proposition and also the entire risk.</a:t>
            </a:r>
          </a:p>
          <a:p>
            <a:r>
              <a:t>ASK: What kind of confounder does DiD handle for free, and what kind still kills it? Steer to: anything fixed over time is absorbed, anything that changes differentially is not.</a:t>
            </a:r>
          </a:p>
          <a:p>
            <a:r>
              <a:t>WATCH FOR: DiD treated as a stronger design than adjustment; it is a different assumption, not a weaker one.</a:t>
            </a:r>
          </a:p>
          <a:p>
            <a:r>
              <a:t>LINK: injaz_regions_panel.csv, thirteen regions over twenty-four months, drives this hour and Lab 4.</a:t>
            </a:r>
          </a:p>
        </p:txBody>
      </p:sp>
      <p:sp>
        <p:nvSpPr>
          <p:cNvPr id="2211" name="Google Shape;2211;p10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9" name="Shape 2219"/>
        <p:cNvGrpSpPr/>
        <p:nvPr/>
      </p:nvGrpSpPr>
      <p:grpSpPr>
        <a:xfrm>
          <a:off x="0" y="0"/>
          <a:ext cx="0" cy="0"/>
          <a:chOff x="0" y="0"/>
          <a:chExt cx="0" cy="0"/>
        </a:xfrm>
      </p:grpSpPr>
      <p:sp>
        <p:nvSpPr>
          <p:cNvPr id="2220" name="Google Shape;2220;p10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1" name="Google Shape;2221;p10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the mechanics, before the credibility discussion.</a:t>
            </a:r>
          </a:p>
          <a:p>
            <a:r>
              <a:t>Build the two-by-two on the board with the regional reminder rollout rather than reading the formula. Make explicit what each difference removes: the first removes anything fixed about a region, the second anything hitting both groups in that period, such as a holiday or a platform outage. Then name the one thing that survives, a shock or trend hitting the groups unequally, which is parallel trends stated as its own failure mode.</a:t>
            </a:r>
          </a:p>
          <a:p>
            <a:r>
              <a:t>ASK: One region completes at a higher rate than every other. Does that break DiD? Steer to: no, a level difference is absorbed by the region fixed effect; only differential movement matters.</a:t>
            </a:r>
          </a:p>
          <a:p>
            <a:r>
              <a:t>WATCH FOR: attempts to fix baseline imbalance by matching regions on level, which solves the wrong problem.</a:t>
            </a:r>
          </a:p>
          <a:p>
            <a:r>
              <a:t>LINK: the panel has four never-treated regions and activation in periods 10, 13, 16 and 19.</a:t>
            </a:r>
          </a:p>
        </p:txBody>
      </p:sp>
      <p:sp>
        <p:nvSpPr>
          <p:cNvPr id="2222" name="Google Shape;2222;p10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2" name="Shape 2242"/>
        <p:cNvGrpSpPr/>
        <p:nvPr/>
      </p:nvGrpSpPr>
      <p:grpSpPr>
        <a:xfrm>
          <a:off x="0" y="0"/>
          <a:ext cx="0" cy="0"/>
          <a:chOff x="0" y="0"/>
          <a:chExt cx="0" cy="0"/>
        </a:xfrm>
      </p:grpSpPr>
      <p:sp>
        <p:nvSpPr>
          <p:cNvPr id="2243" name="Google Shape;2243;p10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4" name="Google Shape;2244;p1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the assumption slide, and the heart of the hour.</a:t>
            </a:r>
          </a:p>
          <a:p>
            <a:r>
              <a:t>Be precise, because the sloppy version does real damage. The claim concerns the untreated potential outcome of the treated regions after activation, unobservable by construction and therefore never testable. Pre-trends are evidence about a different period; they support rather than prove. Give the two honest strengtheners, conditional parallel trends and a comparison group chosen for pre-trend similarity, and note both must be declared in advance.</a:t>
            </a:r>
          </a:p>
          <a:p>
            <a:r>
              <a:t>ASK: The rollout coincided with a national awareness campaign in the same regions. Does the pre-trend check save you? Steer to: no, the shock starts exactly when treatment does and is invisible beforehand.</a:t>
            </a:r>
          </a:p>
          <a:p>
            <a:r>
              <a:t>WATCH FOR: the pre-trends are flat, therefore the assumption holds, the most common overclaim in applied DiD.</a:t>
            </a:r>
          </a:p>
          <a:p>
            <a:r>
              <a:t>LINK: the pretrend version of the regional panel deliberately breaks this in Lab 4.</a:t>
            </a:r>
          </a:p>
        </p:txBody>
      </p:sp>
      <p:sp>
        <p:nvSpPr>
          <p:cNvPr id="2245" name="Google Shape;2245;p10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4" name="Shape 2264"/>
        <p:cNvGrpSpPr/>
        <p:nvPr/>
      </p:nvGrpSpPr>
      <p:grpSpPr>
        <a:xfrm>
          <a:off x="0" y="0"/>
          <a:ext cx="0" cy="0"/>
          <a:chOff x="0" y="0"/>
          <a:chExt cx="0" cy="0"/>
        </a:xfrm>
      </p:grpSpPr>
      <p:sp>
        <p:nvSpPr>
          <p:cNvPr id="2265" name="Google Shape;2265;p10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6" name="Google Shape;2266;p10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the diagnostic upgrade.</a:t>
            </a:r>
          </a:p>
          <a:p>
            <a:r>
              <a:t>A single before-and-after number hides both the diagnostic and the dynamics: leads test the assumption, lags describe the effect. Note that the reference period is a choice and every coefficient is relative to it, which is why people misread these plots. Then set up the staggered-adoption warning, because with activation in four different periods two-way fixed effects starts using already-treated regions as controls for later adopters.</a:t>
            </a:r>
          </a:p>
          <a:p>
            <a:r>
              <a:t>ASK: The effect appears to grow for three periods after activation. Real or artefact? Steer to: either adoption dynamics or a ramp-in, and on our panel the deliberate two-month ramp-in is exactly why TWFE returns plus 2.6 pp against a true plus 3.0 pp.</a:t>
            </a:r>
          </a:p>
          <a:p>
            <a:r>
              <a:t>WATCH FOR: treating one significant pre-period coefficient as fatal; read the shape, not a single dot.</a:t>
            </a:r>
          </a:p>
          <a:p>
            <a:r>
              <a:t>LINK: the two-panel event study on the next slide.</a:t>
            </a:r>
          </a:p>
        </p:txBody>
      </p:sp>
      <p:sp>
        <p:nvSpPr>
          <p:cNvPr id="2267" name="Google Shape;2267;p10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3" name="Shape 2283"/>
        <p:cNvGrpSpPr/>
        <p:nvPr/>
      </p:nvGrpSpPr>
      <p:grpSpPr>
        <a:xfrm>
          <a:off x="0" y="0"/>
          <a:ext cx="0" cy="0"/>
          <a:chOff x="0" y="0"/>
          <a:chExt cx="0" cy="0"/>
        </a:xfrm>
      </p:grpSpPr>
      <p:sp>
        <p:nvSpPr>
          <p:cNvPr id="2284" name="Google Shape;2284;p1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5" name="Google Shape;2285;p1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the modern-methods slide.</a:t>
            </a:r>
          </a:p>
          <a:p>
            <a:r>
              <a:t>This literature is recent enough that experienced practitioners have often not internalised it, so state the mechanism rather than citing papers. With activation in periods 10, 13, 16 and 19, two-way fixed effects forms comparisons where an already-treated region controls for a later adopter, and when effects change over time those contrasts enter with negative weights. Keep it grounded: the full effect is plus 3.0 pp, TWFE recovers plus 2.6 pp, and that attenuation traces to the deliberate two-month ramp-in.</a:t>
            </a:r>
          </a:p>
          <a:p>
            <a:r>
              <a:t>ASK: Why does a two-month ramp-in attenuate TWFE here? Steer to: early post-periods carrying partial effects are used as control periods for later adopters.</a:t>
            </a:r>
          </a:p>
          <a:p>
            <a:r>
              <a:t>WATCH FOR: treating the plus 2.6 pp as a bug in the lab; it is the teaching point.</a:t>
            </a:r>
          </a:p>
          <a:p>
            <a:r>
              <a:t>LINK: Lab 4 compares TWFE with Callaway-Sant'Anna.</a:t>
            </a:r>
          </a:p>
        </p:txBody>
      </p:sp>
      <p:sp>
        <p:nvSpPr>
          <p:cNvPr id="2286" name="Google Shape;2286;p10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2" name="Shape 2302"/>
        <p:cNvGrpSpPr/>
        <p:nvPr/>
      </p:nvGrpSpPr>
      <p:grpSpPr>
        <a:xfrm>
          <a:off x="0" y="0"/>
          <a:ext cx="0" cy="0"/>
          <a:chOff x="0" y="0"/>
          <a:chExt cx="0" cy="0"/>
        </a:xfrm>
      </p:grpSpPr>
      <p:sp>
        <p:nvSpPr>
          <p:cNvPr id="2303" name="Google Shape;2303;p10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4" name="Google Shape;2304;p10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the one-treated-unit design.</a:t>
            </a:r>
          </a:p>
          <a:p>
            <a:r>
              <a:t>Position it by the data situation rather than the mathematics. With a single treated region there is no group to average over and DiD's comparison group becomes a judgement call; synthetic control makes that judgement explicit by choosing weights that reproduce the treated unit's pre-treatment path. Emphasise the two honesty constraints, non-negative weights summing to one, so there is no extrapolation beyond the donor pool. Then explain placebo inference, which is a permutation test in disguise.</a:t>
            </a:r>
          </a:p>
          <a:p>
            <a:r>
              <a:t>ASK: The synthetic unit tracks the pre-period almost perfectly using fourteen donors. Reassuring? Steer to: be careful, since a long pre-period with few donors convinces while a perfect fit with many is often overfitting.</a:t>
            </a:r>
          </a:p>
          <a:p>
            <a:r>
              <a:t>WATCH FOR: reporting a p-value from a standard regression; inference here comes from placebos.</a:t>
            </a:r>
          </a:p>
          <a:p>
            <a:r>
              <a:t>LINK: Lab 4 offers this as the single-region extension.</a:t>
            </a:r>
          </a:p>
        </p:txBody>
      </p:sp>
      <p:sp>
        <p:nvSpPr>
          <p:cNvPr id="2305" name="Google Shape;2305;p10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5" name="Shape 2325"/>
        <p:cNvGrpSpPr/>
        <p:nvPr/>
      </p:nvGrpSpPr>
      <p:grpSpPr>
        <a:xfrm>
          <a:off x="0" y="0"/>
          <a:ext cx="0" cy="0"/>
          <a:chOff x="0" y="0"/>
          <a:chExt cx="0" cy="0"/>
        </a:xfrm>
      </p:grpSpPr>
      <p:sp>
        <p:nvSpPr>
          <p:cNvPr id="2326" name="Google Shape;2326;p10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7" name="Google Shape;2327;p10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knowledge check closing Hour 3.</a:t>
            </a:r>
          </a:p>
          <a:p>
            <a:r>
              <a:t>Q1 is B, parallel trends. A is the strongest distractor because DiD does tolerate confounders, specifically time-invariant ones, so no confounders overstates the requirement in a way that sounds rigorous. Q2 is B; C is the tempting misreading, since near-zero pre-period coefficients say nothing about the effect and everything about the assumption. Q3 is B, already-treated units as controls, the forbidden comparison from the staggered-adoption slide.</a:t>
            </a:r>
          </a:p>
          <a:p>
            <a:r>
              <a:t>ASK: How much evidence is a flat pre-period, really? Steer to: supportive but never conclusive, because the assumption concerns an unobservable post-period counterfactual.</a:t>
            </a:r>
          </a:p>
          <a:p>
            <a:r>
              <a:t>WATCH FOR: participants choosing A on Q1; use it to restate what DiD absorbs for free against what it cannot touch.</a:t>
            </a:r>
          </a:p>
        </p:txBody>
      </p:sp>
      <p:sp>
        <p:nvSpPr>
          <p:cNvPr id="2328" name="Google Shape;2328;p10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9" name="Shape 2349"/>
        <p:cNvGrpSpPr/>
        <p:nvPr/>
      </p:nvGrpSpPr>
      <p:grpSpPr>
        <a:xfrm>
          <a:off x="0" y="0"/>
          <a:ext cx="0" cy="0"/>
          <a:chOff x="0" y="0"/>
          <a:chExt cx="0" cy="0"/>
        </a:xfrm>
      </p:grpSpPr>
      <p:sp>
        <p:nvSpPr>
          <p:cNvPr id="2350" name="Google Shape;2350;p1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1" name="Google Shape;2351;p1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opens Day 3 Hour 4.</a:t>
            </a:r>
          </a:p>
          <a:p>
            <a:r>
              <a:t>One sentence of framing, then move. Both designs in this hour give up on measuring confounders and instead hunt for variation that is as good as random, either an instrument that shifts treatment without touching the outcome or a threshold that assigns it. Flag the price up front: both estimate a local effect for a specific subpopulation, and both trade precision for credibility. Two-stage least squares recovers plus 7.8 pp here against a true local effect of plus 8.0 pp.</a:t>
            </a:r>
          </a:p>
          <a:p>
            <a:r>
              <a:t>ASK: Why accept an interval three times wider than OLS? Steer to: because the narrow one is centred in the wrong place, since the biased OLS estimate is plus 10.9 pp.</a:t>
            </a:r>
          </a:p>
          <a:p>
            <a:r>
              <a:t>WATCH FOR: the expectation that IV is a general fix for confounding; it answers a narrower question about compliers.</a:t>
            </a:r>
          </a:p>
          <a:p>
            <a:r>
              <a:t>LINK: the online-filing example, instrument log_distance_km, first-stage F about 2,100.</a:t>
            </a:r>
          </a:p>
        </p:txBody>
      </p:sp>
      <p:sp>
        <p:nvSpPr>
          <p:cNvPr id="2352" name="Google Shape;2352;p1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0" name="Shape 2360"/>
        <p:cNvGrpSpPr/>
        <p:nvPr/>
      </p:nvGrpSpPr>
      <p:grpSpPr>
        <a:xfrm>
          <a:off x="0" y="0"/>
          <a:ext cx="0" cy="0"/>
          <a:chOff x="0" y="0"/>
          <a:chExt cx="0" cy="0"/>
        </a:xfrm>
      </p:grpSpPr>
      <p:sp>
        <p:nvSpPr>
          <p:cNvPr id="2361" name="Google Shape;2361;p1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2" name="Google Shape;2362;p1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3, Hour 4, opening the IV block after DiD.</a:t>
            </a:r>
          </a:p>
          <a:p>
            <a:r>
              <a:t>IV is not a trick, it is a hunt for a lever the confounder cannot reach. Of the three conditions only relevance is testable; exclusion and independence are arguments you defend, which is why IV work lives or dies in the discussion section rather than the results table. Introduce the course instrument now: log distance to the nearest service centre, with a planted LATE of +8.0 pp against a confounded OLS of +10.9 pp.</a:t>
            </a:r>
          </a:p>
          <a:p>
            <a:r>
              <a:t>ASK: Name a variable in your own work that moves uptake but has no other route to the outcome. Steer to administrative or geographic accidents, not user attributes.</a:t>
            </a:r>
          </a:p>
          <a:p>
            <a:r>
              <a:t>WATCH FOR: Offering a strong predictor of the outcome as the instrument. Predictive power is exactly the wrong criterion.</a:t>
            </a:r>
          </a:p>
          <a:p>
            <a:r>
              <a:t>LINK: The valve figure next; the 2SLS step in Lab 3.</a:t>
            </a:r>
          </a:p>
        </p:txBody>
      </p:sp>
      <p:sp>
        <p:nvSpPr>
          <p:cNvPr id="2363" name="Google Shape;2363;p1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3" name="Shape 2383"/>
        <p:cNvGrpSpPr/>
        <p:nvPr/>
      </p:nvGrpSpPr>
      <p:grpSpPr>
        <a:xfrm>
          <a:off x="0" y="0"/>
          <a:ext cx="0" cy="0"/>
          <a:chOff x="0" y="0"/>
          <a:chExt cx="0" cy="0"/>
        </a:xfrm>
      </p:grpSpPr>
      <p:sp>
        <p:nvSpPr>
          <p:cNvPr id="2384" name="Google Shape;2384;p1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5" name="Google Shape;2385;p1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3, Hour 4, the interpretation slide participants skim.</a:t>
            </a:r>
          </a:p>
          <a:p>
            <a:r>
              <a:t>IV changes the estimand, not just the estimator. The +7.8 pp that 2SLS recovers is the effect among citizens whose filing behaviour distance actually moves; it is silent about people who would file online from anywhere and about those who never would. Make the complier concrete before naming the acronym: the citizen who files online only because the office is far.</a:t>
            </a:r>
          </a:p>
          <a:p>
            <a:r>
              <a:t>ASK: Who are the compliers here, in one sentence a minister would understand? Steer to citizens at the margin of convenience, not the eligible base.</a:t>
            </a:r>
          </a:p>
          <a:p>
            <a:r>
              <a:t>WATCH FOR: Treating LATE as a slightly weaker ATE. It is a different quantity for a different group, and a policy aimed at always-takers is not informed by it at all.</a:t>
            </a:r>
          </a:p>
          <a:p>
            <a:r>
              <a:t>LINK: Internal versus external validity on Day 4.</a:t>
            </a:r>
          </a:p>
        </p:txBody>
      </p:sp>
      <p:sp>
        <p:nvSpPr>
          <p:cNvPr id="2386" name="Google Shape;2386;p1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5" name="Shape 2405"/>
        <p:cNvGrpSpPr/>
        <p:nvPr/>
      </p:nvGrpSpPr>
      <p:grpSpPr>
        <a:xfrm>
          <a:off x="0" y="0"/>
          <a:ext cx="0" cy="0"/>
          <a:chOff x="0" y="0"/>
          <a:chExt cx="0" cy="0"/>
        </a:xfrm>
      </p:grpSpPr>
      <p:sp>
        <p:nvSpPr>
          <p:cNvPr id="2406" name="Google Shape;2406;p1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7" name="Google Shape;2407;p1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3, Hour 4, the failure catalogue.</a:t>
            </a:r>
          </a:p>
          <a:p>
            <a:r>
              <a:t>Emphasise the asymmetry: weak-instrument bias pulls 2SLS back toward the confounded OLS number, so a weak instrument hands you a confident wrong answer, not a noisy honest one. Contrast the course case, where an F near 2,100 makes weakness a non-issue, with the typical published instrument scraping past 10. Then name IV's price even when it works: the interval here is about three times wider than OLS.</a:t>
            </a:r>
          </a:p>
          <a:p>
            <a:r>
              <a:t>ASK: Your first-stage F is 6. What do you report? Steer to reporting the weak first stage and reframing the claim, not cycling estimators until one turns significant.</a:t>
            </a:r>
          </a:p>
          <a:p>
            <a:r>
              <a:t>WATCH FOR: Believing an over-identification test proves exclusion. It only checks whether instruments agree, and they can be jointly invalid.</a:t>
            </a:r>
          </a:p>
          <a:p>
            <a:r>
              <a:t>LINK: Lab 3, step 5.</a:t>
            </a:r>
          </a:p>
        </p:txBody>
      </p:sp>
      <p:sp>
        <p:nvSpPr>
          <p:cNvPr id="2408" name="Google Shape;2408;p1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4" name="Shape 2424"/>
        <p:cNvGrpSpPr/>
        <p:nvPr/>
      </p:nvGrpSpPr>
      <p:grpSpPr>
        <a:xfrm>
          <a:off x="0" y="0"/>
          <a:ext cx="0" cy="0"/>
          <a:chOff x="0" y="0"/>
          <a:chExt cx="0" cy="0"/>
        </a:xfrm>
      </p:grpSpPr>
      <p:sp>
        <p:nvSpPr>
          <p:cNvPr id="2425" name="Google Shape;2425;p1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6" name="Google Shape;2426;p1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3, Hour 4, the last design in the toolbox.</a:t>
            </a:r>
          </a:p>
          <a:p>
            <a:r>
              <a:t>Sell RDD as the most credible observational design available, because the assignment rule is written down and auditable rather than assumed. The sentence to land: just around the cutoff, which side a unit falls on is close to a coin flip, so you buy a small randomised experiment and pay with an estimand covering only that window. Say bandwidth aloud as bias against variance.</a:t>
            </a:r>
          </a:p>
          <a:p>
            <a:r>
              <a:t>ASK: Where in your own service delivery does a number decide who gets what? Steer to eligibility scores, headcount bands, income cutoffs, queue triggers.</a:t>
            </a:r>
          </a:p>
          <a:p>
            <a:r>
              <a:t>WATCH FOR: Hearing fuzzy RDD as a broken design. Fuzzy is legitimate; it is IV at the boundary and identifies a LATE at the cutoff.</a:t>
            </a:r>
          </a:p>
          <a:p>
            <a:r>
              <a:t>LINK: The training-subsidy case on Day 4, built on a headcount cutoff.</a:t>
            </a:r>
          </a:p>
        </p:txBody>
      </p:sp>
      <p:sp>
        <p:nvSpPr>
          <p:cNvPr id="2427" name="Google Shape;2427;p1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7" name="Shape 2447"/>
        <p:cNvGrpSpPr/>
        <p:nvPr/>
      </p:nvGrpSpPr>
      <p:grpSpPr>
        <a:xfrm>
          <a:off x="0" y="0"/>
          <a:ext cx="0" cy="0"/>
          <a:chOff x="0" y="0"/>
          <a:chExt cx="0" cy="0"/>
        </a:xfrm>
      </p:grpSpPr>
      <p:sp>
        <p:nvSpPr>
          <p:cNvPr id="2448" name="Google Shape;2448;p1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9" name="Google Shape;2449;p1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3, Hour 4, the diagnostics that make an RDD defensible.</a:t>
            </a:r>
          </a:p>
          <a:p>
            <a:r>
              <a:t>Frame all three as attempts to falsify your own design. The density test asks whether units saw the cutoff coming: if firms know the headcount rule they sit just under it, and the pile-up shows in the histogram. Covariate continuity is the RDD version of a balance table. Bandwidth robustness is where reviewers push hardest, so present a curve of estimates rather than one chosen number.</a:t>
            </a:r>
          </a:p>
          <a:p>
            <a:r>
              <a:t>ASK: Which is worse, a small density spike or a jump in a pre-treatment covariate? Steer to the covariate jump, direct evidence something else changes at the threshold.</a:t>
            </a:r>
          </a:p>
          <a:p>
            <a:r>
              <a:t>WATCH FOR: Picking the bandwidth after seeing which gives significance. That is Day 2's peeking problem in different clothes.</a:t>
            </a:r>
          </a:p>
          <a:p>
            <a:r>
              <a:t>LINK: Lab 3, step 5.</a:t>
            </a:r>
          </a:p>
        </p:txBody>
      </p:sp>
      <p:sp>
        <p:nvSpPr>
          <p:cNvPr id="2450" name="Google Shape;2450;p1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6" name="Shape 2466"/>
        <p:cNvGrpSpPr/>
        <p:nvPr/>
      </p:nvGrpSpPr>
      <p:grpSpPr>
        <a:xfrm>
          <a:off x="0" y="0"/>
          <a:ext cx="0" cy="0"/>
          <a:chOff x="0" y="0"/>
          <a:chExt cx="0" cy="0"/>
        </a:xfrm>
      </p:grpSpPr>
      <p:sp>
        <p:nvSpPr>
          <p:cNvPr id="2467" name="Google Shape;2467;p1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8" name="Google Shape;2468;p1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3, Hour 4, consolidation before the knowledge check.</a:t>
            </a:r>
          </a:p>
          <a:p>
            <a:r>
              <a:t>Do not read the columns. Give the selection rule as one question: does this process contain a nudge or a threshold? A nudge that moves take-up gives IV and a LATE for compliers; a written rule on a running variable gives RDD and a local effect at the cutoff. Both are local estimands, the honest cost of credibility, and both die from an untestable assumption.</a:t>
            </a:r>
          </a:p>
          <a:p>
            <a:r>
              <a:t>ASK: Distance could support either design. How would you turn it into an RDD? Steer to a catchment boundary where the assigned office flips discontinuously.</a:t>
            </a:r>
          </a:p>
          <a:p>
            <a:r>
              <a:t>WATCH FOR: Ranking designs by strength in the abstract. Credibility comes from the institutional facts of the case, not the method's reputation.</a:t>
            </a:r>
          </a:p>
          <a:p>
            <a:r>
              <a:t>LINK: The design-choice discussion later this hour.</a:t>
            </a:r>
          </a:p>
        </p:txBody>
      </p:sp>
      <p:sp>
        <p:nvSpPr>
          <p:cNvPr id="2469" name="Google Shape;2469;p1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9" name="Shape 2499"/>
        <p:cNvGrpSpPr/>
        <p:nvPr/>
      </p:nvGrpSpPr>
      <p:grpSpPr>
        <a:xfrm>
          <a:off x="0" y="0"/>
          <a:ext cx="0" cy="0"/>
          <a:chOff x="0" y="0"/>
          <a:chExt cx="0" cy="0"/>
        </a:xfrm>
      </p:grpSpPr>
      <p:sp>
        <p:nvSpPr>
          <p:cNvPr id="2500" name="Google Shape;2500;p1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1" name="Google Shape;2501;p1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3, Hour 4, closing the quasi-experimental block.</a:t>
            </a:r>
          </a:p>
          <a:p>
            <a:r>
              <a:t>Vote by show of hands before revealing anything, and spend the time on wrong answers. Q1 is B: an F of 3 is far under the rule of thumb of 10, and the harm is bias toward OLS, not noise. C confuses relevance with exclusion, which no F can speak to. Q2 is C, LATE; ITT tempts anyone recalling Day 2's trigger dilution. Q3 is B, and A appeals to people who read any sharp feature at the cutoff as success.</a:t>
            </a:r>
          </a:p>
          <a:p>
            <a:r>
              <a:t>ASK: On Q2, why is ITT wrong rather than merely different? Steer to ITT being the effect of assignment, which IV rescales onto compliers.</a:t>
            </a:r>
          </a:p>
          <a:p>
            <a:r>
              <a:t>WATCH FOR: Silent agreement. Make at least one person defend a distractor aloud.</a:t>
            </a:r>
          </a:p>
        </p:txBody>
      </p:sp>
      <p:sp>
        <p:nvSpPr>
          <p:cNvPr id="2502" name="Google Shape;2502;p1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3" name="Shape 2523"/>
        <p:cNvGrpSpPr/>
        <p:nvPr/>
      </p:nvGrpSpPr>
      <p:grpSpPr>
        <a:xfrm>
          <a:off x="0" y="0"/>
          <a:ext cx="0" cy="0"/>
          <a:chOff x="0" y="0"/>
          <a:chExt cx="0" cy="0"/>
        </a:xfrm>
      </p:grpSpPr>
      <p:sp>
        <p:nvSpPr>
          <p:cNvPr id="2524" name="Google Shape;2524;p1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5" name="Google Shape;2525;p1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3, Hour 5, divider into the lab.</a:t>
            </a:r>
          </a:p>
          <a:p>
            <a:r>
              <a:t>Two sentences, then move. Set the expectation that the four estimates will not agree and that the disagreement is the learning objective: on the training data the naive difference is +11.5 pp against a truth of +6.0 pp, and every method lands somewhere in that gap for a nameable reason. The deliverable is the reconciliation paragraph, not the notebook.</a:t>
            </a:r>
          </a:p>
          <a:p>
            <a:r>
              <a:t>ASK: What spread across four estimators would worry you? Steer away from a numeric threshold; what matters is whether you can explain the spread.</a:t>
            </a:r>
          </a:p>
          <a:p>
            <a:r>
              <a:t>WATCH FOR: Treating this as a race to match ground truth. Real work has no answer key, which is why the assumption-naming discipline is what transfers.</a:t>
            </a:r>
          </a:p>
          <a:p>
            <a:r>
              <a:t>LINK: lab3 notebook, injaz_users.csv.</a:t>
            </a:r>
          </a:p>
        </p:txBody>
      </p:sp>
      <p:sp>
        <p:nvSpPr>
          <p:cNvPr id="2526" name="Google Shape;2526;p1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4" name="Shape 2534"/>
        <p:cNvGrpSpPr/>
        <p:nvPr/>
      </p:nvGrpSpPr>
      <p:grpSpPr>
        <a:xfrm>
          <a:off x="0" y="0"/>
          <a:ext cx="0" cy="0"/>
          <a:chOff x="0" y="0"/>
          <a:chExt cx="0" cy="0"/>
        </a:xfrm>
      </p:grpSpPr>
      <p:sp>
        <p:nvSpPr>
          <p:cNvPr id="2535" name="Google Shape;2535;p1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6" name="Google Shape;2536;p1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3, Hour 5, the lab brief; hold to five minutes.</a:t>
            </a:r>
          </a:p>
          <a:p>
            <a:r>
              <a:t>Read the objective, then spend your time on the two steps people rush. In step 1 the adjustment set is digital_literacy and device_age; support_calls is a mediator, and controlling for it visibly destroys the estimate. In step 3 make them plot the weight distribution before trimming, because one weight of 400 explains more of the IPW answer than any coefficient. Cross-fitting is not optional in step 4.</a:t>
            </a:r>
          </a:p>
          <a:p>
            <a:r>
              <a:t>ASK: Which two estimates should agree most closely, and why? Steer to regression and doubly-robust, which share an outcome model where overlap is good.</a:t>
            </a:r>
          </a:p>
          <a:p>
            <a:r>
              <a:t>WATCH FOR: Groups debugging for forty minutes and never writing the reconciliation. Announce a hard checkpoint two-thirds through.</a:t>
            </a:r>
          </a:p>
          <a:p>
            <a:r>
              <a:t>LINK: causal_utils, lab3, injaz_users.csv.</a:t>
            </a:r>
          </a:p>
        </p:txBody>
      </p:sp>
      <p:sp>
        <p:nvSpPr>
          <p:cNvPr id="2537" name="Google Shape;2537;p1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7" name="Shape 2567"/>
        <p:cNvGrpSpPr/>
        <p:nvPr/>
      </p:nvGrpSpPr>
      <p:grpSpPr>
        <a:xfrm>
          <a:off x="0" y="0"/>
          <a:ext cx="0" cy="0"/>
          <a:chOff x="0" y="0"/>
          <a:chExt cx="0" cy="0"/>
        </a:xfrm>
      </p:grpSpPr>
      <p:sp>
        <p:nvSpPr>
          <p:cNvPr id="2568" name="Google Shape;2568;p1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9" name="Google Shape;2569;p1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3, Hour 5, straight after the lab.</a:t>
            </a:r>
          </a:p>
          <a:p>
            <a:r>
              <a:t>Collect three groups' tables on the board before saying anything; the spread across the room teaches better than any single table. The recurring story is that matching recovers the +6.0 pp ATT cleanly, landing at +6.5, worst absolute SMD falling from 0.57 to 0.03, while untrimmed IPW wanders and the doubly-robust estimate sits stable between them. Then land the honesty point: Rosenbaum Gamma is only about 1.2.</a:t>
            </a:r>
          </a:p>
          <a:p>
            <a:r>
              <a:t>ASK: Two methods agree. Is that evidence, or shared bias? Steer to the fact that agreement counts only when the assumptions differ.</a:t>
            </a:r>
          </a:p>
          <a:p>
            <a:r>
              <a:t>WATCH FOR: Crowning the doubly-robust estimate the winner. It forgives model form, not an unmeasured confounder.</a:t>
            </a:r>
          </a:p>
          <a:p>
            <a:r>
              <a:t>LINK: Sensitivity analysis on Day 4.</a:t>
            </a:r>
          </a:p>
        </p:txBody>
      </p:sp>
      <p:sp>
        <p:nvSpPr>
          <p:cNvPr id="2570" name="Google Shape;2570;p1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6" name="Shape 2586"/>
        <p:cNvGrpSpPr/>
        <p:nvPr/>
      </p:nvGrpSpPr>
      <p:grpSpPr>
        <a:xfrm>
          <a:off x="0" y="0"/>
          <a:ext cx="0" cy="0"/>
          <a:chOff x="0" y="0"/>
          <a:chExt cx="0" cy="0"/>
        </a:xfrm>
      </p:grpSpPr>
      <p:sp>
        <p:nvSpPr>
          <p:cNvPr id="2587" name="Google Shape;2587;p1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8" name="Google Shape;2588;p1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3, Hour 5, small-group discussion closing the toolbox.</a:t>
            </a:r>
          </a:p>
          <a:p>
            <a:r>
              <a:t>Give each table one scenario and three minutes, then force a fixed answer form: estimand, design, the one assumption it rests on, and the check that would break it. The value is in the last two items, so cut off any group that only names a method. Push back on unconfoundedness with rich covariates by asking what a caseworker used but never recorded.</a:t>
            </a:r>
          </a:p>
          <a:p>
            <a:r>
              <a:t>ASK: Which assumption is least implausible here, and what evidence would change your mind? Steer to ranking by institutional facts, not prestige.</a:t>
            </a:r>
          </a:p>
          <a:p>
            <a:r>
              <a:t>WATCH FOR: Method-first reasoning, where a group picks DiD because they enjoyed the panel exercise and then hunts for a start date. Design follows assignment.</a:t>
            </a:r>
          </a:p>
          <a:p>
            <a:r>
              <a:t>LINK: The three real-world cases on Day 4.</a:t>
            </a:r>
          </a:p>
        </p:txBody>
      </p:sp>
      <p:sp>
        <p:nvSpPr>
          <p:cNvPr id="2589" name="Google Shape;2589;p1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6" name="Shape 2606"/>
        <p:cNvGrpSpPr/>
        <p:nvPr/>
      </p:nvGrpSpPr>
      <p:grpSpPr>
        <a:xfrm>
          <a:off x="0" y="0"/>
          <a:ext cx="0" cy="0"/>
          <a:chOff x="0" y="0"/>
          <a:chExt cx="0" cy="0"/>
        </a:xfrm>
      </p:grpSpPr>
      <p:sp>
        <p:nvSpPr>
          <p:cNvPr id="2607" name="Google Shape;2607;p1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8" name="Google Shape;2608;p1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3 wrap, last slide of the day.</a:t>
            </a:r>
          </a:p>
          <a:p>
            <a:r>
              <a:t>Compress rather than review. Every observational design borrows a piece of randomisation's logic from somewhere: DiD from timing, IV from a nudge, RDD from a rule, and adjustment methods simply assume they have it. Make the last box the memorable one, that each design has exactly one load-bearing assumption you must name before anyone asks. Cite the day's numbers once: +11.5 against +6.0, TWFE +2.6 against +3.0, 2SLS +7.8 against +8.0.</a:t>
            </a:r>
          </a:p>
          <a:p>
            <a:r>
              <a:t>ASK: Which of today's designs would you defend most confidently to a skeptical director? Steer toward RDD when a real written rule exists.</a:t>
            </a:r>
          </a:p>
          <a:p>
            <a:r>
              <a:t>WATCH FOR: Fatigue turning this into a reading exercise. Ask for the assumption, not the method name.</a:t>
            </a:r>
          </a:p>
          <a:p>
            <a:r>
              <a:t>LINK: Day 4 opens with uncertainty.</a:t>
            </a:r>
          </a:p>
        </p:txBody>
      </p:sp>
      <p:sp>
        <p:nvSpPr>
          <p:cNvPr id="2609" name="Google Shape;2609;p1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1" name="Shape 2631"/>
        <p:cNvGrpSpPr/>
        <p:nvPr/>
      </p:nvGrpSpPr>
      <p:grpSpPr>
        <a:xfrm>
          <a:off x="0" y="0"/>
          <a:ext cx="0" cy="0"/>
          <a:chOff x="0" y="0"/>
          <a:chExt cx="0" cy="0"/>
        </a:xfrm>
      </p:grpSpPr>
      <p:sp>
        <p:nvSpPr>
          <p:cNvPr id="2632" name="Google Shape;2632;p1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3" name="Google Shape;2633;p1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4 opening divider.</a:t>
            </a:r>
          </a:p>
          <a:p>
            <a:r>
              <a:t>Two sentences and move. Frame Day 4 as the day the course stops adding designs and starts asking how much any of it should be trusted; the first three days built estimates, today builds the case for or against them. Tell them the day ends in a capstone where the correct answer is deliberately not ship, so they should expect to defend a judgement rather than produce a number.</a:t>
            </a:r>
          </a:p>
          <a:p>
            <a:r>
              <a:t>ASK: What is the most uncomfortable question a director could ask about your last analysis? Steer to assumptions and generalisation rather than code.</a:t>
            </a:r>
          </a:p>
          <a:p>
            <a:r>
              <a:t>WATCH FOR: Assuming today is lighter because there is less mathematics. Estimand definition and sensitivity are where senior practitioners are separated from junior ones.</a:t>
            </a:r>
          </a:p>
          <a:p>
            <a:r>
              <a:t>LINK: The capstone and injaz_autofill_ab.csv later today.</a:t>
            </a:r>
          </a:p>
        </p:txBody>
      </p:sp>
      <p:sp>
        <p:nvSpPr>
          <p:cNvPr id="2634" name="Google Shape;2634;p1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2" name="Shape 2642"/>
        <p:cNvGrpSpPr/>
        <p:nvPr/>
      </p:nvGrpSpPr>
      <p:grpSpPr>
        <a:xfrm>
          <a:off x="0" y="0"/>
          <a:ext cx="0" cy="0"/>
          <a:chOff x="0" y="0"/>
          <a:chExt cx="0" cy="0"/>
        </a:xfrm>
      </p:grpSpPr>
      <p:sp>
        <p:nvSpPr>
          <p:cNvPr id="2643" name="Google Shape;2643;p1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4" name="Google Shape;2644;p1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4 overview, after the divider.</a:t>
            </a:r>
          </a:p>
          <a:p>
            <a:r>
              <a:t>Set the day's rhythm rather than list contents. The first two hours are the professional standards hours, the third is where those standards meet real decisions, and the last two are assessed. The scheduling point that matters is that Hour 4 is a working block, not a demonstration, so anyone who drifts in Hours 1 and 2 will feel it. Flag that the post-test covers all four days.</a:t>
            </a:r>
          </a:p>
          <a:p>
            <a:r>
              <a:t>ASK: Who has had an analysis rejected for its standard errors rather than its estimate? Steer to inference errors being the commonest reason good work is sent back.</a:t>
            </a:r>
          </a:p>
          <a:p>
            <a:r>
              <a:t>WATCH FOR: Participants planning to start the capstone during Hour 3. The case studies contain the reasoning template the memo is graded against.</a:t>
            </a:r>
          </a:p>
          <a:p>
            <a:r>
              <a:t>LINK: Capstone rubric, Hour 4.</a:t>
            </a:r>
          </a:p>
        </p:txBody>
      </p:sp>
      <p:sp>
        <p:nvSpPr>
          <p:cNvPr id="2645" name="Google Shape;2645;p1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6" name="Shape 2666"/>
        <p:cNvGrpSpPr/>
        <p:nvPr/>
      </p:nvGrpSpPr>
      <p:grpSpPr>
        <a:xfrm>
          <a:off x="0" y="0"/>
          <a:ext cx="0" cy="0"/>
          <a:chOff x="0" y="0"/>
          <a:chExt cx="0" cy="0"/>
        </a:xfrm>
      </p:grpSpPr>
      <p:sp>
        <p:nvSpPr>
          <p:cNvPr id="2667" name="Google Shape;2667;p1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8" name="Google Shape;2668;p1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1, the frame for the whole day.</a:t>
            </a:r>
          </a:p>
          <a:p>
            <a:r>
              <a:t>This is the most important idea of the day and it is not mathematical. Sampling uncertainty asks what happens under a different draw; identification uncertainty asks what happens if the design is wrong. Make it concrete with yesterday's data: the matched training estimate has a respectable interval around +6.5 pp, but a Rosenbaum Gamma near 1.2 says a modest hidden confounder overturns it, and no standard error reflects that. Pause on the trap box.</a:t>
            </a:r>
          </a:p>
          <a:p>
            <a:r>
              <a:t>ASK: Which layer dominates in observational work, and which in a clean randomised test? Steer to identification and sampling respectively.</a:t>
            </a:r>
          </a:p>
          <a:p>
            <a:r>
              <a:t>WATCH FOR: Believing a bigger sample fixes both. More data tightens the interval around a biased number, making false precision worse.</a:t>
            </a:r>
          </a:p>
          <a:p>
            <a:r>
              <a:t>LINK: Sensitivity analysis in Hour 2.</a:t>
            </a:r>
          </a:p>
        </p:txBody>
      </p:sp>
      <p:sp>
        <p:nvSpPr>
          <p:cNvPr id="2669" name="Google Shape;2669;p1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8" name="Shape 2688"/>
        <p:cNvGrpSpPr/>
        <p:nvPr/>
      </p:nvGrpSpPr>
      <p:grpSpPr>
        <a:xfrm>
          <a:off x="0" y="0"/>
          <a:ext cx="0" cy="0"/>
          <a:chOff x="0" y="0"/>
          <a:chExt cx="0" cy="0"/>
        </a:xfrm>
      </p:grpSpPr>
      <p:sp>
        <p:nvSpPr>
          <p:cNvPr id="2689" name="Google Shape;2689;p1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0" name="Google Shape;2690;p1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1, the practical core of the hour.</a:t>
            </a:r>
          </a:p>
          <a:p>
            <a:r>
              <a:t>Teach one rule with four applications: the standard error must mirror how treatment was assigned. Classical errors are rarely defensible on real service data and are systematically too small. Robust is the sane default for cross-sectional regression, but say clearly that robust does not solve grouping, which is the mistake people make when they think HC3 has covered them. Design-based is natural for the Injaz A/B tests, where the mechanism is known exactly.</a:t>
            </a:r>
          </a:p>
          <a:p>
            <a:r>
              <a:t>ASK: You randomised users but stored one row per session. Which applies? Steer to clustered, and note robust alone would not save you.</a:t>
            </a:r>
          </a:p>
          <a:p>
            <a:r>
              <a:t>WATCH FOR: Treating robust errors as strictly safer. They address heteroskedasticity only and leave within-cluster correlation untouched.</a:t>
            </a:r>
          </a:p>
          <a:p>
            <a:r>
              <a:t>LINK: The session-clustering figure two slides on.</a:t>
            </a:r>
          </a:p>
        </p:txBody>
      </p:sp>
      <p:sp>
        <p:nvSpPr>
          <p:cNvPr id="2691" name="Google Shape;2691;p1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4" name="Shape 2714"/>
        <p:cNvGrpSpPr/>
        <p:nvPr/>
      </p:nvGrpSpPr>
      <p:grpSpPr>
        <a:xfrm>
          <a:off x="0" y="0"/>
          <a:ext cx="0" cy="0"/>
          <a:chOff x="0" y="0"/>
          <a:chExt cx="0" cy="0"/>
        </a:xfrm>
      </p:grpSpPr>
      <p:sp>
        <p:nvSpPr>
          <p:cNvPr id="2715" name="Google Shape;2715;p1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6" name="Google Shape;2716;p1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1, the highest-yield slide of the hour.</a:t>
            </a:r>
          </a:p>
          <a:p>
            <a:r>
              <a:t>State the rule, then make the consequence visceral. On the real Injaz session data the naive session-level standard error is 0.00166 against a user-clustered 0.00267, about 1.6 times wider, and that ratio alone flips borderline results out of significance. Then cover the opposite mistake: clustering correctly but with only eight or twelve clusters, where the usual asymptotics fail and you need a wild cluster bootstrap.</a:t>
            </a:r>
          </a:p>
          <a:p>
            <a:r>
              <a:t>ASK: A reminder campaign rolls out region by region across 13 regions. What is the effective sample size for inference? Steer to 13, not the millions of citizens.</a:t>
            </a:r>
          </a:p>
          <a:p>
            <a:r>
              <a:t>WATCH FOR: Clustering at the level of measurement instead of assignment. That is the wrong rule and it usually leaves the interval too narrow.</a:t>
            </a:r>
          </a:p>
          <a:p>
            <a:r>
              <a:t>LINK: injaz_regions_panel.csv; the next figure.</a:t>
            </a:r>
          </a:p>
        </p:txBody>
      </p:sp>
      <p:sp>
        <p:nvSpPr>
          <p:cNvPr id="2717" name="Google Shape;2717;p1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7" name="Shape 2737"/>
        <p:cNvGrpSpPr/>
        <p:nvPr/>
      </p:nvGrpSpPr>
      <p:grpSpPr>
        <a:xfrm>
          <a:off x="0" y="0"/>
          <a:ext cx="0" cy="0"/>
          <a:chOff x="0" y="0"/>
          <a:chExt cx="0" cy="0"/>
        </a:xfrm>
      </p:grpSpPr>
      <p:sp>
        <p:nvSpPr>
          <p:cNvPr id="2738" name="Google Shape;2738;p1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9" name="Google Shape;2739;p1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4, Hour 1, after the analytic standard errors.</a:t>
            </a:r>
          </a:p>
          <a:p>
            <a:r>
              <a:t>Position the bootstrap as the fallback when the analytic formula is hard, not as a universally safer option. The rule carrying the weight is the second box: resample at the unit of independence, so for session data you resample users and take all their sessions along, reproducing the same 1.6 times widening. Be honest about limits, since the naive bootstrap is invalid for the matching estimators half the room used yesterday.</a:t>
            </a:r>
          </a:p>
          <a:p>
            <a:r>
              <a:t>ASK: How would you bootstrap the regional panel? Steer to resampling whole regions with all 24 months attached, not individual region-months.</a:t>
            </a:r>
          </a:p>
          <a:p>
            <a:r>
              <a:t>WATCH FOR: Thinking more replicates rescue an invalid bootstrap. Replicates cut Monte Carlo noise only; they cannot repair the wrong resampling unit.</a:t>
            </a:r>
          </a:p>
          <a:p>
            <a:r>
              <a:t>LINK: Lab 3 matching; capstone step 4.</a:t>
            </a:r>
          </a:p>
        </p:txBody>
      </p:sp>
      <p:sp>
        <p:nvSpPr>
          <p:cNvPr id="2740" name="Google Shape;2740;p1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6" name="Shape 2756"/>
        <p:cNvGrpSpPr/>
        <p:nvPr/>
      </p:nvGrpSpPr>
      <p:grpSpPr>
        <a:xfrm>
          <a:off x="0" y="0"/>
          <a:ext cx="0" cy="0"/>
          <a:chOff x="0" y="0"/>
          <a:chExt cx="0" cy="0"/>
        </a:xfrm>
      </p:grpSpPr>
      <p:sp>
        <p:nvSpPr>
          <p:cNvPr id="2757" name="Google Shape;2757;p1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8" name="Google Shape;2758;p1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1, the bridge from inference to decisions.</a:t>
            </a:r>
          </a:p>
          <a:p>
            <a:r>
              <a:t>Give the frequentist definition once, correctly, then move to how intervals are actually used. Width is the message, and a wide interval crossing zero means underpowered, not null. Make it concrete with Day 2's power numbers: at a 55% baseline you need roughly 9,700 per arm for +2.0 pp and about 155,000 for +0.5 pp, so most inconclusive results were guaranteed by the sample size before launch.</a:t>
            </a:r>
          </a:p>
          <a:p>
            <a:r>
              <a:t>ASK: A test returns +0.4 pp with an interval from -1.1 to +1.9. What do you tell the product owner? Steer to saying it could not have detected a plausible effect.</a:t>
            </a:r>
          </a:p>
          <a:p>
            <a:r>
              <a:t>WATCH FOR: Reading non-significance as evidence of no effect. Ask what the interval rules out; usually almost nothing.</a:t>
            </a:r>
          </a:p>
          <a:p>
            <a:r>
              <a:t>LINK: The decision figure next.</a:t>
            </a:r>
          </a:p>
        </p:txBody>
      </p:sp>
      <p:sp>
        <p:nvSpPr>
          <p:cNvPr id="2759" name="Google Shape;2759;p1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5" name="Shape 2775"/>
        <p:cNvGrpSpPr/>
        <p:nvPr/>
      </p:nvGrpSpPr>
      <p:grpSpPr>
        <a:xfrm>
          <a:off x="0" y="0"/>
          <a:ext cx="0" cy="0"/>
          <a:chOff x="0" y="0"/>
          <a:chExt cx="0" cy="0"/>
        </a:xfrm>
      </p:grpSpPr>
      <p:sp>
        <p:nvSpPr>
          <p:cNvPr id="2776" name="Google Shape;2776;p1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7" name="Google Shape;2777;p1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4, Hour 1, checklist before the knowledge check.</a:t>
            </a:r>
          </a:p>
          <a:p>
            <a:r>
              <a:t>Do not read the five items. Tell them this is the list a reviewer runs on their memo, and work one item hard: separating sampling from identification uncertainty is the one almost nobody does and the one that most marks out a senior analysis. Add that translating an interval into expected value and downside risk is the difference between a report that is read and one that is acted on.</a:t>
            </a:r>
          </a:p>
          <a:p>
            <a:r>
              <a:t>ASK: Which of these five did you actually do in your last piece of work? Steer to an honest count; in most rooms it is two or three.</a:t>
            </a:r>
          </a:p>
          <a:p>
            <a:r>
              <a:t>WATCH FOR: Treating the list as compliance to append at the end. Every item is a design decision made before data collection.</a:t>
            </a:r>
          </a:p>
          <a:p>
            <a:r>
              <a:t>LINK: The rubric weights diagnostics and sensitivity at 20 percent.</a:t>
            </a:r>
          </a:p>
        </p:txBody>
      </p:sp>
      <p:sp>
        <p:nvSpPr>
          <p:cNvPr id="2778" name="Google Shape;2778;p1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5" name="Shape 2795"/>
        <p:cNvGrpSpPr/>
        <p:nvPr/>
      </p:nvGrpSpPr>
      <p:grpSpPr>
        <a:xfrm>
          <a:off x="0" y="0"/>
          <a:ext cx="0" cy="0"/>
          <a:chOff x="0" y="0"/>
          <a:chExt cx="0" cy="0"/>
        </a:xfrm>
      </p:grpSpPr>
      <p:sp>
        <p:nvSpPr>
          <p:cNvPr id="2796" name="Google Shape;2796;p1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7" name="Google Shape;2797;p1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4, Hour 1, closing the uncertainty hour.</a:t>
            </a:r>
          </a:p>
          <a:p>
            <a:r>
              <a:t>Vote first, discuss after. Q1 is B: treatment is assigned per region, so that is the level of the shock, and A attracts anyone reasoning from where the rows sit rather than where randomisation happened. D tempts people who have heard that few clusters are problematic, but the answer to that is a wild cluster bootstrap, never no clustering. Q2 is C; B is the classic misread of the midpoint as the answer. Q3 is B, which surprises yesterday's bootstrappers.</a:t>
            </a:r>
          </a:p>
          <a:p>
            <a:r>
              <a:t>ASK: On Q1, how many clusters do we have, and does that change the method? Steer to 13 regions, few enough to require the wild cluster bootstrap.</a:t>
            </a:r>
          </a:p>
          <a:p>
            <a:r>
              <a:t>WATCH FOR: Overconfidence on Q3. The failure of the naive bootstrap for matching is genuinely counter-intuitive.</a:t>
            </a:r>
          </a:p>
        </p:txBody>
      </p:sp>
      <p:sp>
        <p:nvSpPr>
          <p:cNvPr id="2798" name="Google Shape;2798;p1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9" name="Shape 2819"/>
        <p:cNvGrpSpPr/>
        <p:nvPr/>
      </p:nvGrpSpPr>
      <p:grpSpPr>
        <a:xfrm>
          <a:off x="0" y="0"/>
          <a:ext cx="0" cy="0"/>
          <a:chOff x="0" y="0"/>
          <a:chExt cx="0" cy="0"/>
        </a:xfrm>
      </p:grpSpPr>
      <p:sp>
        <p:nvSpPr>
          <p:cNvPr id="2820" name="Google Shape;2820;p1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1" name="Google Shape;2821;p1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4, Hour 2 divider.</a:t>
            </a:r>
          </a:p>
          <a:p>
            <a:r>
              <a:t>Two sentences. Frame the hour as giving names to failures they have already met: the collider demo where a correlation moved from 0.00 to -0.20 under conditioning, the roughly +14 pp of selection bias in the uploader simulator, and the support_calls mediator trap. Naming a bias precisely tells you where in the pipeline to fix it, which is the point of a taxonomy.</a:t>
            </a:r>
          </a:p>
          <a:p>
            <a:r>
              <a:t>ASK: What separates a bias you can adjust away from one you cannot? Steer to the line between measured confounding and everything else.</a:t>
            </a:r>
          </a:p>
          <a:p>
            <a:r>
              <a:t>WATCH FOR: Expecting a list to memorise. The hour is about diagnosis, so push them to map each bias onto a stage of their own data pipeline.</a:t>
            </a:r>
          </a:p>
          <a:p>
            <a:r>
              <a:t>LINK: collider_sim.parquet from Day 3.</a:t>
            </a:r>
          </a:p>
        </p:txBody>
      </p:sp>
      <p:sp>
        <p:nvSpPr>
          <p:cNvPr id="2822" name="Google Shape;2822;p1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0" name="Shape 2830"/>
        <p:cNvGrpSpPr/>
        <p:nvPr/>
      </p:nvGrpSpPr>
      <p:grpSpPr>
        <a:xfrm>
          <a:off x="0" y="0"/>
          <a:ext cx="0" cy="0"/>
          <a:chOff x="0" y="0"/>
          <a:chExt cx="0" cy="0"/>
        </a:xfrm>
      </p:grpSpPr>
      <p:sp>
        <p:nvSpPr>
          <p:cNvPr id="2831" name="Google Shape;2831;p1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2" name="Google Shape;2832;p1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2, the organising slide for the bias hour.</a:t>
            </a:r>
          </a:p>
          <a:p>
            <a:r>
              <a:t>Walk the pipeline rather than the list, because where each bias enters is the teaching point. Confounding enters at assignment and is the only one design or adjustment reliably fixes. Selection enters at sampling and retention, with collider conditioning its subtlest form. Measurement enters at instrumentation, and the differential-across-arms version is what actually breaks experiments. Interference lives in the units, where covariate adjustment cannot help at all.</a:t>
            </a:r>
          </a:p>
          <a:p>
            <a:r>
              <a:t>ASK: Which of these four does randomisation not fix? Steer to measurement and interference, both of which survive a perfect coin flip.</a:t>
            </a:r>
          </a:p>
          <a:p>
            <a:r>
              <a:t>WATCH FOR: The reflex that more controls address all four. Controlling a collider or mediator actively creates bias, the commonest own goal in applied work.</a:t>
            </a:r>
          </a:p>
          <a:p>
            <a:r>
              <a:t>LINK: The threats-to-validity review closing this hour.</a:t>
            </a:r>
          </a:p>
        </p:txBody>
      </p:sp>
      <p:sp>
        <p:nvSpPr>
          <p:cNvPr id="2833" name="Google Shape;2833;p1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6" name="Shape 2856"/>
        <p:cNvGrpSpPr/>
        <p:nvPr/>
      </p:nvGrpSpPr>
      <p:grpSpPr>
        <a:xfrm>
          <a:off x="0" y="0"/>
          <a:ext cx="0" cy="0"/>
          <a:chOff x="0" y="0"/>
          <a:chExt cx="0" cy="0"/>
        </a:xfrm>
      </p:grpSpPr>
      <p:sp>
        <p:nvSpPr>
          <p:cNvPr id="2857" name="Google Shape;2857;p1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8" name="Google Shape;2858;p1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2, the distinction that closes Day 3.</a:t>
            </a:r>
          </a:p>
          <a:p>
            <a:r>
              <a:t>Make it land by replaying yesterday. The RDD estimate is internally excellent and externally narrow, describing only units at the cutoff. The IV estimate of +7.8 pp is the effect on compliers, correct and local. Both can be exactly right and still fail the question a director is asking, which is what happens if we roll this out to everyone. Repeat the callout: they fail for different reasons and need different fixes.</a:t>
            </a:r>
          </a:p>
          <a:p>
            <a:r>
              <a:t>ASK: Your RCT ran on volunteers in three urban regions. Which validity is threatened? Steer to external; randomisation fully protects the internal claim.</a:t>
            </a:r>
          </a:p>
          <a:p>
            <a:r>
              <a:t>WATCH FOR: Using external validity as a general word for anything shaky. Force the precise question: which population, which setting, which version of the treatment.</a:t>
            </a:r>
          </a:p>
          <a:p>
            <a:r>
              <a:t>LINK: Transport and reweighting next.</a:t>
            </a:r>
          </a:p>
        </p:txBody>
      </p:sp>
      <p:sp>
        <p:nvSpPr>
          <p:cNvPr id="2859" name="Google Shape;2859;p1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8" name="Shape 2878"/>
        <p:cNvGrpSpPr/>
        <p:nvPr/>
      </p:nvGrpSpPr>
      <p:grpSpPr>
        <a:xfrm>
          <a:off x="0" y="0"/>
          <a:ext cx="0" cy="0"/>
          <a:chOff x="0" y="0"/>
          <a:chExt cx="0" cy="0"/>
        </a:xfrm>
      </p:grpSpPr>
      <p:sp>
        <p:nvSpPr>
          <p:cNvPr id="2879" name="Google Shape;2879;p1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0" name="Google Shape;2880;p1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4, Hour 2, the practical follow-through on external validity.</a:t>
            </a:r>
          </a:p>
          <a:p>
            <a:r>
              <a:t>The line to deliver is that who is in your data determines who your conclusion is about, and platform data systematically under-covers exactly the citizens a public service most needs to reach. Then give the condition for transport: the sample effect travels only if the effect does not vary with covariates, or if it does and you reweight to the target's mix. Say the assumption aloud.</a:t>
            </a:r>
          </a:p>
          <a:p>
            <a:r>
              <a:t>ASK: A test run on app users is being used to justify a national rollout. What is the coverage gap? Steer to citizens who never installed the app.</a:t>
            </a:r>
          </a:p>
          <a:p>
            <a:r>
              <a:t>WATCH FOR: Treating reweighting as a fix rather than a new assumption. It trades one untestable claim for another and cannot recover an absent subgroup.</a:t>
            </a:r>
          </a:p>
          <a:p>
            <a:r>
              <a:t>LINK: The estimand step in the capstone.</a:t>
            </a:r>
          </a:p>
        </p:txBody>
      </p:sp>
      <p:sp>
        <p:nvSpPr>
          <p:cNvPr id="2881" name="Google Shape;2881;p1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7" name="Shape 2897"/>
        <p:cNvGrpSpPr/>
        <p:nvPr/>
      </p:nvGrpSpPr>
      <p:grpSpPr>
        <a:xfrm>
          <a:off x="0" y="0"/>
          <a:ext cx="0" cy="0"/>
          <a:chOff x="0" y="0"/>
          <a:chExt cx="0" cy="0"/>
        </a:xfrm>
      </p:grpSpPr>
      <p:sp>
        <p:nvSpPr>
          <p:cNvPr id="2898" name="Google Shape;2898;p1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9" name="Google Shape;2899;p1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2, the technical heart of the bias hour.</a:t>
            </a:r>
          </a:p>
          <a:p>
            <a:r>
              <a:t>Open by conceding the problem: unconfoundedness cannot be tested, so the professional response is to quantify what being wrong would take. Explain the logic once, then benchmark it against a covariate you did measure. Ground it in the course data, where a Rosenbaum Gamma near 1.2 on the training estimate means a confounder shifting treatment odds by only 20 percent overturns +6.5 pp. That is a fragile result.</a:t>
            </a:r>
          </a:p>
          <a:p>
            <a:r>
              <a:t>ASK: Is a Gamma of 1.2 good or bad, and compared to what? Steer to bad, and to benchmarking against digital literacy rather than an abstract cutoff.</a:t>
            </a:r>
          </a:p>
          <a:p>
            <a:r>
              <a:t>WATCH FOR: Reading an E-value as a p-value renamed. It bounds required confounding strength and makes no probability statement.</a:t>
            </a:r>
          </a:p>
          <a:p>
            <a:r>
              <a:t>LINK: The health case, where a small E-value blocks a decision.</a:t>
            </a:r>
          </a:p>
        </p:txBody>
      </p:sp>
      <p:sp>
        <p:nvSpPr>
          <p:cNvPr id="2900" name="Google Shape;2900;p1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0" name="Shape 2920"/>
        <p:cNvGrpSpPr/>
        <p:nvPr/>
      </p:nvGrpSpPr>
      <p:grpSpPr>
        <a:xfrm>
          <a:off x="0" y="0"/>
          <a:ext cx="0" cy="0"/>
          <a:chOff x="0" y="0"/>
          <a:chExt cx="0" cy="0"/>
        </a:xfrm>
      </p:grpSpPr>
      <p:sp>
        <p:nvSpPr>
          <p:cNvPr id="2921" name="Google Shape;2921;p1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2" name="Google Shape;2922;p1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4, Hour 2, the cheap checks nobody runs.</a:t>
            </a:r>
          </a:p>
          <a:p>
            <a:r>
              <a:t>Sell these as the highest return per line of code in the course. The framing is falsification: run your method where the answer must be zero, and if it is not, the design is broken. Point to the pretrend version of the regional panel, where a placebo on the pre-period fires and correctly kills a DiD that would otherwise have reported a clean effect. A passed placebo is weak evidence; a failed one is decisive.</a:t>
            </a:r>
          </a:p>
          <a:p>
            <a:r>
              <a:t>ASK: What is a good negative-control outcome for the reminder rollout? Steer to a service the campaign never touched, same users, same months.</a:t>
            </a:r>
          </a:p>
          <a:p>
            <a:r>
              <a:t>WATCH FOR: Choosing a control the treatment could plausibly affect. Then a detected effect teaches you nothing.</a:t>
            </a:r>
          </a:p>
          <a:p>
            <a:r>
              <a:t>LINK: The pretrend panel from Day 3.</a:t>
            </a:r>
          </a:p>
        </p:txBody>
      </p:sp>
      <p:sp>
        <p:nvSpPr>
          <p:cNvPr id="2923" name="Google Shape;2923;p1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9" name="Shape 2939"/>
        <p:cNvGrpSpPr/>
        <p:nvPr/>
      </p:nvGrpSpPr>
      <p:grpSpPr>
        <a:xfrm>
          <a:off x="0" y="0"/>
          <a:ext cx="0" cy="0"/>
          <a:chOff x="0" y="0"/>
          <a:chExt cx="0" cy="0"/>
        </a:xfrm>
      </p:grpSpPr>
      <p:sp>
        <p:nvSpPr>
          <p:cNvPr id="2940" name="Google Shape;2940;p1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1" name="Google Shape;2941;p1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4, Hour 2, the consolidation checklist.</a:t>
            </a:r>
          </a:p>
          <a:p>
            <a:r>
              <a:t>Tell the room this is the review structure to use on each other's capstones. Work items four and five, since they are the ones skipped: a reminder campaign that spreads by word of mouth breaks SUTVA, and an estimand that quietly answers a different question than the decision is the most expensive error here because it is invisible in every diagnostic.</a:t>
            </a:r>
          </a:p>
          <a:p>
            <a:r>
              <a:t>ASK: Which item would catch a mediator control? Steer to the first, since conditioning on a mediator opens a path rather than blocking a backdoor.</a:t>
            </a:r>
          </a:p>
          <a:p>
            <a:r>
              <a:t>WATCH FOR: Running the list only on other people's work. Ask each participant which item their own most recent analysis would fail.</a:t>
            </a:r>
          </a:p>
          <a:p>
            <a:r>
              <a:t>LINK: The capstone pitfalls slide in Hour 4.</a:t>
            </a:r>
          </a:p>
        </p:txBody>
      </p:sp>
      <p:sp>
        <p:nvSpPr>
          <p:cNvPr id="2942" name="Google Shape;2942;p1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1" name="Shape 2961"/>
        <p:cNvGrpSpPr/>
        <p:nvPr/>
      </p:nvGrpSpPr>
      <p:grpSpPr>
        <a:xfrm>
          <a:off x="0" y="0"/>
          <a:ext cx="0" cy="0"/>
          <a:chOff x="0" y="0"/>
          <a:chExt cx="0" cy="0"/>
        </a:xfrm>
      </p:grpSpPr>
      <p:sp>
        <p:nvSpPr>
          <p:cNvPr id="2962" name="Google Shape;2962;p1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3" name="Google Shape;2963;p1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4, Hour 2, closing the bias and validity hour.</a:t>
            </a:r>
          </a:p>
          <a:p>
            <a:r>
              <a:t>Vote, then unpack distractors. Q1 is B: the RDD estimate is unbiased where it applies, so A appeals to anyone hearing does not generalise as a synonym for wrong. Q2 is B, and A is picked by those who map large numbers onto large problems; the E-value is the confounding strength needed to destroy the result, so bigger is safer. Q3 is B, while A tempts people who read any detectable signal as good power.</a:t>
            </a:r>
          </a:p>
          <a:p>
            <a:r>
              <a:t>ASK: On Q2, what E-value would you demand before a clinical rollout? Steer away from a magic number, toward benchmarking against the strongest measured covariate.</a:t>
            </a:r>
          </a:p>
          <a:p>
            <a:r>
              <a:t>WATCH FOR: Argument on Q1 that is really about the word bias. Settle it by asking for whom the estimate is unbiased.</a:t>
            </a:r>
          </a:p>
        </p:txBody>
      </p:sp>
      <p:sp>
        <p:nvSpPr>
          <p:cNvPr id="2964" name="Google Shape;2964;p1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5" name="Shape 2985"/>
        <p:cNvGrpSpPr/>
        <p:nvPr/>
      </p:nvGrpSpPr>
      <p:grpSpPr>
        <a:xfrm>
          <a:off x="0" y="0"/>
          <a:ext cx="0" cy="0"/>
          <a:chOff x="0" y="0"/>
          <a:chExt cx="0" cy="0"/>
        </a:xfrm>
      </p:grpSpPr>
      <p:sp>
        <p:nvSpPr>
          <p:cNvPr id="2986" name="Google Shape;2986;p1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7" name="Google Shape;2987;p1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4, Hour 3 divider.</a:t>
            </a:r>
          </a:p>
          <a:p>
            <a:r>
              <a:t>Two sentences. The three cases come from different worlds because the reasoning chain is identical while the constraints differ: the tech case can randomise, the policy case cannot but has a threshold and a start date, and the health case cannot randomise at all and carries the highest stakes. Their job is to watch four steps repeat, question to estimand to design to decision.</a:t>
            </a:r>
          </a:p>
          <a:p>
            <a:r>
              <a:t>ASK: Which constraint is closest to your own working reality? Steer to the honest answer in most government contexts, which is the middle case.</a:t>
            </a:r>
          </a:p>
          <a:p>
            <a:r>
              <a:t>WATCH FOR: Dismissing the tech case as irrelevant to public sector work. Novelty effects and interference appear in any service rollout with users.</a:t>
            </a:r>
          </a:p>
          <a:p>
            <a:r>
              <a:t>LINK: The capstone memo follows the same four steps.</a:t>
            </a:r>
          </a:p>
        </p:txBody>
      </p:sp>
      <p:sp>
        <p:nvSpPr>
          <p:cNvPr id="2988" name="Google Shape;2988;p14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6" name="Shape 2996"/>
        <p:cNvGrpSpPr/>
        <p:nvPr/>
      </p:nvGrpSpPr>
      <p:grpSpPr>
        <a:xfrm>
          <a:off x="0" y="0"/>
          <a:ext cx="0" cy="0"/>
          <a:chOff x="0" y="0"/>
          <a:chExt cx="0" cy="0"/>
        </a:xfrm>
      </p:grpSpPr>
      <p:sp>
        <p:nvSpPr>
          <p:cNvPr id="2997" name="Google Shape;2997;p1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8" name="Google Shape;2998;p1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3, the first case study.</a:t>
            </a:r>
          </a:p>
          <a:p>
            <a:r>
              <a:t>Run this as a demonstration of estimand discipline. The +9% from logs is wrong for a familiar reason: exposure tracks power-user status and app version, the same structure that inflated +5.0 pp into +19.3 pp in the uploader case. Then make the interference point, which separates this from a routine A/B test: a ranking change alters the marketplace everyone else sees, so SUTVA is not automatic. Note CUPED buys about 13.5 percent variance reduction here.</a:t>
            </a:r>
          </a:p>
          <a:p>
            <a:r>
              <a:t>ASK: Why is user-level randomisation not sufficient? Steer to the shared marketplace, which cluster randomisation by market or region addresses.</a:t>
            </a:r>
          </a:p>
          <a:p>
            <a:r>
              <a:t>WATCH FOR: Accepting guardrails as a formality. Latency and revenue guardrails are what stop a genuine engagement win being a net loss.</a:t>
            </a:r>
          </a:p>
          <a:p>
            <a:r>
              <a:t>LINK: Case 2 next.</a:t>
            </a:r>
          </a:p>
        </p:txBody>
      </p:sp>
      <p:sp>
        <p:nvSpPr>
          <p:cNvPr id="2999" name="Google Shape;2999;p14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7" name="Shape 3017"/>
        <p:cNvGrpSpPr/>
        <p:nvPr/>
      </p:nvGrpSpPr>
      <p:grpSpPr>
        <a:xfrm>
          <a:off x="0" y="0"/>
          <a:ext cx="0" cy="0"/>
          <a:chOff x="0" y="0"/>
          <a:chExt cx="0" cy="0"/>
        </a:xfrm>
      </p:grpSpPr>
      <p:sp>
        <p:nvSpPr>
          <p:cNvPr id="3018" name="Google Shape;3018;p1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9" name="Google Shape;3019;p1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3, the trap inside a correct experiment.</a:t>
            </a:r>
          </a:p>
          <a:p>
            <a:r>
              <a:t>A clean randomised test still gives the wrong answer if the estimand ignores time. Walk the decay: +6% in week one falling to +1.5% by week four is not noise but reversion, and a rollout justified on launch week underdelivers fourfold. Say the design response plainly, that you pre-register the window before launch, because choosing it after seeing the curve is the peeking problem that ran false positives from 5 to 25 percent across 1 to 20 looks.</a:t>
            </a:r>
          </a:p>
          <a:p>
            <a:r>
              <a:t>ASK: How long is long enough? Steer to a domain answer, one or two full usage cycles, fixed in advance.</a:t>
            </a:r>
          </a:p>
          <a:p>
            <a:r>
              <a:t>WATCH FOR: Assuming decay always means novelty. Learning effects grow over time, and only a longer test distinguishes them.</a:t>
            </a:r>
          </a:p>
          <a:p>
            <a:r>
              <a:t>LINK: The pre-registration discussion on Day 2.</a:t>
            </a:r>
          </a:p>
        </p:txBody>
      </p:sp>
      <p:sp>
        <p:nvSpPr>
          <p:cNvPr id="3020" name="Google Shape;3020;p14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8" name="Shape 3038"/>
        <p:cNvGrpSpPr/>
        <p:nvPr/>
      </p:nvGrpSpPr>
      <p:grpSpPr>
        <a:xfrm>
          <a:off x="0" y="0"/>
          <a:ext cx="0" cy="0"/>
          <a:chOff x="0" y="0"/>
          <a:chExt cx="0" cy="0"/>
        </a:xfrm>
      </p:grpSpPr>
      <p:sp>
        <p:nvSpPr>
          <p:cNvPr id="3039" name="Google Shape;3039;p1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0" name="Google Shape;3040;p1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3, the public policy case.</a:t>
            </a:r>
          </a:p>
          <a:p>
            <a:r>
              <a:t>This is the triangulation slide, so spend the time on why two designs beat one. The headcount threshold gives RDD and the known start year gives DiD, and crucially they fail for unrelated reasons: RDD from firms managing headcount under the cutoff, DiD from divergent pre-trends. Connect it to the panel exercise, where TWFE gave +2.6 pp against a true ATT of +3.0 pp purely from a two-month ramp-in, so a small gap can be mechanical.</a:t>
            </a:r>
          </a:p>
          <a:p>
            <a:r>
              <a:t>ASK: The two designs disagree by a factor of two. What now? Steer to diagnosing which assumption failed, never averaging.</a:t>
            </a:r>
          </a:p>
          <a:p>
            <a:r>
              <a:t>WATCH FOR: Believing agreement proves validity. Two designs sharing an unmeasured confounder agree and are both wrong.</a:t>
            </a:r>
          </a:p>
          <a:p>
            <a:r>
              <a:t>LINK: injaz_regions_panel.csv, adoption in periods 10, 13, 16, 19.</a:t>
            </a:r>
          </a:p>
        </p:txBody>
      </p:sp>
      <p:sp>
        <p:nvSpPr>
          <p:cNvPr id="3041" name="Google Shape;3041;p1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9" name="Shape 3059"/>
        <p:cNvGrpSpPr/>
        <p:nvPr/>
      </p:nvGrpSpPr>
      <p:grpSpPr>
        <a:xfrm>
          <a:off x="0" y="0"/>
          <a:ext cx="0" cy="0"/>
          <a:chOff x="0" y="0"/>
          <a:chExt cx="0" cy="0"/>
        </a:xfrm>
      </p:grpSpPr>
      <p:sp>
        <p:nvSpPr>
          <p:cNvPr id="3060" name="Google Shape;3060;p1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1" name="Google Shape;3061;p1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3, the highest-stakes case.</a:t>
            </a:r>
          </a:p>
          <a:p>
            <a:r>
              <a:t>Confounding by indication is the cleanest real confounder in the course, and it runs in the direction that flatters the treatment: sicker patients were less likely to receive the protocol, so the treated group readmits less even if the protocol does nothing. Make the stakes explicit, because this is where sensitivity earns its place: a small E-value should block the decision outright, as a Gamma of 1.2 should have unsettled everyone yesterday.</a:t>
            </a:r>
          </a:p>
          <a:p>
            <a:r>
              <a:t>ASK: If severity is fully recorded in the clinical notes, is adjustment enough? Steer to the gap between what a clinician judged and what the record captured.</a:t>
            </a:r>
          </a:p>
          <a:p>
            <a:r>
              <a:t>WATCH FOR: Confidence that rich covariates solve it. Richness is not sufficiency, and unrecorded clinical judgement is precisely the unmeasured confounder.</a:t>
            </a:r>
          </a:p>
          <a:p>
            <a:r>
              <a:t>LINK: E-values and Rosenbaum bounds from Hour 2.</a:t>
            </a:r>
          </a:p>
        </p:txBody>
      </p:sp>
      <p:sp>
        <p:nvSpPr>
          <p:cNvPr id="3062" name="Google Shape;3062;p1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0" name="Shape 3080"/>
        <p:cNvGrpSpPr/>
        <p:nvPr/>
      </p:nvGrpSpPr>
      <p:grpSpPr>
        <a:xfrm>
          <a:off x="0" y="0"/>
          <a:ext cx="0" cy="0"/>
          <a:chOff x="0" y="0"/>
          <a:chExt cx="0" cy="0"/>
        </a:xfrm>
      </p:grpSpPr>
      <p:sp>
        <p:nvSpPr>
          <p:cNvPr id="3081" name="Google Shape;3081;p1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2" name="Google Shape;3082;p1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3, the professional standard slide.</a:t>
            </a:r>
          </a:p>
          <a:p>
            <a:r>
              <a:t>Here the course states what the job actually is. Significance is not a decision rule, because it says nothing about payoff size or the cost of being wrong: a significant +0.3 pp lift on an expensive build is a bad decision, and a non-significant +2 pp on a free config change may be a good one. Introduce value of information as a real tool, and if extra precision would change no decision, do not run the test.</a:t>
            </a:r>
          </a:p>
          <a:p>
            <a:r>
              <a:t>ASK: What would you need beyond the effect size to make the call? Steer to build cost, the threshold that matters, and the downside at the interval's lower end.</a:t>
            </a:r>
          </a:p>
          <a:p>
            <a:r>
              <a:t>WATCH FOR: Analysts treating the decision as somebody else's problem. A bare number transfers no risk, it hides it.</a:t>
            </a:r>
          </a:p>
          <a:p>
            <a:r>
              <a:t>LINK: The capstone decision memo.</a:t>
            </a:r>
          </a:p>
        </p:txBody>
      </p:sp>
      <p:sp>
        <p:nvSpPr>
          <p:cNvPr id="3083" name="Google Shape;3083;p1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2" name="Shape 3102"/>
        <p:cNvGrpSpPr/>
        <p:nvPr/>
      </p:nvGrpSpPr>
      <p:grpSpPr>
        <a:xfrm>
          <a:off x="0" y="0"/>
          <a:ext cx="0" cy="0"/>
          <a:chOff x="0" y="0"/>
          <a:chExt cx="0" cy="0"/>
        </a:xfrm>
      </p:grpSpPr>
      <p:sp>
        <p:nvSpPr>
          <p:cNvPr id="3103" name="Google Shape;3103;p1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4" name="Google Shape;3104;p1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4, Hour 3, closing the case studies.</a:t>
            </a:r>
          </a:p>
          <a:p>
            <a:r>
              <a:t>Compress three cases into one habit. The naive observational number is both wrong and too large in every case in this course: +19.3 against +5.0 in the uploader simulator, +11.5 against +6.0 in the training programme, +10.9 against +8.0 in the filing IV. The direction is no coincidence, since the people who select into a treatment tend to be those already succeeding.</a:t>
            </a:r>
          </a:p>
          <a:p>
            <a:r>
              <a:t>ASK: Can anyone give a case where self-selection biases the estimate downward? Steer to remediation programmes, where the struggling users are the ones who enrol.</a:t>
            </a:r>
          </a:p>
          <a:p>
            <a:r>
              <a:t>WATCH FOR: Learning the rule as always subtract some bias. The lesson is to identify the selection mechanism and reason about its sign, not to apply a fixed haircut.</a:t>
            </a:r>
          </a:p>
          <a:p>
            <a:r>
              <a:t>LINK: The capstone brief in Hour 4.</a:t>
            </a:r>
          </a:p>
        </p:txBody>
      </p:sp>
      <p:sp>
        <p:nvSpPr>
          <p:cNvPr id="3105" name="Google Shape;3105;p14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2" name="Shape 3122"/>
        <p:cNvGrpSpPr/>
        <p:nvPr/>
      </p:nvGrpSpPr>
      <p:grpSpPr>
        <a:xfrm>
          <a:off x="0" y="0"/>
          <a:ext cx="0" cy="0"/>
          <a:chOff x="0" y="0"/>
          <a:chExt cx="0" cy="0"/>
        </a:xfrm>
      </p:grpSpPr>
      <p:sp>
        <p:nvSpPr>
          <p:cNvPr id="3123" name="Google Shape;3123;p1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4" name="Google Shape;3124;p1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this optional studio after the existing cross-case lessons or distribute the cases across Days 1–4.</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https://ailab.criteo.com/criteo-uplift-prediction-dataset/</a:t>
            </a:r>
            <a:endParaRPr/>
          </a:p>
          <a:p>
            <a:pPr indent="0" lvl="0" marL="0" rtl="0" algn="l">
              <a:spcBef>
                <a:spcPts val="0"/>
              </a:spcBef>
              <a:spcAft>
                <a:spcPts val="0"/>
              </a:spcAft>
              <a:buNone/>
            </a:pPr>
            <a:r>
              <a:rPr lang="en-US" sz="1200"/>
              <a:t>- https://ailab.criteo.com/ressources/</a:t>
            </a:r>
            <a:endParaRPr/>
          </a:p>
          <a:p>
            <a:pPr indent="0" lvl="0" marL="0" rtl="0" algn="l">
              <a:spcBef>
                <a:spcPts val="0"/>
              </a:spcBef>
              <a:spcAft>
                <a:spcPts val="0"/>
              </a:spcAft>
              <a:buNone/>
            </a:pPr>
            <a:r>
              <a:rPr lang="en-US" sz="1200"/>
              <a:t>- https://rdrr.io/cran/AER/man/STAR.html</a:t>
            </a:r>
            <a:endParaRPr/>
          </a:p>
          <a:p>
            <a:pPr indent="0" lvl="0" marL="0" rtl="0" algn="l">
              <a:spcBef>
                <a:spcPts val="0"/>
              </a:spcBef>
              <a:spcAft>
                <a:spcPts val="0"/>
              </a:spcAft>
              <a:buNone/>
            </a:pPr>
            <a:r>
              <a:rPr lang="en-US" sz="1200"/>
              <a:t>- https://CRAN.R-project.org/package=AER</a:t>
            </a:r>
            <a:endParaRPr/>
          </a:p>
          <a:p>
            <a:pPr indent="0" lvl="0" marL="0" rtl="0" algn="l">
              <a:spcBef>
                <a:spcPts val="0"/>
              </a:spcBef>
              <a:spcAft>
                <a:spcPts val="0"/>
              </a:spcAft>
              <a:buNone/>
            </a:pPr>
            <a:r>
              <a:rPr lang="en-US" sz="1200"/>
              <a:t>- https://cran.univ-lyon1.fr/CRAN/web/packages/MatchIt/vignettes/assessing-balance.html</a:t>
            </a:r>
            <a:endParaRPr/>
          </a:p>
          <a:p>
            <a:pPr indent="0" lvl="0" marL="0" rtl="0" algn="l">
              <a:spcBef>
                <a:spcPts val="0"/>
              </a:spcBef>
              <a:spcAft>
                <a:spcPts val="0"/>
              </a:spcAft>
              <a:buNone/>
            </a:pPr>
            <a:r>
              <a:rPr lang="en-US" sz="1200"/>
              <a:t>- https://cran.univ-lyon1.fr/CRAN/web/packages/MatchIt/vignettes/MatchIt.html</a:t>
            </a:r>
            <a:endParaRPr/>
          </a:p>
          <a:p>
            <a:pPr indent="0" lvl="0" marL="0" rtl="0" algn="l">
              <a:spcBef>
                <a:spcPts val="0"/>
              </a:spcBef>
              <a:spcAft>
                <a:spcPts val="0"/>
              </a:spcAft>
              <a:buNone/>
            </a:pPr>
            <a:r>
              <a:rPr lang="en-US" sz="1200"/>
              <a:t>- https://bcallaway11.github.io/did/</a:t>
            </a:r>
            <a:endParaRPr/>
          </a:p>
          <a:p>
            <a:pPr indent="0" lvl="0" marL="0" rtl="0" algn="l">
              <a:spcBef>
                <a:spcPts val="0"/>
              </a:spcBef>
              <a:spcAft>
                <a:spcPts val="0"/>
              </a:spcAft>
              <a:buNone/>
            </a:pPr>
            <a:r>
              <a:rPr lang="en-US" sz="1200"/>
              <a:t>- https://rdrr.io/cran/did/man/mpdta.html</a:t>
            </a:r>
            <a:endParaRPr/>
          </a:p>
          <a:p>
            <a:pPr indent="0" lvl="0" marL="0" rtl="0" algn="l">
              <a:spcBef>
                <a:spcPts val="0"/>
              </a:spcBef>
              <a:spcAft>
                <a:spcPts val="0"/>
              </a:spcAft>
              <a:buNone/>
            </a:pPr>
            <a:r>
              <a:rPr lang="en-US" sz="1200"/>
              <a:t>- https://www.nber.org/oregon</a:t>
            </a:r>
            <a:endParaRPr/>
          </a:p>
          <a:p>
            <a:pPr indent="0" lvl="0" marL="0" rtl="0" algn="l">
              <a:spcBef>
                <a:spcPts val="0"/>
              </a:spcBef>
              <a:spcAft>
                <a:spcPts val="0"/>
              </a:spcAft>
              <a:buNone/>
            </a:pPr>
            <a:r>
              <a:rPr lang="en-US" sz="1200"/>
              <a:t>- https://www.nber.org/research/data/oregon-health-insurance-experiment-data</a:t>
            </a:r>
            <a:endParaRPr/>
          </a:p>
          <a:p>
            <a:pPr indent="0" lvl="0" marL="0" rtl="0" algn="l">
              <a:spcBef>
                <a:spcPts val="0"/>
              </a:spcBef>
              <a:spcAft>
                <a:spcPts val="0"/>
              </a:spcAft>
              <a:buNone/>
            </a:pPr>
            <a:r>
              <a:rPr lang="en-US" sz="1200"/>
              <a:t>- https://www.nber.org/programs-projects/projects-and-centers/oregon-health-insurance-experiment/oregon-health-insurance-experiment-documents</a:t>
            </a:r>
            <a:endParaRPr/>
          </a:p>
          <a:p>
            <a:pPr indent="0" lvl="0" marL="0" rtl="0" algn="l">
              <a:spcBef>
                <a:spcPts val="0"/>
              </a:spcBef>
              <a:spcAft>
                <a:spcPts val="0"/>
              </a:spcAft>
              <a:buNone/>
            </a:pPr>
            <a:r>
              <a:rPr lang="en-US" sz="1200"/>
              <a:t>- https://github.com/synth-inference/synthdid/blob/master/R/data.R</a:t>
            </a:r>
            <a:endParaRPr/>
          </a:p>
          <a:p>
            <a:pPr indent="0" lvl="0" marL="0" rtl="0" algn="l">
              <a:spcBef>
                <a:spcPts val="0"/>
              </a:spcBef>
              <a:spcAft>
                <a:spcPts val="0"/>
              </a:spcAft>
              <a:buNone/>
            </a:pPr>
            <a:r>
              <a:rPr lang="en-US" sz="1200"/>
              <a:t>- https://github.com/synth-inference/synthdid</a:t>
            </a:r>
            <a:endParaRPr/>
          </a:p>
        </p:txBody>
      </p:sp>
      <p:sp>
        <p:nvSpPr>
          <p:cNvPr id="3125" name="Google Shape;3125;p14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3" name="Shape 3133"/>
        <p:cNvGrpSpPr/>
        <p:nvPr/>
      </p:nvGrpSpPr>
      <p:grpSpPr>
        <a:xfrm>
          <a:off x="0" y="0"/>
          <a:ext cx="0" cy="0"/>
          <a:chOff x="0" y="0"/>
          <a:chExt cx="0" cy="0"/>
        </a:xfrm>
      </p:grpSpPr>
      <p:sp>
        <p:nvSpPr>
          <p:cNvPr id="3134" name="Google Shape;3134;p1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5" name="Google Shape;3135;p1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cycle mirrors the instructor package: simulation first, application second, decision last.</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https://ailab.criteo.com/criteo-uplift-prediction-dataset/</a:t>
            </a:r>
            <a:endParaRPr/>
          </a:p>
          <a:p>
            <a:pPr indent="0" lvl="0" marL="0" rtl="0" algn="l">
              <a:spcBef>
                <a:spcPts val="0"/>
              </a:spcBef>
              <a:spcAft>
                <a:spcPts val="0"/>
              </a:spcAft>
              <a:buNone/>
            </a:pPr>
            <a:r>
              <a:rPr lang="en-US" sz="1200"/>
              <a:t>- https://ailab.criteo.com/ressources/</a:t>
            </a:r>
            <a:endParaRPr/>
          </a:p>
          <a:p>
            <a:pPr indent="0" lvl="0" marL="0" rtl="0" algn="l">
              <a:spcBef>
                <a:spcPts val="0"/>
              </a:spcBef>
              <a:spcAft>
                <a:spcPts val="0"/>
              </a:spcAft>
              <a:buNone/>
            </a:pPr>
            <a:r>
              <a:rPr lang="en-US" sz="1200"/>
              <a:t>- https://rdrr.io/cran/AER/man/STAR.html</a:t>
            </a:r>
            <a:endParaRPr/>
          </a:p>
          <a:p>
            <a:pPr indent="0" lvl="0" marL="0" rtl="0" algn="l">
              <a:spcBef>
                <a:spcPts val="0"/>
              </a:spcBef>
              <a:spcAft>
                <a:spcPts val="0"/>
              </a:spcAft>
              <a:buNone/>
            </a:pPr>
            <a:r>
              <a:rPr lang="en-US" sz="1200"/>
              <a:t>- https://CRAN.R-project.org/package=AER</a:t>
            </a:r>
            <a:endParaRPr/>
          </a:p>
          <a:p>
            <a:pPr indent="0" lvl="0" marL="0" rtl="0" algn="l">
              <a:spcBef>
                <a:spcPts val="0"/>
              </a:spcBef>
              <a:spcAft>
                <a:spcPts val="0"/>
              </a:spcAft>
              <a:buNone/>
            </a:pPr>
            <a:r>
              <a:rPr lang="en-US" sz="1200"/>
              <a:t>- https://cran.univ-lyon1.fr/CRAN/web/packages/MatchIt/vignettes/assessing-balance.html</a:t>
            </a:r>
            <a:endParaRPr/>
          </a:p>
          <a:p>
            <a:pPr indent="0" lvl="0" marL="0" rtl="0" algn="l">
              <a:spcBef>
                <a:spcPts val="0"/>
              </a:spcBef>
              <a:spcAft>
                <a:spcPts val="0"/>
              </a:spcAft>
              <a:buNone/>
            </a:pPr>
            <a:r>
              <a:rPr lang="en-US" sz="1200"/>
              <a:t>- https://cran.univ-lyon1.fr/CRAN/web/packages/MatchIt/vignettes/MatchIt.html</a:t>
            </a:r>
            <a:endParaRPr/>
          </a:p>
          <a:p>
            <a:pPr indent="0" lvl="0" marL="0" rtl="0" algn="l">
              <a:spcBef>
                <a:spcPts val="0"/>
              </a:spcBef>
              <a:spcAft>
                <a:spcPts val="0"/>
              </a:spcAft>
              <a:buNone/>
            </a:pPr>
            <a:r>
              <a:rPr lang="en-US" sz="1200"/>
              <a:t>- https://bcallaway11.github.io/did/</a:t>
            </a:r>
            <a:endParaRPr/>
          </a:p>
          <a:p>
            <a:pPr indent="0" lvl="0" marL="0" rtl="0" algn="l">
              <a:spcBef>
                <a:spcPts val="0"/>
              </a:spcBef>
              <a:spcAft>
                <a:spcPts val="0"/>
              </a:spcAft>
              <a:buNone/>
            </a:pPr>
            <a:r>
              <a:rPr lang="en-US" sz="1200"/>
              <a:t>- https://rdrr.io/cran/did/man/mpdta.html</a:t>
            </a:r>
            <a:endParaRPr/>
          </a:p>
          <a:p>
            <a:pPr indent="0" lvl="0" marL="0" rtl="0" algn="l">
              <a:spcBef>
                <a:spcPts val="0"/>
              </a:spcBef>
              <a:spcAft>
                <a:spcPts val="0"/>
              </a:spcAft>
              <a:buNone/>
            </a:pPr>
            <a:r>
              <a:rPr lang="en-US" sz="1200"/>
              <a:t>- https://www.nber.org/oregon</a:t>
            </a:r>
            <a:endParaRPr/>
          </a:p>
          <a:p>
            <a:pPr indent="0" lvl="0" marL="0" rtl="0" algn="l">
              <a:spcBef>
                <a:spcPts val="0"/>
              </a:spcBef>
              <a:spcAft>
                <a:spcPts val="0"/>
              </a:spcAft>
              <a:buNone/>
            </a:pPr>
            <a:r>
              <a:rPr lang="en-US" sz="1200"/>
              <a:t>- https://www.nber.org/research/data/oregon-health-insurance-experiment-data</a:t>
            </a:r>
            <a:endParaRPr/>
          </a:p>
          <a:p>
            <a:pPr indent="0" lvl="0" marL="0" rtl="0" algn="l">
              <a:spcBef>
                <a:spcPts val="0"/>
              </a:spcBef>
              <a:spcAft>
                <a:spcPts val="0"/>
              </a:spcAft>
              <a:buNone/>
            </a:pPr>
            <a:r>
              <a:rPr lang="en-US" sz="1200"/>
              <a:t>- https://www.nber.org/programs-projects/projects-and-centers/oregon-health-insurance-experiment/oregon-health-insurance-experiment-documents</a:t>
            </a:r>
            <a:endParaRPr/>
          </a:p>
          <a:p>
            <a:pPr indent="0" lvl="0" marL="0" rtl="0" algn="l">
              <a:spcBef>
                <a:spcPts val="0"/>
              </a:spcBef>
              <a:spcAft>
                <a:spcPts val="0"/>
              </a:spcAft>
              <a:buNone/>
            </a:pPr>
            <a:r>
              <a:rPr lang="en-US" sz="1200"/>
              <a:t>- https://github.com/synth-inference/synthdid/blob/master/R/data.R</a:t>
            </a:r>
            <a:endParaRPr/>
          </a:p>
          <a:p>
            <a:pPr indent="0" lvl="0" marL="0" rtl="0" algn="l">
              <a:spcBef>
                <a:spcPts val="0"/>
              </a:spcBef>
              <a:spcAft>
                <a:spcPts val="0"/>
              </a:spcAft>
              <a:buNone/>
            </a:pPr>
            <a:r>
              <a:rPr lang="en-US" sz="1200"/>
              <a:t>- https://github.com/synth-inference/synthdid</a:t>
            </a:r>
            <a:endParaRPr/>
          </a:p>
        </p:txBody>
      </p:sp>
      <p:sp>
        <p:nvSpPr>
          <p:cNvPr id="3136" name="Google Shape;3136;p14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5" name="Shape 3155"/>
        <p:cNvGrpSpPr/>
        <p:nvPr/>
      </p:nvGrpSpPr>
      <p:grpSpPr>
        <a:xfrm>
          <a:off x="0" y="0"/>
          <a:ext cx="0" cy="0"/>
          <a:chOff x="0" y="0"/>
          <a:chExt cx="0" cy="0"/>
        </a:xfrm>
      </p:grpSpPr>
      <p:sp>
        <p:nvSpPr>
          <p:cNvPr id="3156" name="Google Shape;3156;p1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7" name="Google Shape;3157;p1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Download the unbiased release listed on the official Criteo AI Lab page; use a sampled extract for classroom speed.</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https://ailab.criteo.com/criteo-uplift-prediction-dataset/</a:t>
            </a:r>
            <a:endParaRPr/>
          </a:p>
          <a:p>
            <a:pPr indent="0" lvl="0" marL="0" rtl="0" algn="l">
              <a:spcBef>
                <a:spcPts val="0"/>
              </a:spcBef>
              <a:spcAft>
                <a:spcPts val="0"/>
              </a:spcAft>
              <a:buNone/>
            </a:pPr>
            <a:r>
              <a:rPr lang="en-US" sz="1200"/>
              <a:t>- https://ailab.criteo.com/ressources/</a:t>
            </a:r>
            <a:endParaRPr/>
          </a:p>
        </p:txBody>
      </p:sp>
      <p:sp>
        <p:nvSpPr>
          <p:cNvPr id="3158" name="Google Shape;3158;p14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6" name="Shape 3176"/>
        <p:cNvGrpSpPr/>
        <p:nvPr/>
      </p:nvGrpSpPr>
      <p:grpSpPr>
        <a:xfrm>
          <a:off x="0" y="0"/>
          <a:ext cx="0" cy="0"/>
          <a:chOff x="0" y="0"/>
          <a:chExt cx="0" cy="0"/>
        </a:xfrm>
      </p:grpSpPr>
      <p:sp>
        <p:nvSpPr>
          <p:cNvPr id="3177" name="Google Shape;3177;p1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8" name="Google Shape;3178;p1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50 minutes in pairs. Provide a 200k-row sample if memory is constrained.</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https://ailab.criteo.com/criteo-uplift-prediction-dataset/</a:t>
            </a:r>
            <a:endParaRPr/>
          </a:p>
          <a:p>
            <a:pPr indent="0" lvl="0" marL="0" rtl="0" algn="l">
              <a:spcBef>
                <a:spcPts val="0"/>
              </a:spcBef>
              <a:spcAft>
                <a:spcPts val="0"/>
              </a:spcAft>
              <a:buNone/>
            </a:pPr>
            <a:r>
              <a:rPr lang="en-US" sz="1200"/>
              <a:t>- https://ailab.criteo.com/ressources/</a:t>
            </a:r>
            <a:endParaRPr/>
          </a:p>
        </p:txBody>
      </p:sp>
      <p:sp>
        <p:nvSpPr>
          <p:cNvPr id="3179" name="Google Shape;3179;p1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9" name="Shape 3209"/>
        <p:cNvGrpSpPr/>
        <p:nvPr/>
      </p:nvGrpSpPr>
      <p:grpSpPr>
        <a:xfrm>
          <a:off x="0" y="0"/>
          <a:ext cx="0" cy="0"/>
          <a:chOff x="0" y="0"/>
          <a:chExt cx="0" cy="0"/>
        </a:xfrm>
      </p:grpSpPr>
      <p:sp>
        <p:nvSpPr>
          <p:cNvPr id="3210" name="Google Shape;3210;p1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1" name="Google Shape;3211;p15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AER documentation describes the public-access STAR data, three class conditions, and the 11,598-row format.</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https://rdrr.io/cran/AER/man/STAR.html</a:t>
            </a:r>
            <a:endParaRPr/>
          </a:p>
          <a:p>
            <a:pPr indent="0" lvl="0" marL="0" rtl="0" algn="l">
              <a:spcBef>
                <a:spcPts val="0"/>
              </a:spcBef>
              <a:spcAft>
                <a:spcPts val="0"/>
              </a:spcAft>
              <a:buNone/>
            </a:pPr>
            <a:r>
              <a:rPr lang="en-US" sz="1200"/>
              <a:t>- https://CRAN.R-project.org/package=AER</a:t>
            </a:r>
            <a:endParaRPr/>
          </a:p>
        </p:txBody>
      </p:sp>
      <p:sp>
        <p:nvSpPr>
          <p:cNvPr id="3212" name="Google Shape;3212;p15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0" name="Shape 3230"/>
        <p:cNvGrpSpPr/>
        <p:nvPr/>
      </p:nvGrpSpPr>
      <p:grpSpPr>
        <a:xfrm>
          <a:off x="0" y="0"/>
          <a:ext cx="0" cy="0"/>
          <a:chOff x="0" y="0"/>
          <a:chExt cx="0" cy="0"/>
        </a:xfrm>
      </p:grpSpPr>
      <p:sp>
        <p:nvSpPr>
          <p:cNvPr id="3231" name="Google Shape;3231;p1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2" name="Google Shape;3232;p1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50 minutes. Advanced groups can reshape the four grades to long format and study persistence.</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https://rdrr.io/cran/AER/man/STAR.html</a:t>
            </a:r>
            <a:endParaRPr/>
          </a:p>
          <a:p>
            <a:pPr indent="0" lvl="0" marL="0" rtl="0" algn="l">
              <a:spcBef>
                <a:spcPts val="0"/>
              </a:spcBef>
              <a:spcAft>
                <a:spcPts val="0"/>
              </a:spcAft>
              <a:buNone/>
            </a:pPr>
            <a:r>
              <a:rPr lang="en-US" sz="1200"/>
              <a:t>- https://CRAN.R-project.org/package=AER</a:t>
            </a:r>
            <a:endParaRPr/>
          </a:p>
        </p:txBody>
      </p:sp>
      <p:sp>
        <p:nvSpPr>
          <p:cNvPr id="3233" name="Google Shape;3233;p15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3" name="Shape 3263"/>
        <p:cNvGrpSpPr/>
        <p:nvPr/>
      </p:nvGrpSpPr>
      <p:grpSpPr>
        <a:xfrm>
          <a:off x="0" y="0"/>
          <a:ext cx="0" cy="0"/>
          <a:chOff x="0" y="0"/>
          <a:chExt cx="0" cy="0"/>
        </a:xfrm>
      </p:grpSpPr>
      <p:sp>
        <p:nvSpPr>
          <p:cNvPr id="3264" name="Google Shape;3264;p15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5" name="Google Shape;3265;p1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MatchIt vignette documents 614 observations, the ATT target, and the standard balance workflow.</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https://cran.univ-lyon1.fr/CRAN/web/packages/MatchIt/vignettes/assessing-balance.html</a:t>
            </a:r>
            <a:endParaRPr/>
          </a:p>
          <a:p>
            <a:pPr indent="0" lvl="0" marL="0" rtl="0" algn="l">
              <a:spcBef>
                <a:spcPts val="0"/>
              </a:spcBef>
              <a:spcAft>
                <a:spcPts val="0"/>
              </a:spcAft>
              <a:buNone/>
            </a:pPr>
            <a:r>
              <a:rPr lang="en-US" sz="1200"/>
              <a:t>- https://cran.univ-lyon1.fr/CRAN/web/packages/MatchIt/vignettes/MatchIt.html</a:t>
            </a:r>
            <a:endParaRPr/>
          </a:p>
        </p:txBody>
      </p:sp>
      <p:sp>
        <p:nvSpPr>
          <p:cNvPr id="3266" name="Google Shape;3266;p15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4" name="Shape 3284"/>
        <p:cNvGrpSpPr/>
        <p:nvPr/>
      </p:nvGrpSpPr>
      <p:grpSpPr>
        <a:xfrm>
          <a:off x="0" y="0"/>
          <a:ext cx="0" cy="0"/>
          <a:chOff x="0" y="0"/>
          <a:chExt cx="0" cy="0"/>
        </a:xfrm>
      </p:grpSpPr>
      <p:sp>
        <p:nvSpPr>
          <p:cNvPr id="3285" name="Google Shape;3285;p1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6" name="Google Shape;3286;p1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50 minutes. Hide re78 until the balance gate passes.</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https://cran.univ-lyon1.fr/CRAN/web/packages/MatchIt/vignettes/assessing-balance.html</a:t>
            </a:r>
            <a:endParaRPr/>
          </a:p>
          <a:p>
            <a:pPr indent="0" lvl="0" marL="0" rtl="0" algn="l">
              <a:spcBef>
                <a:spcPts val="0"/>
              </a:spcBef>
              <a:spcAft>
                <a:spcPts val="0"/>
              </a:spcAft>
              <a:buNone/>
            </a:pPr>
            <a:r>
              <a:rPr lang="en-US" sz="1200"/>
              <a:t>- https://cran.univ-lyon1.fr/CRAN/web/packages/MatchIt/vignettes/MatchIt.html</a:t>
            </a:r>
            <a:endParaRPr/>
          </a:p>
        </p:txBody>
      </p:sp>
      <p:sp>
        <p:nvSpPr>
          <p:cNvPr id="3287" name="Google Shape;3287;p15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7" name="Shape 3317"/>
        <p:cNvGrpSpPr/>
        <p:nvPr/>
      </p:nvGrpSpPr>
      <p:grpSpPr>
        <a:xfrm>
          <a:off x="0" y="0"/>
          <a:ext cx="0" cy="0"/>
          <a:chOff x="0" y="0"/>
          <a:chExt cx="0" cy="0"/>
        </a:xfrm>
      </p:grpSpPr>
      <p:sp>
        <p:nvSpPr>
          <p:cNvPr id="3318" name="Google Shape;3318;p1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9" name="Google Shape;3319;p1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official did documentation describes the 500-county, 2003–2007 teaching subset and group-time ATT workflow.</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https://bcallaway11.github.io/did/</a:t>
            </a:r>
            <a:endParaRPr/>
          </a:p>
          <a:p>
            <a:pPr indent="0" lvl="0" marL="0" rtl="0" algn="l">
              <a:spcBef>
                <a:spcPts val="0"/>
              </a:spcBef>
              <a:spcAft>
                <a:spcPts val="0"/>
              </a:spcAft>
              <a:buNone/>
            </a:pPr>
            <a:r>
              <a:rPr lang="en-US" sz="1200"/>
              <a:t>- https://rdrr.io/cran/did/man/mpdta.html</a:t>
            </a:r>
            <a:endParaRPr/>
          </a:p>
        </p:txBody>
      </p:sp>
      <p:sp>
        <p:nvSpPr>
          <p:cNvPr id="3320" name="Google Shape;3320;p15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8" name="Shape 3338"/>
        <p:cNvGrpSpPr/>
        <p:nvPr/>
      </p:nvGrpSpPr>
      <p:grpSpPr>
        <a:xfrm>
          <a:off x="0" y="0"/>
          <a:ext cx="0" cy="0"/>
          <a:chOff x="0" y="0"/>
          <a:chExt cx="0" cy="0"/>
        </a:xfrm>
      </p:grpSpPr>
      <p:sp>
        <p:nvSpPr>
          <p:cNvPr id="3339" name="Google Shape;3339;p15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0" name="Google Shape;3340;p1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Review NBER's data-use terms before distribution. The materials are public-use but restricted to non-commercial use.</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https://www.nber.org/oregon</a:t>
            </a:r>
            <a:endParaRPr/>
          </a:p>
          <a:p>
            <a:pPr indent="0" lvl="0" marL="0" rtl="0" algn="l">
              <a:spcBef>
                <a:spcPts val="0"/>
              </a:spcBef>
              <a:spcAft>
                <a:spcPts val="0"/>
              </a:spcAft>
              <a:buNone/>
            </a:pPr>
            <a:r>
              <a:rPr lang="en-US" sz="1200"/>
              <a:t>- https://www.nber.org/research/data/oregon-health-insurance-experiment-data</a:t>
            </a:r>
            <a:endParaRPr/>
          </a:p>
          <a:p>
            <a:pPr indent="0" lvl="0" marL="0" rtl="0" algn="l">
              <a:spcBef>
                <a:spcPts val="0"/>
              </a:spcBef>
              <a:spcAft>
                <a:spcPts val="0"/>
              </a:spcAft>
              <a:buNone/>
            </a:pPr>
            <a:r>
              <a:rPr lang="en-US" sz="1200"/>
              <a:t>- https://www.nber.org/programs-projects/projects-and-centers/oregon-health-insurance-experiment/oregon-health-insurance-experiment-documents</a:t>
            </a:r>
            <a:endParaRPr/>
          </a:p>
        </p:txBody>
      </p:sp>
      <p:sp>
        <p:nvSpPr>
          <p:cNvPr id="3341" name="Google Shape;3341;p15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9" name="Shape 3359"/>
        <p:cNvGrpSpPr/>
        <p:nvPr/>
      </p:nvGrpSpPr>
      <p:grpSpPr>
        <a:xfrm>
          <a:off x="0" y="0"/>
          <a:ext cx="0" cy="0"/>
          <a:chOff x="0" y="0"/>
          <a:chExt cx="0" cy="0"/>
        </a:xfrm>
      </p:grpSpPr>
      <p:sp>
        <p:nvSpPr>
          <p:cNvPr id="3360" name="Google Shape;3360;p1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1" name="Google Shape;3361;p15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75–90 minutes. Use only under the NBER public-use agreement and keep the exercise non-commercial.</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https://www.nber.org/oregon</a:t>
            </a:r>
            <a:endParaRPr/>
          </a:p>
          <a:p>
            <a:pPr indent="0" lvl="0" marL="0" rtl="0" algn="l">
              <a:spcBef>
                <a:spcPts val="0"/>
              </a:spcBef>
              <a:spcAft>
                <a:spcPts val="0"/>
              </a:spcAft>
              <a:buNone/>
            </a:pPr>
            <a:r>
              <a:rPr lang="en-US" sz="1200"/>
              <a:t>- https://www.nber.org/research/data/oregon-health-insurance-experiment-data</a:t>
            </a:r>
            <a:endParaRPr/>
          </a:p>
          <a:p>
            <a:pPr indent="0" lvl="0" marL="0" rtl="0" algn="l">
              <a:spcBef>
                <a:spcPts val="0"/>
              </a:spcBef>
              <a:spcAft>
                <a:spcPts val="0"/>
              </a:spcAft>
              <a:buNone/>
            </a:pPr>
            <a:r>
              <a:rPr lang="en-US" sz="1200"/>
              <a:t>- https://www.nber.org/programs-projects/projects-and-centers/oregon-health-insurance-experiment/oregon-health-insurance-experiment-documents</a:t>
            </a:r>
            <a:endParaRPr/>
          </a:p>
        </p:txBody>
      </p:sp>
      <p:sp>
        <p:nvSpPr>
          <p:cNvPr id="3362" name="Google Shape;3362;p15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2" name="Shape 3392"/>
        <p:cNvGrpSpPr/>
        <p:nvPr/>
      </p:nvGrpSpPr>
      <p:grpSpPr>
        <a:xfrm>
          <a:off x="0" y="0"/>
          <a:ext cx="0" cy="0"/>
          <a:chOff x="0" y="0"/>
          <a:chExt cx="0" cy="0"/>
        </a:xfrm>
      </p:grpSpPr>
      <p:sp>
        <p:nvSpPr>
          <p:cNvPr id="3393" name="Google Shape;3393;p1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4" name="Google Shape;3394;p1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synthdid data documentation reports 1,209 rows, 39 states, 1970–2000, and treatment from 1989.</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https://github.com/synth-inference/synthdid/blob/master/R/data.R</a:t>
            </a:r>
            <a:endParaRPr/>
          </a:p>
          <a:p>
            <a:pPr indent="0" lvl="0" marL="0" rtl="0" algn="l">
              <a:spcBef>
                <a:spcPts val="0"/>
              </a:spcBef>
              <a:spcAft>
                <a:spcPts val="0"/>
              </a:spcAft>
              <a:buNone/>
            </a:pPr>
            <a:r>
              <a:rPr lang="en-US" sz="1200"/>
              <a:t>- https://github.com/synth-inference/synthdid</a:t>
            </a:r>
            <a:endParaRPr/>
          </a:p>
        </p:txBody>
      </p:sp>
      <p:sp>
        <p:nvSpPr>
          <p:cNvPr id="3395" name="Google Shape;3395;p15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3" name="Shape 3413"/>
        <p:cNvGrpSpPr/>
        <p:nvPr/>
      </p:nvGrpSpPr>
      <p:grpSpPr>
        <a:xfrm>
          <a:off x="0" y="0"/>
          <a:ext cx="0" cy="0"/>
          <a:chOff x="0" y="0"/>
          <a:chExt cx="0" cy="0"/>
        </a:xfrm>
      </p:grpSpPr>
      <p:sp>
        <p:nvSpPr>
          <p:cNvPr id="3414" name="Google Shape;3414;p16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5" name="Google Shape;3415;p16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50–75 minutes. Advanced groups can compare synthetic control and synthetic DiD.</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https://github.com/synth-inference/synthdid/blob/master/R/data.R</a:t>
            </a:r>
            <a:endParaRPr/>
          </a:p>
          <a:p>
            <a:pPr indent="0" lvl="0" marL="0" rtl="0" algn="l">
              <a:spcBef>
                <a:spcPts val="0"/>
              </a:spcBef>
              <a:spcAft>
                <a:spcPts val="0"/>
              </a:spcAft>
              <a:buNone/>
            </a:pPr>
            <a:r>
              <a:rPr lang="en-US" sz="1200"/>
              <a:t>- https://github.com/synth-inference/synthdid</a:t>
            </a:r>
            <a:endParaRPr/>
          </a:p>
        </p:txBody>
      </p:sp>
      <p:sp>
        <p:nvSpPr>
          <p:cNvPr id="3416" name="Google Shape;3416;p16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6" name="Shape 3446"/>
        <p:cNvGrpSpPr/>
        <p:nvPr/>
      </p:nvGrpSpPr>
      <p:grpSpPr>
        <a:xfrm>
          <a:off x="0" y="0"/>
          <a:ext cx="0" cy="0"/>
          <a:chOff x="0" y="0"/>
          <a:chExt cx="0" cy="0"/>
        </a:xfrm>
      </p:grpSpPr>
      <p:sp>
        <p:nvSpPr>
          <p:cNvPr id="3447" name="Google Shape;3447;p16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8" name="Google Shape;3448;p16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Access note: Criteo has dataset terms; Oregon HIE requires agreement to non-commercial public-use conditions; confirm terms before each cohort.</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https://ailab.criteo.com/criteo-uplift-prediction-dataset/</a:t>
            </a:r>
            <a:endParaRPr/>
          </a:p>
          <a:p>
            <a:pPr indent="0" lvl="0" marL="0" rtl="0" algn="l">
              <a:spcBef>
                <a:spcPts val="0"/>
              </a:spcBef>
              <a:spcAft>
                <a:spcPts val="0"/>
              </a:spcAft>
              <a:buNone/>
            </a:pPr>
            <a:r>
              <a:rPr lang="en-US" sz="1200"/>
              <a:t>- https://ailab.criteo.com/ressources/</a:t>
            </a:r>
            <a:endParaRPr/>
          </a:p>
          <a:p>
            <a:pPr indent="0" lvl="0" marL="0" rtl="0" algn="l">
              <a:spcBef>
                <a:spcPts val="0"/>
              </a:spcBef>
              <a:spcAft>
                <a:spcPts val="0"/>
              </a:spcAft>
              <a:buNone/>
            </a:pPr>
            <a:r>
              <a:rPr lang="en-US" sz="1200"/>
              <a:t>- https://rdrr.io/cran/AER/man/STAR.html</a:t>
            </a:r>
            <a:endParaRPr/>
          </a:p>
          <a:p>
            <a:pPr indent="0" lvl="0" marL="0" rtl="0" algn="l">
              <a:spcBef>
                <a:spcPts val="0"/>
              </a:spcBef>
              <a:spcAft>
                <a:spcPts val="0"/>
              </a:spcAft>
              <a:buNone/>
            </a:pPr>
            <a:r>
              <a:rPr lang="en-US" sz="1200"/>
              <a:t>- https://CRAN.R-project.org/package=AER</a:t>
            </a:r>
            <a:endParaRPr/>
          </a:p>
          <a:p>
            <a:pPr indent="0" lvl="0" marL="0" rtl="0" algn="l">
              <a:spcBef>
                <a:spcPts val="0"/>
              </a:spcBef>
              <a:spcAft>
                <a:spcPts val="0"/>
              </a:spcAft>
              <a:buNone/>
            </a:pPr>
            <a:r>
              <a:rPr lang="en-US" sz="1200"/>
              <a:t>- https://cran.univ-lyon1.fr/CRAN/web/packages/MatchIt/vignettes/assessing-balance.html</a:t>
            </a:r>
            <a:endParaRPr/>
          </a:p>
          <a:p>
            <a:pPr indent="0" lvl="0" marL="0" rtl="0" algn="l">
              <a:spcBef>
                <a:spcPts val="0"/>
              </a:spcBef>
              <a:spcAft>
                <a:spcPts val="0"/>
              </a:spcAft>
              <a:buNone/>
            </a:pPr>
            <a:r>
              <a:rPr lang="en-US" sz="1200"/>
              <a:t>- https://cran.univ-lyon1.fr/CRAN/web/packages/MatchIt/vignettes/MatchIt.html</a:t>
            </a:r>
            <a:endParaRPr/>
          </a:p>
          <a:p>
            <a:pPr indent="0" lvl="0" marL="0" rtl="0" algn="l">
              <a:spcBef>
                <a:spcPts val="0"/>
              </a:spcBef>
              <a:spcAft>
                <a:spcPts val="0"/>
              </a:spcAft>
              <a:buNone/>
            </a:pPr>
            <a:r>
              <a:rPr lang="en-US" sz="1200"/>
              <a:t>- https://bcallaway11.github.io/did/</a:t>
            </a:r>
            <a:endParaRPr/>
          </a:p>
          <a:p>
            <a:pPr indent="0" lvl="0" marL="0" rtl="0" algn="l">
              <a:spcBef>
                <a:spcPts val="0"/>
              </a:spcBef>
              <a:spcAft>
                <a:spcPts val="0"/>
              </a:spcAft>
              <a:buNone/>
            </a:pPr>
            <a:r>
              <a:rPr lang="en-US" sz="1200"/>
              <a:t>- https://rdrr.io/cran/did/man/mpdta.html</a:t>
            </a:r>
            <a:endParaRPr/>
          </a:p>
          <a:p>
            <a:pPr indent="0" lvl="0" marL="0" rtl="0" algn="l">
              <a:spcBef>
                <a:spcPts val="0"/>
              </a:spcBef>
              <a:spcAft>
                <a:spcPts val="0"/>
              </a:spcAft>
              <a:buNone/>
            </a:pPr>
            <a:r>
              <a:rPr lang="en-US" sz="1200"/>
              <a:t>- https://www.nber.org/oregon</a:t>
            </a:r>
            <a:endParaRPr/>
          </a:p>
          <a:p>
            <a:pPr indent="0" lvl="0" marL="0" rtl="0" algn="l">
              <a:spcBef>
                <a:spcPts val="0"/>
              </a:spcBef>
              <a:spcAft>
                <a:spcPts val="0"/>
              </a:spcAft>
              <a:buNone/>
            </a:pPr>
            <a:r>
              <a:rPr lang="en-US" sz="1200"/>
              <a:t>- https://www.nber.org/research/data/oregon-health-insurance-experiment-data</a:t>
            </a:r>
            <a:endParaRPr/>
          </a:p>
          <a:p>
            <a:pPr indent="0" lvl="0" marL="0" rtl="0" algn="l">
              <a:spcBef>
                <a:spcPts val="0"/>
              </a:spcBef>
              <a:spcAft>
                <a:spcPts val="0"/>
              </a:spcAft>
              <a:buNone/>
            </a:pPr>
            <a:r>
              <a:rPr lang="en-US" sz="1200"/>
              <a:t>- https://www.nber.org/programs-projects/projects-and-centers/oregon-health-insurance-experiment/oregon-health-insurance-experiment-documents</a:t>
            </a:r>
            <a:endParaRPr/>
          </a:p>
          <a:p>
            <a:pPr indent="0" lvl="0" marL="0" rtl="0" algn="l">
              <a:spcBef>
                <a:spcPts val="0"/>
              </a:spcBef>
              <a:spcAft>
                <a:spcPts val="0"/>
              </a:spcAft>
              <a:buNone/>
            </a:pPr>
            <a:r>
              <a:rPr lang="en-US" sz="1200"/>
              <a:t>- https://github.com/synth-inference/synthdid/blob/master/R/data.R</a:t>
            </a:r>
            <a:endParaRPr/>
          </a:p>
          <a:p>
            <a:pPr indent="0" lvl="0" marL="0" rtl="0" algn="l">
              <a:spcBef>
                <a:spcPts val="0"/>
              </a:spcBef>
              <a:spcAft>
                <a:spcPts val="0"/>
              </a:spcAft>
              <a:buNone/>
            </a:pPr>
            <a:r>
              <a:rPr lang="en-US" sz="1200"/>
              <a:t>- https://github.com/synth-inference/synthdid</a:t>
            </a:r>
            <a:endParaRPr/>
          </a:p>
        </p:txBody>
      </p:sp>
      <p:sp>
        <p:nvSpPr>
          <p:cNvPr id="3449" name="Google Shape;3449;p16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6" name="Shape 3456"/>
        <p:cNvGrpSpPr/>
        <p:nvPr/>
      </p:nvGrpSpPr>
      <p:grpSpPr>
        <a:xfrm>
          <a:off x="0" y="0"/>
          <a:ext cx="0" cy="0"/>
          <a:chOff x="0" y="0"/>
          <a:chExt cx="0" cy="0"/>
        </a:xfrm>
      </p:grpSpPr>
      <p:sp>
        <p:nvSpPr>
          <p:cNvPr id="3457" name="Google Shape;3457;p16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8" name="Google Shape;3458;p16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Recommended placement: Criteo/STAR on Day 2; LaLonde/mpdta on Day 3; Oregon/Prop99 on Day 4 or as extensions.</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https://ailab.criteo.com/criteo-uplift-prediction-dataset/</a:t>
            </a:r>
            <a:endParaRPr/>
          </a:p>
          <a:p>
            <a:pPr indent="0" lvl="0" marL="0" rtl="0" algn="l">
              <a:spcBef>
                <a:spcPts val="0"/>
              </a:spcBef>
              <a:spcAft>
                <a:spcPts val="0"/>
              </a:spcAft>
              <a:buNone/>
            </a:pPr>
            <a:r>
              <a:rPr lang="en-US" sz="1200"/>
              <a:t>- https://ailab.criteo.com/ressources/</a:t>
            </a:r>
            <a:endParaRPr/>
          </a:p>
          <a:p>
            <a:pPr indent="0" lvl="0" marL="0" rtl="0" algn="l">
              <a:spcBef>
                <a:spcPts val="0"/>
              </a:spcBef>
              <a:spcAft>
                <a:spcPts val="0"/>
              </a:spcAft>
              <a:buNone/>
            </a:pPr>
            <a:r>
              <a:rPr lang="en-US" sz="1200"/>
              <a:t>- https://rdrr.io/cran/AER/man/STAR.html</a:t>
            </a:r>
            <a:endParaRPr/>
          </a:p>
          <a:p>
            <a:pPr indent="0" lvl="0" marL="0" rtl="0" algn="l">
              <a:spcBef>
                <a:spcPts val="0"/>
              </a:spcBef>
              <a:spcAft>
                <a:spcPts val="0"/>
              </a:spcAft>
              <a:buNone/>
            </a:pPr>
            <a:r>
              <a:rPr lang="en-US" sz="1200"/>
              <a:t>- https://CRAN.R-project.org/package=AER</a:t>
            </a:r>
            <a:endParaRPr/>
          </a:p>
          <a:p>
            <a:pPr indent="0" lvl="0" marL="0" rtl="0" algn="l">
              <a:spcBef>
                <a:spcPts val="0"/>
              </a:spcBef>
              <a:spcAft>
                <a:spcPts val="0"/>
              </a:spcAft>
              <a:buNone/>
            </a:pPr>
            <a:r>
              <a:rPr lang="en-US" sz="1200"/>
              <a:t>- https://cran.univ-lyon1.fr/CRAN/web/packages/MatchIt/vignettes/assessing-balance.html</a:t>
            </a:r>
            <a:endParaRPr/>
          </a:p>
          <a:p>
            <a:pPr indent="0" lvl="0" marL="0" rtl="0" algn="l">
              <a:spcBef>
                <a:spcPts val="0"/>
              </a:spcBef>
              <a:spcAft>
                <a:spcPts val="0"/>
              </a:spcAft>
              <a:buNone/>
            </a:pPr>
            <a:r>
              <a:rPr lang="en-US" sz="1200"/>
              <a:t>- https://cran.univ-lyon1.fr/CRAN/web/packages/MatchIt/vignettes/MatchIt.html</a:t>
            </a:r>
            <a:endParaRPr/>
          </a:p>
          <a:p>
            <a:pPr indent="0" lvl="0" marL="0" rtl="0" algn="l">
              <a:spcBef>
                <a:spcPts val="0"/>
              </a:spcBef>
              <a:spcAft>
                <a:spcPts val="0"/>
              </a:spcAft>
              <a:buNone/>
            </a:pPr>
            <a:r>
              <a:rPr lang="en-US" sz="1200"/>
              <a:t>- https://bcallaway11.github.io/did/</a:t>
            </a:r>
            <a:endParaRPr/>
          </a:p>
          <a:p>
            <a:pPr indent="0" lvl="0" marL="0" rtl="0" algn="l">
              <a:spcBef>
                <a:spcPts val="0"/>
              </a:spcBef>
              <a:spcAft>
                <a:spcPts val="0"/>
              </a:spcAft>
              <a:buNone/>
            </a:pPr>
            <a:r>
              <a:rPr lang="en-US" sz="1200"/>
              <a:t>- https://rdrr.io/cran/did/man/mpdta.html</a:t>
            </a:r>
            <a:endParaRPr/>
          </a:p>
          <a:p>
            <a:pPr indent="0" lvl="0" marL="0" rtl="0" algn="l">
              <a:spcBef>
                <a:spcPts val="0"/>
              </a:spcBef>
              <a:spcAft>
                <a:spcPts val="0"/>
              </a:spcAft>
              <a:buNone/>
            </a:pPr>
            <a:r>
              <a:rPr lang="en-US" sz="1200"/>
              <a:t>- https://www.nber.org/oregon</a:t>
            </a:r>
            <a:endParaRPr/>
          </a:p>
          <a:p>
            <a:pPr indent="0" lvl="0" marL="0" rtl="0" algn="l">
              <a:spcBef>
                <a:spcPts val="0"/>
              </a:spcBef>
              <a:spcAft>
                <a:spcPts val="0"/>
              </a:spcAft>
              <a:buNone/>
            </a:pPr>
            <a:r>
              <a:rPr lang="en-US" sz="1200"/>
              <a:t>- https://www.nber.org/research/data/oregon-health-insurance-experiment-data</a:t>
            </a:r>
            <a:endParaRPr/>
          </a:p>
          <a:p>
            <a:pPr indent="0" lvl="0" marL="0" rtl="0" algn="l">
              <a:spcBef>
                <a:spcPts val="0"/>
              </a:spcBef>
              <a:spcAft>
                <a:spcPts val="0"/>
              </a:spcAft>
              <a:buNone/>
            </a:pPr>
            <a:r>
              <a:rPr lang="en-US" sz="1200"/>
              <a:t>- https://www.nber.org/programs-projects/projects-and-centers/oregon-health-insurance-experiment/oregon-health-insurance-experiment-documents</a:t>
            </a:r>
            <a:endParaRPr/>
          </a:p>
          <a:p>
            <a:pPr indent="0" lvl="0" marL="0" rtl="0" algn="l">
              <a:spcBef>
                <a:spcPts val="0"/>
              </a:spcBef>
              <a:spcAft>
                <a:spcPts val="0"/>
              </a:spcAft>
              <a:buNone/>
            </a:pPr>
            <a:r>
              <a:rPr lang="en-US" sz="1200"/>
              <a:t>- https://github.com/synth-inference/synthdid/blob/master/R/data.R</a:t>
            </a:r>
            <a:endParaRPr/>
          </a:p>
          <a:p>
            <a:pPr indent="0" lvl="0" marL="0" rtl="0" algn="l">
              <a:spcBef>
                <a:spcPts val="0"/>
              </a:spcBef>
              <a:spcAft>
                <a:spcPts val="0"/>
              </a:spcAft>
              <a:buNone/>
            </a:pPr>
            <a:r>
              <a:rPr lang="en-US" sz="1200"/>
              <a:t>- https://github.com/synth-inference/synthdid</a:t>
            </a:r>
            <a:endParaRPr/>
          </a:p>
        </p:txBody>
      </p:sp>
      <p:sp>
        <p:nvSpPr>
          <p:cNvPr id="3459" name="Google Shape;3459;p16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6" name="Shape 3476"/>
        <p:cNvGrpSpPr/>
        <p:nvPr/>
      </p:nvGrpSpPr>
      <p:grpSpPr>
        <a:xfrm>
          <a:off x="0" y="0"/>
          <a:ext cx="0" cy="0"/>
          <a:chOff x="0" y="0"/>
          <a:chExt cx="0" cy="0"/>
        </a:xfrm>
      </p:grpSpPr>
      <p:sp>
        <p:nvSpPr>
          <p:cNvPr id="3477" name="Google Shape;3477;p16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8" name="Google Shape;3478;p16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instructor package's Injaz capstone remains the primary assessment. These alternatives preserve the same reasoning-first rubric.</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https://ailab.criteo.com/criteo-uplift-prediction-dataset/</a:t>
            </a:r>
            <a:endParaRPr/>
          </a:p>
          <a:p>
            <a:pPr indent="0" lvl="0" marL="0" rtl="0" algn="l">
              <a:spcBef>
                <a:spcPts val="0"/>
              </a:spcBef>
              <a:spcAft>
                <a:spcPts val="0"/>
              </a:spcAft>
              <a:buNone/>
            </a:pPr>
            <a:r>
              <a:rPr lang="en-US" sz="1200"/>
              <a:t>- https://ailab.criteo.com/ressources/</a:t>
            </a:r>
            <a:endParaRPr/>
          </a:p>
          <a:p>
            <a:pPr indent="0" lvl="0" marL="0" rtl="0" algn="l">
              <a:spcBef>
                <a:spcPts val="0"/>
              </a:spcBef>
              <a:spcAft>
                <a:spcPts val="0"/>
              </a:spcAft>
              <a:buNone/>
            </a:pPr>
            <a:r>
              <a:rPr lang="en-US" sz="1200"/>
              <a:t>- https://rdrr.io/cran/AER/man/STAR.html</a:t>
            </a:r>
            <a:endParaRPr/>
          </a:p>
          <a:p>
            <a:pPr indent="0" lvl="0" marL="0" rtl="0" algn="l">
              <a:spcBef>
                <a:spcPts val="0"/>
              </a:spcBef>
              <a:spcAft>
                <a:spcPts val="0"/>
              </a:spcAft>
              <a:buNone/>
            </a:pPr>
            <a:r>
              <a:rPr lang="en-US" sz="1200"/>
              <a:t>- https://CRAN.R-project.org/package=AER</a:t>
            </a:r>
            <a:endParaRPr/>
          </a:p>
          <a:p>
            <a:pPr indent="0" lvl="0" marL="0" rtl="0" algn="l">
              <a:spcBef>
                <a:spcPts val="0"/>
              </a:spcBef>
              <a:spcAft>
                <a:spcPts val="0"/>
              </a:spcAft>
              <a:buNone/>
            </a:pPr>
            <a:r>
              <a:rPr lang="en-US" sz="1200"/>
              <a:t>- https://cran.univ-lyon1.fr/CRAN/web/packages/MatchIt/vignettes/assessing-balance.html</a:t>
            </a:r>
            <a:endParaRPr/>
          </a:p>
          <a:p>
            <a:pPr indent="0" lvl="0" marL="0" rtl="0" algn="l">
              <a:spcBef>
                <a:spcPts val="0"/>
              </a:spcBef>
              <a:spcAft>
                <a:spcPts val="0"/>
              </a:spcAft>
              <a:buNone/>
            </a:pPr>
            <a:r>
              <a:rPr lang="en-US" sz="1200"/>
              <a:t>- https://cran.univ-lyon1.fr/CRAN/web/packages/MatchIt/vignettes/MatchIt.html</a:t>
            </a:r>
            <a:endParaRPr/>
          </a:p>
          <a:p>
            <a:pPr indent="0" lvl="0" marL="0" rtl="0" algn="l">
              <a:spcBef>
                <a:spcPts val="0"/>
              </a:spcBef>
              <a:spcAft>
                <a:spcPts val="0"/>
              </a:spcAft>
              <a:buNone/>
            </a:pPr>
            <a:r>
              <a:rPr lang="en-US" sz="1200"/>
              <a:t>- https://bcallaway11.github.io/did/</a:t>
            </a:r>
            <a:endParaRPr/>
          </a:p>
          <a:p>
            <a:pPr indent="0" lvl="0" marL="0" rtl="0" algn="l">
              <a:spcBef>
                <a:spcPts val="0"/>
              </a:spcBef>
              <a:spcAft>
                <a:spcPts val="0"/>
              </a:spcAft>
              <a:buNone/>
            </a:pPr>
            <a:r>
              <a:rPr lang="en-US" sz="1200"/>
              <a:t>- https://rdrr.io/cran/did/man/mpdta.html</a:t>
            </a:r>
            <a:endParaRPr/>
          </a:p>
          <a:p>
            <a:pPr indent="0" lvl="0" marL="0" rtl="0" algn="l">
              <a:spcBef>
                <a:spcPts val="0"/>
              </a:spcBef>
              <a:spcAft>
                <a:spcPts val="0"/>
              </a:spcAft>
              <a:buNone/>
            </a:pPr>
            <a:r>
              <a:rPr lang="en-US" sz="1200"/>
              <a:t>- https://www.nber.org/oregon</a:t>
            </a:r>
            <a:endParaRPr/>
          </a:p>
          <a:p>
            <a:pPr indent="0" lvl="0" marL="0" rtl="0" algn="l">
              <a:spcBef>
                <a:spcPts val="0"/>
              </a:spcBef>
              <a:spcAft>
                <a:spcPts val="0"/>
              </a:spcAft>
              <a:buNone/>
            </a:pPr>
            <a:r>
              <a:rPr lang="en-US" sz="1200"/>
              <a:t>- https://www.nber.org/research/data/oregon-health-insurance-experiment-data</a:t>
            </a:r>
            <a:endParaRPr/>
          </a:p>
          <a:p>
            <a:pPr indent="0" lvl="0" marL="0" rtl="0" algn="l">
              <a:spcBef>
                <a:spcPts val="0"/>
              </a:spcBef>
              <a:spcAft>
                <a:spcPts val="0"/>
              </a:spcAft>
              <a:buNone/>
            </a:pPr>
            <a:r>
              <a:rPr lang="en-US" sz="1200"/>
              <a:t>- https://www.nber.org/programs-projects/projects-and-centers/oregon-health-insurance-experiment/oregon-health-insurance-experiment-documents</a:t>
            </a:r>
            <a:endParaRPr/>
          </a:p>
          <a:p>
            <a:pPr indent="0" lvl="0" marL="0" rtl="0" algn="l">
              <a:spcBef>
                <a:spcPts val="0"/>
              </a:spcBef>
              <a:spcAft>
                <a:spcPts val="0"/>
              </a:spcAft>
              <a:buNone/>
            </a:pPr>
            <a:r>
              <a:rPr lang="en-US" sz="1200"/>
              <a:t>- https://github.com/synth-inference/synthdid/blob/master/R/data.R</a:t>
            </a:r>
            <a:endParaRPr/>
          </a:p>
          <a:p>
            <a:pPr indent="0" lvl="0" marL="0" rtl="0" algn="l">
              <a:spcBef>
                <a:spcPts val="0"/>
              </a:spcBef>
              <a:spcAft>
                <a:spcPts val="0"/>
              </a:spcAft>
              <a:buNone/>
            </a:pPr>
            <a:r>
              <a:rPr lang="en-US" sz="1200"/>
              <a:t>- https://github.com/synth-inference/synthdid</a:t>
            </a:r>
            <a:endParaRPr/>
          </a:p>
        </p:txBody>
      </p:sp>
      <p:sp>
        <p:nvSpPr>
          <p:cNvPr id="3479" name="Google Shape;3479;p16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8" name="Shape 3498"/>
        <p:cNvGrpSpPr/>
        <p:nvPr/>
      </p:nvGrpSpPr>
      <p:grpSpPr>
        <a:xfrm>
          <a:off x="0" y="0"/>
          <a:ext cx="0" cy="0"/>
          <a:chOff x="0" y="0"/>
          <a:chExt cx="0" cy="0"/>
        </a:xfrm>
      </p:grpSpPr>
      <p:sp>
        <p:nvSpPr>
          <p:cNvPr id="3499" name="Google Shape;3499;p1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0" name="Google Shape;3500;p1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4, Hour 4 divider into the capstone.</a:t>
            </a:r>
          </a:p>
          <a:p>
            <a:r>
              <a:t>Two sentences, then move to the brief, because they need the working time. Say only that the capstone is scored on the reasoning chain rather than on hitting a number, and that the dataset is built so the defensible answer is not the obvious one. The memo matters as much as the notebook, and they will defend it aloud in Hour 5.</a:t>
            </a:r>
          </a:p>
          <a:p>
            <a:r>
              <a:t>ASK: What is the first thing you will write, before touching the data? Steer to the estimand and the decision it serves, not to loading the CSV.</a:t>
            </a:r>
          </a:p>
          <a:p>
            <a:r>
              <a:t>WATCH FOR: Groups opening the notebook during this slide. Hold them, since the two highest-weighted rubric criteria are decided before any code runs.</a:t>
            </a:r>
          </a:p>
          <a:p>
            <a:r>
              <a:t>LINK: injaz_autofill_ab.csv; capstone_starter.</a:t>
            </a:r>
          </a:p>
        </p:txBody>
      </p:sp>
      <p:sp>
        <p:nvSpPr>
          <p:cNvPr id="3501" name="Google Shape;3501;p16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9" name="Shape 3509"/>
        <p:cNvGrpSpPr/>
        <p:nvPr/>
      </p:nvGrpSpPr>
      <p:grpSpPr>
        <a:xfrm>
          <a:off x="0" y="0"/>
          <a:ext cx="0" cy="0"/>
          <a:chOff x="0" y="0"/>
          <a:chExt cx="0" cy="0"/>
        </a:xfrm>
      </p:grpSpPr>
      <p:sp>
        <p:nvSpPr>
          <p:cNvPr id="3510" name="Google Shape;3510;p16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1" name="Google Shape;3511;p1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4, Hour 4, the capstone brief; hold to five minutes.</a:t>
            </a:r>
          </a:p>
          <a:p>
            <a:r>
              <a:t>Read the deliverable, then be explicit about the geometry without giving the answer away. The autofill test has a true lift of +1.4 pp against a practical threshold of 1.0 pp, and the interval is built to straddle that threshold, so a correct analysis yields a significant result that still does not justify shipping. Insist they write the threshold down in step 1, since one chosen after seeing the interval is worthless.</a:t>
            </a:r>
          </a:p>
          <a:p>
            <a:r>
              <a:t>ASK: What decision does this analysis serve, and what is the smallest effect that would change it? Steer to a number stated in advance on cost grounds.</a:t>
            </a:r>
          </a:p>
          <a:p>
            <a:r>
              <a:t>WATCH FOR: Teams that reach p under 0.05 and stop. That is the exact failure this dataset is engineered to expose.</a:t>
            </a:r>
          </a:p>
          <a:p>
            <a:r>
              <a:t>LINK: capstone_starter, injaz_autofill_ab.csv.</a:t>
            </a:r>
          </a:p>
        </p:txBody>
      </p:sp>
      <p:sp>
        <p:nvSpPr>
          <p:cNvPr id="3512" name="Google Shape;3512;p16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2" name="Shape 3542"/>
        <p:cNvGrpSpPr/>
        <p:nvPr/>
      </p:nvGrpSpPr>
      <p:grpSpPr>
        <a:xfrm>
          <a:off x="0" y="0"/>
          <a:ext cx="0" cy="0"/>
          <a:chOff x="0" y="0"/>
          <a:chExt cx="0" cy="0"/>
        </a:xfrm>
      </p:grpSpPr>
      <p:sp>
        <p:nvSpPr>
          <p:cNvPr id="3543" name="Google Shape;3543;p16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4" name="Google Shape;3544;p16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4, straight after the brief.</a:t>
            </a:r>
          </a:p>
          <a:p>
            <a:r>
              <a:t>Walk the weights, not the descriptions, because the weights are the message: identification and estimation carry 25 percent each, so half the score is settled before any recommendation is written, and diagnostics and sensitivity add 20 percent. Say plainly that a correct point estimate with no diagnostics scores badly, while a well-diagnosed analysis reaching a cautious hold scores well. The estimand row is the cheapest 15 percent in the rubric.</a:t>
            </a:r>
          </a:p>
          <a:p>
            <a:r>
              <a:t>ASK: Where does a notebook that ships on p under 0.05 lose marks? Steer to communication and to diagnostics, since the estimation itself may be fine.</a:t>
            </a:r>
          </a:p>
          <a:p>
            <a:r>
              <a:t>WATCH FOR: Reading the rubric as a checklist for the end. Identification choices in the first ten minutes determine most of the score.</a:t>
            </a:r>
          </a:p>
          <a:p>
            <a:r>
              <a:t>LINK: The pitfalls slide next.</a:t>
            </a:r>
          </a:p>
        </p:txBody>
      </p:sp>
      <p:sp>
        <p:nvSpPr>
          <p:cNvPr id="3545" name="Google Shape;3545;p16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3" name="Shape 3553"/>
        <p:cNvGrpSpPr/>
        <p:nvPr/>
      </p:nvGrpSpPr>
      <p:grpSpPr>
        <a:xfrm>
          <a:off x="0" y="0"/>
          <a:ext cx="0" cy="0"/>
          <a:chOff x="0" y="0"/>
          <a:chExt cx="0" cy="0"/>
        </a:xfrm>
      </p:grpSpPr>
      <p:sp>
        <p:nvSpPr>
          <p:cNvPr id="3554" name="Google Shape;3554;p16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5" name="Google Shape;3555;p16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4, Hour 4, the pre-mortem before they start work.</a:t>
            </a:r>
          </a:p>
          <a:p>
            <a:r>
              <a:t>Give each pitfall a name from earlier in the course so it is recognisable. The post-treatment control is the support_calls mediator from the DAG exercise. The mismatched standard error is the session-level mistake, worth 1.6 times in width. The confident recommendation with no sensitivity is the training estimate with its Gamma of 1.2. The quiet estimand mismatch is trigger dilution, which turned +2.2 pp into +1.3 pp.</a:t>
            </a:r>
          </a:p>
          <a:p>
            <a:r>
              <a:t>ASK: Which of these five have you personally shipped? Steer to a show of hands; the mediator control is nearly universal.</a:t>
            </a:r>
          </a:p>
          <a:p>
            <a:r>
              <a:t>WATCH FOR: Adjusting for anything correlated with the outcome because it improves fit. Fit is not evidence about which variables belong in the model.</a:t>
            </a:r>
          </a:p>
          <a:p>
            <a:r>
              <a:t>LINK: The adjustment set digital_literacy and device_age.</a:t>
            </a:r>
          </a:p>
        </p:txBody>
      </p:sp>
      <p:sp>
        <p:nvSpPr>
          <p:cNvPr id="3556" name="Google Shape;3556;p16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3" name="Shape 3573"/>
        <p:cNvGrpSpPr/>
        <p:nvPr/>
      </p:nvGrpSpPr>
      <p:grpSpPr>
        <a:xfrm>
          <a:off x="0" y="0"/>
          <a:ext cx="0" cy="0"/>
          <a:chOff x="0" y="0"/>
          <a:chExt cx="0" cy="0"/>
        </a:xfrm>
      </p:grpSpPr>
      <p:sp>
        <p:nvSpPr>
          <p:cNvPr id="3574" name="Google Shape;3574;p16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5" name="Google Shape;3575;p16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Day 4, Hour 4, the last slide before the working block.</a:t>
            </a:r>
          </a:p>
          <a:p>
            <a:r>
              <a:t>Frame the four qualities as one test: could a skeptical reviewer find the load-bearing assumption without asking you? If yes the report is transparent; if not it is a sales document. Stress the word both in the third box, since reporting sampling uncertainty alone is the standard omission that makes a fragile estimate look settled.</a:t>
            </a:r>
          </a:p>
          <a:p>
            <a:r>
              <a:t>ASK: What separates honest uncertainty from hedging? Steer to specificity: honest uncertainty names the assumption and the tipping point, while hedging is vague everywhere.</a:t>
            </a:r>
          </a:p>
          <a:p>
            <a:r>
              <a:t>WATCH FOR: Confusing length with rigour. A two-page memo that names one assumption clearly beats twenty pages that bury it.</a:t>
            </a:r>
          </a:p>
          <a:p>
            <a:r>
              <a:t>LINK: Capstone defense format in Hour 5.</a:t>
            </a:r>
          </a:p>
        </p:txBody>
      </p:sp>
      <p:sp>
        <p:nvSpPr>
          <p:cNvPr id="3576" name="Google Shape;3576;p16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5" name="Shape 3595"/>
        <p:cNvGrpSpPr/>
        <p:nvPr/>
      </p:nvGrpSpPr>
      <p:grpSpPr>
        <a:xfrm>
          <a:off x="0" y="0"/>
          <a:ext cx="0" cy="0"/>
          <a:chOff x="0" y="0"/>
          <a:chExt cx="0" cy="0"/>
        </a:xfrm>
      </p:grpSpPr>
      <p:sp>
        <p:nvSpPr>
          <p:cNvPr id="3596" name="Google Shape;3596;p1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7" name="Google Shape;3597;p1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4, Hour 5 divider.</a:t>
            </a:r>
          </a:p>
          <a:p>
            <a:r>
              <a:t>Two sentences. The hour has three parts: defenses first while the analysis is fresh, then the post-test, then consolidation. Set the tone for the defense explicitly, that the challenge questions are not hostile but exactly what a stakeholder review asks, and that the expected answer to which assumption is doing the work is a specific one rather than a general reassurance.</a:t>
            </a:r>
          </a:p>
          <a:p>
            <a:r>
              <a:t>ASK: What is the question you least want to be asked about your capstone? Steer them to prepare that answer first; it is almost always the assumption question.</a:t>
            </a:r>
          </a:p>
          <a:p>
            <a:r>
              <a:t>WATCH FOR: Teams still coding through the defenses. Close laptops, because the value of the hour is hearing five other reasoning chains.</a:t>
            </a:r>
          </a:p>
          <a:p>
            <a:r>
              <a:t>LINK: The post-test covers all four days.</a:t>
            </a:r>
          </a:p>
        </p:txBody>
      </p:sp>
      <p:sp>
        <p:nvSpPr>
          <p:cNvPr id="3598" name="Google Shape;3598;p16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6" name="Shape 3606"/>
        <p:cNvGrpSpPr/>
        <p:nvPr/>
      </p:nvGrpSpPr>
      <p:grpSpPr>
        <a:xfrm>
          <a:off x="0" y="0"/>
          <a:ext cx="0" cy="0"/>
          <a:chOff x="0" y="0"/>
          <a:chExt cx="0" cy="0"/>
        </a:xfrm>
      </p:grpSpPr>
      <p:sp>
        <p:nvSpPr>
          <p:cNvPr id="3607" name="Google Shape;3607;p17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08" name="Google Shape;3608;p17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Hour 5, setting up the defenses.</a:t>
            </a:r>
          </a:p>
          <a:p>
            <a:r>
              <a:t>Explain the format, then say what you are listening for: whether the five minutes follow question, estimand, design, estimate, decision without detouring into code. Enforce the second bullet by asking every presenter the same question, which assumption is doing the work and how do you know, because that is the whole course compressed. Warn them the honest answer on the autofill data usually ends in hold or extend.</a:t>
            </a:r>
          </a:p>
          <a:p>
            <a:r>
              <a:t>ASK: What would you measure next to reduce the residual uncertainty? Steer to extending the test toward a threshold-clearing interval, not adding covariates.</a:t>
            </a:r>
          </a:p>
          <a:p>
            <a:r>
              <a:t>WATCH FOR: Presenters spending three of five minutes on data cleaning. Cut them at two minutes and ask for the estimand.</a:t>
            </a:r>
          </a:p>
          <a:p>
            <a:r>
              <a:t>LINK: The rubric weights communication and decision.</a:t>
            </a:r>
          </a:p>
        </p:txBody>
      </p:sp>
      <p:sp>
        <p:nvSpPr>
          <p:cNvPr id="3609" name="Google Shape;3609;p17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4" name="Shape 3624"/>
        <p:cNvGrpSpPr/>
        <p:nvPr/>
      </p:nvGrpSpPr>
      <p:grpSpPr>
        <a:xfrm>
          <a:off x="0" y="0"/>
          <a:ext cx="0" cy="0"/>
          <a:chOff x="0" y="0"/>
          <a:chExt cx="0" cy="0"/>
        </a:xfrm>
      </p:grpSpPr>
      <p:sp>
        <p:nvSpPr>
          <p:cNvPr id="3625" name="Google Shape;3625;p17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6" name="Google Shape;3626;p1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5 min - Day 4, Hour 5, sample items before the full post-test.</a:t>
            </a:r>
          </a:p>
          <a:p>
            <a:r>
              <a:t>Use these to calibrate rather than to teach. Q1 is B, since a real written rule beats thin overlap and C tempts anyone who forgot that grouped assignment demands clustering. Q2 is B: an E-value of 1.1 means a very weak confounder overturns the result, and A is chosen by people who have not internalised the direction of the scale. Q3 is B, the thesis of the four days. Note all three answers are B, so reshuffle if you reuse them.</a:t>
            </a:r>
          </a:p>
          <a:p>
            <a:r>
              <a:t>ASK: On Q3, why is adding controls actively dangerous rather than merely unhelpful? Steer to colliders and mediators, where a control creates bias.</a:t>
            </a:r>
          </a:p>
          <a:p>
            <a:r>
              <a:t>WATCH FOR: Acing these and then rushing the real test, which spans all four days including power and SRM.</a:t>
            </a:r>
          </a:p>
        </p:txBody>
      </p:sp>
      <p:sp>
        <p:nvSpPr>
          <p:cNvPr id="3627" name="Google Shape;3627;p17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9" name="Shape 3649"/>
        <p:cNvGrpSpPr/>
        <p:nvPr/>
      </p:nvGrpSpPr>
      <p:grpSpPr>
        <a:xfrm>
          <a:off x="0" y="0"/>
          <a:ext cx="0" cy="0"/>
          <a:chOff x="0" y="0"/>
          <a:chExt cx="0" cy="0"/>
        </a:xfrm>
      </p:grpSpPr>
      <p:sp>
        <p:nvSpPr>
          <p:cNvPr id="3650" name="Google Shape;3650;p1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1" name="Google Shape;3651;p1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Day 4 wrap, the last content slide of the core curriculum.</a:t>
            </a:r>
          </a:p>
          <a:p>
            <a:r>
              <a:t>Close on the arc rather than the contents. The four boxes are the four days in order, so state each as a claim: every effect is a missing counterfactual, design carries the credibility, estimator and standard error must match the design, and the deliverable is a decision. Then give the numbers that made it real, +19.3 against +5.0, +11.5 against +6.0, +2.2 diluted to +1.3, and a significant capstone result that is still a hold.</a:t>
            </a:r>
          </a:p>
          <a:p>
            <a:r>
              <a:t>ASK: What one habit will you take back on Sunday? Steer to writing the estimand before touching the data, the cheapest high-yield change available.</a:t>
            </a:r>
          </a:p>
          <a:p>
            <a:r>
              <a:t>WATCH FOR: A rushed close. Budget the full time; consolidation is what makes four days durable.</a:t>
            </a:r>
          </a:p>
          <a:p>
            <a:r>
              <a:t>LINK: The reference toolkit that follows.</a:t>
            </a:r>
          </a:p>
        </p:txBody>
      </p:sp>
      <p:sp>
        <p:nvSpPr>
          <p:cNvPr id="3652" name="Google Shape;3652;p17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4" name="Shape 3674"/>
        <p:cNvGrpSpPr/>
        <p:nvPr/>
      </p:nvGrpSpPr>
      <p:grpSpPr>
        <a:xfrm>
          <a:off x="0" y="0"/>
          <a:ext cx="0" cy="0"/>
          <a:chOff x="0" y="0"/>
          <a:chExt cx="0" cy="0"/>
        </a:xfrm>
      </p:grpSpPr>
      <p:sp>
        <p:nvSpPr>
          <p:cNvPr id="3675" name="Google Shape;3675;p1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6" name="Google Shape;3676;p1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Day 4 close, the pull-quote slide.</a:t>
            </a:r>
          </a:p>
          <a:p>
            <a:r>
              <a:t>Say nothing for a beat, then read it once. This is the sentence the course exists to install, so resist elaborating; the labs, the numbers and the capstone were all arguments for it and the room has already accepted them. If you want one line, note that estimation is bookkeeping is a deliberate provocation to a room of skilled modellers, true precisely because their modelling was never the binding constraint.</a:t>
            </a:r>
          </a:p>
          <a:p>
            <a:r>
              <a:t>ASK: Does anyone want to argue with this? Steer disagreement toward heterogeneous effects, where the estimator does matter, and concede design still comes first.</a:t>
            </a:r>
          </a:p>
          <a:p>
            <a:r>
              <a:t>WATCH FOR: The urge to fill the silence with a recap. Let the slide work.</a:t>
            </a:r>
          </a:p>
          <a:p>
            <a:r>
              <a:t>LINK: This is the stance the capstone memo is graded against.</a:t>
            </a:r>
          </a:p>
        </p:txBody>
      </p:sp>
      <p:sp>
        <p:nvSpPr>
          <p:cNvPr id="3677" name="Google Shape;3677;p17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6" name="Shape 3686"/>
        <p:cNvGrpSpPr/>
        <p:nvPr/>
      </p:nvGrpSpPr>
      <p:grpSpPr>
        <a:xfrm>
          <a:off x="0" y="0"/>
          <a:ext cx="0" cy="0"/>
          <a:chOff x="0" y="0"/>
          <a:chExt cx="0" cy="0"/>
        </a:xfrm>
      </p:grpSpPr>
      <p:sp>
        <p:nvSpPr>
          <p:cNvPr id="3687" name="Google Shape;3687;p1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8" name="Google Shape;3688;p1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transition out of the core curriculum.</a:t>
            </a:r>
          </a:p>
          <a:p>
            <a:r>
              <a:t>Be explicit about status so nobody thinks they missed assessed material: everything from here is supplementary. Tell facilitators the advanced deep-dives are modular and can be woven into a longer delivery or dropped entirely, and tell participants the reference toolkit is theirs to keep, written to be used at a desk rather than taught from.</a:t>
            </a:r>
          </a:p>
          <a:p>
            <a:r>
              <a:t>ASK: Which advanced topic would be most useful in your own work? Steer them to name one, since it guides which deep-dives you run if time allows.</a:t>
            </a:r>
          </a:p>
          <a:p>
            <a:r>
              <a:t>WATCH FOR: Disengagement now the assessed portion is over. The advanced material is where the recurring problems in their own teams usually live.</a:t>
            </a:r>
          </a:p>
          <a:p>
            <a:r>
              <a:t>LINK: The reference toolkit at the end of the deck.</a:t>
            </a:r>
          </a:p>
        </p:txBody>
      </p:sp>
      <p:sp>
        <p:nvSpPr>
          <p:cNvPr id="3689" name="Google Shape;3689;p17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7" name="Shape 3697"/>
        <p:cNvGrpSpPr/>
        <p:nvPr/>
      </p:nvGrpSpPr>
      <p:grpSpPr>
        <a:xfrm>
          <a:off x="0" y="0"/>
          <a:ext cx="0" cy="0"/>
          <a:chOff x="0" y="0"/>
          <a:chExt cx="0" cy="0"/>
        </a:xfrm>
      </p:grpSpPr>
      <p:sp>
        <p:nvSpPr>
          <p:cNvPr id="3698" name="Google Shape;3698;p1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9" name="Google Shape;3699;p1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divider opening the advanced-topics reservoir; nothing after it is scheduled</a:t>
            </a:r>
          </a:p>
          <a:p>
            <a:r>
              <a:t>Say plainly that this block is a menu, not a syllabus: none of it is examinable and none of it has a fixed slot. You pull from it when a cohort finishes a lab early, or when a team genuinely runs marketplace, sequential or long-horizon problems the core days only touch. Name the three you would actually use for this room rather than promising all of them, and move on inside a minute.</a:t>
            </a:r>
          </a:p>
          <a:p>
            <a:r>
              <a:t>ASK: Which of these headings describes a problem you are living with this quarter? Steer to interference, which shared-capacity public services hit more often than teams realise.</a:t>
            </a:r>
          </a:p>
          <a:p>
            <a:r>
              <a:t>WATCH FOR: Participants treating the advanced block as the real course and discounting the four days of fundamentals they just did.</a:t>
            </a:r>
          </a:p>
          <a:p>
            <a:r>
              <a:t>LINK: Extension sessions attach after Day 2 hour 4 and Day 3 hour 4.</a:t>
            </a:r>
          </a:p>
        </p:txBody>
      </p:sp>
      <p:sp>
        <p:nvSpPr>
          <p:cNvPr id="3700" name="Google Shape;3700;p17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8" name="Shape 3708"/>
        <p:cNvGrpSpPr/>
        <p:nvPr/>
      </p:nvGrpSpPr>
      <p:grpSpPr>
        <a:xfrm>
          <a:off x="0" y="0"/>
          <a:ext cx="0" cy="0"/>
          <a:chOff x="0" y="0"/>
          <a:chExt cx="0" cy="0"/>
        </a:xfrm>
      </p:grpSpPr>
      <p:sp>
        <p:nvSpPr>
          <p:cNvPr id="3709" name="Google Shape;3709;p17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0" name="Google Shape;3710;p17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sub-divider for the experimentation extensions, best run as a Day 2 add-on</a:t>
            </a:r>
          </a:p>
          <a:p>
            <a:r>
              <a:t>Frame the next ten slides as the gap between running an A/B test and running an experimentation programme. Everything here assumes participants can already size, randomise and analyse a fixed-horizon test; these are the failures that appear at scale, once you have hundreds of tests, shared inventory, or a metric that moves for reasons other than the treatment. Say you are deliberately going wide and shallow.</a:t>
            </a:r>
          </a:p>
          <a:p>
            <a:r>
              <a:t>ASK: How many experiments does your organisation run in a year? Steer to the point that under about ten a year this block is premature, and over a hundred all of it is urgent.</a:t>
            </a:r>
          </a:p>
          <a:p>
            <a:r>
              <a:t>WATCH FOR: Experts assuming these are exotic edge cases. Simpson reversals and novelty decay are routine.</a:t>
            </a:r>
          </a:p>
          <a:p>
            <a:r>
              <a:t>LINK: Builds on Day 2 and the peeking result on injaz_experiment_results.csv.</a:t>
            </a:r>
          </a:p>
        </p:txBody>
      </p:sp>
      <p:sp>
        <p:nvSpPr>
          <p:cNvPr id="3711" name="Google Shape;3711;p17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9" name="Shape 3719"/>
        <p:cNvGrpSpPr/>
        <p:nvPr/>
      </p:nvGrpSpPr>
      <p:grpSpPr>
        <a:xfrm>
          <a:off x="0" y="0"/>
          <a:ext cx="0" cy="0"/>
          <a:chOff x="0" y="0"/>
          <a:chExt cx="0" cy="0"/>
        </a:xfrm>
      </p:grpSpPr>
      <p:sp>
        <p:nvSpPr>
          <p:cNvPr id="3720" name="Google Shape;3720;p1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1" name="Google Shape;3721;p1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advanced extension, best placed after the Day 2 segmentation discussion</a:t>
            </a:r>
          </a:p>
          <a:p>
            <a:r>
              <a:t>The point not on the slide is that randomisation does not immunise you; participants believe Simpson is an observational disease. Walk the concrete route: a ramped rollout where the treated share differs by region, or a mid-test traffic shift, and the pooled number now mixes composition into effect. The defence is structural and cheap - block on the one or two covariates that dominate the metric, and report strata before pool.</a:t>
            </a:r>
          </a:p>
          <a:p>
            <a:r>
              <a:t>ASK: If every region shows a positive lift but the pooled lift is negative, which number goes to the steering committee? Steer to the stratified estimate, matching the level you randomised at.</a:t>
            </a:r>
          </a:p>
          <a:p>
            <a:r>
              <a:t>WATCH FOR: Someone will say a large sample fixes it. Size is irrelevant - this is a weighting artifact.</a:t>
            </a:r>
          </a:p>
          <a:p>
            <a:r>
              <a:t>LINK: The figure next, and the 13-region Injaz panel, which is exactly this kind of uneven mix.</a:t>
            </a:r>
          </a:p>
        </p:txBody>
      </p:sp>
      <p:sp>
        <p:nvSpPr>
          <p:cNvPr id="3722" name="Google Shape;3722;p1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2" name="Shape 3742"/>
        <p:cNvGrpSpPr/>
        <p:nvPr/>
      </p:nvGrpSpPr>
      <p:grpSpPr>
        <a:xfrm>
          <a:off x="0" y="0"/>
          <a:ext cx="0" cy="0"/>
          <a:chOff x="0" y="0"/>
          <a:chExt cx="0" cy="0"/>
        </a:xfrm>
      </p:grpSpPr>
      <p:sp>
        <p:nvSpPr>
          <p:cNvPr id="3743" name="Google Shape;3743;p17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4" name="Google Shape;3744;p17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advanced extension; also worth showing on Day 2 before the first live test brief</a:t>
            </a:r>
          </a:p>
          <a:p>
            <a:r>
              <a:t>The argument is economic, not statistical. An A/A test costs only traffic and it tests the whole machine at once - assignment, logging, joins, the variance estimator, the dashboard. Most broken platforms are discovered by a real test that produced a plausible false result months later. Push the canary idea: keep one A/A running permanently, so a pipeline break surfaces before a ship decision rides on it.</a:t>
            </a:r>
          </a:p>
          <a:p>
            <a:r>
              <a:t>ASK: If you ran twenty A/A tests, how many should come out significant at 5 percent? Steer to about one, and to the fact that four or five means the pipeline, not bad luck.</a:t>
            </a:r>
          </a:p>
          <a:p>
            <a:r>
              <a:t>WATCH FOR: Reading a single significant A/A as proof of a broken system. The signal is the rate over many, or an SRM alongside it.</a:t>
            </a:r>
          </a:p>
          <a:p>
            <a:r>
              <a:t>LINK: The SRM demo, where dropping 3 percent of one arm gives chi-squared near 16.5 and p about 5e-5.</a:t>
            </a:r>
          </a:p>
        </p:txBody>
      </p:sp>
      <p:sp>
        <p:nvSpPr>
          <p:cNvPr id="3745" name="Google Shape;3745;p17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1" name="Shape 3761"/>
        <p:cNvGrpSpPr/>
        <p:nvPr/>
      </p:nvGrpSpPr>
      <p:grpSpPr>
        <a:xfrm>
          <a:off x="0" y="0"/>
          <a:ext cx="0" cy="0"/>
          <a:chOff x="0" y="0"/>
          <a:chExt cx="0" cy="0"/>
        </a:xfrm>
      </p:grpSpPr>
      <p:sp>
        <p:nvSpPr>
          <p:cNvPr id="3762" name="Google Shape;3762;p17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3" name="Google Shape;3763;p17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advanced extension, Day 2 add-on; a comparison slide, keep it brisk</a:t>
            </a:r>
          </a:p>
          <a:p>
            <a:r>
              <a:t>Do not let this become religious. The two designs optimise different objectives: fixed A/B minimises error on an effect estimate, a bandit minimises regret while learning. A platform that must justify a policy change in writing needs the first; a ranking surface with forty candidates and no reporting duty is better served by the second. Most teams who ask for bandits actually want faster fixed tests, which is a variance problem.</a:t>
            </a:r>
          </a:p>
          <a:p>
            <a:r>
              <a:t>ASK: Your minister's office asks how much the new uploader flow improved completion. Which design answers that? Steer to fixed A/B - a bandit gives a winner, not a defensible number.</a:t>
            </a:r>
          </a:p>
          <a:p>
            <a:r>
              <a:t>WATCH FOR: The belief that bandits are strictly better because they waste less traffic. They buy reward at the cost of clean inference on losing arms.</a:t>
            </a:r>
          </a:p>
          <a:p>
            <a:r>
              <a:t>LINK: Feeds the adaptive-inference slide; contrast with CUPED's 13.5 percent variance reduction as the cheaper route to speed.</a:t>
            </a:r>
          </a:p>
        </p:txBody>
      </p:sp>
      <p:sp>
        <p:nvSpPr>
          <p:cNvPr id="3764" name="Google Shape;3764;p17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4" name="Shape 3794"/>
        <p:cNvGrpSpPr/>
        <p:nvPr/>
      </p:nvGrpSpPr>
      <p:grpSpPr>
        <a:xfrm>
          <a:off x="0" y="0"/>
          <a:ext cx="0" cy="0"/>
          <a:chOff x="0" y="0"/>
          <a:chExt cx="0" cy="0"/>
        </a:xfrm>
      </p:grpSpPr>
      <p:sp>
        <p:nvSpPr>
          <p:cNvPr id="3795" name="Google Shape;3795;p18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6" name="Google Shape;3796;p18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advanced extension following the bandit comparison</a:t>
            </a:r>
          </a:p>
          <a:p>
            <a:r>
              <a:t>Here the cost of adaptivity becomes concrete. Because allocation at time t depends on outcomes before t, the observations are no longer draws from a fixed design, and a standard t-test on bandit data computes the wrong variance. Make the rule vivid: paste bandit arm means into a significance calculator and the reported number is not an effect estimate, and no sample size repairs it. Adaptively-weighted estimators exist to buy the estimate back.</a:t>
            </a:r>
          </a:p>
          <a:p>
            <a:r>
              <a:t>ASK: A team ran a four-arm bandit and reports the winner beat control by 3 percent, p equals 0.01. What is wrong? Steer to a fixed-horizon formula applied to adaptively collected data.</a:t>
            </a:r>
          </a:p>
          <a:p>
            <a:r>
              <a:t>WATCH FOR: Conflating adaptive allocation with sequential stopping. Different problems - boundaries do not rescue adaptive weighting.</a:t>
            </a:r>
          </a:p>
          <a:p>
            <a:r>
              <a:t>LINK: The sequential slide two ahead, and the Day 4 peeking result of 5, 9, 14, 19, 25 percent at 1, 2, 5, 10, 20 looks.</a:t>
            </a:r>
          </a:p>
        </p:txBody>
      </p:sp>
      <p:sp>
        <p:nvSpPr>
          <p:cNvPr id="3797" name="Google Shape;3797;p18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6" name="Shape 3816"/>
        <p:cNvGrpSpPr/>
        <p:nvPr/>
      </p:nvGrpSpPr>
      <p:grpSpPr>
        <a:xfrm>
          <a:off x="0" y="0"/>
          <a:ext cx="0" cy="0"/>
          <a:chOff x="0" y="0"/>
          <a:chExt cx="0" cy="0"/>
        </a:xfrm>
      </p:grpSpPr>
      <p:sp>
        <p:nvSpPr>
          <p:cNvPr id="3817" name="Google Shape;3817;p1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8" name="Google Shape;3818;p1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advanced extension; the highest-value slide in this block for most cohorts</a:t>
            </a:r>
          </a:p>
          <a:p>
            <a:r>
              <a:t>Lead with the failure, not the taxonomy. If a capacity-constrained service is treated for half its users, control users experience a different system than they otherwise would - shorter queues, or longer - and SUTVA is gone, with a bias you cannot sign without a model. The design absorbs the spillover: make the unit big enough to contain it, a time slice for shared capacity or a whole cluster where the network lives.</a:t>
            </a:r>
          </a:p>
          <a:p>
            <a:r>
              <a:t>ASK: In a national appointment-booking service, why would a user-level A/B on a faster booking flow overstate the effect? Steer to control users being displaced from slots by faster treated users.</a:t>
            </a:r>
          </a:p>
          <a:p>
            <a:r>
              <a:t>WATCH FOR: Assuming interference only matters in social networks. Shared staff, inventory and queues cause it far more often in public services.</a:t>
            </a:r>
          </a:p>
          <a:p>
            <a:r>
              <a:t>LINK: The Day 4 clustering result, session-level SE 0.00166 versus user-clustered 0.00267 - the same lesson about units.</a:t>
            </a:r>
          </a:p>
        </p:txBody>
      </p:sp>
      <p:sp>
        <p:nvSpPr>
          <p:cNvPr id="3819" name="Google Shape;3819;p18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9" name="Shape 3839"/>
        <p:cNvGrpSpPr/>
        <p:nvPr/>
      </p:nvGrpSpPr>
      <p:grpSpPr>
        <a:xfrm>
          <a:off x="0" y="0"/>
          <a:ext cx="0" cy="0"/>
          <a:chOff x="0" y="0"/>
          <a:chExt cx="0" cy="0"/>
        </a:xfrm>
      </p:grpSpPr>
      <p:sp>
        <p:nvSpPr>
          <p:cNvPr id="3840" name="Google Shape;3840;p18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1" name="Google Shape;3841;p1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advanced extension; the numeric companion to the Day 4 peeking demo</a:t>
            </a:r>
          </a:p>
          <a:p>
            <a:r>
              <a:t>Say the number the room resists: a nominal 5 percent test checked daily for a month runs a true false-positive rate in the twenties. Then separate the two families cleanly. Alpha spending fixes the number of looks in advance and rations the budget across them, suiting a scheduled review cadence. Confidence sequences and e-values hold at any sample size and stopping rule - which is what a dashboard anyone can refresh actually requires.</a:t>
            </a:r>
          </a:p>
          <a:p>
            <a:r>
              <a:t>ASK: Who here can stop your own running test today without asking anyone? Steer to the conclusion that if so, you need always-valid inference, not a promise not to peek.</a:t>
            </a:r>
          </a:p>
          <a:p>
            <a:r>
              <a:t>WATCH FOR: Treating Bonferroni over the number of days as a substitute. The looks are correlated, so it is both wrong and needlessly conservative.</a:t>
            </a:r>
          </a:p>
          <a:p>
            <a:r>
              <a:t>LINK: The Day 4 peeking simulation: 5, 9, 14, 19 and 25 percent false positives at 1, 2, 5, 10 and 20 looks under a true null.</a:t>
            </a:r>
          </a:p>
        </p:txBody>
      </p:sp>
      <p:sp>
        <p:nvSpPr>
          <p:cNvPr id="3842" name="Google Shape;3842;p18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8" name="Shape 3858"/>
        <p:cNvGrpSpPr/>
        <p:nvPr/>
      </p:nvGrpSpPr>
      <p:grpSpPr>
        <a:xfrm>
          <a:off x="0" y="0"/>
          <a:ext cx="0" cy="0"/>
          <a:chOff x="0" y="0"/>
          <a:chExt cx="0" cy="0"/>
        </a:xfrm>
      </p:grpSpPr>
      <p:sp>
        <p:nvSpPr>
          <p:cNvPr id="3859" name="Google Shape;3859;p18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0" name="Google Shape;3860;p18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advanced extension; goes down well with stakeholder-facing cohorts</a:t>
            </a:r>
          </a:p>
          <a:p>
            <a:r>
              <a:t>Sell the real advantage first: a decision-maker can act on a 92 percent probability that the variant is better and an expected loss of 0.1 points in a way they never can on a p-value. Then close the loophole, because someone always tries it. If the prior, the loss function and the stopping rule are not written down before launch, the operating characteristics are unknown and the analysis is exploratory whatever framework it wears.</a:t>
            </a:r>
          </a:p>
          <a:p>
            <a:r>
              <a:t>ASK: Does switching to Bayesian analysis solve the peeking problem? Steer to no - it changes what you report, not whether an unplanned stopping rule inflates error.</a:t>
            </a:r>
          </a:p>
          <a:p>
            <a:r>
              <a:t>WATCH FOR: The claim that Bayesian methods have no multiplicity problem. Optional stopping on a posterior threshold still produces false ships.</a:t>
            </a:r>
          </a:p>
          <a:p>
            <a:r>
              <a:t>LINK: Contrast with the always-valid confidence sequences on the previous slide.</a:t>
            </a:r>
          </a:p>
        </p:txBody>
      </p:sp>
      <p:sp>
        <p:nvSpPr>
          <p:cNvPr id="3861" name="Google Shape;3861;p18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7" name="Shape 3877"/>
        <p:cNvGrpSpPr/>
        <p:nvPr/>
      </p:nvGrpSpPr>
      <p:grpSpPr>
        <a:xfrm>
          <a:off x="0" y="0"/>
          <a:ext cx="0" cy="0"/>
          <a:chOff x="0" y="0"/>
          <a:chExt cx="0" cy="0"/>
        </a:xfrm>
      </p:grpSpPr>
      <p:sp>
        <p:nvSpPr>
          <p:cNvPr id="3878" name="Google Shape;3878;p18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9" name="Google Shape;3879;p18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advanced extension; strongest with a cohort that already ships many tests</a:t>
            </a:r>
          </a:p>
          <a:p>
            <a:r>
              <a:t>This explains why an experimentation programme reliably over-promises. Selection acts on the estimate, not the idea: among many equivalent variants, those clearing the bar are disproportionately those whose noise pointed upward. The consequence is a portfolio whose promised gains never sum to the observed annual metric movement, which is the credibility problem that kills programmes. Empirical-Bayes shrinkage across the whole test history is the fix and costs nothing but a hierarchy.</a:t>
            </a:r>
          </a:p>
          <a:p>
            <a:r>
              <a:t>ASK: Your team shipped twelve wins totalling 8 points of conversion last year, but the metric moved 3. Where did the rest go? Steer to the winner's curse plus novelty decay, not fraud.</a:t>
            </a:r>
          </a:p>
          <a:p>
            <a:r>
              <a:t>WATCH FOR: Hearing this as an argument for a stricter alpha. A stricter bar makes surviving estimates more inflated, not less.</a:t>
            </a:r>
          </a:p>
          <a:p>
            <a:r>
              <a:t>LINK: Feeds the meta-analysis slide later, and the capstone verdict where the honest answer is hold, not ship.</a:t>
            </a:r>
          </a:p>
        </p:txBody>
      </p:sp>
      <p:sp>
        <p:nvSpPr>
          <p:cNvPr id="3880" name="Google Shape;3880;p18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9" name="Shape 3899"/>
        <p:cNvGrpSpPr/>
        <p:nvPr/>
      </p:nvGrpSpPr>
      <p:grpSpPr>
        <a:xfrm>
          <a:off x="0" y="0"/>
          <a:ext cx="0" cy="0"/>
          <a:chOff x="0" y="0"/>
          <a:chExt cx="0" cy="0"/>
        </a:xfrm>
      </p:grpSpPr>
      <p:sp>
        <p:nvSpPr>
          <p:cNvPr id="3900" name="Google Shape;3900;p1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01" name="Google Shape;3901;p1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advanced extension; worth pulling forward into Day 2 hour 4 for any production team</a:t>
            </a:r>
          </a:p>
          <a:p>
            <a:r>
              <a:t>The argument is governance, not statistics. A single primary metric makes a test decidable; guardrails make shipping safe. Insist they are named and their thresholds fixed before launch, or they become post-hoc excuses in either direction. Spend the time on box four, counter-metrics, because it is the one teams skip: more completed uploads is a win only if support calls and resubmissions did not rise alongside it.</a:t>
            </a:r>
          </a:p>
          <a:p>
            <a:r>
              <a:t>ASK: Your uploader variant lifts completions 2.2 points and raises median latency 400 milliseconds. Ship? Steer to the pre-set threshold deciding, not the room's instinct on the day.</a:t>
            </a:r>
          </a:p>
          <a:p>
            <a:r>
              <a:t>WATCH FOR: Guardrails treated as a second set of success metrics, so a favourable move gets claimed as a bonus win. They are one-sided safety checks.</a:t>
            </a:r>
          </a:p>
          <a:p>
            <a:r>
              <a:t>LINK: The pre-flight checklist later in this deck, and the +2.2 pp uploader lift in injaz_experiment_results.csv.</a:t>
            </a:r>
          </a:p>
        </p:txBody>
      </p:sp>
      <p:sp>
        <p:nvSpPr>
          <p:cNvPr id="3902" name="Google Shape;3902;p18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5" name="Shape 3925"/>
        <p:cNvGrpSpPr/>
        <p:nvPr/>
      </p:nvGrpSpPr>
      <p:grpSpPr>
        <a:xfrm>
          <a:off x="0" y="0"/>
          <a:ext cx="0" cy="0"/>
          <a:chOff x="0" y="0"/>
          <a:chExt cx="0" cy="0"/>
        </a:xfrm>
      </p:grpSpPr>
      <p:sp>
        <p:nvSpPr>
          <p:cNvPr id="3926" name="Google Shape;3926;p1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7" name="Google Shape;3927;p1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divider for the advanced identification block, a Day 3 extension</a:t>
            </a:r>
          </a:p>
          <a:p>
            <a:r>
              <a:t>Position this as the fourth rung of the ladder. Day 3 taught identification when confounders are measured or a design supplies the variation; these slides are what you reach for when neither holds - an unmeasured confounder with an observed mechanism, a question about how rather than whether, treatments that repeat over time, and flexible ML used without destroying inference. Warn that each buys power by spending assumptions.</a:t>
            </a:r>
          </a:p>
          <a:p>
            <a:r>
              <a:t>ASK: Which is harder to defend, a total effect or a mechanism? Steer to the mechanism, and use it to set expectations for the mediation slide.</a:t>
            </a:r>
          </a:p>
          <a:p>
            <a:r>
              <a:t>WATCH FOR: Experts assuming these are simply better methods. They are methods for harder questions, and are less robust, not more.</a:t>
            </a:r>
          </a:p>
          <a:p>
            <a:r>
              <a:t>LINK: Extends Day 3 hour 4 and the DAG work on collider_sim.parquet.</a:t>
            </a:r>
          </a:p>
        </p:txBody>
      </p:sp>
      <p:sp>
        <p:nvSpPr>
          <p:cNvPr id="3928" name="Google Shape;3928;p18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6" name="Shape 3936"/>
        <p:cNvGrpSpPr/>
        <p:nvPr/>
      </p:nvGrpSpPr>
      <p:grpSpPr>
        <a:xfrm>
          <a:off x="0" y="0"/>
          <a:ext cx="0" cy="0"/>
          <a:chOff x="0" y="0"/>
          <a:chExt cx="0" cy="0"/>
        </a:xfrm>
      </p:grpSpPr>
      <p:sp>
        <p:nvSpPr>
          <p:cNvPr id="3937" name="Google Shape;3937;p18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8" name="Google Shape;3938;p18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advanced extension after the Day 3 backdoor material</a:t>
            </a:r>
          </a:p>
          <a:p>
            <a:r>
              <a:t>Teach this as the mirror image of the backdoor criterion. Backdoor needs the confounders measured; front-door needs the mechanism measured instead and lets the confounder stay invisible. Draw the structure rather than reading it. The reason it is rare is the last clause - the confounder must not touch the mediator except through treatment, and almost every real mediator is touched, at which point the chaining fails.</a:t>
            </a:r>
          </a:p>
          <a:p>
            <a:r>
              <a:t>ASK: Name a mechanism in your own service that fully carries an effect and is untouched by whatever confounds the treatment. Steer to the discovery that almost nobody can.</a:t>
            </a:r>
          </a:p>
          <a:p>
            <a:r>
              <a:t>WATCH FOR: Confusing this with mediation. Front-door uses the mediator to identify the total effect; mediation decomposes an effect the mediator only partly carries.</a:t>
            </a:r>
          </a:p>
          <a:p>
            <a:r>
              <a:t>LINK: Contrast with the Injaz uploader DAG, where support_calls is a mediator and must never be adjusted for.</a:t>
            </a:r>
          </a:p>
        </p:txBody>
      </p:sp>
      <p:sp>
        <p:nvSpPr>
          <p:cNvPr id="3939" name="Google Shape;3939;p18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5" name="Shape 3955"/>
        <p:cNvGrpSpPr/>
        <p:nvPr/>
      </p:nvGrpSpPr>
      <p:grpSpPr>
        <a:xfrm>
          <a:off x="0" y="0"/>
          <a:ext cx="0" cy="0"/>
          <a:chOff x="0" y="0"/>
          <a:chExt cx="0" cy="0"/>
        </a:xfrm>
      </p:grpSpPr>
      <p:sp>
        <p:nvSpPr>
          <p:cNvPr id="3956" name="Google Shape;3956;p18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7" name="Google Shape;3957;p18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advanced extension; the natural pairing with the front-door slide</a:t>
            </a:r>
          </a:p>
          <a:p>
            <a:r>
              <a:t>Nail one thing: the innocent move of putting the mediator in the regression to get a direct effect is wrong, and wrong for two reasons at once. Conditioning on a mediator blocks part of the causal path you wanted, and opens a collider path if anything confounds mediator and outcome. Mediation needs an untestable no-confounding assumption on that link, and a decision-maker who only needs to know whether to ship does not need this rung.</a:t>
            </a:r>
          </a:p>
          <a:p>
            <a:r>
              <a:t>ASK: Your uploader regression includes support_calls and the effect drops from 5 points to 1. What did you learn? Steer to nothing causal - you conditioned on a mediator.</a:t>
            </a:r>
          </a:p>
          <a:p>
            <a:r>
              <a:t>WATCH FOR: Reading the shrunken coefficient as evidence the effect was fake. It is evidence you controlled away the mechanism.</a:t>
            </a:r>
          </a:p>
          <a:p>
            <a:r>
              <a:t>LINK: The uploader adjustment set {digital_literacy, device_age}, and the true simulator ATE of +5.0 pp this mistake erases.</a:t>
            </a:r>
          </a:p>
        </p:txBody>
      </p:sp>
      <p:sp>
        <p:nvSpPr>
          <p:cNvPr id="3958" name="Google Shape;3958;p18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7" name="Shape 3977"/>
        <p:cNvGrpSpPr/>
        <p:nvPr/>
      </p:nvGrpSpPr>
      <p:grpSpPr>
        <a:xfrm>
          <a:off x="0" y="0"/>
          <a:ext cx="0" cy="0"/>
          <a:chOff x="0" y="0"/>
          <a:chExt cx="0" cy="0"/>
        </a:xfrm>
      </p:grpSpPr>
      <p:sp>
        <p:nvSpPr>
          <p:cNvPr id="3978" name="Google Shape;3978;p18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9" name="Google Shape;3979;p1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advanced extension; the hardest slide in the block, budget the full four minutes</a:t>
            </a:r>
          </a:p>
          <a:p>
            <a:r>
              <a:t>Make the trap concrete before naming any g-method. Take a repeated reminder programme: last month's reminder changes this month's engagement, and this month's engagement decides whether another reminder is sent. That variable confounds the current treatment and mediates the previous one simultaneously. Adjust and you block the path you want; omit and you leave a backdoor open. No choice of controls in a single regression escapes it.</a:t>
            </a:r>
          </a:p>
          <a:p>
            <a:r>
              <a:t>ASK: Is there any adjustment set that solves this in one regression? Steer to no, and let the room sit with it - that is the point of the slide.</a:t>
            </a:r>
          </a:p>
          <a:p>
            <a:r>
              <a:t>WATCH FOR: Assuming more time-lagged controls fix it. Each additional lag reproduces the same simultaneous confounder-mediator problem.</a:t>
            </a:r>
          </a:p>
          <a:p>
            <a:r>
              <a:t>LINK: Relevant to the Injaz reminder rollout in injaz_regions_panel.csv if a cohort asks about repeated rather than one-off activation.</a:t>
            </a:r>
          </a:p>
        </p:txBody>
      </p:sp>
      <p:sp>
        <p:nvSpPr>
          <p:cNvPr id="3980" name="Google Shape;3980;p18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6" name="Shape 3996"/>
        <p:cNvGrpSpPr/>
        <p:nvPr/>
      </p:nvGrpSpPr>
      <p:grpSpPr>
        <a:xfrm>
          <a:off x="0" y="0"/>
          <a:ext cx="0" cy="0"/>
          <a:chOff x="0" y="0"/>
          <a:chExt cx="0" cy="0"/>
        </a:xfrm>
      </p:grpSpPr>
      <p:sp>
        <p:nvSpPr>
          <p:cNvPr id="3997" name="Google Shape;3997;p19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8" name="Google Shape;3998;p19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advanced extension; the slide most expert cohorts actually want</a:t>
            </a:r>
          </a:p>
          <a:p>
            <a:r>
              <a:t>Answer the question this room has held all week: can I just use gradient boosting? Yes, but only inside a specific structure. Orthogonality makes the effect insensitive to first-order errors in the nuisance models. Cross-fitting means the flexible model never scores rows it saw, so regularisation bias does not leak into inference. Both are required; a boosted propensity score dropped into IPW without cross-fitting is worse than logistic regression, not better.</a:t>
            </a:r>
          </a:p>
          <a:p>
            <a:r>
              <a:t>ASK: What breaks if you fit the nuisance models and the effect on the same rows? Steer to over-fitted residuals producing intervals that are far too narrow.</a:t>
            </a:r>
          </a:p>
          <a:p>
            <a:r>
              <a:t>WATCH FOR: Treating double ML as a way to skip identification. It solves estimation under ignorability and does nothing about an unmeasured confounder.</a:t>
            </a:r>
          </a:p>
          <a:p>
            <a:r>
              <a:t>LINK: Sits on top of the Day 3 doubly-robust estimator and the estimator cheat-sheet later in this deck.</a:t>
            </a:r>
          </a:p>
        </p:txBody>
      </p:sp>
      <p:sp>
        <p:nvSpPr>
          <p:cNvPr id="3999" name="Google Shape;3999;p19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9" name="Shape 4019"/>
        <p:cNvGrpSpPr/>
        <p:nvPr/>
      </p:nvGrpSpPr>
      <p:grpSpPr>
        <a:xfrm>
          <a:off x="0" y="0"/>
          <a:ext cx="0" cy="0"/>
          <a:chOff x="0" y="0"/>
          <a:chExt cx="0" cy="0"/>
        </a:xfrm>
      </p:grpSpPr>
      <p:sp>
        <p:nvSpPr>
          <p:cNvPr id="4020" name="Google Shape;4020;p1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1" name="Google Shape;4021;p1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advanced extension, follows double ML naturally</a:t>
            </a:r>
          </a:p>
          <a:p>
            <a:r>
              <a:t>Explain honest splitting as cross-fitting applied to tree structure: the rows that chose the splits are not the rows that estimate the leaf effect, which is what makes a per-leaf interval mean anything. Without it the forest finds where noise looked like heterogeneity and reports that noise as an effect. Be candid that causal forests need a lot of data, and that with a few thousand users a flat surface is the honest output.</a:t>
            </a:r>
          </a:p>
          <a:p>
            <a:r>
              <a:t>ASK: Your forest says the effect is 9 points for users with old devices and 1 point elsewhere. What next? Steer to pre-registering that subgroup in the next experiment, not a targeted rollout.</a:t>
            </a:r>
          </a:p>
          <a:p>
            <a:r>
              <a:t>WATCH FOR: Reading leaf-level effects as confirmed subgroup results. The forest generates candidates; it does not confirm them.</a:t>
            </a:r>
          </a:p>
          <a:p>
            <a:r>
              <a:t>LINK: Extends the CATE material from Day 2 hour 3; feeds the policy slide next.</a:t>
            </a:r>
          </a:p>
        </p:txBody>
      </p:sp>
      <p:sp>
        <p:nvSpPr>
          <p:cNvPr id="4022" name="Google Shape;4022;p19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8" name="Shape 4038"/>
        <p:cNvGrpSpPr/>
        <p:nvPr/>
      </p:nvGrpSpPr>
      <p:grpSpPr>
        <a:xfrm>
          <a:off x="0" y="0"/>
          <a:ext cx="0" cy="0"/>
          <a:chOff x="0" y="0"/>
          <a:chExt cx="0" cy="0"/>
        </a:xfrm>
      </p:grpSpPr>
      <p:sp>
        <p:nvSpPr>
          <p:cNvPr id="4039" name="Google Shape;4039;p19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0" name="Google Shape;4040;p1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advanced extension closing the identification block</a:t>
            </a:r>
          </a:p>
          <a:p>
            <a:r>
              <a:t>The uplift-versus-response distinction is the payload and worth the whole four minutes. Ranking by predicted outcome finds people who will complete anyway; ranking by predicted uplift finds people the intervention actually changes. These are near-disjoint lists, and targeting the first buys a beautiful campaign with zero incremental effect. Then insist on box three: a learned policy is a new intervention and its value must be estimated out of sample before deployment.</a:t>
            </a:r>
          </a:p>
          <a:p>
            <a:r>
              <a:t>ASK: You can send the uploader prompt to 20 percent of users. Do you pick the most likely to complete, or the most movable? Steer firmly to the second.</a:t>
            </a:r>
          </a:p>
          <a:p>
            <a:r>
              <a:t>WATCH FOR: Confusing high baseline with high uplift. The users most likely to convert are often the ones your treatment cannot move at all.</a:t>
            </a:r>
          </a:p>
          <a:p>
            <a:r>
              <a:t>LINK: Uses the CATE work from Day 2 hour 3; the 62 percent uploader trigger rate is a natural targeting example.</a:t>
            </a:r>
          </a:p>
        </p:txBody>
      </p:sp>
      <p:sp>
        <p:nvSpPr>
          <p:cNvPr id="4041" name="Google Shape;4041;p19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0" name="Shape 4060"/>
        <p:cNvGrpSpPr/>
        <p:nvPr/>
      </p:nvGrpSpPr>
      <p:grpSpPr>
        <a:xfrm>
          <a:off x="0" y="0"/>
          <a:ext cx="0" cy="0"/>
          <a:chOff x="0" y="0"/>
          <a:chExt cx="0" cy="0"/>
        </a:xfrm>
      </p:grpSpPr>
      <p:sp>
        <p:nvSpPr>
          <p:cNvPr id="4061" name="Google Shape;4061;p19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2" name="Google Shape;4062;p19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divider for the measurement block, a Day 4 extension</a:t>
            </a:r>
          </a:p>
          <a:p>
            <a:r>
              <a:t>Frame the last advanced block as the problems that appear after the estimate is correct. Everything here concerns time and the gap between what you measured and what the decision cares about: proxies standing in for outcomes you cannot wait for, effects that decay, apparent effects that were never there. This block matters most to whoever owns the roadmap, because these failures surface as a credibility gap six months after a successful test.</a:t>
            </a:r>
          </a:p>
          <a:p>
            <a:r>
              <a:t>ASK: How long after a ship decision does anyone re-check the effect? Steer to the uncomfortable answer of never, and use it to justify long-run holdbacks.</a:t>
            </a:r>
          </a:p>
          <a:p>
            <a:r>
              <a:t>WATCH FOR: Treating this as soft material. Novelty decay and regression to the mean invalidate more shipped decisions than any inference error.</a:t>
            </a:r>
          </a:p>
          <a:p>
            <a:r>
              <a:t>LINK: Extends Day 4 hour 2; the communication slide at the end pairs with the capstone memo.</a:t>
            </a:r>
          </a:p>
        </p:txBody>
      </p:sp>
      <p:sp>
        <p:nvSpPr>
          <p:cNvPr id="4063" name="Google Shape;4063;p19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1" name="Shape 4071"/>
        <p:cNvGrpSpPr/>
        <p:nvPr/>
      </p:nvGrpSpPr>
      <p:grpSpPr>
        <a:xfrm>
          <a:off x="0" y="0"/>
          <a:ext cx="0" cy="0"/>
          <a:chOff x="0" y="0"/>
          <a:chExt cx="0" cy="0"/>
        </a:xfrm>
      </p:grpSpPr>
      <p:sp>
        <p:nvSpPr>
          <p:cNvPr id="4072" name="Google Shape;4072;p1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3" name="Google Shape;4073;p1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advanced extension, Day 4 add-on</a:t>
            </a:r>
          </a:p>
          <a:p>
            <a:r>
              <a:t>The argument is that a surrogate is an identification assumption wearing a metric's clothes. For clicks to substitute for retention, the treatment's entire effect on retention must flow through clicks; if any part does not, you are optimising something that can move opposite to the goal. An interstitial that raises clicks by annoying people into tapping is a surrogate win and a retention loss. The partial check is whether past experiments moved both together.</a:t>
            </a:r>
          </a:p>
          <a:p>
            <a:r>
              <a:t>ASK: Which of your dashboard metrics is a surrogate you have never validated? Steer to the realisation that most teams' primary metric is one.</a:t>
            </a:r>
          </a:p>
          <a:p>
            <a:r>
              <a:t>WATCH FOR: Validating a surrogate by correlation in observational data. Cross-sectional correlation says nothing about whether treatments move both together.</a:t>
            </a:r>
          </a:p>
          <a:p>
            <a:r>
              <a:t>LINK: The guardrail framework earlier, and the capstone, where a 1.0 pp practical threshold forces the same conversation.</a:t>
            </a:r>
          </a:p>
        </p:txBody>
      </p:sp>
      <p:sp>
        <p:nvSpPr>
          <p:cNvPr id="4074" name="Google Shape;4074;p19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0" name="Shape 4090"/>
        <p:cNvGrpSpPr/>
        <p:nvPr/>
      </p:nvGrpSpPr>
      <p:grpSpPr>
        <a:xfrm>
          <a:off x="0" y="0"/>
          <a:ext cx="0" cy="0"/>
          <a:chOff x="0" y="0"/>
          <a:chExt cx="0" cy="0"/>
        </a:xfrm>
      </p:grpSpPr>
      <p:sp>
        <p:nvSpPr>
          <p:cNvPr id="4091" name="Google Shape;4091;p19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2" name="Google Shape;4092;p19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advanced extension; pairs with the sequential and long-run material</a:t>
            </a:r>
          </a:p>
          <a:p>
            <a:r>
              <a:t>Land the line that time is part of the estimand, not a nuisance. An effect at week one and an effect at steady state are different quantities, and a team that measures the first and forecasts with the second will systematically over-promise. Novelty inflates, primacy deflates, and both decay, so the shape of the weekly curve is diagnostic. Push the long-run holdback as the only way to measure durable effect after the variant becomes default.</a:t>
            </a:r>
          </a:p>
          <a:p>
            <a:r>
              <a:t>ASK: Your lift is 4 points in week one, 2.5 in week two, 2.2 in week three. What do you report? Steer to the asymptote near 2.2, and to extending rather than averaging.</a:t>
            </a:r>
          </a:p>
          <a:p>
            <a:r>
              <a:t>WATCH FOR: Averaging the whole test window as if the effect were constant. That answers no question and is biased upward under novelty.</a:t>
            </a:r>
          </a:p>
          <a:p>
            <a:r>
              <a:t>LINK: The +2.2 pp uploader lift is a steady-state number; contrast it with what a week-one readout would have claimed.</a:t>
            </a:r>
          </a:p>
        </p:txBody>
      </p:sp>
      <p:sp>
        <p:nvSpPr>
          <p:cNvPr id="4093" name="Google Shape;4093;p19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2" name="Shape 4112"/>
        <p:cNvGrpSpPr/>
        <p:nvPr/>
      </p:nvGrpSpPr>
      <p:grpSpPr>
        <a:xfrm>
          <a:off x="0" y="0"/>
          <a:ext cx="0" cy="0"/>
          <a:chOff x="0" y="0"/>
          <a:chExt cx="0" cy="0"/>
        </a:xfrm>
      </p:grpSpPr>
      <p:sp>
        <p:nvSpPr>
          <p:cNvPr id="4113" name="Google Shape;4113;p19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4" name="Google Shape;4114;p19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advanced extension; also a strong Day 1 callback if the room needs one</a:t>
            </a:r>
          </a:p>
          <a:p>
            <a:r>
              <a:t>This is the cheapest false causal story in the world and it fools senior audiences constantly. Selecting units because they were extreme guarantees improvement on re-measurement, because extremity is partly noise and noise does not repeat. Give the administrative version: pick the ten worst-performing offices, intervene, re-measure, declare success. The fix is not a better pre-post analysis but a control group selected by the same extreme rule, which regresses by the same amount.</a:t>
            </a:r>
          </a:p>
          <a:p>
            <a:r>
              <a:t>ASK: The bottom decile of branches improved 8 points after the training. Is that an effect? Steer to no, until you know what the bottom decile of untrained branches did.</a:t>
            </a:r>
          </a:p>
          <a:p>
            <a:r>
              <a:t>WATCH FOR: Believing a large pre-post sample settles it. Regression to the mean is systematic, not random, so it does not average away.</a:t>
            </a:r>
          </a:p>
          <a:p>
            <a:r>
              <a:t>LINK: Same structure as the naive +11.5 pp difference on injaz_users.csv against the true +6.0 pp ATT.</a:t>
            </a:r>
          </a:p>
        </p:txBody>
      </p:sp>
      <p:sp>
        <p:nvSpPr>
          <p:cNvPr id="4115" name="Google Shape;4115;p19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1" name="Shape 4131"/>
        <p:cNvGrpSpPr/>
        <p:nvPr/>
      </p:nvGrpSpPr>
      <p:grpSpPr>
        <a:xfrm>
          <a:off x="0" y="0"/>
          <a:ext cx="0" cy="0"/>
          <a:chOff x="0" y="0"/>
          <a:chExt cx="0" cy="0"/>
        </a:xfrm>
      </p:grpSpPr>
      <p:sp>
        <p:nvSpPr>
          <p:cNvPr id="4132" name="Google Shape;4132;p19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33" name="Google Shape;4133;p19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advanced extension; the programme-level slide, good for managers in the room</a:t>
            </a:r>
          </a:p>
          <a:p>
            <a:r>
              <a:t>Make the institutional argument. One experiment answers one question badly; fifty with a searchable repository answer the next question before it is asked, because you already know the prior on effect sizes in that surface. Hierarchical shrinkage is where this pays statistically - partial pooling stabilises small tests and simultaneously corrects the winner's curse. Between-study heterogeneity should be modelled, not assumed away, when tests span regions or seasons.</a:t>
            </a:r>
          </a:p>
          <a:p>
            <a:r>
              <a:t>ASK: What was the median lift of every test your team ran last year? Steer to the fact that almost nobody can answer, which is why estimates are never shrunk.</a:t>
            </a:r>
          </a:p>
          <a:p>
            <a:r>
              <a:t>WATCH FOR: Pooling results across tests with different estimands or randomisation units as if they replicated one effect.</a:t>
            </a:r>
          </a:p>
          <a:p>
            <a:r>
              <a:t>LINK: Follows the winner's-curse slide; both feed the honest reporting expected in the capstone memo.</a:t>
            </a:r>
          </a:p>
        </p:txBody>
      </p:sp>
      <p:sp>
        <p:nvSpPr>
          <p:cNvPr id="4134" name="Google Shape;4134;p19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0" name="Shape 4150"/>
        <p:cNvGrpSpPr/>
        <p:nvPr/>
      </p:nvGrpSpPr>
      <p:grpSpPr>
        <a:xfrm>
          <a:off x="0" y="0"/>
          <a:ext cx="0" cy="0"/>
          <a:chOff x="0" y="0"/>
          <a:chExt cx="0" cy="0"/>
        </a:xfrm>
      </p:grpSpPr>
      <p:sp>
        <p:nvSpPr>
          <p:cNvPr id="4151" name="Google Shape;4151;p19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52" name="Google Shape;4152;p19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a review prop in the Day 4 case-study hour and a handout</a:t>
            </a:r>
          </a:p>
          <a:p>
            <a:r>
              <a:t>Do not read the list. Its purpose is to give the room names, because a named error can be raised in a design review without sounding obstructive. Use it as a lookup: when a Day 4 case study goes wrong, stop and ask which of the six it is. Two deserve a sentence - immortal time bias, invisible unless you draw the timeline, and the ecological fallacy, a live risk wherever administrative data arrives aggregated to region.</a:t>
            </a:r>
          </a:p>
          <a:p>
            <a:r>
              <a:t>ASK: Which of these six have you personally shipped? Steer to an honest show of hands on confounding by indication, which almost everyone has done.</a:t>
            </a:r>
          </a:p>
          <a:p>
            <a:r>
              <a:t>WATCH FOR: Treating collider bias and confounding as the same thing. One is created by adjusting, the other by failing to; the remedies are opposite.</a:t>
            </a:r>
          </a:p>
          <a:p>
            <a:r>
              <a:t>LINK: collider_sim.parquet, where correlation moves 0.00 to -0.20 on conditioning, and the pitfalls master list later.</a:t>
            </a:r>
          </a:p>
        </p:txBody>
      </p:sp>
      <p:sp>
        <p:nvSpPr>
          <p:cNvPr id="4153" name="Google Shape;4153;p19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2" name="Shape 4172"/>
        <p:cNvGrpSpPr/>
        <p:nvPr/>
      </p:nvGrpSpPr>
      <p:grpSpPr>
        <a:xfrm>
          <a:off x="0" y="0"/>
          <a:ext cx="0" cy="0"/>
          <a:chOff x="0" y="0"/>
          <a:chExt cx="0" cy="0"/>
        </a:xfrm>
      </p:grpSpPr>
      <p:sp>
        <p:nvSpPr>
          <p:cNvPr id="4173" name="Google Shape;4173;p19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4" name="Google Shape;4174;p19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taught; Day 4 hour 3, immediately before the capstone brief</a:t>
            </a:r>
          </a:p>
          <a:p>
            <a:r>
              <a:t>This slide decides whether any of the four days survives contact with an organisation. Argue the inversion explicitly: technical writing builds up to the conclusion, decision writing leads with it and defends afterwards. Recommendation and effect in real units first, in a metric a director already tracks. Interval and the single load-bearing assumption second, one sentence each. Sensitivity third, phrased as what would have to be true for this to be wrong.</a:t>
            </a:r>
          </a:p>
          <a:p>
            <a:r>
              <a:t>ASK: In your last analysis memo, what line number was the recommendation on? Steer to the admission that it was near the end, under a methods section nobody read.</a:t>
            </a:r>
          </a:p>
          <a:p>
            <a:r>
              <a:t>WATCH FOR: Hedging read as rigour. Listing every caveat equally forces the reader to guess which assumption is load-bearing.</a:t>
            </a:r>
          </a:p>
          <a:p>
            <a:r>
              <a:t>LINK: Sets up the capstone memo and defence, and the decision figure next.</a:t>
            </a:r>
          </a:p>
        </p:txBody>
      </p:sp>
      <p:sp>
        <p:nvSpPr>
          <p:cNvPr id="4175" name="Google Shape;4175;p19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4" name="Shape 4194"/>
        <p:cNvGrpSpPr/>
        <p:nvPr/>
      </p:nvGrpSpPr>
      <p:grpSpPr>
        <a:xfrm>
          <a:off x="0" y="0"/>
          <a:ext cx="0" cy="0"/>
          <a:chOff x="0" y="0"/>
          <a:chExt cx="0" cy="0"/>
        </a:xfrm>
      </p:grpSpPr>
      <p:sp>
        <p:nvSpPr>
          <p:cNvPr id="4195" name="Google Shape;4195;p20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6" name="Google Shape;4196;p20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quote slide; the closing beat of the advanced block or of Day 4</a:t>
            </a:r>
          </a:p>
          <a:p>
            <a:r>
              <a:t>Say it once, slowly, and do not explain it. This is the sentence that ties potential outcomes, randomisation, matching, difference-in-differences, instrumental variables and regression discontinuity into one idea rather than six techniques. If the room takes nothing else away, this is the line still there in a year. Pause, then move on rather than adding commentary - the slide loses its force the moment you gloss it.</a:t>
            </a:r>
          </a:p>
          <a:p>
            <a:r>
              <a:t>ASK: Which method in this course builds that missing outcome most convincingly, and what does it cost? Steer to randomisation being cheapest in assumptions and dearest in feasibility.</a:t>
            </a:r>
          </a:p>
          <a:p>
            <a:r>
              <a:t>WATCH FOR: The urge to fill the silence. Instructors talk over this slide and dissolve the effect it is designed to have.</a:t>
            </a:r>
          </a:p>
          <a:p>
            <a:r>
              <a:t>LINK: Callback to Day 1 and the fundamental problem of causal inference.</a:t>
            </a:r>
          </a:p>
        </p:txBody>
      </p:sp>
      <p:sp>
        <p:nvSpPr>
          <p:cNvPr id="4197" name="Google Shape;4197;p20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6" name="Shape 4206"/>
        <p:cNvGrpSpPr/>
        <p:nvPr/>
      </p:nvGrpSpPr>
      <p:grpSpPr>
        <a:xfrm>
          <a:off x="0" y="0"/>
          <a:ext cx="0" cy="0"/>
          <a:chOff x="0" y="0"/>
          <a:chExt cx="0" cy="0"/>
        </a:xfrm>
      </p:grpSpPr>
      <p:sp>
        <p:nvSpPr>
          <p:cNvPr id="4207" name="Google Shape;4207;p20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8" name="Google Shape;4208;p20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divider opening Part 5; not taught, but announce it exists at the Day 1 wrap</a:t>
            </a:r>
          </a:p>
          <a:p>
            <a:r>
              <a:t>Show this once, early, so participants know a reference section exists and stop copying formulas off content slides. Tell them explicitly where they will be sent: the worked examples during Labs 1 to 3, the cheat-sheets during any design discussion, and the checklists before the capstone. Everything from here to the glossary is designed to be read alone at a desk, not delivered from the front of the room.</a:t>
            </a:r>
          </a:p>
          <a:p>
            <a:r>
              <a:t>ASK: Who is planning to run one of these designs within a month? Steer them to the checklists rather than to their lecture notes.</a:t>
            </a:r>
          </a:p>
          <a:p>
            <a:r>
              <a:t>WATCH FOR: Participants who skip this announcement, then re-derive the sample-size formula from memory during Lab 2.</a:t>
            </a:r>
          </a:p>
          <a:p>
            <a:r>
              <a:t>LINK: The checklists are pre-work for the Day 4 capstone.</a:t>
            </a:r>
          </a:p>
        </p:txBody>
      </p:sp>
      <p:sp>
        <p:nvSpPr>
          <p:cNvPr id="4209" name="Google Shape;4209;p20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7" name="Shape 4217"/>
        <p:cNvGrpSpPr/>
        <p:nvPr/>
      </p:nvGrpSpPr>
      <p:grpSpPr>
        <a:xfrm>
          <a:off x="0" y="0"/>
          <a:ext cx="0" cy="0"/>
          <a:chOff x="0" y="0"/>
          <a:chExt cx="0" cy="0"/>
        </a:xfrm>
      </p:grpSpPr>
      <p:sp>
        <p:nvSpPr>
          <p:cNvPr id="4218" name="Google Shape;4218;p20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9" name="Google Shape;4219;p20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divider for the worked examples; not taught, flagged during labs</a:t>
            </a:r>
          </a:p>
          <a:p>
            <a:r>
              <a:t>Point out that these six walkthroughs use small hand-checkable numbers on purpose, so a participant lost inside a notebook can recover the logic without the data. The intended use is mid-lab: when someone's IPW weights blow up or their difference-in-differences sign flips, send them here rather than debugging line by line. Name the six in one breath so people can find the right one later.</a:t>
            </a:r>
          </a:p>
          <a:p>
            <a:r>
              <a:t>ASK: Which of these six do you expect to get wrong first? Steer to IPW, because extreme weights are the most common silent lab failure.</a:t>
            </a:r>
          </a:p>
          <a:p>
            <a:r>
              <a:t>WATCH FOR: Learners assuming these numbers come from the Injaz datasets. They are deliberately clean illustrations, not lab outputs.</a:t>
            </a:r>
          </a:p>
          <a:p>
            <a:r>
              <a:t>LINK: Used during Labs 1 to 3 and while sizing the capstone test.</a:t>
            </a:r>
          </a:p>
        </p:txBody>
      </p:sp>
      <p:sp>
        <p:nvSpPr>
          <p:cNvPr id="4220" name="Google Shape;4220;p20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8" name="Shape 4228"/>
        <p:cNvGrpSpPr/>
        <p:nvPr/>
      </p:nvGrpSpPr>
      <p:grpSpPr>
        <a:xfrm>
          <a:off x="0" y="0"/>
          <a:ext cx="0" cy="0"/>
          <a:chOff x="0" y="0"/>
          <a:chExt cx="0" cy="0"/>
        </a:xfrm>
      </p:grpSpPr>
      <p:sp>
        <p:nvSpPr>
          <p:cNvPr id="4229" name="Google Shape;4229;p2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0" name="Google Shape;4230;p20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lookup card for the Day 3 matching lab on injaz_users.csv</a:t>
            </a:r>
          </a:p>
          <a:p>
            <a:r>
              <a:t>When a participant is stuck in the matching lab, send them to step three, where the misunderstanding almost always sits. The slide's real content is the boxed line: matching is judged by the balance it achieves, not by how well the propensity model predicts treatment. A high-AUC propensity model usually means poor overlap and worse matching, the opposite of what a machine-learning reflex expects. The love-plot is the deliverable, not the model summary.</a:t>
            </a:r>
          </a:p>
          <a:p>
            <a:r>
              <a:t>ASK: Your propensity model gets 0.92 AUC. Is that good news? Steer to no - near-perfect separation means treated and control units barely overlap.</a:t>
            </a:r>
          </a:p>
          <a:p>
            <a:r>
              <a:t>WATCH FOR: Optimising the propensity model rather than the balance, and reporting a naive bootstrap standard error, which is invalid for matching.</a:t>
            </a:r>
          </a:p>
          <a:p>
            <a:r>
              <a:t>LINK: injaz_users.csv, where worst absolute SMD falls 0.57 to 0.03 and matching recovers +6.5 pp against a naive +11.5 pp.</a:t>
            </a:r>
          </a:p>
        </p:txBody>
      </p:sp>
      <p:sp>
        <p:nvSpPr>
          <p:cNvPr id="4231" name="Google Shape;4231;p20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4" name="Shape 4254"/>
        <p:cNvGrpSpPr/>
        <p:nvPr/>
      </p:nvGrpSpPr>
      <p:grpSpPr>
        <a:xfrm>
          <a:off x="0" y="0"/>
          <a:ext cx="0" cy="0"/>
          <a:chOff x="0" y="0"/>
          <a:chExt cx="0" cy="0"/>
        </a:xfrm>
      </p:grpSpPr>
      <p:sp>
        <p:nvSpPr>
          <p:cNvPr id="4255" name="Google Shape;4255;p20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6" name="Google Shape;4256;p20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diagnostic card whenever IPW misbehaves in the Day 3 lab</a:t>
            </a:r>
          </a:p>
          <a:p>
            <a:r>
              <a:t>The four numbers do the teaching, so use this as a lookup rather than a lecture. What people get wrong is treating a large weight as a nuisance rather than a message: a treated unit with propensity 0.05 is telling you that covariate profile is essentially absent from the treated arm, so a handful of rows carry the estimate. Make printing the maximum and 99th-percentile weight non-negotiable before any effect is reported.</a:t>
            </a:r>
          </a:p>
          <a:p>
            <a:r>
              <a:t>ASK: Your largest weight is 340 out of 5,000 units. What is your effective sample size? Steer to a few rows dominating, and to trimming or redefining the estimand.</a:t>
            </a:r>
          </a:p>
          <a:p>
            <a:r>
              <a:t>WATCH FOR: Trimming quietly to make the estimate behave. Trimming changes the population you estimate for, and that must be stated.</a:t>
            </a:r>
          </a:p>
          <a:p>
            <a:r>
              <a:t>LINK: The Day 3 adjustment lab; pairs with the positivity row of the assumptions cheat-sheet.</a:t>
            </a:r>
          </a:p>
        </p:txBody>
      </p:sp>
      <p:sp>
        <p:nvSpPr>
          <p:cNvPr id="4257" name="Google Shape;4257;p20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9" name="Shape 4279"/>
        <p:cNvGrpSpPr/>
        <p:nvPr/>
      </p:nvGrpSpPr>
      <p:grpSpPr>
        <a:xfrm>
          <a:off x="0" y="0"/>
          <a:ext cx="0" cy="0"/>
          <a:chOff x="0" y="0"/>
          <a:chExt cx="0" cy="0"/>
        </a:xfrm>
      </p:grpSpPr>
      <p:sp>
        <p:nvSpPr>
          <p:cNvPr id="4280" name="Google Shape;4280;p20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1" name="Google Shape;4281;p2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card to send people to during the Day 3 panel lab</a:t>
            </a:r>
          </a:p>
          <a:p>
            <a:r>
              <a:t>Use this when someone loses the thread inside the regression version of difference-in-differences. Four numbers, one subtraction, and the whole estimator is visible. The point people miss is in the last box: subtracting the control's change removes shocks common to both groups, and nothing else. If the treated group would have moved differently for its own reasons, no quantity of fixed effects supplies a defence. Parallel trends is a counterfactual claim and so never fully testable.</a:t>
            </a:r>
          </a:p>
          <a:p>
            <a:r>
              <a:t>ASK: The pre-trends look parallel for eight periods. Does that prove the assumption? Steer to no - it is evidence about the past, not proof about the counterfactual.</a:t>
            </a:r>
          </a:p>
          <a:p>
            <a:r>
              <a:t>WATCH FOR: Treating a passed pre-trend test as verification. The Injaz pretrend panel exists precisely to show a case where it fails.</a:t>
            </a:r>
          </a:p>
          <a:p>
            <a:r>
              <a:t>LINK: injaz_regions_panel.csv, 13 regions over 24 months, full ATT +3.0 pp, and its _pretrend variant.</a:t>
            </a:r>
          </a:p>
        </p:txBody>
      </p:sp>
      <p:sp>
        <p:nvSpPr>
          <p:cNvPr id="4282" name="Google Shape;4282;p20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5" name="Shape 4305"/>
        <p:cNvGrpSpPr/>
        <p:nvPr/>
      </p:nvGrpSpPr>
      <p:grpSpPr>
        <a:xfrm>
          <a:off x="0" y="0"/>
          <a:ext cx="0" cy="0"/>
          <a:chOff x="0" y="0"/>
          <a:chExt cx="0" cy="0"/>
        </a:xfrm>
      </p:grpSpPr>
      <p:sp>
        <p:nvSpPr>
          <p:cNvPr id="4306" name="Google Shape;4306;p20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07" name="Google Shape;4307;p20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card for the Day 3 IV lab</a:t>
            </a:r>
          </a:p>
          <a:p>
            <a:r>
              <a:t>This makes IV arithmetic rather than mystical: divide the intention-to-treat effect by the compliance rate and you have the effect on compliers. Send participants here when the 2SLS output stops making sense. Flag the denominator - a first stage of 0.30 is healthy, but as it shrinks toward zero the ratio explodes and the standard errors with it. Scaling up the ITT also means estimating for a subpopulation you cannot identify individually.</a:t>
            </a:r>
          </a:p>
          <a:p>
            <a:r>
              <a:t>ASK: If the encouragement moved uptake by 3 points rather than 30, what happens to the Wald estimate? Steer to a ten-fold larger and wildly unstable number.</a:t>
            </a:r>
          </a:p>
          <a:p>
            <a:r>
              <a:t>WATCH FOR: Reading the LATE as if it applied to everyone. It is the effect on compliers, and the compliers are never listed by name.</a:t>
            </a:r>
          </a:p>
          <a:p>
            <a:r>
              <a:t>LINK: The Injaz online-filing IV on log_distance_km: true LATE +8.0 pp, 2SLS +7.8 pp, first-stage F about 2,100, biased OLS +10.9 pp.</a:t>
            </a:r>
          </a:p>
        </p:txBody>
      </p:sp>
      <p:sp>
        <p:nvSpPr>
          <p:cNvPr id="4308" name="Google Shape;4308;p20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0" name="Shape 4330"/>
        <p:cNvGrpSpPr/>
        <p:nvPr/>
      </p:nvGrpSpPr>
      <p:grpSpPr>
        <a:xfrm>
          <a:off x="0" y="0"/>
          <a:ext cx="0" cy="0"/>
          <a:chOff x="0" y="0"/>
          <a:chExt cx="0" cy="0"/>
        </a:xfrm>
      </p:grpSpPr>
      <p:sp>
        <p:nvSpPr>
          <p:cNvPr id="4331" name="Google Shape;4331;p2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2" name="Google Shape;4332;p2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card for anyone attempting an RDD in the capstone</a:t>
            </a:r>
          </a:p>
          <a:p>
            <a:r>
              <a:t>Use this as the structure check when a participant proposes a threshold design. The estimate is a gap between two local fits, and everything credible about it lives in the robustness box, not the point estimate. Say why the McCrary density test matters here: if applicants can see the rule and their own score, they will bunch just above 70 and the units either side stop being comparable. Vary bandwidth and polynomial order deliberately, and show the results.</a:t>
            </a:r>
          </a:p>
          <a:p>
            <a:r>
              <a:t>ASK: Your effect is +4 at the default bandwidth and vanishes at half of it. What do you report? Steer to reporting both and treating the result as fragile.</a:t>
            </a:r>
          </a:p>
          <a:p>
            <a:r>
              <a:t>WATCH FOR: Fitting a high-order global polynomial to make the jump look bigger. RDD is local; the fit far from the cutoff is irrelevant and often misleading.</a:t>
            </a:r>
          </a:p>
          <a:p>
            <a:r>
              <a:t>LINK: Step two of the design-selection cheat-sheet is where a participant gets sent here from.</a:t>
            </a:r>
          </a:p>
        </p:txBody>
      </p:sp>
      <p:sp>
        <p:nvSpPr>
          <p:cNvPr id="4333" name="Google Shape;4333;p20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6" name="Shape 4356"/>
        <p:cNvGrpSpPr/>
        <p:nvPr/>
      </p:nvGrpSpPr>
      <p:grpSpPr>
        <a:xfrm>
          <a:off x="0" y="0"/>
          <a:ext cx="0" cy="0"/>
          <a:chOff x="0" y="0"/>
          <a:chExt cx="0" cy="0"/>
        </a:xfrm>
      </p:grpSpPr>
      <p:sp>
        <p:nvSpPr>
          <p:cNvPr id="4357" name="Google Shape;4357;p20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8" name="Google Shape;4358;p20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arithmetic card for Lab 2 and for sizing the capstone test</a:t>
            </a:r>
          </a:p>
          <a:p>
            <a:r>
              <a:t>Send people here when a power calculator gives an answer they do not believe. The value is the scaling law rather than the specific 56,400: n scales with one over the squared effect size, so halving the detectable effect quadruples the sample. That sentence ends most unrealistic test proposals. Point at the sanity box last - past a few weeks of runtime, the honest choices are a larger MDE, variance reduction, or not running the test.</a:t>
            </a:r>
          </a:p>
          <a:p>
            <a:r>
              <a:t>ASK: Your team wants to detect a 0.2 point lift on a 10 percent baseline. How long at your traffic? Steer to years, and to the test not being worth running.</a:t>
            </a:r>
          </a:p>
          <a:p>
            <a:r>
              <a:t>WATCH FOR: Confusing relative and absolute lift. A 5 percent relative lift on a 10 percent baseline is 0.5 points absolute; mixing them misses the sample size badly.</a:t>
            </a:r>
          </a:p>
          <a:p>
            <a:r>
              <a:t>LINK: Course figures: at a 55 percent baseline, +2.0 pp needs about 9,700 per arm, +1.0 pp about 38,800, +0.5 pp about 155,000; CUPED at rho 0.37 buys 13.5 percent.</a:t>
            </a:r>
          </a:p>
        </p:txBody>
      </p:sp>
      <p:sp>
        <p:nvSpPr>
          <p:cNvPr id="4359" name="Google Shape;4359;p20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1" name="Shape 4381"/>
        <p:cNvGrpSpPr/>
        <p:nvPr/>
      </p:nvGrpSpPr>
      <p:grpSpPr>
        <a:xfrm>
          <a:off x="0" y="0"/>
          <a:ext cx="0" cy="0"/>
          <a:chOff x="0" y="0"/>
          <a:chExt cx="0" cy="0"/>
        </a:xfrm>
      </p:grpSpPr>
      <p:sp>
        <p:nvSpPr>
          <p:cNvPr id="4382" name="Google Shape;4382;p20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3" name="Google Shape;4383;p20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divider for the cheat-sheets; not taught, point at it during design discussions</a:t>
            </a:r>
          </a:p>
          <a:p>
            <a:r>
              <a:t>Tell participants these five tables are the pages to print. They are built for a design review, not for reading in sequence: estimand, assumptions, estimators, standard errors, and the design-selection path. The habit worth naming is using them in that order - decide the estimand before the estimator, because a team that picks a method first discovers halfway through that it answers a different question.</a:t>
            </a:r>
          </a:p>
          <a:p>
            <a:r>
              <a:t>ASK: In your last project, which came first, the method or the estimand? Steer to the honest admission that it was the method, usually because a library existed.</a:t>
            </a:r>
          </a:p>
          <a:p>
            <a:r>
              <a:t>WATCH FOR: Reading the cheat-sheets as a taxonomy to memorise rather than a sequence to work through.</a:t>
            </a:r>
          </a:p>
          <a:p>
            <a:r>
              <a:t>LINK: These are the tables to have open during the capstone design step.</a:t>
            </a:r>
          </a:p>
        </p:txBody>
      </p:sp>
      <p:sp>
        <p:nvSpPr>
          <p:cNvPr id="4384" name="Google Shape;4384;p20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2" name="Shape 4392"/>
        <p:cNvGrpSpPr/>
        <p:nvPr/>
      </p:nvGrpSpPr>
      <p:grpSpPr>
        <a:xfrm>
          <a:off x="0" y="0"/>
          <a:ext cx="0" cy="0"/>
          <a:chOff x="0" y="0"/>
          <a:chExt cx="0" cy="0"/>
        </a:xfrm>
      </p:grpSpPr>
      <p:sp>
        <p:nvSpPr>
          <p:cNvPr id="4393" name="Google Shape;4393;p2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4" name="Google Shape;4394;p2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first thing to open in any capstone or real design discussion</a:t>
            </a:r>
          </a:p>
          <a:p>
            <a:r>
              <a:t>Use this as a script for the first ten minutes of a design conversation. The order is load-bearing: ask whether you can randomise before anything else, because if the answer is yes the other four rows are irrelevant, and teams routinely reach for a clever quasi-experimental design when a small randomised pilot was available. Step five, rich covariates and no hidden confounder, is the weakest rung and needs sensitivity analysis attached as a condition of use.</a:t>
            </a:r>
          </a:p>
          <a:p>
            <a:r>
              <a:t>ASK: Why is can you randomise the first question rather than the fourth? Steer to every other design being an attempt to approximate what randomisation gives you for free.</a:t>
            </a:r>
          </a:p>
          <a:p>
            <a:r>
              <a:t>WATCH FOR: Jumping to difference-in-differences because panel data exists. Having the data is not the same as having the design.</a:t>
            </a:r>
          </a:p>
          <a:p>
            <a:r>
              <a:t>LINK: The figure next is the same logic as a flowchart; both feed the capstone design step.</a:t>
            </a:r>
          </a:p>
        </p:txBody>
      </p:sp>
      <p:sp>
        <p:nvSpPr>
          <p:cNvPr id="4395" name="Google Shape;4395;p2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2" name="Shape 4422"/>
        <p:cNvGrpSpPr/>
        <p:nvPr/>
      </p:nvGrpSpPr>
      <p:grpSpPr>
        <a:xfrm>
          <a:off x="0" y="0"/>
          <a:ext cx="0" cy="0"/>
          <a:chOff x="0" y="0"/>
          <a:chExt cx="0" cy="0"/>
        </a:xfrm>
      </p:grpSpPr>
      <p:sp>
        <p:nvSpPr>
          <p:cNvPr id="4423" name="Google Shape;4423;p2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4" name="Google Shape;4424;p2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table to open at the start of the capstone design step</a:t>
            </a:r>
          </a:p>
          <a:p>
            <a:r>
              <a:t>This is the first table participants should touch, because the estimand decides everything downstream. Drill the two contrasts people actually confuse: ATT versus ATE, which differ whenever the treated are not a random slice, and ITT versus LATE, which differ whenever compliance is imperfect. Point out that ATC is the row nobody uses and the one answering should we extend this to people who do not have it - the usual government policy question.</a:t>
            </a:r>
          </a:p>
          <a:p>
            <a:r>
              <a:t>ASK: The Injaz training programme served volunteers. Which row answers a should-we-expand-it question? Steer to ATC or ATE, not the ATT that matching gives you.</a:t>
            </a:r>
          </a:p>
          <a:p>
            <a:r>
              <a:t>WATCH FOR: Reporting an ATT and letting the reader assume it is population-wide. That gap is where most quiet misreadings of a memo happen.</a:t>
            </a:r>
          </a:p>
          <a:p>
            <a:r>
              <a:t>LINK: The +6.0 pp training ATT on injaz_users.csv, and the +1.3 versus +2.2 pp dilution in the A/B data.</a:t>
            </a:r>
          </a:p>
        </p:txBody>
      </p:sp>
      <p:sp>
        <p:nvSpPr>
          <p:cNvPr id="4425" name="Google Shape;4425;p2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2" name="Shape 4432"/>
        <p:cNvGrpSpPr/>
        <p:nvPr/>
      </p:nvGrpSpPr>
      <p:grpSpPr>
        <a:xfrm>
          <a:off x="0" y="0"/>
          <a:ext cx="0" cy="0"/>
          <a:chOff x="0" y="0"/>
          <a:chExt cx="0" cy="0"/>
        </a:xfrm>
      </p:grpSpPr>
      <p:sp>
        <p:nvSpPr>
          <p:cNvPr id="4433" name="Google Shape;4433;p2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4" name="Google Shape;4434;p2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run down this table before any observational analysis is signed off</a:t>
            </a:r>
          </a:p>
          <a:p>
            <a:r>
              <a:t>Send people here for the third column, the one that matters and the one they have not thought about: which assumptions can be tested at all. Ignorability and consistency cannot, positivity can be checked directly, parallel trends can only be probed. An untestable assumption is not a weaker assumption - it is one that must be argued in prose and stress-tested by sensitivity analysis rather than by a diagnostic plot.</a:t>
            </a:r>
          </a:p>
          <a:p>
            <a:r>
              <a:t>ASK: Which assumption here is doing the most work in your current project? Steer to ignorability in nearly every observational case, then to what sensitivity analysis is attached to it.</a:t>
            </a:r>
          </a:p>
          <a:p>
            <a:r>
              <a:t>WATCH FOR: Treating a passed diagnostic as a verified assumption. Balance after matching says nothing about the unmeasured covariates.</a:t>
            </a:r>
          </a:p>
          <a:p>
            <a:r>
              <a:t>LINK: The sensitivity toolkit slide, and the Rosenbaum gamma of about 1.2 that makes the training result moderately fragile.</a:t>
            </a:r>
          </a:p>
        </p:txBody>
      </p:sp>
      <p:sp>
        <p:nvSpPr>
          <p:cNvPr id="4435" name="Google Shape;4435;p2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2" name="Shape 4442"/>
        <p:cNvGrpSpPr/>
        <p:nvPr/>
      </p:nvGrpSpPr>
      <p:grpSpPr>
        <a:xfrm>
          <a:off x="0" y="0"/>
          <a:ext cx="0" cy="0"/>
          <a:chOff x="0" y="0"/>
          <a:chExt cx="0" cy="0"/>
        </a:xfrm>
      </p:grpSpPr>
      <p:sp>
        <p:nvSpPr>
          <p:cNvPr id="4443" name="Google Shape;4443;p2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4" name="Google Shape;4444;p2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method-choice table for the Day 3 lab and the capstone</a:t>
            </a:r>
          </a:p>
          <a:p>
            <a:r>
              <a:t>Point participants at the fails-when column rather than the models column, because that is what should decide the choice. Emphasise the doubly-robust row: it is the default not because it is sophisticated but because it gives two chances to be right and fails only when both models are wrong. Double ML is the same idea with flexible learners and cross-fitting. Matching stays for its transparency, but it silently changes the estimand to the ATT.</a:t>
            </a:r>
          </a:p>
          <a:p>
            <a:r>
              <a:t>ASK: Why is doubly robust the default rather than the fanciest option available? Steer to the two-chances argument, and to it costing almost nothing over plain outcome regression.</a:t>
            </a:r>
          </a:p>
          <a:p>
            <a:r>
              <a:t>WATCH FOR: Believing doubly robust means robust to unmeasured confounding. It is robust to model misspecification only; identification is a separate problem.</a:t>
            </a:r>
          </a:p>
          <a:p>
            <a:r>
              <a:t>LINK: The Day 3 adjustment lab and the double-ML slide in the advanced block.</a:t>
            </a:r>
          </a:p>
        </p:txBody>
      </p:sp>
      <p:sp>
        <p:nvSpPr>
          <p:cNvPr id="4445" name="Google Shape;4445;p2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2" name="Shape 4452"/>
        <p:cNvGrpSpPr/>
        <p:nvPr/>
      </p:nvGrpSpPr>
      <p:grpSpPr>
        <a:xfrm>
          <a:off x="0" y="0"/>
          <a:ext cx="0" cy="0"/>
          <a:chOff x="0" y="0"/>
          <a:chExt cx="0" cy="0"/>
        </a:xfrm>
      </p:grpSpPr>
      <p:sp>
        <p:nvSpPr>
          <p:cNvPr id="4453" name="Google Shape;4453;p2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4" name="Google Shape;4454;p2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check this before reporting any interval, in every lab</a:t>
            </a:r>
          </a:p>
          <a:p>
            <a:r>
              <a:t>The most-used and least-glamorous table in the deck, so tell people where it is and expect to point at it repeatedly. The row that catches teams is the second: grouped or repeated-measure data with unclustered standard errors, producing an interval that looks reassuringly tight and is simply wrong. The few-clusters row matters in a regional setting, where 13 regions sits well under the threshold at which cluster-robust asymptotics can be trusted.</a:t>
            </a:r>
          </a:p>
          <a:p>
            <a:r>
              <a:t>ASK: You have one row per session and users appear many times. Which row applies? Steer to user-level cluster-robust, and to the point estimate not changing - only the interval does.</a:t>
            </a:r>
          </a:p>
          <a:p>
            <a:r>
              <a:t>WATCH FOR: Assuming a wrong standard error biases the effect. It misstates uncertainty, which is how a null gets shipped as a win.</a:t>
            </a:r>
          </a:p>
          <a:p>
            <a:r>
              <a:t>LINK: Session-level SE 0.00166 versus user-clustered 0.00267, about 1.6 times wider; and the 13-region panel.</a:t>
            </a:r>
          </a:p>
        </p:txBody>
      </p:sp>
      <p:sp>
        <p:nvSpPr>
          <p:cNvPr id="4455" name="Google Shape;4455;p2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2" name="Shape 4462"/>
        <p:cNvGrpSpPr/>
        <p:nvPr/>
      </p:nvGrpSpPr>
      <p:grpSpPr>
        <a:xfrm>
          <a:off x="0" y="0"/>
          <a:ext cx="0" cy="0"/>
          <a:chOff x="0" y="0"/>
          <a:chExt cx="0" cy="0"/>
        </a:xfrm>
      </p:grpSpPr>
      <p:sp>
        <p:nvSpPr>
          <p:cNvPr id="4463" name="Google Shape;4463;p2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64" name="Google Shape;4464;p2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card for any DAG dispute, especially during the Day 3 lab</a:t>
            </a:r>
          </a:p>
          <a:p>
            <a:r>
              <a:t>Four structures cover most real disputes, so use this to adjudicate when a team argues about a control variable. The row that earns its place is M-bias, because it breaks the rule everyone in the room is carrying - that pre-treatment variables are always safe. Conditioning on a pre-treatment collider opens a path that was closed. This is why the adjustment set comes from the graph and the backdoor criterion, never from what improves fit.</a:t>
            </a:r>
          </a:p>
          <a:p>
            <a:r>
              <a:t>ASK: Is it always safe to adjust for a variable measured before treatment? Steer to no, and to M-bias as the counterexample most people have never seen.</a:t>
            </a:r>
          </a:p>
          <a:p>
            <a:r>
              <a:t>WATCH FOR: The fork and the chain look identical in a regression output. Only the assumed graph distinguishes them; the data will not.</a:t>
            </a:r>
          </a:p>
          <a:p>
            <a:r>
              <a:t>LINK: The uploader DAG set {digital_literacy, device_age} with support_calls as mediator, and collider_sim.parquet moving 0.00 to -0.20.</a:t>
            </a:r>
          </a:p>
        </p:txBody>
      </p:sp>
      <p:sp>
        <p:nvSpPr>
          <p:cNvPr id="4465" name="Google Shape;4465;p2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8" name="Shape 4488"/>
        <p:cNvGrpSpPr/>
        <p:nvPr/>
      </p:nvGrpSpPr>
      <p:grpSpPr>
        <a:xfrm>
          <a:off x="0" y="0"/>
          <a:ext cx="0" cy="0"/>
          <a:chOff x="0" y="0"/>
          <a:chExt cx="0" cy="0"/>
        </a:xfrm>
      </p:grpSpPr>
      <p:sp>
        <p:nvSpPr>
          <p:cNvPr id="4489" name="Google Shape;4489;p2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0" name="Google Shape;4490;p2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divider for the checklists; not taught, assign as pre-work for the capstone</a:t>
            </a:r>
          </a:p>
          <a:p>
            <a:r>
              <a:t>Announce these two checklists as the deliverable-grade material in the deck, the pages a participant will still be using next year. Tell the room to read them the evening before Day 4, because the capstone assumes them. The framing that makes them stick is that a checklist is not a memory aid for the expert, it is a device for making omission visible to a reviewer who was not in the room when the decisions were made.</a:t>
            </a:r>
          </a:p>
          <a:p>
            <a:r>
              <a:t>ASK: Would your last analysis have passed the observational checklist? Steer to the sensitivity-analysis line, which is the step almost everyone skips.</a:t>
            </a:r>
          </a:p>
          <a:p>
            <a:r>
              <a:t>WATCH FOR: Dismissing checklists as beneath an expert audience. Aviation and surgery made the same objection and were wrong.</a:t>
            </a:r>
          </a:p>
          <a:p>
            <a:r>
              <a:t>LINK: Pre-work for Day 4 hour 4, the capstone lab.</a:t>
            </a:r>
          </a:p>
        </p:txBody>
      </p:sp>
      <p:sp>
        <p:nvSpPr>
          <p:cNvPr id="4491" name="Google Shape;4491;p2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9" name="Shape 4499"/>
        <p:cNvGrpSpPr/>
        <p:nvPr/>
      </p:nvGrpSpPr>
      <p:grpSpPr>
        <a:xfrm>
          <a:off x="0" y="0"/>
          <a:ext cx="0" cy="0"/>
          <a:chOff x="0" y="0"/>
          <a:chExt cx="0" cy="0"/>
        </a:xfrm>
      </p:grpSpPr>
      <p:sp>
        <p:nvSpPr>
          <p:cNvPr id="4500" name="Google Shape;4500;p2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1" name="Google Shape;4501;p2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hand out at the Day 2 wrap and require it before the capstone test</a:t>
            </a:r>
          </a:p>
          <a:p>
            <a:r>
              <a:t>Use this as a gate, not as reading. The three-phase structure is the point: pre-launch, analysis and ship are separate commitments made at separate times, and the value comes from the earliest ones being written down before any data exists. The line people quietly skip is the last, effect stable past the novelty window, because by then everyone has moved on. The sanity row catches failures no later analysis can undo.</a:t>
            </a:r>
          </a:p>
          <a:p>
            <a:r>
              <a:t>ASK: Which of these lines have you skipped most recently, and what did it cost? Steer to fixing the horizon in advance, which is the one that makes peeking possible.</a:t>
            </a:r>
          </a:p>
          <a:p>
            <a:r>
              <a:t>WATCH FOR: Ticking power computed without recording the MDE it was computed for. A power number without an MDE is meaningless.</a:t>
            </a:r>
          </a:p>
          <a:p>
            <a:r>
              <a:t>LINK: The SRM check on the sanity line: a 3 percent loss in one arm gives chi-squared about 16.5, p about 5e-5, and invalidates the test.</a:t>
            </a:r>
          </a:p>
        </p:txBody>
      </p:sp>
      <p:sp>
        <p:nvSpPr>
          <p:cNvPr id="4502" name="Google Shape;4502;p2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9" name="Shape 4519"/>
        <p:cNvGrpSpPr/>
        <p:nvPr/>
      </p:nvGrpSpPr>
      <p:grpSpPr>
        <a:xfrm>
          <a:off x="0" y="0"/>
          <a:ext cx="0" cy="0"/>
          <a:chOff x="0" y="0"/>
          <a:chExt cx="0" cy="0"/>
        </a:xfrm>
      </p:grpSpPr>
      <p:sp>
        <p:nvSpPr>
          <p:cNvPr id="4520" name="Google Shape;4520;p2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21" name="Google Shape;4521;p2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running order for the Day 3 lab and the observational capstone</a:t>
            </a:r>
          </a:p>
          <a:p>
            <a:r>
              <a:t>Say the thing the slide only implies: this order is not stylistic, it is causal. Choosing the adjustment set from the DAG before looking at fit is what stops the analysis being tuned toward an answer, and defining the estimand first stops a team computing an ATT while answering an ATE question. The step dropped under time pressure is the last one, and a result with no sensitivity analysis is provisional however tight its interval.</a:t>
            </a:r>
          </a:p>
          <a:p>
            <a:r>
              <a:t>ASK: Where in this order does the temptation to skip ahead first appear? Steer to jumping to estimation the moment the data loads, before the DAG is drawn.</a:t>
            </a:r>
          </a:p>
          <a:p>
            <a:r>
              <a:t>WATCH FOR: Selecting covariates by whether they improve fit or shift the coefficient. That is variable selection for prediction and it produces bias here.</a:t>
            </a:r>
          </a:p>
          <a:p>
            <a:r>
              <a:t>LINK: injaz_users.csv end to end: naive +11.5 pp, matched +6.5 pp, worst SMD 0.57 to 0.03, Rosenbaum gamma about 1.2.</a:t>
            </a:r>
          </a:p>
        </p:txBody>
      </p:sp>
      <p:sp>
        <p:nvSpPr>
          <p:cNvPr id="4522" name="Google Shape;4522;p2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3" name="Shape 4543"/>
        <p:cNvGrpSpPr/>
        <p:nvPr/>
      </p:nvGrpSpPr>
      <p:grpSpPr>
        <a:xfrm>
          <a:off x="0" y="0"/>
          <a:ext cx="0" cy="0"/>
          <a:chOff x="0" y="0"/>
          <a:chExt cx="0" cy="0"/>
        </a:xfrm>
      </p:grpSpPr>
      <p:sp>
        <p:nvSpPr>
          <p:cNvPr id="4544" name="Google Shape;4544;p2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5" name="Google Shape;4545;p2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review card for Day 4 hour 2 and for peer review of capstone designs</a:t>
            </a:r>
          </a:p>
          <a:p>
            <a:r>
              <a:t>Use this as a scoring sheet during capstone peer review rather than reading it aloud. All six are design and identification failures, which means none can be fixed at the analysis stage - that is the organising idea to state. The one that generates most argument is the third, controlling for everything to look thorough, because it is what a careful analyst instinctively does and it is exactly how colliders get into models.</a:t>
            </a:r>
          </a:p>
          <a:p>
            <a:r>
              <a:t>ASK: Which of these six is most common in your organisation? Steer to interpreting an observational comparison as causal, the default in most dashboards.</a:t>
            </a:r>
          </a:p>
          <a:p>
            <a:r>
              <a:t>WATCH FOR: The belief that randomisation guarantees balance in every sample. It guarantees balance in expectation, which is why you still check.</a:t>
            </a:r>
          </a:p>
          <a:p>
            <a:r>
              <a:t>LINK: Continues on the next slide; pairs with the causal-fallacies catalogue in the advanced block.</a:t>
            </a:r>
          </a:p>
        </p:txBody>
      </p:sp>
      <p:sp>
        <p:nvSpPr>
          <p:cNvPr id="4546" name="Google Shape;4546;p2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5" name="Shape 4565"/>
        <p:cNvGrpSpPr/>
        <p:nvPr/>
      </p:nvGrpSpPr>
      <p:grpSpPr>
        <a:xfrm>
          <a:off x="0" y="0"/>
          <a:ext cx="0" cy="0"/>
          <a:chOff x="0" y="0"/>
          <a:chExt cx="0" cy="0"/>
        </a:xfrm>
      </p:grpSpPr>
      <p:sp>
        <p:nvSpPr>
          <p:cNvPr id="4566" name="Google Shape;4566;p2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7" name="Google Shape;4567;p2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second half of the review card, same use as the previous slide</a:t>
            </a:r>
          </a:p>
          <a:p>
            <a:r>
              <a:t>These six are recoverable in principle, which is the contrast to draw: each is a decision made after the data exists, so each can be undone by re-analysing correctly. Spend your attention on the last two. A tight interval presented as if identification were certain is the most sophisticated failure in the deck, and an estimand that quietly differs from the decision produces confidently wrong memos that survive review.</a:t>
            </a:r>
          </a:p>
          <a:p>
            <a:r>
              <a:t>ASK: Which of these two lists is more dangerous? Steer to the previous one, because design errors cannot be repaired after the fact.</a:t>
            </a:r>
          </a:p>
          <a:p>
            <a:r>
              <a:t>WATCH FOR: Reporting the most significant of many unplanned subgroups, then calling it exploratory in a footnote while the headline treats it as a finding.</a:t>
            </a:r>
          </a:p>
          <a:p>
            <a:r>
              <a:t>LINK: The peeking sequence 5 to 25 percent; the clustering contrast 0.00166 versus 0.00267; and the capstone, built on the estimand-versus-decision failure.</a:t>
            </a:r>
          </a:p>
        </p:txBody>
      </p:sp>
      <p:sp>
        <p:nvSpPr>
          <p:cNvPr id="4568" name="Google Shape;4568;p2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7" name="Shape 4587"/>
        <p:cNvGrpSpPr/>
        <p:nvPr/>
      </p:nvGrpSpPr>
      <p:grpSpPr>
        <a:xfrm>
          <a:off x="0" y="0"/>
          <a:ext cx="0" cy="0"/>
          <a:chOff x="0" y="0"/>
          <a:chExt cx="0" cy="0"/>
        </a:xfrm>
      </p:grpSpPr>
      <p:sp>
        <p:nvSpPr>
          <p:cNvPr id="4588" name="Google Shape;4588;p2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9" name="Google Shape;4589;p2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open it whenever an unmeasured confounder is raised, in the lab or capstone</a:t>
            </a:r>
          </a:p>
          <a:p>
            <a:r>
              <a:t>The framing that makes this useful is that sensitivity analysis converts an unanswerable objection into a quantitative one. Nobody can prove there is no hidden confounder, but you can state how strong one would have to be and let the room judge whether such a thing plausibly exists in this domain. Point at box four as the cheapest and most under-used: a negative-control outcome the treatment cannot affect, where a detected effect proves bias.</a:t>
            </a:r>
          </a:p>
          <a:p>
            <a:r>
              <a:t>ASK: A reviewer says you may have missed a confounder. What is your answer? Steer away from we controlled for a lot, towards an E-value or Rosenbaum bound with a named benchmark covariate.</a:t>
            </a:r>
          </a:p>
          <a:p>
            <a:r>
              <a:t>WATCH FOR: Reading a large E-value as proof of no confounding. It quantifies fragility; it never shows the required confounder does not exist.</a:t>
            </a:r>
          </a:p>
          <a:p>
            <a:r>
              <a:t>LINK: The training result on injaz_users.csv, where gamma of about 1.2 makes the matched +6.5 pp moderately fragile.</a:t>
            </a:r>
          </a:p>
        </p:txBody>
      </p:sp>
      <p:sp>
        <p:nvSpPr>
          <p:cNvPr id="4590" name="Google Shape;4590;p2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3" name="Shape 4613"/>
        <p:cNvGrpSpPr/>
        <p:nvPr/>
      </p:nvGrpSpPr>
      <p:grpSpPr>
        <a:xfrm>
          <a:off x="0" y="0"/>
          <a:ext cx="0" cy="0"/>
          <a:chOff x="0" y="0"/>
          <a:chExt cx="0" cy="0"/>
        </a:xfrm>
      </p:grpSpPr>
      <p:sp>
        <p:nvSpPr>
          <p:cNvPr id="4614" name="Google Shape;4614;p2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5" name="Google Shape;4615;p2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divider for the professional-practice slides; the two that follow are taught</a:t>
            </a:r>
          </a:p>
          <a:p>
            <a:r>
              <a:t>Flag that this short block is the difference between an analysis that is defensible and one that merely looks careful. Two of the three slides behind it are genuinely taught rather than reference: pre-registration and ethics both belong in the Day 4 discussion, especially with a public-sector cohort where an experiment acts on citizens who did not opt in. Keep the divider to a sentence and move straight into pre-registration.</a:t>
            </a:r>
          </a:p>
          <a:p>
            <a:r>
              <a:t>ASK: Who here has ever pre-registered an analysis? Steer to the observation that clinical trials made this standard decades ago and product analytics still has not.</a:t>
            </a:r>
          </a:p>
          <a:p>
            <a:r>
              <a:t>WATCH FOR: Treating this block as compliance boilerplate to be skimmed on the way to the glossary.</a:t>
            </a:r>
          </a:p>
          <a:p>
            <a:r>
              <a:t>LINK: Sits in Day 4 hour 2, before the case studies.</a:t>
            </a:r>
          </a:p>
        </p:txBody>
      </p:sp>
      <p:sp>
        <p:nvSpPr>
          <p:cNvPr id="4616" name="Google Shape;4616;p2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4" name="Shape 4624"/>
        <p:cNvGrpSpPr/>
        <p:nvPr/>
      </p:nvGrpSpPr>
      <p:grpSpPr>
        <a:xfrm>
          <a:off x="0" y="0"/>
          <a:ext cx="0" cy="0"/>
          <a:chOff x="0" y="0"/>
          <a:chExt cx="0" cy="0"/>
        </a:xfrm>
      </p:grpSpPr>
      <p:sp>
        <p:nvSpPr>
          <p:cNvPr id="4625" name="Google Shape;4625;p2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26" name="Google Shape;4626;p2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3 min - taught; Day 4 hour 2, alongside the peeking and multiplicity material</a:t>
            </a:r>
          </a:p>
          <a:p>
            <a:r>
              <a:t>The argument is that pre-registration is not bureaucracy, it is what makes a p-value mean anything. Every degree of freedom exercised after seeing outcomes - metric, window, subgroup, exclusion rule - inflates the error rate silently, and the analyst rarely experiences any of it as cheating. State the practical minimum: primary metric, estimand, analysis method and stopping rule, timestamped where a colleague can find them. Exploration stays legitimate; it just has to be labelled.</a:t>
            </a:r>
          </a:p>
          <a:p>
            <a:r>
              <a:t>ASK: If you fix the metric and the stopping rule in advance, what is left to p-hack? Steer to exclusions and subgroup definitions, which is why those get pre-registered too.</a:t>
            </a:r>
          </a:p>
          <a:p>
            <a:r>
              <a:t>WATCH FOR: Hearing this as a ban on exploratory analysis. The rule is labelling, not prohibition; unlabelled exploration sold as confirmation is the problem.</a:t>
            </a:r>
          </a:p>
          <a:p>
            <a:r>
              <a:t>LINK: The peeking result of 5 to 25 percent across 1 to 20 looks, and the capstone, which is pre-registered by design.</a:t>
            </a:r>
          </a:p>
        </p:txBody>
      </p:sp>
      <p:sp>
        <p:nvSpPr>
          <p:cNvPr id="4627" name="Google Shape;4627;p2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3" name="Shape 4643"/>
        <p:cNvGrpSpPr/>
        <p:nvPr/>
      </p:nvGrpSpPr>
      <p:grpSpPr>
        <a:xfrm>
          <a:off x="0" y="0"/>
          <a:ext cx="0" cy="0"/>
          <a:chOff x="0" y="0"/>
          <a:chExt cx="0" cy="0"/>
        </a:xfrm>
      </p:grpSpPr>
      <p:sp>
        <p:nvSpPr>
          <p:cNvPr id="4644" name="Google Shape;4644;p2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5" name="Google Shape;4645;p2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4 min - taught; Day 4 hour 2, and the discussion that runs longest with a government cohort</a:t>
            </a:r>
          </a:p>
          <a:p>
            <a:r>
              <a:t>This needs real discussion time, not recitation. Anchor on equipoise: randomising is ethical when you genuinely do not know which arm is better, and unethical when you do. Then push the fairness box, where a technically correct experiment does harm - a positive average can be assembled from a large gain for digitally confident users and a real loss for elderly or low-literacy ones, and only a distributional readout will show it. Keep it on principles, not specific policies.</a:t>
            </a:r>
          </a:p>
          <a:p>
            <a:r>
              <a:t>ASK: Which interventions on a public-service platform should never be randomised? Steer to anything affecting eligibility, entitlement or access to a benefit someone is owed.</a:t>
            </a:r>
          </a:p>
          <a:p>
            <a:r>
              <a:t>WATCH FOR: Assuming a small variant needs no ethical review. Small changes to a mandatory service still act on people who cannot opt out.</a:t>
            </a:r>
          </a:p>
          <a:p>
            <a:r>
              <a:t>LINK: Pairs with the guardrail framework; distributional impact is the Day 2 CATE work put to an ethical use.</a:t>
            </a:r>
          </a:p>
        </p:txBody>
      </p:sp>
      <p:sp>
        <p:nvSpPr>
          <p:cNvPr id="4646" name="Google Shape;4646;p2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5" name="Shape 4665"/>
        <p:cNvGrpSpPr/>
        <p:nvPr/>
      </p:nvGrpSpPr>
      <p:grpSpPr>
        <a:xfrm>
          <a:off x="0" y="0"/>
          <a:ext cx="0" cy="0"/>
          <a:chOff x="0" y="0"/>
          <a:chExt cx="0" cy="0"/>
        </a:xfrm>
      </p:grpSpPr>
      <p:sp>
        <p:nvSpPr>
          <p:cNvPr id="4666" name="Google Shape;4666;p2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67" name="Google Shape;4667;p2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issue with the Day 1 environment setup and point back to it in labs</a:t>
            </a:r>
          </a:p>
          <a:p>
            <a:r>
              <a:t>Use it as a lookup, and add the thing the table cannot say: pick the smallest tool that answers the question. Most of what the labs need is statsmodels and scipy, and reaching for a causal library before understanding the estimator hides exactly the choices this course is trying to make visible. Note that DoWhy is most useful for its refutation tests rather than its estimators, which is the opposite of how most people first use it.</a:t>
            </a:r>
          </a:p>
          <a:p>
            <a:r>
              <a:t>ASK: Which row would you use to size a test, and which to estimate an ATT? Steer to statsmodels.power for the first and a doubly-robust learner for the second.</a:t>
            </a:r>
          </a:p>
          <a:p>
            <a:r>
              <a:t>WATCH FOR: Assuming a causal library validates the identification. These packages estimate what you ask for; the graph and assumptions remain yours.</a:t>
            </a:r>
          </a:p>
          <a:p>
            <a:r>
              <a:t>LINK: The course library causal_utils wraps several of these; setup is on the materials slide near the end of this section.</a:t>
            </a:r>
          </a:p>
        </p:txBody>
      </p:sp>
      <p:sp>
        <p:nvSpPr>
          <p:cNvPr id="4668" name="Google Shape;4668;p2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6" name="Shape 4676"/>
        <p:cNvGrpSpPr/>
        <p:nvPr/>
      </p:nvGrpSpPr>
      <p:grpSpPr>
        <a:xfrm>
          <a:off x="0" y="0"/>
          <a:ext cx="0" cy="0"/>
          <a:chOff x="0" y="0"/>
          <a:chExt cx="0" cy="0"/>
        </a:xfrm>
      </p:grpSpPr>
      <p:sp>
        <p:nvSpPr>
          <p:cNvPr id="4677" name="Google Shape;4677;p2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8" name="Google Shape;4678;p2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point at it once on Day 1, then let people return to it as needed</a:t>
            </a:r>
          </a:p>
          <a:p>
            <a:r>
              <a:t>Show this for fifteen seconds at the start of Day 1 so nobody spends hour two decoding symbols instead of following the argument. It matters more than usual with a mixed cohort, where econometrics-trained participants read D for treatment and biostatistics-trained ones read T, and each quietly assumes the other is wrong. The row worth naming aloud is do(x), because conditioning versus intervening is the whole conceptual content of Day 1.</a:t>
            </a:r>
          </a:p>
          <a:p>
            <a:r>
              <a:t>ASK: What is the difference between P(Y given X equals x) and P(Y given do(X equals x))? Steer to seeing versus setting - observation versus intervention.</a:t>
            </a:r>
          </a:p>
          <a:p>
            <a:r>
              <a:t>WATCH FOR: Reading the do-operator as notation rather than a different quantity. If those two expressions were equal there would be no course.</a:t>
            </a:r>
          </a:p>
          <a:p>
            <a:r>
              <a:t>LINK: Day 1 hour 2 on potential outcomes; the glossary slides that follow.</a:t>
            </a:r>
          </a:p>
        </p:txBody>
      </p:sp>
      <p:sp>
        <p:nvSpPr>
          <p:cNvPr id="4679" name="Google Shape;4679;p2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6" name="Shape 4686"/>
        <p:cNvGrpSpPr/>
        <p:nvPr/>
      </p:nvGrpSpPr>
      <p:grpSpPr>
        <a:xfrm>
          <a:off x="0" y="0"/>
          <a:ext cx="0" cy="0"/>
          <a:chOff x="0" y="0"/>
          <a:chExt cx="0" cy="0"/>
        </a:xfrm>
      </p:grpSpPr>
      <p:sp>
        <p:nvSpPr>
          <p:cNvPr id="4687" name="Google Shape;4687;p2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8" name="Google Shape;4688;p2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the glossary participants read alone, most useful in Arabic delivery</a:t>
            </a:r>
          </a:p>
          <a:p>
            <a:r>
              <a:t>Mention it exists and move on; do not read glossary rows from the front. Its real function is bilingual delivery - when the course runs in Arabic, these English terms are the ones participants will meet in papers and library documentation, so the table is the bridge. The three-way distinction between estimand, estimator and estimate (المقدَّر المستهدف والمُقدِّر والتقدير) is worth saying aloud once, because collapsing them lets a team optimise a number instead of answering a question.</a:t>
            </a:r>
          </a:p>
          <a:p>
            <a:r>
              <a:t>ASK: In one sentence, what is the difference between an estimand and an estimate? Steer to target quantity versus the number the procedure produced.</a:t>
            </a:r>
          </a:p>
          <a:p>
            <a:r>
              <a:t>WATCH FOR: Using estimand and estimate interchangeably in a memo, which hides the fact that the target quantity was never defined.</a:t>
            </a:r>
          </a:p>
          <a:p>
            <a:r>
              <a:t>LINK: Day 1 hour 2; the estimand cheat-sheet earlier in this section.</a:t>
            </a:r>
          </a:p>
        </p:txBody>
      </p:sp>
      <p:sp>
        <p:nvSpPr>
          <p:cNvPr id="4689" name="Google Shape;4689;p2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6" name="Shape 4696"/>
        <p:cNvGrpSpPr/>
        <p:nvPr/>
      </p:nvGrpSpPr>
      <p:grpSpPr>
        <a:xfrm>
          <a:off x="0" y="0"/>
          <a:ext cx="0" cy="0"/>
          <a:chOff x="0" y="0"/>
          <a:chExt cx="0" cy="0"/>
        </a:xfrm>
      </p:grpSpPr>
      <p:sp>
        <p:nvSpPr>
          <p:cNvPr id="4697" name="Google Shape;4697;p2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8" name="Google Shape;4698;p2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second glossary page, used the same way as the first</a:t>
            </a:r>
          </a:p>
          <a:p>
            <a:r>
              <a:t>This page carries the Day 3 vocabulary, so point participants at it before the adjustment lab rather than during it. If you say anything about it, say that confounder and collider sit adjacent on the table and are exact opposites in what they demand - adjust for one, never touch the other, and the data cannot tell you which you have. The doubly-robust row also invites people to think it protects against more than misspecification.</a:t>
            </a:r>
          </a:p>
          <a:p>
            <a:r>
              <a:t>ASK: Which of these two, a confounder or a collider, is dangerous to control for? Steer to the collider, and to the fact that only the assumed graph distinguishes them.</a:t>
            </a:r>
          </a:p>
          <a:p>
            <a:r>
              <a:t>WATCH FOR: Reading doubly robust as robust to unmeasured confounding rather than to a wrong model.</a:t>
            </a:r>
          </a:p>
          <a:p>
            <a:r>
              <a:t>LINK: Day 3 hours 1 and 2; the DAG pattern library earlier in this section.</a:t>
            </a:r>
          </a:p>
        </p:txBody>
      </p:sp>
      <p:sp>
        <p:nvSpPr>
          <p:cNvPr id="4699" name="Google Shape;4699;p2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6" name="Shape 4706"/>
        <p:cNvGrpSpPr/>
        <p:nvPr/>
      </p:nvGrpSpPr>
      <p:grpSpPr>
        <a:xfrm>
          <a:off x="0" y="0"/>
          <a:ext cx="0" cy="0"/>
          <a:chOff x="0" y="0"/>
          <a:chExt cx="0" cy="0"/>
        </a:xfrm>
      </p:grpSpPr>
      <p:sp>
        <p:nvSpPr>
          <p:cNvPr id="4707" name="Google Shape;4707;p2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8" name="Google Shape;4708;p2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third glossary page, the quasi-experimental vocabulary for Day 3</a:t>
            </a:r>
          </a:p>
          <a:p>
            <a:r>
              <a:t>This page covers the Day 3 afternoon, so flag it before difference-in-differences and instrumental variables rather than after. The row that repays a sentence is parallel trends, because the definition here is deliberately counterfactual - groups would have moved together absent treatment - and that wording is what stops participants thinking a pre-trend plot verifies it. The E-value row connects the glossary to the sensitivity toolkit, where most participants first meet the term.</a:t>
            </a:r>
          </a:p>
          <a:p>
            <a:r>
              <a:t>ASK: What does an E-value of 1.3 tell you? Steer to a fairly weak unmeasured confounder being enough to explain the result away, so the finding is fragile.</a:t>
            </a:r>
          </a:p>
          <a:p>
            <a:r>
              <a:t>WATCH FOR: Treating synthetic control as a fancier difference-in-differences. It builds a weighted comparison unit with its own fit and inference requirements.</a:t>
            </a:r>
          </a:p>
          <a:p>
            <a:r>
              <a:t>LINK: Day 3 hours 3 and 4; the regional panel where the true ATT is +3.0 pp and TWFE recovers +2.6 pp because of a deliberate ramp-in.</a:t>
            </a:r>
          </a:p>
        </p:txBody>
      </p:sp>
      <p:sp>
        <p:nvSpPr>
          <p:cNvPr id="4709" name="Google Shape;4709;p2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6" name="Shape 4716"/>
        <p:cNvGrpSpPr/>
        <p:nvPr/>
      </p:nvGrpSpPr>
      <p:grpSpPr>
        <a:xfrm>
          <a:off x="0" y="0"/>
          <a:ext cx="0" cy="0"/>
          <a:chOff x="0" y="0"/>
          <a:chExt cx="0" cy="0"/>
        </a:xfrm>
      </p:grpSpPr>
      <p:sp>
        <p:nvSpPr>
          <p:cNvPr id="4717" name="Google Shape;4717;p2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8" name="Google Shape;4718;p2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1 min - divider for the facilitator section; instructor-facing, not shown to participants</a:t>
            </a:r>
          </a:p>
          <a:p>
            <a:r>
              <a:t>Everything after this divider is for whoever delivers the course, so hide these slides in the participant deck or move them behind the closing slide. Read the mapping and timetable pages during preparation, before Day 1, not on the day. The most useful are the two timetables, the only place the five-hour structure of each day is written down whole, and the facilitation notes, which encode how this deck is meant to be run.</a:t>
            </a:r>
          </a:p>
          <a:p>
            <a:r>
              <a:t>ASK: No participant-facing question; if a learner sees this section, explain it is the instructor's own reference and move to the closing slide.</a:t>
            </a:r>
          </a:p>
          <a:p>
            <a:r>
              <a:t>WATCH FOR: Facilitators skimming this section on the morning of Day 1. These decisions need making a week ahead, while labs can still be swapped.</a:t>
            </a:r>
          </a:p>
          <a:p>
            <a:r>
              <a:t>LINK: Read alongside the materials and environment slide, which lists the pre-work.</a:t>
            </a:r>
          </a:p>
        </p:txBody>
      </p:sp>
      <p:sp>
        <p:nvSpPr>
          <p:cNvPr id="4719" name="Google Shape;4719;p2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7" name="Shape 4727"/>
        <p:cNvGrpSpPr/>
        <p:nvPr/>
      </p:nvGrpSpPr>
      <p:grpSpPr>
        <a:xfrm>
          <a:off x="0" y="0"/>
          <a:ext cx="0" cy="0"/>
          <a:chOff x="0" y="0"/>
          <a:chExt cx="0" cy="0"/>
        </a:xfrm>
      </p:grpSpPr>
      <p:sp>
        <p:nvSpPr>
          <p:cNvPr id="4728" name="Google Shape;4728;p2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9" name="Google Shape;4729;p2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instructor preparation, and the slide to show a sponsor asking about coverage</a:t>
            </a:r>
          </a:p>
          <a:p>
            <a:r>
              <a:t>This is the traceability document. Use it in two situations: while preparing, to check that nothing you plan to cut orphans a learning outcome, and when a programme sponsor asks how the course maps to DSC-C04. The structure worth noticing is that LO2, defending assumptions, is the only outcome delivered across two separate days - deliberate, because assumptions are the spine of the course and are met formally on Day 1 and concretely on Day 3.</a:t>
            </a:r>
          </a:p>
          <a:p>
            <a:r>
              <a:t>ASK: No participant question; ask yourself instead which outcome your planned cuts would leave uncovered.</a:t>
            </a:r>
          </a:p>
          <a:p>
            <a:r>
              <a:t>WATCH FOR: Cutting Day 3 hour 4 for time, which is the only place LO6 quasi-experimental designs are delivered.</a:t>
            </a:r>
          </a:p>
          <a:p>
            <a:r>
              <a:t>LINK: Pairs with the assessment blueprint next, which weights the same outcomes.</a:t>
            </a:r>
          </a:p>
        </p:txBody>
      </p:sp>
      <p:sp>
        <p:nvSpPr>
          <p:cNvPr id="4730" name="Google Shape;4730;p2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8" name="Shape 4738"/>
        <p:cNvGrpSpPr/>
        <p:nvPr/>
      </p:nvGrpSpPr>
      <p:grpSpPr>
        <a:xfrm>
          <a:off x="0" y="0"/>
          <a:ext cx="0" cy="0"/>
          <a:chOff x="0" y="0"/>
          <a:chExt cx="0" cy="0"/>
        </a:xfrm>
      </p:grpSpPr>
      <p:sp>
        <p:nvSpPr>
          <p:cNvPr id="4739" name="Google Shape;4739;p2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40" name="Google Shape;4740;p2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instructor preparation, and useful when learners ask how they are graded</a:t>
            </a:r>
          </a:p>
          <a:p>
            <a:r>
              <a:t>Read this before Day 1 so you can answer the assessment question accurately on the first morning, because an expert cohort will ask. The shape to point at is that the capstone alone is 40 percent and the labs another 30, so seventy percent of the grade is applied work rather than recall - which is also why participants should not be optimising for the post-test. The pre-test carries zero weight and is purely diagnostic; say so explicitly.</a:t>
            </a:r>
          </a:p>
          <a:p>
            <a:r>
              <a:t>ASK: No participant question; if learners ask, tell them the capstone defence carries more weight than every multiple-choice item combined.</a:t>
            </a:r>
          </a:p>
          <a:p>
            <a:r>
              <a:t>WATCH FOR: Letting the pre-test feel like an exam. If it is treated as graded, learners guess strategically and you lose the diagnostic signal.</a:t>
            </a:r>
          </a:p>
          <a:p>
            <a:r>
              <a:t>LINK: The capstone on injaz_autofill_ab.csv, where design plus memo plus defence is the 40 percent instrument.</a:t>
            </a:r>
          </a:p>
        </p:txBody>
      </p:sp>
      <p:sp>
        <p:nvSpPr>
          <p:cNvPr id="4741" name="Google Shape;4741;p2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8" name="Shape 4748"/>
        <p:cNvGrpSpPr/>
        <p:nvPr/>
      </p:nvGrpSpPr>
      <p:grpSpPr>
        <a:xfrm>
          <a:off x="0" y="0"/>
          <a:ext cx="0" cy="0"/>
          <a:chOff x="0" y="0"/>
          <a:chExt cx="0" cy="0"/>
        </a:xfrm>
      </p:grpSpPr>
      <p:sp>
        <p:nvSpPr>
          <p:cNvPr id="4749" name="Google Shape;4749;p2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50" name="Google Shape;4750;p2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instructor preparation, keep it by the podium for Days 1 and 2</a:t>
            </a:r>
          </a:p>
          <a:p>
            <a:r>
              <a:t>The number to internalise is that each hour is fifty minutes of content, which is why an hour that runs long steals from a lab rather than from a break. Both days end with a lab in hour five - that is the buffer, and the only real one. If hour three overruns on Day 2, cut the CUPED discussion to its headline result rather than shortening the lab, because the notebook is where the material lands with this audience.</a:t>
            </a:r>
          </a:p>
          <a:p>
            <a:r>
              <a:t>ASK: No participant question; ask yourself before each day which single segment you would cut if you were fifteen minutes down.</a:t>
            </a:r>
          </a:p>
          <a:p>
            <a:r>
              <a:t>WATCH FOR: Letting Day 1 hour 3, identification assumptions, expand. It is the most discussable hour in the course and will consume the lab.</a:t>
            </a:r>
          </a:p>
          <a:p>
            <a:r>
              <a:t>LINK: Lab 1 in Day 1 hour 5; Lab 2 in Day 2 hour 5 on injaz_experiment_results.csv.</a:t>
            </a:r>
          </a:p>
        </p:txBody>
      </p:sp>
      <p:sp>
        <p:nvSpPr>
          <p:cNvPr id="4751" name="Google Shape;4751;p2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8" name="Shape 4758"/>
        <p:cNvGrpSpPr/>
        <p:nvPr/>
      </p:nvGrpSpPr>
      <p:grpSpPr>
        <a:xfrm>
          <a:off x="0" y="0"/>
          <a:ext cx="0" cy="0"/>
          <a:chOff x="0" y="0"/>
          <a:chExt cx="0" cy="0"/>
        </a:xfrm>
      </p:grpSpPr>
      <p:sp>
        <p:nvSpPr>
          <p:cNvPr id="4759" name="Google Shape;4759;p2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0" name="Google Shape;4760;p2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instructor preparation, the companion timetable for Days 3 and 4</a:t>
            </a:r>
          </a:p>
          <a:p>
            <a:r>
              <a:t>Day 3 is the densest day in the course - four identification strategies in four hours - so decide in advance which of difference-in-differences, instrumental variables and regression discontinuity you teach at full depth and which you compress to its worked example. Day 4 carries a different risk: hour four is the capstone lab and hour five the defence, so any overrun in hours one to three compresses the assessment, the one thing that cannot be shortened.</a:t>
            </a:r>
          </a:p>
          <a:p>
            <a:r>
              <a:t>ASK: No participant question; decide before Day 3 which quasi-experimental method gets the full treatment for this cohort.</a:t>
            </a:r>
          </a:p>
          <a:p>
            <a:r>
              <a:t>WATCH FOR: Running the Day 4 case studies long. They are the most enjoyable hour to teach and sit directly in front of the graded capstone.</a:t>
            </a:r>
          </a:p>
          <a:p>
            <a:r>
              <a:t>LINK: Lab 3 in Day 3 hour 5; capstone lab and defence in Day 4 hours 4 and 5.</a:t>
            </a:r>
          </a:p>
        </p:txBody>
      </p:sp>
      <p:sp>
        <p:nvSpPr>
          <p:cNvPr id="4761" name="Google Shape;4761;p2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8" name="Shape 4768"/>
        <p:cNvGrpSpPr/>
        <p:nvPr/>
      </p:nvGrpSpPr>
      <p:grpSpPr>
        <a:xfrm>
          <a:off x="0" y="0"/>
          <a:ext cx="0" cy="0"/>
          <a:chOff x="0" y="0"/>
          <a:chExt cx="0" cy="0"/>
        </a:xfrm>
      </p:grpSpPr>
      <p:sp>
        <p:nvSpPr>
          <p:cNvPr id="4769" name="Google Shape;4769;p2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0" name="Google Shape;4770;p2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read during preparation; it is the operating manual for this deck</a:t>
            </a:r>
          </a:p>
          <a:p>
            <a:r>
              <a:t>This encodes the pedagogy the deck was built around, so read it before planning any day. Lead with the failure is the most important of the four and the hardest to hold under time pressure: every method is introduced by showing where the naive approach breaks, which is why the naive +19.3 point uploader estimate comes before the randomised +5.0. With an expert cohort, an idea explained before its failure is heard as review.</a:t>
            </a:r>
          </a:p>
          <a:p>
            <a:r>
              <a:t>ASK: No participant question; ask yourself, for each hour you teach, what the failure is that opens it.</a:t>
            </a:r>
          </a:p>
          <a:p>
            <a:r>
              <a:t>WATCH FOR: Presenting the correct method first and the failure as a caveat afterwards. That inversion is what makes expert audiences disengage.</a:t>
            </a:r>
          </a:p>
          <a:p>
            <a:r>
              <a:t>LINK: The paired numbers throughout: +19.3 naive versus +5.0 true; +11.5 versus +6.0 ATT; +10.9 OLS versus +8.0 LATE.</a:t>
            </a:r>
          </a:p>
        </p:txBody>
      </p:sp>
      <p:sp>
        <p:nvSpPr>
          <p:cNvPr id="4771" name="Google Shape;4771;p2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0" name="Shape 4790"/>
        <p:cNvGrpSpPr/>
        <p:nvPr/>
      </p:nvGrpSpPr>
      <p:grpSpPr>
        <a:xfrm>
          <a:off x="0" y="0"/>
          <a:ext cx="0" cy="0"/>
          <a:chOff x="0" y="0"/>
          <a:chExt cx="0" cy="0"/>
        </a:xfrm>
      </p:grpSpPr>
      <p:sp>
        <p:nvSpPr>
          <p:cNvPr id="4791" name="Google Shape;4791;p2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2" name="Google Shape;4792;p2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a logistics checklist to run a week before Day 1</a:t>
            </a:r>
          </a:p>
          <a:p>
            <a:r>
              <a:t>Work through this in the week before delivery, not the night before. Two items actually derail a cohort: the environment and the prerequisites. A participant who spends Day 1 hour five installing libraries has lost the lab that anchors everything after it, and a learner short of the SF-3 and DS-1 prerequisites disengages silently by Day 3. Send the refresher to anyone borderline and keep a hosted notebook fallback ready.</a:t>
            </a:r>
          </a:p>
          <a:p>
            <a:r>
              <a:t>ASK: No participant question; before Day 1, ask every learner to run one import cell and report the result.</a:t>
            </a:r>
          </a:p>
          <a:p>
            <a:r>
              <a:t>WATCH FOR: Assuming a hosted notebook makes the check unnecessary. Access, authentication and dataset availability still fail, at the worst moment.</a:t>
            </a:r>
          </a:p>
          <a:p>
            <a:r>
              <a:t>LINK: The four lab datasets plus the capstone dataset injaz_autofill_ab.csv, with documented ground truth used by Labs 1 to 3.</a:t>
            </a:r>
          </a:p>
        </p:txBody>
      </p:sp>
      <p:sp>
        <p:nvSpPr>
          <p:cNvPr id="4793" name="Google Shape;4793;p2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0" name="Shape 4810"/>
        <p:cNvGrpSpPr/>
        <p:nvPr/>
      </p:nvGrpSpPr>
      <p:grpSpPr>
        <a:xfrm>
          <a:off x="0" y="0"/>
          <a:ext cx="0" cy="0"/>
          <a:chOff x="0" y="0"/>
          <a:chExt cx="0" cy="0"/>
        </a:xfrm>
      </p:grpSpPr>
      <p:sp>
        <p:nvSpPr>
          <p:cNvPr id="4811" name="Google Shape;4811;p2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2" name="Google Shape;4812;p2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not taught - reference; leave it up during the Day 4 close while questions run</a:t>
            </a:r>
          </a:p>
          <a:p>
            <a:r>
              <a:t>Show it at the end while people pack up, and say which two you would actually start with, because a list of ten pointers gets read as a list of none. For a practitioner returning to product experimentation, Kohavi, Tang and Xu is immediately useful. For someone facing observational government data, Hernan and Robins is free online and will still be open on their desk in a year. Make clear this is optional depth.</a:t>
            </a:r>
          </a:p>
          <a:p>
            <a:r>
              <a:t>ASK: Which of these five themes matches the work waiting for you on Monday? Steer people to one book, not five.</a:t>
            </a:r>
          </a:p>
          <a:p>
            <a:r>
              <a:t>WATCH FOR: Participants photographing the slide and reading none of it. Naming two starting points is what converts this into action.</a:t>
            </a:r>
          </a:p>
          <a:p>
            <a:r>
              <a:t>LINK: Closes the Day 4 wrap, before the thank-you slide.</a:t>
            </a:r>
          </a:p>
        </p:txBody>
      </p:sp>
      <p:sp>
        <p:nvSpPr>
          <p:cNvPr id="4813" name="Google Shape;4813;p2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0" name="Shape 4830"/>
        <p:cNvGrpSpPr/>
        <p:nvPr/>
      </p:nvGrpSpPr>
      <p:grpSpPr>
        <a:xfrm>
          <a:off x="0" y="0"/>
          <a:ext cx="0" cy="0"/>
          <a:chOff x="0" y="0"/>
          <a:chExt cx="0" cy="0"/>
        </a:xfrm>
      </p:grpSpPr>
      <p:sp>
        <p:nvSpPr>
          <p:cNvPr id="4831" name="Google Shape;4831;p2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2" name="Google Shape;4832;p2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2 min - closing slide; the final two minutes of Day 4, after the post-test</a:t>
            </a:r>
          </a:p>
          <a:p>
            <a:r>
              <a:t>Close on capability, not gratitude. Read the outcome sentence back as a claim about what they can now do, and pause on its last clause - communicate a decision whose risk is owned - because that is what separates this cohort from someone who has merely learned the methods. Then name the single habit you want to survive the week: ask which assumption is doing the work, every time, before touching the data.</a:t>
            </a:r>
          </a:p>
          <a:p>
            <a:r>
              <a:t>ASK: What is the first causal question you will re-open when you get back to your desk? Take two or three answers aloud; it is the strongest possible close.</a:t>
            </a:r>
          </a:p>
          <a:p>
            <a:r>
              <a:t>WATCH FOR: Ending with a summary of the four days. The room has just done the post-test and will not absorb a recap.</a:t>
            </a:r>
          </a:p>
          <a:p>
            <a:r>
              <a:t>LINK: Callback to the through-line quote and to the capstone verdict of hold and extend rather than ship.</a:t>
            </a:r>
          </a:p>
        </p:txBody>
      </p:sp>
      <p:sp>
        <p:nvSpPr>
          <p:cNvPr id="4833" name="Google Shape;4833;p2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Day 1 Hour 1, figure walk</a:t>
            </a:r>
          </a:p>
          <a:p>
            <a:r>
              <a:t>Walk it in three moves. Point first at digital literacy and trace the two arrows leaving it: that shared origin, not the treatment arrow, is the entire problem. Point second at the treatment to outcome arrow as the only quantity we want. Point third at the backdoor path and name it an open channel manufacturing association. Then land the sentence that carries the week: randomisation closes that path by design, every other method closes it by assumption.</a:t>
            </a:r>
          </a:p>
          <a:p>
            <a:r>
              <a:t>ASK: If we could measure digital literacy perfectly, would adjusting for it be enough? Only if it is the sole common cause, and nothing in the data can verify that.</a:t>
            </a:r>
          </a:p>
          <a:p>
            <a:r>
              <a:t>WATCH FOR: Someone proposing to control for support calls because it correlates with everything. It is a mediator on the causal path and must never enter the adjustment set.</a:t>
            </a:r>
          </a:p>
          <a:p>
            <a:r>
              <a:t>LINK: The Day 3 DAG lab gives the minimal adjustment set for this question as digital_literacy and device_age.</a:t>
            </a:r>
          </a:p>
        </p:txBody>
      </p:sp>
      <p:sp>
        <p:nvSpPr>
          <p:cNvPr id="4" name="Slide Number Placeholder 3"/>
          <p:cNvSpPr>
            <a:spLocks noGrp="1"/>
          </p:cNvSpPr>
          <p:nvPr>
            <p:ph type="sldNum" idx="12"/>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Day 1 Hour 1, figure walk</a:t>
            </a:r>
          </a:p>
          <a:p>
            <a:r>
              <a:t>Walk the six steps quickly, then stop at the gate and spend your time there. The gate is the claim that freezing the analysis plan before you see outcomes is not bureaucracy, it is what makes a p-value mean what it says. Point at everything after the gate and note that each decision is now constrained. Close by naming the reordering people actually do: run the test, look, then choose the metric and the cut that make it significant.</a:t>
            </a:r>
          </a:p>
          <a:p>
            <a:r>
              <a:t>ASK: How many looks do you take at the data before an experiment ends, and what do you do with them? Freeze there; the honest answer is many looks and no adjustment.</a:t>
            </a:r>
          </a:p>
          <a:p>
            <a:r>
              <a:t>WATCH FOR: The belief that pre-registration forbids exploration. It separates confirmatory from exploratory analysis, it does not ban the second.</a:t>
            </a:r>
          </a:p>
          <a:p>
            <a:r>
              <a:t>LINK: Day 2 Hour 4 prices this: false-positive rates of 5, 9, 14, 19 and 25 percent at 1, 2, 5, 10 and 20 looks.</a:t>
            </a:r>
          </a:p>
        </p:txBody>
      </p:sp>
      <p:sp>
        <p:nvSpPr>
          <p:cNvPr id="4" name="Slide Number Placeholder 3"/>
          <p:cNvSpPr>
            <a:spLocks noGrp="1"/>
          </p:cNvSpPr>
          <p:nvPr>
            <p:ph type="sldNum" idx="12"/>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Day 1 Hour 2, figure walk</a:t>
            </a:r>
          </a:p>
          <a:p>
            <a:r>
              <a:t>Point first at a single unit and its two branches, and say both are real quantities of that unit. Point second at the greyed-out branch and name it the counterfactual. Point third at the arithmetic that would give tau for that unit, noting it needs a cell that is unmeasurable rather than merely unmeasured. Then land the panel sentence about when one group may legitimately stand in for another group's missing world.</a:t>
            </a:r>
          </a:p>
          <a:p>
            <a:r>
              <a:t>ASK: What would it take to observe both cells for one person? Time travel or a perfect clone, and saying that out loud makes the concept stick better than the notation does.</a:t>
            </a:r>
          </a:p>
          <a:p>
            <a:r>
              <a:t>WATCH FOR: Someone offering before-and-after on the same unit as the solution. Freeze there, because the pre-period unit is a different unit at a different time.</a:t>
            </a:r>
          </a:p>
          <a:p>
            <a:r>
              <a:t>LINK: That before-and-after instinct is exactly what difference-in-differences has to defend on Day 3.</a:t>
            </a:r>
          </a:p>
        </p:txBody>
      </p:sp>
      <p:sp>
        <p:nvSpPr>
          <p:cNvPr id="4" name="Slide Number Placeholder 3"/>
          <p:cNvSpPr>
            <a:spLocks noGrp="1"/>
          </p:cNvSpPr>
          <p:nvPr>
            <p:ph type="sldNum" idx="12"/>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Day 1 Hour 2, figure walk</a:t>
            </a:r>
          </a:p>
          <a:p>
            <a:r>
              <a:t>Point first at the self-selected bar at plus 19.3 and let the room enjoy it, because that is the number a product team would celebrate. Point second at the randomised bar at plus 5.0, sitting on the true plus 5.0. Point third at the gap and name it the bias term from the previous slide, roughly 14 points belonging to digital literacy rather than to the uploader. Then read the panel line aloud.</a:t>
            </a:r>
          </a:p>
          <a:p>
            <a:r>
              <a:t>ASK: Which bar would appear in a launch deck, and who in the organisation would have questioned it? Freeze on the fact that nothing in the data itself separates them.</a:t>
            </a:r>
          </a:p>
          <a:p>
            <a:r>
              <a:t>WATCH FOR: The reflex that a bigger sample would have separated the bars. Both estimates are precise; one of them is precisely wrong.</a:t>
            </a:r>
          </a:p>
          <a:p>
            <a:r>
              <a:t>LINK: Participants reproduce both bars themselves in Lab 1 this afternoon.</a:t>
            </a:r>
          </a:p>
        </p:txBody>
      </p:sp>
      <p:sp>
        <p:nvSpPr>
          <p:cNvPr id="4" name="Slide Number Placeholder 3"/>
          <p:cNvSpPr>
            <a:spLocks noGrp="1"/>
          </p:cNvSpPr>
          <p:nvPr>
            <p:ph type="sldNum" idx="12"/>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Day 1 Hour 4, figure walk</a:t>
            </a:r>
          </a:p>
          <a:p>
            <a:r>
              <a:t>Walk down the ladder rung by rung and at each one name the assumption rather than the method. Randomised at the top assumes little beyond SUTVA. Natural experiments assume the as-if-random claim. Difference-in-differences assumes parallel trends. Matching and propensity methods assume no unmeasured confounding, which is the strongest and least testable of the set. Then point out that the ladder runs opposite to convenience: the studies easiest to run rest on the assumptions hardest to defend.</a:t>
            </a:r>
          </a:p>
          <a:p>
            <a:r>
              <a:t>ASK: Which rung was your last analysis on, and could you state its assumption in one sentence to a non-technical director? Freeze there, because that sentence is what the capstone defence asks for.</a:t>
            </a:r>
          </a:p>
          <a:p>
            <a:r>
              <a:t>WATCH FOR: Reading the lower rungs as invalid. They are valid conditional on an assumption, and the work is arguing that assumption rather than apologising for the method.</a:t>
            </a:r>
          </a:p>
          <a:p>
            <a:r>
              <a:t>LINK: Days 3 and 4 work down this ladder in order, method by method.</a:t>
            </a:r>
          </a:p>
        </p:txBody>
      </p:sp>
      <p:sp>
        <p:nvSpPr>
          <p:cNvPr id="4" name="Slide Number Placeholder 3"/>
          <p:cNvSpPr>
            <a:spLocks noGrp="1"/>
          </p:cNvSpPr>
          <p:nvPr>
            <p:ph type="sldNum" idx="12"/>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Day 1 Hour 5, figure walk</a:t>
            </a:r>
          </a:p>
          <a:p>
            <a:r>
              <a:t>Point first at the left edge, where both lines are noisy and the bands wide, so nothing is distinguishable. Point second at the bands narrowing as n grows toward 20,000, which is variance behaving as everyone expects. Point third at the two centres, one settling on plus 5.0 and one on plus 19.3, and say the gap never moves. Freeze there. Keep this slide for the stakeholder who answers a design objection with the size of the warehouse.</a:t>
            </a:r>
          </a:p>
          <a:p>
            <a:r>
              <a:t>ASK: At what sample size would the self-selected line reach the truth? Never, and getting the room to say never out loud is the whole objective of this figure.</a:t>
            </a:r>
          </a:p>
          <a:p>
            <a:r>
              <a:t>WATCH FOR: Reading the narrowing band as improving accuracy. Precision improves and accuracy does not, so more data simply makes you more confident in the wrong number.</a:t>
            </a:r>
          </a:p>
          <a:p>
            <a:r>
              <a:t>LINK: This is the visual form of the Hour 2 decomposition, where the bias term does not depend on n.</a:t>
            </a:r>
          </a:p>
        </p:txBody>
      </p:sp>
      <p:sp>
        <p:nvSpPr>
          <p:cNvPr id="4" name="Slide Number Placeholder 3"/>
          <p:cNvSpPr>
            <a:spLocks noGrp="1"/>
          </p:cNvSpPr>
          <p:nvPr>
            <p:ph type="sldNum" idx="12"/>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Day 2 Hour 1, figure walk</a:t>
            </a:r>
          </a:p>
          <a:p>
            <a:r>
              <a:t>Walk the six boxes in order, repeating at each that the decision is made before any data exists. Point first at the randomisation unit box, second at the analysis unit box, third at the gap between them, because that gap is where the warning lives. The concrete failure: assign by user, analyse by session, and the standard error treats every session as independent information, which it is not. Ambiguity left here becomes an argument after results land.</a:t>
            </a:r>
          </a:p>
          <a:p>
            <a:r>
              <a:t>ASK: If we randomise by user but the metric is per session, what is the analysis unit? The user, with sessions aggregated or standard errors clustered, and never raw sessions.</a:t>
            </a:r>
          </a:p>
          <a:p>
            <a:r>
              <a:t>WATCH FOR: The assumption that this only matters for small experiments. At 80,000 users a bad clustering choice produces confidently wrong intervals.</a:t>
            </a:r>
          </a:p>
          <a:p>
            <a:r>
              <a:t>LINK: Day 4 sizes the error: session-level SE 0.00166 against user-clustered 0.00267, about 1.6 times wider.</a:t>
            </a:r>
          </a:p>
        </p:txBody>
      </p:sp>
      <p:sp>
        <p:nvSpPr>
          <p:cNvPr id="4" name="Slide Number Placeholder 3"/>
          <p:cNvSpPr>
            <a:spLocks noGrp="1"/>
          </p:cNvSpPr>
          <p:nvPr>
            <p:ph type="sldNum" idx="12"/>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Day 2 Hour 1, figure walk</a:t>
            </a:r>
          </a:p>
          <a:p>
            <a:r>
              <a:t>Walk the three questions in order and insist on that order. Point first at the interference question, because that constraint dominates everything else. Point second at the returning-user question, which is what kills session-level assignment on a services platform where people come back across the year. Point third at the decision question, since you assign at or above the level at which the rollout will be decided. Then read the default aloud: user-level unless something forces you higher, because session-level buys sample and sells validity.</a:t>
            </a:r>
          </a:p>
          <a:p>
            <a:r>
              <a:t>ASK: For the Injaz uploader, session or user? User, because filers return across the year and the decision is whether to give a person the uploader.</a:t>
            </a:r>
          </a:p>
          <a:p>
            <a:r>
              <a:t>WATCH FOR: Answering question two before question one. If interference exists at region level, the returning-user question is irrelevant to the choice.</a:t>
            </a:r>
          </a:p>
          <a:p>
            <a:r>
              <a:t>LINK: Lab 2 analyses the Injaz experiment at user level; the clustering consequences arrive on Day 4.</a:t>
            </a:r>
          </a:p>
        </p:txBody>
      </p:sp>
      <p:sp>
        <p:nvSpPr>
          <p:cNvPr id="4" name="Slide Number Placeholder 3"/>
          <p:cNvSpPr>
            <a:spLocks noGrp="1"/>
          </p:cNvSpPr>
          <p:nvPr>
            <p:ph type="sldNum" idx="12"/>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Day 2 Hour 1, figure walk</a:t>
            </a:r>
          </a:p>
          <a:p>
            <a:r>
              <a:t>Two panels, two failure shapes. In the spillover panel point first at the treatment bar, then at the control bar moving too, because the control group is contaminated and no longer measures the untreated world. In the cannibalisation panel point at the fixed total: the treatment arm's gain came out of the control arm's pocket, so a full rollout delivers nothing. Read the panel line aloud, because neither failure appears in a p-value.</a:t>
            </a:r>
          </a:p>
          <a:p>
            <a:r>
              <a:t>ASK: Which of these two would a perfectly executed A/B test detect? Neither, and that is the freeze point of this figure.</a:t>
            </a:r>
          </a:p>
          <a:p>
            <a:r>
              <a:t>WATCH FOR: Suggesting a bigger sample or a longer runtime as the fix. Both are design failures, and the remedies are a different randomisation unit, cluster assignment or a switchback.</a:t>
            </a:r>
          </a:p>
          <a:p>
            <a:r>
              <a:t>LINK: This is the SUTVA no-interference clause from Day 1 Hour 3, now in production form.</a:t>
            </a:r>
          </a:p>
        </p:txBody>
      </p:sp>
      <p:sp>
        <p:nvSpPr>
          <p:cNvPr id="4" name="Slide Number Placeholder 3"/>
          <p:cNvSpPr>
            <a:spLocks noGrp="1"/>
          </p:cNvSpPr>
          <p:nvPr>
            <p:ph type="sldNum" idx="12"/>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figure; walk it, do not summarise it.</a:t>
            </a:r>
          </a:p>
          <a:p>
            <a:r>
              <a:t>Point first at the correlation, 0.37, a realistic number rather than a textbook one. Second at the variance reduction it buys: about 13.5 percent, roughly 1.16 times the sample for free, not the doubling promised on the previous slide. Say that gap out loud, because it stops them promising a doubling to a product owner. Third at the effect estimate being essentially unchanged while the interval narrows, which is the entire safety argument.</a:t>
            </a:r>
          </a:p>
          <a:p>
            <a:r>
              <a:t>ASK: Is a 13.5 percent variance reduction worth the engineering? Steer to: yes, it is a week of traffic you never have to buy, and it compounds across every future test.</a:t>
            </a:r>
          </a:p>
          <a:p>
            <a:r>
              <a:t>WATCH FOR: someone proposing a post-launch engagement covariate, which silently removes part of the effect.</a:t>
            </a:r>
          </a:p>
          <a:p>
            <a:r>
              <a:t>LINK: Lab 2 step 4 reproduces this comparison.</a:t>
            </a:r>
          </a:p>
        </p:txBody>
      </p:sp>
      <p:sp>
        <p:nvSpPr>
          <p:cNvPr id="4" name="Slide Number Placeholder 3"/>
          <p:cNvSpPr>
            <a:spLocks noGrp="1"/>
          </p:cNvSpPr>
          <p:nvPr>
            <p:ph type="sldNum" idx="12"/>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 · figure; a diagram, not a chart to read values from.</a:t>
            </a:r>
          </a:p>
          <a:p>
            <a:r>
              <a:t>Point first at the four nodes and say you may fix any three. Second at the MDE term, which enters squared while significance and power enter only through z-values, so ambition is the expensive knob. Third at sigma in the numerator, because that is exactly where CUPED buys sample size. Freeze on the panel: the MDE conversation belongs in the room with the product owner before launch, not in the readout afterwards.</a:t>
            </a:r>
          </a:p>
          <a:p>
            <a:r>
              <a:t>ASK: If the product owner insists on detecting half the effect, what may you offer in exchange? Steer to: four times the traffic, longer runtime, lower power, or a smaller sigma through CUPED.</a:t>
            </a:r>
          </a:p>
          <a:p>
            <a:r>
              <a:t>WATCH FOR: buying precision by raising alpha, which trades away a false-positive risk they will own later.</a:t>
            </a:r>
          </a:p>
          <a:p>
            <a:r>
              <a:t>LINK: the sample-size curve on the next figure.</a:t>
            </a:r>
          </a:p>
        </p:txBody>
      </p:sp>
      <p:sp>
        <p:nvSpPr>
          <p:cNvPr id="4" name="Slide Number Placeholder 3"/>
          <p:cNvSpPr>
            <a:spLocks noGrp="1"/>
          </p:cNvSpPr>
          <p:nvPr>
            <p:ph type="sldNum" idx="12"/>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 · figure; the two-by-two error table.</a:t>
            </a:r>
          </a:p>
          <a:p>
            <a:r>
              <a:t>Walk the four cells and name each in context: shipping a feature that does nothing, missing a real plus 2 pp improvement, and the two correct decisions. Point second at the threshold and show that sliding it moves probability between the error cells rather than reducing error. Freeze on the panel, because eighty percent powered is an incomplete sentence, and asking powered against what is the fastest way to expose an unplanned test.</a:t>
            </a:r>
          </a:p>
          <a:p>
            <a:r>
              <a:t>ASK: Which error costs more for the uploader rollout, shipping a null feature or missing a real one? Steer to: it depends on the cost of the change, and that judgement belongs to the business.</a:t>
            </a:r>
          </a:p>
          <a:p>
            <a:r>
              <a:t>WATCH FOR: treating alpha of 0.05 and power of 0.8 as laws; they are conventions to be argued per test.</a:t>
            </a:r>
          </a:p>
          <a:p>
            <a:r>
              <a:t>LINK: the multiplicity slide, where the same alpha is spent many times.</a:t>
            </a:r>
          </a:p>
        </p:txBody>
      </p:sp>
      <p:sp>
        <p:nvSpPr>
          <p:cNvPr id="4" name="Slide Number Placeholder 3"/>
          <p:cNvSpPr>
            <a:spLocks noGrp="1"/>
          </p:cNvSpPr>
          <p:nvPr>
            <p:ph type="sldNum" idx="12"/>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figure; the most quotable chart in the day.</a:t>
            </a:r>
          </a:p>
          <a:p>
            <a:r>
              <a:t>Point first at 2.0 pp, about 9,700 per arm, a test Injaz can run in roughly a week. Second at 1.0 pp, four times that at about 38,800. Third at 0.5 pp, sixteen times, about 155,000 per arm, which for most services is not a test but a proposal. Let the curve's shape argue before you say anything, then read the panel line about ending the conversation in ten seconds.</a:t>
            </a:r>
          </a:p>
          <a:p>
            <a:r>
              <a:t>ASK: A stakeholder wants 0.5 pp instead of 2.0 pp. What is the honest answer? Steer to: sixteen times the sample, so either accept a much longer runtime or change the question.</a:t>
            </a:r>
          </a:p>
          <a:p>
            <a:r>
              <a:t>WATCH FOR: reading the curve as a soft trade-off; it is quadratic and intuition underestimates the cost.</a:t>
            </a:r>
          </a:p>
          <a:p>
            <a:r>
              <a:t>LINK: the runtime figure next turns these numbers into dates.</a:t>
            </a:r>
          </a:p>
        </p:txBody>
      </p:sp>
      <p:sp>
        <p:nvSpPr>
          <p:cNvPr id="4" name="Slide Number Placeholder 3"/>
          <p:cNvSpPr>
            <a:spLocks noGrp="1"/>
          </p:cNvSpPr>
          <p:nvPr>
            <p:ph type="sldNum" idx="12"/>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 · figure; the operational translation of a sample size.</a:t>
            </a:r>
          </a:p>
          <a:p>
            <a:r>
              <a:t>Walk the chain: required n per arm, times two arms, divided by daily eligible traffic, divided by the fraction actually exposed. The forgotten step is the last one. In the uploader test only 62 percent of assigned users ever trigger the feature, so the exposed denominator is far smaller and the runtime correspondingly longer. Then defend the floor: round up to whole weeks, because weekday and weekend users differ and stopping on a Wednesday hands you a biased slice.</a:t>
            </a:r>
          </a:p>
          <a:p>
            <a:r>
              <a:t>ASK: 9,700 per arm and 4,000 eligible users a day. What date do you commit to? Steer to: about five days of traffic, which rounds up to one full week.</a:t>
            </a:r>
          </a:p>
          <a:p>
            <a:r>
              <a:t>WATCH FOR: dividing by total platform traffic rather than eligible and exposed traffic, which understates runtime badly.</a:t>
            </a:r>
          </a:p>
          <a:p>
            <a:r>
              <a:t>LINK: the same trigger-rate dilution reappears in Lab 2.</a:t>
            </a:r>
          </a:p>
        </p:txBody>
      </p:sp>
      <p:sp>
        <p:nvSpPr>
          <p:cNvPr id="4" name="Slide Number Placeholder 3"/>
          <p:cNvSpPr>
            <a:spLocks noGrp="1"/>
          </p:cNvSpPr>
          <p:nvPr>
            <p:ph type="sldNum" idx="12"/>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figure; the emotional centre of the hour.</a:t>
            </a:r>
          </a:p>
          <a:p>
            <a:r>
              <a:t>Say the setup before pointing anywhere: two thousand simulated experiments, every one with a true effect of exactly zero. Point at the one-look bar at five percent, then walk right through nine, fourteen, nineteen and twenty-five percent at twenty looks. Freeze there and say it plainly, that every significant result on this chart is false and one experiment in four has declared a winner that does not exist. Repeat the panel line: this is arithmetic, not impatience.</a:t>
            </a:r>
          </a:p>
          <a:p>
            <a:r>
              <a:t>ASK: Your team has a live dashboard anyone can open. What is the real mitigation? Steer to: pre-committing the decision rule and putting always-valid intervals on the dashboard.</a:t>
            </a:r>
          </a:p>
          <a:p>
            <a:r>
              <a:t>WATCH FOR: our effects are real so this does not apply; under a true effect peeking biases the estimate upward instead.</a:t>
            </a:r>
          </a:p>
          <a:p>
            <a:r>
              <a:t>LINK: Lab 2 step 5 reproduces these numbers.</a:t>
            </a:r>
          </a:p>
        </p:txBody>
      </p:sp>
      <p:sp>
        <p:nvSpPr>
          <p:cNvPr id="4" name="Slide Number Placeholder 3"/>
          <p:cNvSpPr>
            <a:spLocks noGrp="1"/>
          </p:cNvSpPr>
          <p:nvPr>
            <p:ph type="sldNum" idx="12"/>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 · figure; a decision aid rather than a formula.</a:t>
            </a:r>
          </a:p>
          <a:p>
            <a:r>
              <a:t>Point first at the branch question, which is what kind of claim this family of tests supports. Second at the family-wise branch, naming a real case: a small confirmatory set where one false claim would be published or acted on, so Bonferroni's strictness is the right price. Third at the false-discovery branch, dozens of exploratory metrics screened for the next experiment, where Bonferroni leaves no power at all. Freeze on the panel: the family belongs in the frozen analysis plan.</a:t>
            </a:r>
          </a:p>
          <a:p>
            <a:r>
              <a:t>ASK: We track sixty metrics on every test. Bonferroni across all sixty? Steer to: no, one primary, a few guardrails, and Benjamini-Hochberg over the exploratory remainder.</a:t>
            </a:r>
          </a:p>
          <a:p>
            <a:r>
              <a:t>WATCH FOR: correcting metrics that were never going to drive a decision, which only hides real effects.</a:t>
            </a:r>
          </a:p>
          <a:p>
            <a:r>
              <a:t>LINK: the subgroup discipline slide in Hour 3.</a:t>
            </a:r>
          </a:p>
        </p:txBody>
      </p:sp>
      <p:sp>
        <p:nvSpPr>
          <p:cNvPr id="4" name="Slide Number Placeholder 3"/>
          <p:cNvSpPr>
            <a:spLocks noGrp="1"/>
          </p:cNvSpPr>
          <p:nvPr>
            <p:ph type="sldNum" idx="12"/>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figure; the go/no-go gate of the hour.</a:t>
            </a:r>
          </a:p>
          <a:p>
            <a:r>
              <a:t>Walk it in three moves. First the healthy panel, where the split sits at the intended ratio and the chi-square is unremarkable. Second the damaged panel, where three percent of one arm was lost to a logging bug and the observed share drifts about 1.5 percent, which looks like nothing. Third the statistic: chi-square about 16.5, p about five times ten to the minus five. The gap between how small it looks and how impossible it is under random assignment is the whole lesson.</a:t>
            </a:r>
          </a:p>
          <a:p>
            <a:r>
              <a:t>ASK: The arms come out 50.8 to 49.2 on two million users. Ship or stop? Steer to: run the test, because at that size even small drift is decisive evidence.</a:t>
            </a:r>
          </a:p>
          <a:p>
            <a:r>
              <a:t>WATCH FOR: the instinct to reweight the arms and continue; the missing users are selected, so no adjustment restores randomisation.</a:t>
            </a:r>
          </a:p>
          <a:p>
            <a:r>
              <a:t>LINK: Lab 2 step 3 runs this check.</a:t>
            </a:r>
          </a:p>
        </p:txBody>
      </p:sp>
      <p:sp>
        <p:nvSpPr>
          <p:cNvPr id="4" name="Slide Number Placeholder 3"/>
          <p:cNvSpPr>
            <a:spLocks noGrp="1"/>
          </p:cNvSpPr>
          <p:nvPr>
            <p:ph type="sldNum" idx="12"/>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figure; three panels, one rule each.</a:t>
            </a:r>
          </a:p>
          <a:p>
            <a:r>
              <a:t>Walk left to right and give the conditioning verdict before the mechanism, because the verdict is what they need in a meeting. Chain: open, do not adjust, or you remove effect. Fork: open, adjust, and you remove bias. Collider: already blocked, do not adjust, or you create bias. Then point at the inversion line and have them repeat it, since that sentence makes d-separation mechanical. A real graph is only these shapes chained together.</a:t>
            </a:r>
          </a:p>
          <a:p>
            <a:r>
              <a:t>ASK: A path runs through a collider you have not conditioned on. Is it carrying association? Steer to: no, it is blocked and needs no action.</a:t>
            </a:r>
          </a:p>
          <a:p>
            <a:r>
              <a:t>WATCH FOR: colliders read as variables to avoid; the collider is harmless, conditioning on it is the error.</a:t>
            </a:r>
          </a:p>
          <a:p>
            <a:r>
              <a:t>LINK: the backdoor criterion next formalises all three cases.</a:t>
            </a:r>
          </a:p>
        </p:txBody>
      </p:sp>
      <p:sp>
        <p:nvSpPr>
          <p:cNvPr id="4" name="Slide Number Placeholder 3"/>
          <p:cNvSpPr>
            <a:spLocks noGrp="1"/>
          </p:cNvSpPr>
          <p:nvPr>
            <p:ph type="sldNum" idx="12"/>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figure; the payoff of the hour.</a:t>
            </a:r>
          </a:p>
          <a:p>
            <a:r>
              <a:t>Trace the graph rather than presenting the answer. Point at treatment and outcome, then walk each backdoor path aloud and show which variable closes it: digital literacy closes one, device age the other, and that exhausts the backdoors, so the minimal adjustment set is exactly those two. Then point at support calls and slow down. It lies on the causal path, so controlling for it removes part of the effect being measured, and it is the most common bad control precisely because it improves model fit.</a:t>
            </a:r>
          </a:p>
          <a:p>
            <a:r>
              <a:t>ASK: Adding support calls raises the R-squared and shrinks the effect. What happened? Steer to: you conditioned away a mechanism rather than improving the estimate.</a:t>
            </a:r>
          </a:p>
          <a:p>
            <a:r>
              <a:t>WATCH FOR: controlling for support calls to isolate a direct effect; that is a different estimand needing mediation methods.</a:t>
            </a:r>
          </a:p>
          <a:p>
            <a:r>
              <a:t>LINK: Lab 3 uses exactly this adjustment set.</a:t>
            </a:r>
          </a:p>
        </p:txBody>
      </p:sp>
      <p:sp>
        <p:nvSpPr>
          <p:cNvPr id="4" name="Slide Number Placeholder 3"/>
          <p:cNvSpPr>
            <a:spLocks noGrp="1"/>
          </p:cNvSpPr>
          <p:nvPr>
            <p:ph type="sldNum" idx="12"/>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figure; two panels, and only the row filter differs.</a:t>
            </a:r>
          </a:p>
          <a:p>
            <a:r>
              <a:t>Point first at the left panel, two independently generated variables, correlation about zero, a formless cloud. Second at the right panel, where only completed sessions are kept, and read the correlation off at about minus 0.20. Then say the sentence that lands it, that nothing about the world changed and only which rows were included did. Third at the selection boundary, since the negative slope is a geometric consequence of keeping the upper-right region.</a:t>
            </a:r>
          </a:p>
          <a:p>
            <a:r>
              <a:t>ASK: Where else in your pipeline does a filter like this live? Steer to: active-user definitions, survivorship windows, and any complete-cases-only step.</a:t>
            </a:r>
          </a:p>
          <a:p>
            <a:r>
              <a:t>WATCH FOR: blaming a data problem or a bug; the data here are perfect and the sampling is the problem.</a:t>
            </a:r>
          </a:p>
          <a:p>
            <a:r>
              <a:t>LINK: collider_sim.parquet in the course data.</a:t>
            </a:r>
          </a:p>
        </p:txBody>
      </p:sp>
      <p:sp>
        <p:nvSpPr>
          <p:cNvPr id="4" name="Slide Number Placeholder 3"/>
          <p:cNvSpPr>
            <a:spLocks noGrp="1"/>
          </p:cNvSpPr>
          <p:nvPr>
            <p:ph type="sldNum" idx="12"/>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 · figure; a professional-judgement slide, not a technical one.</a:t>
            </a:r>
          </a:p>
          <a:p>
            <a:r>
              <a:t>Walk the four verdicts in ascending difficulty with an Injaz example each: identified with the measured set, identified only under a stronger assumption, identified by a different design, and not identifiable from these variables. Spend the time on the fourth. In most organisations the analyst who says it is heard as unhelpful, so it only works paired with two specifics, the variable that would be needed and the design that would obtain it.</a:t>
            </a:r>
          </a:p>
          <a:p>
            <a:r>
              <a:t>ASK: When did you last write that a question cannot be answered with these data? Steer to: rarely, and that is a cultural problem worth naming.</a:t>
            </a:r>
          </a:p>
          <a:p>
            <a:r>
              <a:t>WATCH FOR: the fourth verdict read as failure; it is the only answer that protects the organisation from acting on a biased number.</a:t>
            </a:r>
          </a:p>
          <a:p>
            <a:r>
              <a:t>LINK: Day 4's sensitivity analysis quantifies the second verdict.</a:t>
            </a:r>
          </a:p>
        </p:txBody>
      </p:sp>
      <p:sp>
        <p:nvSpPr>
          <p:cNvPr id="4" name="Slide Number Placeholder 3"/>
          <p:cNvSpPr>
            <a:spLocks noGrp="1"/>
          </p:cNvSpPr>
          <p:nvPr>
            <p:ph type="sldNum" idx="12"/>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figure; the gate before any estimate.</a:t>
            </a:r>
          </a:p>
          <a:p>
            <a:r>
              <a:t>Point first at the region where the distributions sit on top of each other, because that is where comparable units exist and the estimate is genuinely supported. Second at the tails, where enrolled users with very high propensities have no non-enrolled counterparts and no estimator can invent one. Third back at the AUC argument, since the more separated these curves are the better the model predicts and the worse the identification. Freeze on the decision: trim, restrict to common support, or switch to the effect on the treated.</a:t>
            </a:r>
          </a:p>
          <a:p>
            <a:r>
              <a:t>ASK: We trim the top two percent of propensities. What have we changed? Steer to: the population the estimate applies to, which must be said in the readout.</a:t>
            </a:r>
          </a:p>
          <a:p>
            <a:r>
              <a:t>WATCH FOR: poor overlap read as a data-quality issue; it is information about how treatment was assigned.</a:t>
            </a:r>
          </a:p>
          <a:p>
            <a:r>
              <a:t>LINK: injaz_users.csv in Lab 3, where matching recovers plus 6.5 pp.</a:t>
            </a:r>
          </a:p>
        </p:txBody>
      </p:sp>
      <p:sp>
        <p:nvSpPr>
          <p:cNvPr id="4" name="Slide Number Placeholder 3"/>
          <p:cNvSpPr>
            <a:spLocks noGrp="1"/>
          </p:cNvSpPr>
          <p:nvPr>
            <p:ph type="sldNum" idx="12"/>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figure; the assumption drawn out.</a:t>
            </a:r>
          </a:p>
          <a:p>
            <a:r>
              <a:t>Walk it in three moves. First the pre-period, where the two lines sit at different levels but move together, because DiD needs a statement about slope rather than height. Second activation and the divergence that follows. Third the dashed counterfactual line, and say clearly that it is not data, it is the assumption, drawn. The gap between that line and the observed treated line is the entire estimate, so the credibility of the number is the credibility of the dashed line.</a:t>
            </a:r>
          </a:p>
          <a:p>
            <a:r>
              <a:t>ASK: What evidence do we actually have that the dashed line is right? Steer to: only the pre-period, and only indirectly, which is why the event study comes next.</a:t>
            </a:r>
          </a:p>
          <a:p>
            <a:r>
              <a:t>WATCH FOR: reading the level gap as the effect; the effect is the change in the gap.</a:t>
            </a:r>
          </a:p>
          <a:p>
            <a:r>
              <a:t>LINK: the two-panel event study later this hour.</a:t>
            </a:r>
          </a:p>
        </p:txBody>
      </p:sp>
      <p:sp>
        <p:nvSpPr>
          <p:cNvPr id="4" name="Slide Number Placeholder 3"/>
          <p:cNvSpPr>
            <a:spLocks noGrp="1"/>
          </p:cNvSpPr>
          <p:nvPr>
            <p:ph type="sldNum" idx="12"/>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figure; the most important diagnostic of the day.</a:t>
            </a:r>
          </a:p>
          <a:p>
            <a:r>
              <a:t>Enforce the reading order from the panel, which is pre-period first, always. On the left the leads are flat and centred on zero and the effect appears only after activation. On the right the treated regions were already pulling away beforehand, so the effect starts before the cause. Say that phrase and let it sit, because it is disqualifying rather than a footnote. Point third at the confidence bands, since flatness must be judged against the precision available.</a:t>
            </a:r>
          </a:p>
          <a:p>
            <a:r>
              <a:t>ASK: What would you do with the right-hand panel? Steer to: abandon DiD for this comparison group, or find a control group whose pre-trends match.</a:t>
            </a:r>
          </a:p>
          <a:p>
            <a:r>
              <a:t>WATCH FOR: rescuing the right-hand panel by shortening the pre-window until the divergence disappears.</a:t>
            </a:r>
          </a:p>
          <a:p>
            <a:r>
              <a:t>LINK: the pretrend panel in the course data generates the right-hand figure.</a:t>
            </a:r>
          </a:p>
        </p:txBody>
      </p:sp>
      <p:sp>
        <p:nvSpPr>
          <p:cNvPr id="4" name="Slide Number Placeholder 3"/>
          <p:cNvSpPr>
            <a:spLocks noGrp="1"/>
          </p:cNvSpPr>
          <p:nvPr>
            <p:ph type="sldNum" idx="12"/>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Day 3, Hour 4, the visual anchor for IV.</a:t>
            </a:r>
          </a:p>
          <a:p>
            <a:r>
              <a:t>Walk it in three beats. Point first at the confounder feeding both T and Y, which is what makes the naive comparison read +10.9 pp when the truth is +8.0. Point second at Z entering only through T, the valve, and note the first-stage F near 2,100 settles relevance and nothing else. Point third at the arrow that is not drawn, Z straight to Y: you drew that absence, and no test confirms it.</a:t>
            </a:r>
          </a:p>
          <a:p>
            <a:r>
              <a:t>ASK: What would a direct distance-to-outcome path look like? Steer to rural connectivity or literacy that tracks distance and affects completion on its own.</a:t>
            </a:r>
          </a:p>
          <a:p>
            <a:r>
              <a:t>WATCH FOR: Reading the huge F as proof the design is valid. Freeze there; F certifies relevance only.</a:t>
            </a:r>
          </a:p>
          <a:p>
            <a:r>
              <a:t>LINK: Weak instruments next; the IV section of Lab 3.</a:t>
            </a:r>
          </a:p>
        </p:txBody>
      </p:sp>
      <p:sp>
        <p:nvSpPr>
          <p:cNvPr id="4" name="Slide Number Placeholder 3"/>
          <p:cNvSpPr>
            <a:spLocks noGrp="1"/>
          </p:cNvSpPr>
          <p:nvPr>
            <p:ph type="sldNum" idx="12"/>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Day 4, Hour 1, the figure that makes clustering physical.</a:t>
            </a:r>
          </a:p>
          <a:p>
            <a:r>
              <a:t>Walk it slowly. Point first at the twelve session rows and ask how many numbers the analysis appears to have. Point second at the three users: the coin was flipped three times, so there are three independent draws and nine rows of repetition. Point third at the two intervals, where the point estimate is identical and only the width moves, 0.00166 to 0.00267. Clustering changes what you may claim, not what you found.</a:t>
            </a:r>
          </a:p>
          <a:p>
            <a:r>
              <a:t>ASK: If each user had 100 sessions instead of four, would the clustered interval keep shrinking? Steer to no; precision is bounded by the number of users.</a:t>
            </a:r>
          </a:p>
          <a:p>
            <a:r>
              <a:t>WATCH FOR: Wanting to average sessions per user and move on. That works for a simple mean and breaks with covariates or unequal counts.</a:t>
            </a:r>
          </a:p>
          <a:p>
            <a:r>
              <a:t>LINK: Capstone diagnostics.</a:t>
            </a:r>
          </a:p>
        </p:txBody>
      </p:sp>
      <p:sp>
        <p:nvSpPr>
          <p:cNvPr id="4" name="Slide Number Placeholder 3"/>
          <p:cNvSpPr>
            <a:spLocks noGrp="1"/>
          </p:cNvSpPr>
          <p:nvPr>
            <p:ph type="sldNum" idx="12"/>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Day 4, Hour 1, the figure the capstone is built to test.</a:t>
            </a:r>
          </a:p>
          <a:p>
            <a:r>
              <a:t>Walk the four bands in order. Dismiss the clearly-below and clearly-above cases quickly, since nobody needs a specialist for those. Point next at the interval sitting wholly under the practical threshold, a real but too-small effect. Spend your time on the fourth, the interval straddling the threshold: this is the capstone geometry exactly, a true lift of +1.4 pp against a 1.0 pp threshold with an interval built to cross it.</a:t>
            </a:r>
          </a:p>
          <a:p>
            <a:r>
              <a:t>ASK: Significant, and the interval crosses your threshold. Ship or hold? Steer firmly to hold or extend, and make them justify it in one sentence.</a:t>
            </a:r>
          </a:p>
          <a:p>
            <a:r>
              <a:t>WATCH FOR: Sliding from statistically significant to therefore ship. Plant the flag here.</a:t>
            </a:r>
          </a:p>
          <a:p>
            <a:r>
              <a:t>LINK: injaz_autofill_ab.csv, capstone Hour 4.</a:t>
            </a:r>
          </a:p>
        </p:txBody>
      </p:sp>
      <p:sp>
        <p:nvSpPr>
          <p:cNvPr id="4" name="Slide Number Placeholder 3"/>
          <p:cNvSpPr>
            <a:spLocks noGrp="1"/>
          </p:cNvSpPr>
          <p:nvPr>
            <p:ph type="sldNum" idx="12"/>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 - figure slide, walk it straight after the mechanism slide</a:t>
            </a:r>
          </a:p>
          <a:p>
            <a:r>
              <a:t>Walk it in three moves. Point first at any single segment line and get agreement that it slopes up. Point second at the pooled line and get agreement that it slopes down. Only then point at the segment sizes and treated shares, where the paradox actually lives - the pooled line traces a composition change, not an effect. Say explicitly that both lines are arithmetically correct; nothing here is a computational error.</a:t>
            </a:r>
          </a:p>
          <a:p>
            <a:r>
              <a:t>ASK: Which of these two contradictory pictures is the causal one? Freeze there. Neither by itself - the design decides, and here it says analyse within stratum.</a:t>
            </a:r>
          </a:p>
          <a:p>
            <a:r>
              <a:t>WATCH FOR: The instinct to call the pooled line wrong. It is not wrong; it answers a different and useless question.</a:t>
            </a:r>
          </a:p>
          <a:p>
            <a:r>
              <a:t>LINK: Pairs with the mechanism slide and with the Day 4 clustering discussion, where the level of analysis again decides the answer.</a:t>
            </a:r>
          </a:p>
        </p:txBody>
      </p:sp>
      <p:sp>
        <p:nvSpPr>
          <p:cNvPr id="4" name="Slide Number Placeholder 3"/>
          <p:cNvSpPr>
            <a:spLocks noGrp="1"/>
          </p:cNvSpPr>
          <p:nvPr>
            <p:ph type="sldNum" idx="12"/>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 min - figure slide; closes Day 4 hour 3 and models the capstone deliverable</a:t>
            </a:r>
          </a:p>
          <a:p>
            <a:r>
              <a:t>Walk it deliberately. Point first at the zero line and say it answers only whether there is an effect. Point second at the practical threshold, the line the organisation actually cares about. Point third at the intervals, not the dots. Then land on autofill: significant, interval straddling the 1.0 point threshold, so the recommendation is hold and extend. Say out loud that p below 0.05 plus ship it is the failure mode the capstone exists to expose.</a:t>
            </a:r>
          </a:p>
          <a:p>
            <a:r>
              <a:t>ASK: Which of these three interventions would you fund? Freeze on autofill and make someone defend hold rather than ship.</a:t>
            </a:r>
          </a:p>
          <a:p>
            <a:r>
              <a:t>WATCH FOR: Reading significance as sufficiency. A significant effect whose interval spans the threshold has not shown it is worth doing.</a:t>
            </a:r>
          </a:p>
          <a:p>
            <a:r>
              <a:t>LINK: injaz_autofill_ab.csv, 70,000 users, true lift +1.4 pp against a 1.0 pp threshold - the capstone dataset.</a:t>
            </a:r>
          </a:p>
        </p:txBody>
      </p:sp>
      <p:sp>
        <p:nvSpPr>
          <p:cNvPr id="4" name="Slide Number Placeholder 3"/>
          <p:cNvSpPr>
            <a:spLocks noGrp="1"/>
          </p:cNvSpPr>
          <p:nvPr>
            <p:ph type="sldNum" idx="12"/>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3 min - figure slide; walk it once on Day 3 and leave it as the reference version</a:t>
            </a:r>
          </a:p>
          <a:p>
            <a:r>
              <a:t>Walk the flowchart in the order the arrows go, not the order the boxes sit. Point first at the randomisation question, second at the branch where most of this room's work falls, and third - spend your time here - at the box marked not identifiable. Say explicitly that this is a legitimate destination. A question the data cannot answer should end with saying so and proposing what would need to change, not with the least implausible method plus caveats.</a:t>
            </a:r>
          </a:p>
          <a:p>
            <a:r>
              <a:t>ASK: When did you last write that a question was not identifiable with the data available? Freeze on the silence; that is the point of the slide.</a:t>
            </a:r>
          </a:p>
          <a:p>
            <a:r>
              <a:t>WATCH FOR: Reading the last box as a failure state to route around. Routing around it is how unfalsifiable analyses get published.</a:t>
            </a:r>
          </a:p>
          <a:p>
            <a:r>
              <a:t>LINK: Pairs with the previous decision path and with the sensitivity toolkit later in this section.</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3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24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4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24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2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24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24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24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24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24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25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25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25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25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25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25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notesSlide" Target="../notesSlides/notesSlide25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25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notesSlide" Target="../notesSlides/notesSlide25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25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notesSlide" Target="../notesSlides/notesSlide26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notesSlide" Target="../notesSlides/notesSlide26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notesSlide" Target="../notesSlides/notesSlide26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notesSlide" Target="../notesSlides/notesSlide26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notesSlide" Target="../notesSlides/notesSlide26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notesSlide" Target="../notesSlides/notesSlide26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notesSlide" Target="../notesSlides/notesSlide26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notesSlide" Target="../notesSlides/notesSlide26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notesSlide" Target="../notesSlides/notesSlide268.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48" name="Shape 48"/>
        <p:cNvGrpSpPr/>
        <p:nvPr/>
      </p:nvGrpSpPr>
      <p:grpSpPr>
        <a:xfrm>
          <a:off x="0" y="0"/>
          <a:ext cx="0" cy="0"/>
          <a:chOff x="0" y="0"/>
          <a:chExt cx="0" cy="0"/>
        </a:xfrm>
      </p:grpSpPr>
      <p:sp>
        <p:nvSpPr>
          <p:cNvPr id="49" name="Google Shape;49;p1"/>
          <p:cNvSpPr/>
          <p:nvPr/>
        </p:nvSpPr>
        <p:spPr>
          <a:xfrm>
            <a:off x="566928" y="123444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400"/>
              <a:buFont typeface="Calibri"/>
              <a:buNone/>
            </a:pPr>
            <a:r>
              <a:rPr b="1" lang="en-US" sz="1400">
                <a:solidFill>
                  <a:srgbClr val="3FA9E0"/>
                </a:solidFill>
                <a:latin typeface="Calibri"/>
                <a:ea typeface="Calibri"/>
                <a:cs typeface="Calibri"/>
                <a:sym typeface="Calibri"/>
              </a:rPr>
              <a:t>SDAIA ACADEMY</a:t>
            </a:r>
            <a:endParaRPr sz="1400"/>
          </a:p>
        </p:txBody>
      </p:sp>
      <p:sp>
        <p:nvSpPr>
          <p:cNvPr id="50" name="Google Shape;50;p1"/>
          <p:cNvSpPr/>
          <p:nvPr/>
        </p:nvSpPr>
        <p:spPr>
          <a:xfrm>
            <a:off x="566928" y="1874520"/>
            <a:ext cx="10424160" cy="192024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600"/>
              <a:buFont typeface="Cambria"/>
              <a:buNone/>
            </a:pPr>
            <a:r>
              <a:rPr b="1" lang="en-US" sz="4600">
                <a:solidFill>
                  <a:srgbClr val="FFFFFF"/>
                </a:solidFill>
                <a:latin typeface="Cambria"/>
                <a:ea typeface="Cambria"/>
                <a:cs typeface="Cambria"/>
                <a:sym typeface="Cambria"/>
              </a:rPr>
              <a:t>Experimentation and Causal Inference</a:t>
            </a:r>
            <a:endParaRPr sz="4600"/>
          </a:p>
        </p:txBody>
      </p:sp>
      <p:sp>
        <p:nvSpPr>
          <p:cNvPr id="51" name="Google Shape;51;p1"/>
          <p:cNvSpPr/>
          <p:nvPr/>
        </p:nvSpPr>
        <p:spPr>
          <a:xfrm>
            <a:off x="566928" y="3977640"/>
            <a:ext cx="9692640" cy="914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C9DAF0"/>
              </a:buClr>
              <a:buSzPts val="1600"/>
              <a:buFont typeface="Calibri"/>
              <a:buNone/>
            </a:pPr>
            <a:r>
              <a:rPr lang="en-US" sz="1600">
                <a:solidFill>
                  <a:srgbClr val="C9DAF0"/>
                </a:solidFill>
                <a:latin typeface="Calibri"/>
                <a:ea typeface="Calibri"/>
                <a:cs typeface="Calibri"/>
                <a:sym typeface="Calibri"/>
              </a:rPr>
              <a:t>Expert Track · Science Portfolio · P6.1.04 · Competency DSC-C04 · 4 Days / 20 Training Hours</a:t>
            </a:r>
            <a:endParaRPr sz="1600"/>
          </a:p>
        </p:txBody>
      </p:sp>
      <p:cxnSp>
        <p:nvCxnSpPr>
          <p:cNvPr id="52" name="Google Shape;52;p1"/>
          <p:cNvCxnSpPr/>
          <p:nvPr/>
        </p:nvCxnSpPr>
        <p:spPr>
          <a:xfrm>
            <a:off x="566928" y="5257800"/>
            <a:ext cx="2011680" cy="0"/>
          </a:xfrm>
          <a:prstGeom prst="straightConnector1">
            <a:avLst/>
          </a:prstGeom>
          <a:noFill/>
          <a:ln cap="flat" cmpd="sng" w="25400">
            <a:solidFill>
              <a:srgbClr val="3FA9E0"/>
            </a:solidFill>
            <a:prstDash val="solid"/>
            <a:round/>
            <a:headEnd len="sm" w="sm" type="none"/>
            <a:tailEnd len="sm" w="sm" type="none"/>
          </a:ln>
        </p:spPr>
      </p:cxnSp>
      <p:sp>
        <p:nvSpPr>
          <p:cNvPr id="53" name="Google Shape;53;p1"/>
          <p:cNvSpPr/>
          <p:nvPr/>
        </p:nvSpPr>
        <p:spPr>
          <a:xfrm>
            <a:off x="566928" y="5440680"/>
            <a:ext cx="11057839"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1100"/>
              <a:buFont typeface="Calibri"/>
              <a:buNone/>
            </a:pPr>
            <a:r>
              <a:rPr b="1" lang="en-US" sz="1100">
                <a:solidFill>
                  <a:srgbClr val="9FB0C8"/>
                </a:solidFill>
                <a:latin typeface="Calibri"/>
                <a:ea typeface="Calibri"/>
                <a:cs typeface="Calibri"/>
                <a:sym typeface="Calibri"/>
              </a:rPr>
              <a:t>PRESENTED BY</a:t>
            </a:r>
            <a:endParaRPr sz="1100"/>
          </a:p>
        </p:txBody>
      </p:sp>
      <p:sp>
        <p:nvSpPr>
          <p:cNvPr id="54" name="Google Shape;54;p1"/>
          <p:cNvSpPr/>
          <p:nvPr/>
        </p:nvSpPr>
        <p:spPr>
          <a:xfrm>
            <a:off x="566928" y="5760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SDAIA Academy · Capacity Building Sector · 2026</a:t>
            </a:r>
            <a:endParaRPr sz="1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COURSE AT A GLANCE</a:t>
            </a:r>
            <a:endParaRPr sz="1200"/>
          </a:p>
        </p:txBody>
      </p:sp>
      <p:sp>
        <p:nvSpPr>
          <p:cNvPr id="61" name="Google Shape;61;p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Programme Profile</a:t>
            </a:r>
            <a:endParaRPr sz="3400"/>
          </a:p>
        </p:txBody>
      </p:sp>
      <p:sp>
        <p:nvSpPr>
          <p:cNvPr id="62" name="Google Shape;62;p2"/>
          <p:cNvSpPr/>
          <p:nvPr/>
        </p:nvSpPr>
        <p:spPr>
          <a:xfrm>
            <a:off x="566928" y="1874520"/>
            <a:ext cx="3442106" cy="1600200"/>
          </a:xfrm>
          <a:prstGeom prst="roundRect">
            <a:avLst>
              <a:gd fmla="val 5714"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749808" y="2075688"/>
            <a:ext cx="3076346"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4000"/>
              <a:buFont typeface="Cambria"/>
              <a:buNone/>
            </a:pPr>
            <a:r>
              <a:rPr b="1" lang="en-US" sz="4000">
                <a:solidFill>
                  <a:srgbClr val="3FA9E0"/>
                </a:solidFill>
                <a:latin typeface="Cambria"/>
                <a:ea typeface="Cambria"/>
                <a:cs typeface="Cambria"/>
                <a:sym typeface="Cambria"/>
              </a:rPr>
              <a:t>P6.1.04</a:t>
            </a:r>
            <a:endParaRPr sz="4000"/>
          </a:p>
        </p:txBody>
      </p:sp>
      <p:sp>
        <p:nvSpPr>
          <p:cNvPr id="64" name="Google Shape;64;p2"/>
          <p:cNvSpPr/>
          <p:nvPr/>
        </p:nvSpPr>
        <p:spPr>
          <a:xfrm>
            <a:off x="749808" y="2807208"/>
            <a:ext cx="3076346"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Course code · Science Portfolio</a:t>
            </a:r>
            <a:endParaRPr sz="1200"/>
          </a:p>
        </p:txBody>
      </p:sp>
      <p:sp>
        <p:nvSpPr>
          <p:cNvPr id="65" name="Google Shape;65;p2"/>
          <p:cNvSpPr/>
          <p:nvPr/>
        </p:nvSpPr>
        <p:spPr>
          <a:xfrm>
            <a:off x="4374794" y="1874520"/>
            <a:ext cx="3442106" cy="1600200"/>
          </a:xfrm>
          <a:prstGeom prst="roundRect">
            <a:avLst>
              <a:gd fmla="val 5714"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4557674" y="2075688"/>
            <a:ext cx="3076346"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BA6"/>
              </a:buClr>
              <a:buSzPts val="4000"/>
              <a:buFont typeface="Cambria"/>
              <a:buNone/>
            </a:pPr>
            <a:r>
              <a:rPr b="1" lang="en-US" sz="4000">
                <a:solidFill>
                  <a:srgbClr val="5A5BA6"/>
                </a:solidFill>
                <a:latin typeface="Cambria"/>
                <a:ea typeface="Cambria"/>
                <a:cs typeface="Cambria"/>
                <a:sym typeface="Cambria"/>
              </a:rPr>
              <a:t>Expert</a:t>
            </a:r>
            <a:endParaRPr sz="4000"/>
          </a:p>
        </p:txBody>
      </p:sp>
      <p:sp>
        <p:nvSpPr>
          <p:cNvPr id="67" name="Google Shape;67;p2"/>
          <p:cNvSpPr/>
          <p:nvPr/>
        </p:nvSpPr>
        <p:spPr>
          <a:xfrm>
            <a:off x="4557674" y="2807208"/>
            <a:ext cx="3076346"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Level · Professional persona</a:t>
            </a:r>
            <a:endParaRPr sz="1200"/>
          </a:p>
        </p:txBody>
      </p:sp>
      <p:sp>
        <p:nvSpPr>
          <p:cNvPr id="68" name="Google Shape;68;p2"/>
          <p:cNvSpPr/>
          <p:nvPr/>
        </p:nvSpPr>
        <p:spPr>
          <a:xfrm>
            <a:off x="8182661" y="1874520"/>
            <a:ext cx="3442106" cy="1600200"/>
          </a:xfrm>
          <a:prstGeom prst="roundRect">
            <a:avLst>
              <a:gd fmla="val 5714"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8365541" y="2075688"/>
            <a:ext cx="3076346"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4000"/>
              <a:buFont typeface="Cambria"/>
              <a:buNone/>
            </a:pPr>
            <a:r>
              <a:rPr b="1" lang="en-US" sz="4000">
                <a:solidFill>
                  <a:srgbClr val="EA7B38"/>
                </a:solidFill>
                <a:latin typeface="Cambria"/>
                <a:ea typeface="Cambria"/>
                <a:cs typeface="Cambria"/>
                <a:sym typeface="Cambria"/>
              </a:rPr>
              <a:t>20 hrs</a:t>
            </a:r>
            <a:endParaRPr sz="4000"/>
          </a:p>
        </p:txBody>
      </p:sp>
      <p:sp>
        <p:nvSpPr>
          <p:cNvPr id="70" name="Google Shape;70;p2"/>
          <p:cNvSpPr/>
          <p:nvPr/>
        </p:nvSpPr>
        <p:spPr>
          <a:xfrm>
            <a:off x="8365541" y="2807208"/>
            <a:ext cx="3076346"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4 days × 5 hours</a:t>
            </a:r>
            <a:endParaRPr sz="1200"/>
          </a:p>
        </p:txBody>
      </p:sp>
      <p:sp>
        <p:nvSpPr>
          <p:cNvPr id="71" name="Google Shape;71;p2"/>
          <p:cNvSpPr/>
          <p:nvPr/>
        </p:nvSpPr>
        <p:spPr>
          <a:xfrm>
            <a:off x="566928" y="3749040"/>
            <a:ext cx="3442106" cy="1600200"/>
          </a:xfrm>
          <a:prstGeom prst="roundRect">
            <a:avLst>
              <a:gd fmla="val 5714"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749808" y="3950208"/>
            <a:ext cx="3076346"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9B90"/>
              </a:buClr>
              <a:buSzPts val="4000"/>
              <a:buFont typeface="Cambria"/>
              <a:buNone/>
            </a:pPr>
            <a:r>
              <a:rPr b="1" lang="en-US" sz="4000">
                <a:solidFill>
                  <a:srgbClr val="3E9B90"/>
                </a:solidFill>
                <a:latin typeface="Cambria"/>
                <a:ea typeface="Cambria"/>
                <a:cs typeface="Cambria"/>
                <a:sym typeface="Cambria"/>
              </a:rPr>
              <a:t>DSC-C04</a:t>
            </a:r>
            <a:endParaRPr sz="4000"/>
          </a:p>
        </p:txBody>
      </p:sp>
      <p:sp>
        <p:nvSpPr>
          <p:cNvPr id="73" name="Google Shape;73;p2"/>
          <p:cNvSpPr/>
          <p:nvPr/>
        </p:nvSpPr>
        <p:spPr>
          <a:xfrm>
            <a:off x="749808" y="4681728"/>
            <a:ext cx="3076346"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Experimentation &amp; Causal competency</a:t>
            </a:r>
            <a:endParaRPr sz="1200"/>
          </a:p>
        </p:txBody>
      </p:sp>
      <p:sp>
        <p:nvSpPr>
          <p:cNvPr id="74" name="Google Shape;74;p2"/>
          <p:cNvSpPr/>
          <p:nvPr/>
        </p:nvSpPr>
        <p:spPr>
          <a:xfrm>
            <a:off x="4374794" y="3749040"/>
            <a:ext cx="3442106" cy="1600200"/>
          </a:xfrm>
          <a:prstGeom prst="roundRect">
            <a:avLst>
              <a:gd fmla="val 5714"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4557674" y="3950208"/>
            <a:ext cx="3076346"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3BB59"/>
              </a:buClr>
              <a:buSzPts val="4000"/>
              <a:buFont typeface="Cambria"/>
              <a:buNone/>
            </a:pPr>
            <a:r>
              <a:rPr b="1" lang="en-US" sz="4000">
                <a:solidFill>
                  <a:srgbClr val="73BB59"/>
                </a:solidFill>
                <a:latin typeface="Cambria"/>
                <a:ea typeface="Cambria"/>
                <a:cs typeface="Cambria"/>
                <a:sym typeface="Cambria"/>
              </a:rPr>
              <a:t>SF-3, DS-1</a:t>
            </a:r>
            <a:endParaRPr sz="4000"/>
          </a:p>
        </p:txBody>
      </p:sp>
      <p:sp>
        <p:nvSpPr>
          <p:cNvPr id="76" name="Google Shape;76;p2"/>
          <p:cNvSpPr/>
          <p:nvPr/>
        </p:nvSpPr>
        <p:spPr>
          <a:xfrm>
            <a:off x="4557674" y="4681728"/>
            <a:ext cx="3076346"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Prerequisites required</a:t>
            </a:r>
            <a:endParaRPr sz="1200"/>
          </a:p>
        </p:txBody>
      </p:sp>
      <p:sp>
        <p:nvSpPr>
          <p:cNvPr id="77" name="Google Shape;77;p2"/>
          <p:cNvSpPr/>
          <p:nvPr/>
        </p:nvSpPr>
        <p:spPr>
          <a:xfrm>
            <a:off x="8182661" y="3749040"/>
            <a:ext cx="3442106" cy="1600200"/>
          </a:xfrm>
          <a:prstGeom prst="roundRect">
            <a:avLst>
              <a:gd fmla="val 5714"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8365541" y="3950208"/>
            <a:ext cx="3076346"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4000"/>
              <a:buFont typeface="Cambria"/>
              <a:buNone/>
            </a:pPr>
            <a:r>
              <a:rPr b="1" lang="en-US" sz="4000">
                <a:solidFill>
                  <a:srgbClr val="3FA9E0"/>
                </a:solidFill>
                <a:latin typeface="Cambria"/>
                <a:ea typeface="Cambria"/>
                <a:cs typeface="Cambria"/>
                <a:sym typeface="Cambria"/>
              </a:rPr>
              <a:t>5 Labs</a:t>
            </a:r>
            <a:endParaRPr sz="4000"/>
          </a:p>
        </p:txBody>
      </p:sp>
      <p:sp>
        <p:nvSpPr>
          <p:cNvPr id="79" name="Google Shape;79;p2"/>
          <p:cNvSpPr/>
          <p:nvPr/>
        </p:nvSpPr>
        <p:spPr>
          <a:xfrm>
            <a:off x="8365541" y="4681728"/>
            <a:ext cx="3076346"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Hands-on + capstone project</a:t>
            </a:r>
            <a:endParaRPr sz="1200"/>
          </a:p>
        </p:txBody>
      </p:sp>
      <p:sp>
        <p:nvSpPr>
          <p:cNvPr id="80" name="Google Shape;80;p2"/>
          <p:cNvSpPr/>
          <p:nvPr/>
        </p:nvSpPr>
        <p:spPr>
          <a:xfrm>
            <a:off x="566928" y="56235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INSIGHT   </a:t>
            </a:r>
            <a:r>
              <a:rPr lang="en-US" sz="1300">
                <a:solidFill>
                  <a:srgbClr val="566581"/>
                </a:solidFill>
                <a:latin typeface="Calibri"/>
                <a:ea typeface="Calibri"/>
                <a:cs typeface="Calibri"/>
                <a:sym typeface="Calibri"/>
              </a:rPr>
              <a:t>This is an applied, code-forward course. Roughly 45% of contact time is spent in labs, discussions, and a capstone that produces a defensible causal analysis.</a:t>
            </a:r>
            <a:endParaRPr sz="1300"/>
          </a:p>
        </p:txBody>
      </p:sp>
      <p:sp>
        <p:nvSpPr>
          <p:cNvPr id="81" name="Google Shape;81;p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OVERVIEW</a:t>
            </a:r>
            <a:endParaRPr sz="900"/>
          </a:p>
        </p:txBody>
      </p:sp>
      <p:sp>
        <p:nvSpPr>
          <p:cNvPr id="82" name="Google Shape;82;p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02  /  268</a:t>
            </a:r>
            <a:endParaRPr sz="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WELCOME</a:t>
            </a:r>
            <a:endParaRPr sz="1200"/>
          </a:p>
        </p:txBody>
      </p:sp>
      <p:sp>
        <p:nvSpPr>
          <p:cNvPr id="89" name="Google Shape;89;p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From Correlation to Credible Causes</a:t>
            </a:r>
            <a:endParaRPr sz="3400"/>
          </a:p>
        </p:txBody>
      </p:sp>
      <p:sp>
        <p:nvSpPr>
          <p:cNvPr id="90" name="Google Shape;90;p3"/>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Most data science answers “what is associated with what.” This course teaches you to answer the harder, higher-value question: “what happens if we intervene?”</a:t>
            </a:r>
            <a:endParaRPr sz="1450"/>
          </a:p>
        </p:txBody>
      </p:sp>
      <p:sp>
        <p:nvSpPr>
          <p:cNvPr id="91" name="Google Shape;91;p3"/>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business stakes</a:t>
            </a:r>
            <a:endParaRPr sz="1500"/>
          </a:p>
        </p:txBody>
      </p:sp>
      <p:sp>
        <p:nvSpPr>
          <p:cNvPr id="93" name="Google Shape;93;p3"/>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Pricing, product, policy, and health decisions all hinge on causal claims. Getting them wrong is expensive and, sometimes, harmful.</a:t>
            </a:r>
            <a:endParaRPr sz="1250"/>
          </a:p>
        </p:txBody>
      </p:sp>
      <p:sp>
        <p:nvSpPr>
          <p:cNvPr id="94" name="Google Shape;94;p3"/>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scientific core</a:t>
            </a:r>
            <a:endParaRPr sz="1500"/>
          </a:p>
        </p:txBody>
      </p:sp>
      <p:sp>
        <p:nvSpPr>
          <p:cNvPr id="96" name="Google Shape;96;p3"/>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We ground every method in the potential-outcomes framework so estimates carry an explicit, testable interpretation.</a:t>
            </a:r>
            <a:endParaRPr sz="1250"/>
          </a:p>
        </p:txBody>
      </p:sp>
      <p:sp>
        <p:nvSpPr>
          <p:cNvPr id="97" name="Google Shape;97;p3"/>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practitioner's craft</a:t>
            </a:r>
            <a:endParaRPr sz="1500"/>
          </a:p>
        </p:txBody>
      </p:sp>
      <p:sp>
        <p:nvSpPr>
          <p:cNvPr id="99" name="Google Shape;99;p3"/>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Design first, estimate second, quantify uncertainty always — and know exactly which assumption each conclusion rests on.</a:t>
            </a:r>
            <a:endParaRPr sz="1250"/>
          </a:p>
        </p:txBody>
      </p:sp>
      <p:sp>
        <p:nvSpPr>
          <p:cNvPr id="100" name="Google Shape;100;p3"/>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DESIGN DISCIPLINE</a:t>
            </a:r>
            <a:endParaRPr sz="1100"/>
          </a:p>
        </p:txBody>
      </p:sp>
      <p:sp>
        <p:nvSpPr>
          <p:cNvPr id="102" name="Google Shape;102;p3"/>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80/20</a:t>
            </a:r>
            <a:endParaRPr sz="5400"/>
          </a:p>
        </p:txBody>
      </p:sp>
      <p:sp>
        <p:nvSpPr>
          <p:cNvPr id="103" name="Google Shape;103;p3"/>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Roughly 80% of the credibility of a causal estimate is decided by design and identification — before any model is fit. This course front-loads that 80%.</a:t>
            </a:r>
            <a:endParaRPr sz="1300"/>
          </a:p>
        </p:txBody>
      </p:sp>
      <p:sp>
        <p:nvSpPr>
          <p:cNvPr id="104" name="Google Shape;104;p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OVERVIEW</a:t>
            </a:r>
            <a:endParaRPr sz="900"/>
          </a:p>
        </p:txBody>
      </p:sp>
      <p:sp>
        <p:nvSpPr>
          <p:cNvPr id="105" name="Google Shape;105;p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03  /  268</a:t>
            </a:r>
            <a:endParaRPr sz="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LEARNING OUTCOMES</a:t>
            </a:r>
            <a:endParaRPr sz="1200"/>
          </a:p>
        </p:txBody>
      </p:sp>
      <p:sp>
        <p:nvSpPr>
          <p:cNvPr id="112" name="Google Shape;112;p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What You Will Be Able to Do (1 of 2)</a:t>
            </a:r>
            <a:endParaRPr sz="3400"/>
          </a:p>
        </p:txBody>
      </p:sp>
      <p:sp>
        <p:nvSpPr>
          <p:cNvPr id="113" name="Google Shape;113;p4"/>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On completion, participants will be able to:</a:t>
            </a:r>
            <a:endParaRPr sz="1400"/>
          </a:p>
        </p:txBody>
      </p:sp>
      <p:sp>
        <p:nvSpPr>
          <p:cNvPr id="114" name="Google Shape;114;p4"/>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LO1</a:t>
            </a:r>
            <a:endParaRPr sz="1300"/>
          </a:p>
        </p:txBody>
      </p:sp>
      <p:sp>
        <p:nvSpPr>
          <p:cNvPr id="116" name="Google Shape;116;p4"/>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Formalise causal questions</a:t>
            </a:r>
            <a:endParaRPr sz="1600"/>
          </a:p>
        </p:txBody>
      </p:sp>
      <p:sp>
        <p:nvSpPr>
          <p:cNvPr id="117" name="Google Shape;117;p4"/>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Express a decision as an estimand in the potential-outcomes framework and distinguish ATE, ATT, ITT, LATE, and CATE.</a:t>
            </a:r>
            <a:endParaRPr sz="1250"/>
          </a:p>
        </p:txBody>
      </p:sp>
      <p:sp>
        <p:nvSpPr>
          <p:cNvPr id="118" name="Google Shape;118;p4"/>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LO2</a:t>
            </a:r>
            <a:endParaRPr sz="1300"/>
          </a:p>
        </p:txBody>
      </p:sp>
      <p:sp>
        <p:nvSpPr>
          <p:cNvPr id="120" name="Google Shape;120;p4"/>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State and defend identification assumptions</a:t>
            </a:r>
            <a:endParaRPr sz="1600"/>
          </a:p>
        </p:txBody>
      </p:sp>
      <p:sp>
        <p:nvSpPr>
          <p:cNvPr id="121" name="Google Shape;121;p4"/>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Articulate SUTVA, ignorability, positivity, and exclusion, and test or probe each against data and domain knowledge.</a:t>
            </a:r>
            <a:endParaRPr sz="1250"/>
          </a:p>
        </p:txBody>
      </p:sp>
      <p:sp>
        <p:nvSpPr>
          <p:cNvPr id="122" name="Google Shape;122;p4"/>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LO3</a:t>
            </a:r>
            <a:endParaRPr sz="1300"/>
          </a:p>
        </p:txBody>
      </p:sp>
      <p:sp>
        <p:nvSpPr>
          <p:cNvPr id="124" name="Google Shape;124;p4"/>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Design randomized experiments</a:t>
            </a:r>
            <a:endParaRPr sz="1600"/>
          </a:p>
        </p:txBody>
      </p:sp>
      <p:sp>
        <p:nvSpPr>
          <p:cNvPr id="125" name="Google Shape;125;p4"/>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Select and justify a randomization scheme, compute power and minimum detectable effect, and pre-register an analysis plan.</a:t>
            </a:r>
            <a:endParaRPr sz="1250"/>
          </a:p>
        </p:txBody>
      </p:sp>
      <p:sp>
        <p:nvSpPr>
          <p:cNvPr id="126" name="Google Shape;126;p4"/>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LO4</a:t>
            </a:r>
            <a:endParaRPr sz="1300"/>
          </a:p>
        </p:txBody>
      </p:sp>
      <p:sp>
        <p:nvSpPr>
          <p:cNvPr id="128" name="Google Shape;128;p4"/>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Run and analyse A/B tests end-to-end</a:t>
            </a:r>
            <a:endParaRPr sz="1600"/>
          </a:p>
        </p:txBody>
      </p:sp>
      <p:sp>
        <p:nvSpPr>
          <p:cNvPr id="129" name="Google Shape;129;p4"/>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Estimate effects with valid inference, handle peeking, multiple testing, and guardrail metrics in a production-style workflow.</a:t>
            </a:r>
            <a:endParaRPr sz="1250"/>
          </a:p>
        </p:txBody>
      </p:sp>
      <p:sp>
        <p:nvSpPr>
          <p:cNvPr id="130" name="Google Shape;130;p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OVERVIEW</a:t>
            </a:r>
            <a:endParaRPr sz="900"/>
          </a:p>
        </p:txBody>
      </p:sp>
      <p:sp>
        <p:nvSpPr>
          <p:cNvPr id="131" name="Google Shape;131;p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04  /  268</a:t>
            </a:r>
            <a:endParaRPr sz="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sp>
        <p:nvSpPr>
          <p:cNvPr id="137" name="Google Shape;137;p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LEARNING OUTCOMES</a:t>
            </a:r>
            <a:endParaRPr sz="1200"/>
          </a:p>
        </p:txBody>
      </p:sp>
      <p:sp>
        <p:nvSpPr>
          <p:cNvPr id="138" name="Google Shape;138;p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What You Will Be Able to Do (2 of 2)</a:t>
            </a:r>
            <a:endParaRPr sz="3400"/>
          </a:p>
        </p:txBody>
      </p:sp>
      <p:sp>
        <p:nvSpPr>
          <p:cNvPr id="139" name="Google Shape;139;p5"/>
          <p:cNvSpPr/>
          <p:nvPr/>
        </p:nvSpPr>
        <p:spPr>
          <a:xfrm>
            <a:off x="566928" y="182880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566928" y="18288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LO5</a:t>
            </a:r>
            <a:endParaRPr sz="1300"/>
          </a:p>
        </p:txBody>
      </p:sp>
      <p:sp>
        <p:nvSpPr>
          <p:cNvPr id="141" name="Google Shape;141;p5"/>
          <p:cNvSpPr/>
          <p:nvPr/>
        </p:nvSpPr>
        <p:spPr>
          <a:xfrm>
            <a:off x="1298448" y="178308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Estimate effects from observational data</a:t>
            </a:r>
            <a:endParaRPr sz="1600"/>
          </a:p>
        </p:txBody>
      </p:sp>
      <p:sp>
        <p:nvSpPr>
          <p:cNvPr id="142" name="Google Shape;142;p5"/>
          <p:cNvSpPr/>
          <p:nvPr/>
        </p:nvSpPr>
        <p:spPr>
          <a:xfrm>
            <a:off x="1298448" y="2093976"/>
            <a:ext cx="10234879" cy="685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Apply regression, matching, propensity-score, IPW, and doubly-robust estimators, reasoning about confounding with DAGs.</a:t>
            </a:r>
            <a:endParaRPr sz="1250"/>
          </a:p>
        </p:txBody>
      </p:sp>
      <p:sp>
        <p:nvSpPr>
          <p:cNvPr id="143" name="Google Shape;143;p5"/>
          <p:cNvSpPr/>
          <p:nvPr/>
        </p:nvSpPr>
        <p:spPr>
          <a:xfrm>
            <a:off x="566928" y="288036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566928" y="288036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LO6</a:t>
            </a:r>
            <a:endParaRPr sz="1300"/>
          </a:p>
        </p:txBody>
      </p:sp>
      <p:sp>
        <p:nvSpPr>
          <p:cNvPr id="145" name="Google Shape;145;p5"/>
          <p:cNvSpPr/>
          <p:nvPr/>
        </p:nvSpPr>
        <p:spPr>
          <a:xfrm>
            <a:off x="1298448" y="283464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Apply quasi-experimental designs</a:t>
            </a:r>
            <a:endParaRPr sz="1600"/>
          </a:p>
        </p:txBody>
      </p:sp>
      <p:sp>
        <p:nvSpPr>
          <p:cNvPr id="146" name="Google Shape;146;p5"/>
          <p:cNvSpPr/>
          <p:nvPr/>
        </p:nvSpPr>
        <p:spPr>
          <a:xfrm>
            <a:off x="1298448" y="3145536"/>
            <a:ext cx="10234879" cy="685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Use difference-in-differences, synthetic control, instrumental variables, and regression discontinuity, checking each design's assumptions.</a:t>
            </a:r>
            <a:endParaRPr sz="1250"/>
          </a:p>
        </p:txBody>
      </p:sp>
      <p:sp>
        <p:nvSpPr>
          <p:cNvPr id="147" name="Google Shape;147;p5"/>
          <p:cNvSpPr/>
          <p:nvPr/>
        </p:nvSpPr>
        <p:spPr>
          <a:xfrm>
            <a:off x="566928" y="393192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566928" y="39319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LO7</a:t>
            </a:r>
            <a:endParaRPr sz="1300"/>
          </a:p>
        </p:txBody>
      </p:sp>
      <p:sp>
        <p:nvSpPr>
          <p:cNvPr id="149" name="Google Shape;149;p5"/>
          <p:cNvSpPr/>
          <p:nvPr/>
        </p:nvSpPr>
        <p:spPr>
          <a:xfrm>
            <a:off x="1298448" y="388620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Quantify and communicate uncertainty</a:t>
            </a:r>
            <a:endParaRPr sz="1600"/>
          </a:p>
        </p:txBody>
      </p:sp>
      <p:sp>
        <p:nvSpPr>
          <p:cNvPr id="150" name="Google Shape;150;p5"/>
          <p:cNvSpPr/>
          <p:nvPr/>
        </p:nvSpPr>
        <p:spPr>
          <a:xfrm>
            <a:off x="1298448" y="4197096"/>
            <a:ext cx="10234879" cy="685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Produce valid standard errors and intervals (analytic, robust, clustered, bootstrap, randomization-based) and run sensitivity analysis.</a:t>
            </a:r>
            <a:endParaRPr sz="1250"/>
          </a:p>
        </p:txBody>
      </p:sp>
      <p:sp>
        <p:nvSpPr>
          <p:cNvPr id="151" name="Google Shape;151;p5"/>
          <p:cNvSpPr/>
          <p:nvPr/>
        </p:nvSpPr>
        <p:spPr>
          <a:xfrm>
            <a:off x="566928" y="498348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566928" y="49834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LO8</a:t>
            </a:r>
            <a:endParaRPr sz="1300"/>
          </a:p>
        </p:txBody>
      </p:sp>
      <p:sp>
        <p:nvSpPr>
          <p:cNvPr id="153" name="Google Shape;153;p5"/>
          <p:cNvSpPr/>
          <p:nvPr/>
        </p:nvSpPr>
        <p:spPr>
          <a:xfrm>
            <a:off x="1298448" y="49377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Diagnose bias and limits of generalisation</a:t>
            </a:r>
            <a:endParaRPr sz="1600"/>
          </a:p>
        </p:txBody>
      </p:sp>
      <p:sp>
        <p:nvSpPr>
          <p:cNvPr id="154" name="Google Shape;154;p5"/>
          <p:cNvSpPr/>
          <p:nvPr/>
        </p:nvSpPr>
        <p:spPr>
          <a:xfrm>
            <a:off x="1298448" y="5248656"/>
            <a:ext cx="10234879" cy="685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Identify threats to internal and external validity, and judge when sampling and design limitations make a claim unsafe to act on.</a:t>
            </a:r>
            <a:endParaRPr sz="1250"/>
          </a:p>
        </p:txBody>
      </p:sp>
      <p:sp>
        <p:nvSpPr>
          <p:cNvPr id="155" name="Google Shape;155;p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OVERVIEW</a:t>
            </a:r>
            <a:endParaRPr sz="900"/>
          </a:p>
        </p:txBody>
      </p:sp>
      <p:sp>
        <p:nvSpPr>
          <p:cNvPr id="156" name="Google Shape;156;p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05  /  268</a:t>
            </a:r>
            <a:endParaRPr sz="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PREREQUISITES &amp; AUDIENCE</a:t>
            </a:r>
            <a:endParaRPr sz="1200"/>
          </a:p>
        </p:txBody>
      </p:sp>
      <p:sp>
        <p:nvSpPr>
          <p:cNvPr id="163" name="Google Shape;163;p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Who This Course Is For</a:t>
            </a:r>
            <a:endParaRPr sz="3400"/>
          </a:p>
        </p:txBody>
      </p:sp>
      <p:sp>
        <p:nvSpPr>
          <p:cNvPr id="164" name="Google Shape;164;p6"/>
          <p:cNvSpPr/>
          <p:nvPr/>
        </p:nvSpPr>
        <p:spPr>
          <a:xfrm>
            <a:off x="566928" y="1828800"/>
            <a:ext cx="5254600" cy="4160520"/>
          </a:xfrm>
          <a:prstGeom prst="roundRect">
            <a:avLst>
              <a:gd fmla="val 2198"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859536" y="2084832"/>
            <a:ext cx="466938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PREREQUISITES</a:t>
            </a:r>
            <a:endParaRPr sz="1100"/>
          </a:p>
        </p:txBody>
      </p:sp>
      <p:sp>
        <p:nvSpPr>
          <p:cNvPr id="166" name="Google Shape;166;p6"/>
          <p:cNvSpPr/>
          <p:nvPr/>
        </p:nvSpPr>
        <p:spPr>
          <a:xfrm>
            <a:off x="859536" y="2377440"/>
            <a:ext cx="466938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900"/>
              <a:buFont typeface="Cambria"/>
              <a:buNone/>
            </a:pPr>
            <a:r>
              <a:rPr b="1" lang="en-US" sz="1900">
                <a:solidFill>
                  <a:srgbClr val="16233F"/>
                </a:solidFill>
                <a:latin typeface="Cambria"/>
                <a:ea typeface="Cambria"/>
                <a:cs typeface="Cambria"/>
                <a:sym typeface="Cambria"/>
              </a:rPr>
              <a:t>Assumed Foundations</a:t>
            </a:r>
            <a:endParaRPr sz="1900"/>
          </a:p>
        </p:txBody>
      </p:sp>
      <p:sp>
        <p:nvSpPr>
          <p:cNvPr id="167" name="Google Shape;167;p6"/>
          <p:cNvSpPr/>
          <p:nvPr/>
        </p:nvSpPr>
        <p:spPr>
          <a:xfrm>
            <a:off x="877824" y="3026664"/>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1115568" y="2971800"/>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SF-3 — Statistical foundations: probability, distributions, estimation, hypothesis testing, confidence intervals.</a:t>
            </a:r>
            <a:endParaRPr sz="1250"/>
          </a:p>
        </p:txBody>
      </p:sp>
      <p:sp>
        <p:nvSpPr>
          <p:cNvPr id="169" name="Google Shape;169;p6"/>
          <p:cNvSpPr/>
          <p:nvPr/>
        </p:nvSpPr>
        <p:spPr>
          <a:xfrm>
            <a:off x="877824" y="3685032"/>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1115568" y="3630168"/>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DS-1 — Applied data science: Python, pandas/NumPy, data wrangling, and fitting basic regression models.</a:t>
            </a:r>
            <a:endParaRPr sz="1250"/>
          </a:p>
        </p:txBody>
      </p:sp>
      <p:sp>
        <p:nvSpPr>
          <p:cNvPr id="171" name="Google Shape;171;p6"/>
          <p:cNvSpPr/>
          <p:nvPr/>
        </p:nvSpPr>
        <p:spPr>
          <a:xfrm>
            <a:off x="877824" y="4343400"/>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1115568" y="4288536"/>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Comfort reading mathematical notation (expectations, conditional probability).</a:t>
            </a:r>
            <a:endParaRPr sz="1250"/>
          </a:p>
        </p:txBody>
      </p:sp>
      <p:sp>
        <p:nvSpPr>
          <p:cNvPr id="173" name="Google Shape;173;p6"/>
          <p:cNvSpPr/>
          <p:nvPr/>
        </p:nvSpPr>
        <p:spPr>
          <a:xfrm>
            <a:off x="877824" y="5001768"/>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1115568" y="4946904"/>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Ability to run a Jupyter/Colab notebook and interpret model output.</a:t>
            </a:r>
            <a:endParaRPr sz="1250"/>
          </a:p>
        </p:txBody>
      </p:sp>
      <p:sp>
        <p:nvSpPr>
          <p:cNvPr id="175" name="Google Shape;175;p6"/>
          <p:cNvSpPr/>
          <p:nvPr/>
        </p:nvSpPr>
        <p:spPr>
          <a:xfrm>
            <a:off x="6370168" y="1828800"/>
            <a:ext cx="5254600" cy="4160520"/>
          </a:xfrm>
          <a:prstGeom prst="roundRect">
            <a:avLst>
              <a:gd fmla="val 2198" name="adj"/>
            </a:avLst>
          </a:prstGeom>
          <a:solidFill>
            <a:srgbClr val="E4EAF3"/>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6662776" y="2084832"/>
            <a:ext cx="466938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1100"/>
              <a:buFont typeface="Calibri"/>
              <a:buNone/>
            </a:pPr>
            <a:r>
              <a:rPr b="1" lang="en-US" sz="1100">
                <a:solidFill>
                  <a:srgbClr val="EA7B38"/>
                </a:solidFill>
                <a:latin typeface="Calibri"/>
                <a:ea typeface="Calibri"/>
                <a:cs typeface="Calibri"/>
                <a:sym typeface="Calibri"/>
              </a:rPr>
              <a:t>TARGET AUDIENCE</a:t>
            </a:r>
            <a:endParaRPr sz="1100"/>
          </a:p>
        </p:txBody>
      </p:sp>
      <p:sp>
        <p:nvSpPr>
          <p:cNvPr id="177" name="Google Shape;177;p6"/>
          <p:cNvSpPr/>
          <p:nvPr/>
        </p:nvSpPr>
        <p:spPr>
          <a:xfrm>
            <a:off x="6662776" y="2377440"/>
            <a:ext cx="466938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900"/>
              <a:buFont typeface="Cambria"/>
              <a:buNone/>
            </a:pPr>
            <a:r>
              <a:rPr b="1" lang="en-US" sz="1900">
                <a:solidFill>
                  <a:srgbClr val="16233F"/>
                </a:solidFill>
                <a:latin typeface="Cambria"/>
                <a:ea typeface="Cambria"/>
                <a:cs typeface="Cambria"/>
                <a:sym typeface="Cambria"/>
              </a:rPr>
              <a:t>Ideal Participants</a:t>
            </a:r>
            <a:endParaRPr sz="1900"/>
          </a:p>
        </p:txBody>
      </p:sp>
      <p:sp>
        <p:nvSpPr>
          <p:cNvPr id="178" name="Google Shape;178;p6"/>
          <p:cNvSpPr/>
          <p:nvPr/>
        </p:nvSpPr>
        <p:spPr>
          <a:xfrm>
            <a:off x="6681064" y="3026664"/>
            <a:ext cx="118872" cy="118872"/>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6918808" y="2971800"/>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Data scientists and ML practitioners moving from prediction to decision-making.</a:t>
            </a:r>
            <a:endParaRPr sz="1250"/>
          </a:p>
        </p:txBody>
      </p:sp>
      <p:sp>
        <p:nvSpPr>
          <p:cNvPr id="180" name="Google Shape;180;p6"/>
          <p:cNvSpPr/>
          <p:nvPr/>
        </p:nvSpPr>
        <p:spPr>
          <a:xfrm>
            <a:off x="6681064" y="3685032"/>
            <a:ext cx="118872" cy="118872"/>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6918808" y="3630168"/>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Experimentation / growth analysts owning A/B testing platforms.</a:t>
            </a:r>
            <a:endParaRPr sz="1250"/>
          </a:p>
        </p:txBody>
      </p:sp>
      <p:sp>
        <p:nvSpPr>
          <p:cNvPr id="182" name="Google Shape;182;p6"/>
          <p:cNvSpPr/>
          <p:nvPr/>
        </p:nvSpPr>
        <p:spPr>
          <a:xfrm>
            <a:off x="6681064" y="4343400"/>
            <a:ext cx="118872" cy="118872"/>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6918808" y="4288536"/>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Research and policy analysts working with observational and administrative data.</a:t>
            </a:r>
            <a:endParaRPr sz="1250"/>
          </a:p>
        </p:txBody>
      </p:sp>
      <p:sp>
        <p:nvSpPr>
          <p:cNvPr id="184" name="Google Shape;184;p6"/>
          <p:cNvSpPr/>
          <p:nvPr/>
        </p:nvSpPr>
        <p:spPr>
          <a:xfrm>
            <a:off x="6681064" y="5001768"/>
            <a:ext cx="118872" cy="118872"/>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6918808" y="4946904"/>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Applied economists and quantitative researchers in enterprise settings.</a:t>
            </a:r>
            <a:endParaRPr sz="1250"/>
          </a:p>
        </p:txBody>
      </p:sp>
      <p:sp>
        <p:nvSpPr>
          <p:cNvPr id="186" name="Google Shape;186;p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OVERVIEW</a:t>
            </a:r>
            <a:endParaRPr sz="900"/>
          </a:p>
        </p:txBody>
      </p:sp>
      <p:sp>
        <p:nvSpPr>
          <p:cNvPr id="187" name="Google Shape;187;p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06  /  268</a:t>
            </a:r>
            <a:endParaRPr sz="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OVERVIEW</a:t>
            </a:r>
            <a:endParaRPr sz="1200"/>
          </a:p>
        </p:txBody>
      </p:sp>
      <p:sp>
        <p:nvSpPr>
          <p:cNvPr id="194" name="Google Shape;194;p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Four-Day Roadmap</a:t>
            </a:r>
            <a:endParaRPr sz="3400"/>
          </a:p>
        </p:txBody>
      </p:sp>
      <p:sp>
        <p:nvSpPr>
          <p:cNvPr id="195" name="Google Shape;195;p7"/>
          <p:cNvSpPr/>
          <p:nvPr/>
        </p:nvSpPr>
        <p:spPr>
          <a:xfrm>
            <a:off x="566928" y="178308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A9E0"/>
              </a:buClr>
              <a:buSzPts val="3000"/>
              <a:buFont typeface="Cambria"/>
              <a:buNone/>
            </a:pPr>
            <a:r>
              <a:rPr b="1" lang="en-US" sz="3000">
                <a:solidFill>
                  <a:srgbClr val="3FA9E0"/>
                </a:solidFill>
                <a:latin typeface="Cambria"/>
                <a:ea typeface="Cambria"/>
                <a:cs typeface="Cambria"/>
                <a:sym typeface="Cambria"/>
              </a:rPr>
              <a:t>01</a:t>
            </a:r>
            <a:endParaRPr sz="3000"/>
          </a:p>
        </p:txBody>
      </p:sp>
      <p:sp>
        <p:nvSpPr>
          <p:cNvPr id="196" name="Google Shape;196;p7"/>
          <p:cNvSpPr/>
          <p:nvPr/>
        </p:nvSpPr>
        <p:spPr>
          <a:xfrm>
            <a:off x="1435608" y="178308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Day 1 — Foundations &amp; Potential Outcomes</a:t>
            </a:r>
            <a:endParaRPr sz="1600"/>
          </a:p>
        </p:txBody>
      </p:sp>
      <p:sp>
        <p:nvSpPr>
          <p:cNvPr id="197" name="Google Shape;197;p7"/>
          <p:cNvSpPr/>
          <p:nvPr/>
        </p:nvSpPr>
        <p:spPr>
          <a:xfrm>
            <a:off x="1435608" y="209397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Causal thinking, the Neyman–Rubin model, estimands, identification assumptions, and why randomization works.</a:t>
            </a:r>
            <a:endParaRPr sz="1150"/>
          </a:p>
        </p:txBody>
      </p:sp>
      <p:sp>
        <p:nvSpPr>
          <p:cNvPr id="198" name="Google Shape;198;p7"/>
          <p:cNvSpPr/>
          <p:nvPr/>
        </p:nvSpPr>
        <p:spPr>
          <a:xfrm>
            <a:off x="6324448" y="178308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BA6"/>
              </a:buClr>
              <a:buSzPts val="3000"/>
              <a:buFont typeface="Cambria"/>
              <a:buNone/>
            </a:pPr>
            <a:r>
              <a:rPr b="1" lang="en-US" sz="3000">
                <a:solidFill>
                  <a:srgbClr val="5A5BA6"/>
                </a:solidFill>
                <a:latin typeface="Cambria"/>
                <a:ea typeface="Cambria"/>
                <a:cs typeface="Cambria"/>
                <a:sym typeface="Cambria"/>
              </a:rPr>
              <a:t>02</a:t>
            </a:r>
            <a:endParaRPr sz="3000"/>
          </a:p>
        </p:txBody>
      </p:sp>
      <p:sp>
        <p:nvSpPr>
          <p:cNvPr id="199" name="Google Shape;199;p7"/>
          <p:cNvSpPr/>
          <p:nvPr/>
        </p:nvSpPr>
        <p:spPr>
          <a:xfrm>
            <a:off x="7193128" y="1783080"/>
            <a:ext cx="464028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Day 2 — Randomized Experiments &amp; A/B Testing</a:t>
            </a:r>
            <a:endParaRPr sz="1600"/>
          </a:p>
        </p:txBody>
      </p:sp>
      <p:sp>
        <p:nvSpPr>
          <p:cNvPr id="200" name="Google Shape;200;p7"/>
          <p:cNvSpPr/>
          <p:nvPr/>
        </p:nvSpPr>
        <p:spPr>
          <a:xfrm>
            <a:off x="7193128" y="209397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Design of experiments, randomization vs. design-based inference, regression estimation, power, and production A/B testing.</a:t>
            </a:r>
            <a:endParaRPr sz="1150"/>
          </a:p>
        </p:txBody>
      </p:sp>
      <p:sp>
        <p:nvSpPr>
          <p:cNvPr id="201" name="Google Shape;201;p7"/>
          <p:cNvSpPr/>
          <p:nvPr/>
        </p:nvSpPr>
        <p:spPr>
          <a:xfrm>
            <a:off x="566928" y="288036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7B38"/>
              </a:buClr>
              <a:buSzPts val="3000"/>
              <a:buFont typeface="Cambria"/>
              <a:buNone/>
            </a:pPr>
            <a:r>
              <a:rPr b="1" lang="en-US" sz="3000">
                <a:solidFill>
                  <a:srgbClr val="EA7B38"/>
                </a:solidFill>
                <a:latin typeface="Cambria"/>
                <a:ea typeface="Cambria"/>
                <a:cs typeface="Cambria"/>
                <a:sym typeface="Cambria"/>
              </a:rPr>
              <a:t>03</a:t>
            </a:r>
            <a:endParaRPr sz="3000"/>
          </a:p>
        </p:txBody>
      </p:sp>
      <p:sp>
        <p:nvSpPr>
          <p:cNvPr id="202" name="Google Shape;202;p7"/>
          <p:cNvSpPr/>
          <p:nvPr/>
        </p:nvSpPr>
        <p:spPr>
          <a:xfrm>
            <a:off x="1435608" y="288036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Day 3 — Observational &amp; Quasi-Experiments</a:t>
            </a:r>
            <a:endParaRPr sz="1600"/>
          </a:p>
        </p:txBody>
      </p:sp>
      <p:sp>
        <p:nvSpPr>
          <p:cNvPr id="203" name="Google Shape;203;p7"/>
          <p:cNvSpPr/>
          <p:nvPr/>
        </p:nvSpPr>
        <p:spPr>
          <a:xfrm>
            <a:off x="1435608" y="319125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Confounding and DAGs, matching / propensity / IPW / doubly-robust, DiD, synthetic control, IV, and RDD.</a:t>
            </a:r>
            <a:endParaRPr sz="1150"/>
          </a:p>
        </p:txBody>
      </p:sp>
      <p:sp>
        <p:nvSpPr>
          <p:cNvPr id="204" name="Google Shape;204;p7"/>
          <p:cNvSpPr/>
          <p:nvPr/>
        </p:nvSpPr>
        <p:spPr>
          <a:xfrm>
            <a:off x="6324448" y="288036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E9B90"/>
              </a:buClr>
              <a:buSzPts val="3000"/>
              <a:buFont typeface="Cambria"/>
              <a:buNone/>
            </a:pPr>
            <a:r>
              <a:rPr b="1" lang="en-US" sz="3000">
                <a:solidFill>
                  <a:srgbClr val="3E9B90"/>
                </a:solidFill>
                <a:latin typeface="Cambria"/>
                <a:ea typeface="Cambria"/>
                <a:cs typeface="Cambria"/>
                <a:sym typeface="Cambria"/>
              </a:rPr>
              <a:t>04</a:t>
            </a:r>
            <a:endParaRPr sz="3000"/>
          </a:p>
        </p:txBody>
      </p:sp>
      <p:sp>
        <p:nvSpPr>
          <p:cNvPr id="205" name="Google Shape;205;p7"/>
          <p:cNvSpPr/>
          <p:nvPr/>
        </p:nvSpPr>
        <p:spPr>
          <a:xfrm>
            <a:off x="7193128" y="288036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Day 4 — Uncertainty, Bias &amp; Capstone</a:t>
            </a:r>
            <a:endParaRPr sz="1600"/>
          </a:p>
        </p:txBody>
      </p:sp>
      <p:sp>
        <p:nvSpPr>
          <p:cNvPr id="206" name="Google Shape;206;p7"/>
          <p:cNvSpPr/>
          <p:nvPr/>
        </p:nvSpPr>
        <p:spPr>
          <a:xfrm>
            <a:off x="7193128" y="319125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Uncertainty quantification, bias taxonomy, sensitivity and external validity, real-world cases, and the capstone.</a:t>
            </a:r>
            <a:endParaRPr sz="1150"/>
          </a:p>
        </p:txBody>
      </p:sp>
      <p:sp>
        <p:nvSpPr>
          <p:cNvPr id="207" name="Google Shape;207;p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OVERVIEW</a:t>
            </a:r>
            <a:endParaRPr sz="900"/>
          </a:p>
        </p:txBody>
      </p:sp>
      <p:sp>
        <p:nvSpPr>
          <p:cNvPr id="208" name="Google Shape;208;p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07  /  268</a:t>
            </a:r>
            <a:endParaRPr sz="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HOW WE WORK</a:t>
            </a:r>
            <a:endParaRPr sz="1200"/>
          </a:p>
        </p:txBody>
      </p:sp>
      <p:sp>
        <p:nvSpPr>
          <p:cNvPr id="215" name="Google Shape;215;p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Learning Model &amp; Cadence</a:t>
            </a:r>
            <a:endParaRPr sz="3400"/>
          </a:p>
        </p:txBody>
      </p:sp>
      <p:sp>
        <p:nvSpPr>
          <p:cNvPr id="216" name="Google Shape;216;p8"/>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Each 5-hour day mixes concept, worked examples, and hands-on practice on a roughly 55/45 split.</a:t>
            </a:r>
            <a:endParaRPr sz="1400"/>
          </a:p>
        </p:txBody>
      </p:sp>
      <p:sp>
        <p:nvSpPr>
          <p:cNvPr id="217" name="Google Shape;217;p8"/>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01</a:t>
            </a:r>
            <a:endParaRPr sz="1300"/>
          </a:p>
        </p:txBody>
      </p:sp>
      <p:sp>
        <p:nvSpPr>
          <p:cNvPr id="219" name="Google Shape;219;p8"/>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Concept blocks</a:t>
            </a:r>
            <a:endParaRPr sz="1600"/>
          </a:p>
        </p:txBody>
      </p:sp>
      <p:sp>
        <p:nvSpPr>
          <p:cNvPr id="220" name="Google Shape;220;p8"/>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Short, rigorous segments that introduce a framework and immediately anchor it in a worked numerical or code example.</a:t>
            </a:r>
            <a:endParaRPr sz="1250"/>
          </a:p>
        </p:txBody>
      </p:sp>
      <p:sp>
        <p:nvSpPr>
          <p:cNvPr id="221" name="Google Shape;221;p8"/>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02</a:t>
            </a:r>
            <a:endParaRPr sz="1300"/>
          </a:p>
        </p:txBody>
      </p:sp>
      <p:sp>
        <p:nvSpPr>
          <p:cNvPr id="223" name="Google Shape;223;p8"/>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Hands-on labs</a:t>
            </a:r>
            <a:endParaRPr sz="1600"/>
          </a:p>
        </p:txBody>
      </p:sp>
      <p:sp>
        <p:nvSpPr>
          <p:cNvPr id="224" name="Google Shape;224;p8"/>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One substantial Python lab per day plus a final capstone; you leave with runnable notebooks and reusable code.</a:t>
            </a:r>
            <a:endParaRPr sz="1250"/>
          </a:p>
        </p:txBody>
      </p:sp>
      <p:sp>
        <p:nvSpPr>
          <p:cNvPr id="225" name="Google Shape;225;p8"/>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03</a:t>
            </a:r>
            <a:endParaRPr sz="1300"/>
          </a:p>
        </p:txBody>
      </p:sp>
      <p:sp>
        <p:nvSpPr>
          <p:cNvPr id="227" name="Google Shape;227;p8"/>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Structured discussions</a:t>
            </a:r>
            <a:endParaRPr sz="1600"/>
          </a:p>
        </p:txBody>
      </p:sp>
      <p:sp>
        <p:nvSpPr>
          <p:cNvPr id="228" name="Google Shape;228;p8"/>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Facilitated critique of designs and results — ‘which assumption breaks here?’ — to build professional judgment.</a:t>
            </a:r>
            <a:endParaRPr sz="1250"/>
          </a:p>
        </p:txBody>
      </p:sp>
      <p:sp>
        <p:nvSpPr>
          <p:cNvPr id="229" name="Google Shape;229;p8"/>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04</a:t>
            </a:r>
            <a:endParaRPr sz="1300"/>
          </a:p>
        </p:txBody>
      </p:sp>
      <p:sp>
        <p:nvSpPr>
          <p:cNvPr id="231" name="Google Shape;231;p8"/>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Checks &amp; assessment</a:t>
            </a:r>
            <a:endParaRPr sz="1600"/>
          </a:p>
        </p:txBody>
      </p:sp>
      <p:sp>
        <p:nvSpPr>
          <p:cNvPr id="232" name="Google Shape;232;p8"/>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Pre-test, daily knowledge checks, and a post-test, plus a rubric-scored capstone deliverable.</a:t>
            </a:r>
            <a:endParaRPr sz="1250"/>
          </a:p>
        </p:txBody>
      </p:sp>
      <p:sp>
        <p:nvSpPr>
          <p:cNvPr id="233" name="Google Shape;233;p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OVERVIEW</a:t>
            </a:r>
            <a:endParaRPr sz="900"/>
          </a:p>
        </p:txBody>
      </p:sp>
      <p:sp>
        <p:nvSpPr>
          <p:cNvPr id="234" name="Google Shape;234;p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08  /  268</a:t>
            </a:r>
            <a:endParaRPr sz="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ASSESSMENT &amp; CERTIFICATION</a:t>
            </a:r>
            <a:endParaRPr sz="1200"/>
          </a:p>
        </p:txBody>
      </p:sp>
      <p:sp>
        <p:nvSpPr>
          <p:cNvPr id="241" name="Google Shape;241;p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How You Are Evaluated</a:t>
            </a:r>
            <a:endParaRPr sz="3400"/>
          </a:p>
        </p:txBody>
      </p:sp>
      <p:sp>
        <p:nvSpPr>
          <p:cNvPr id="242" name="Google Shape;242;p9"/>
          <p:cNvSpPr/>
          <p:nvPr/>
        </p:nvSpPr>
        <p:spPr>
          <a:xfrm>
            <a:off x="566928" y="1783080"/>
            <a:ext cx="11057839"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350"/>
              <a:buFont typeface="Calibri"/>
              <a:buNone/>
            </a:pPr>
            <a:r>
              <a:rPr lang="en-US" sz="1350">
                <a:solidFill>
                  <a:srgbClr val="566581"/>
                </a:solidFill>
                <a:latin typeface="Calibri"/>
                <a:ea typeface="Calibri"/>
                <a:cs typeface="Calibri"/>
                <a:sym typeface="Calibri"/>
              </a:rPr>
              <a:t>Certification requires a passing composite score and the minimum attendance threshold.</a:t>
            </a:r>
            <a:endParaRPr sz="1350"/>
          </a:p>
        </p:txBody>
      </p:sp>
      <p:graphicFrame>
        <p:nvGraphicFramePr>
          <p:cNvPr id="243" name="Google Shape;243;p9"/>
          <p:cNvGraphicFramePr/>
          <p:nvPr/>
        </p:nvGraphicFramePr>
        <p:xfrm>
          <a:off x="566928" y="2331720"/>
          <a:ext cx="3000000" cy="3000000"/>
        </p:xfrm>
        <a:graphic>
          <a:graphicData uri="http://schemas.openxmlformats.org/drawingml/2006/table">
            <a:tbl>
              <a:tblPr>
                <a:noFill/>
                <a:tableStyleId>{B3C4230F-BFAA-4733-B5D7-E1172E9C1B61}</a:tableStyleId>
              </a:tblPr>
              <a:tblGrid>
                <a:gridCol w="2926075"/>
                <a:gridCol w="3657600"/>
                <a:gridCol w="1463050"/>
                <a:gridCol w="3026675"/>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Component</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Format</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Weight</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Purpose</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Pre-test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10 MCQ, diagnostic (ungraded)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Baseline &amp; pacing</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Daily knowledge checks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4 × short MCQ / applied items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20%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Formative, per-day mastery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Labs 1–4</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Notebook submissions, rubric-scored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30%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Applied skill</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Capstone project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Design + estimate + report + defense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40%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Integrated competency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Post-test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20 MCQ, summative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10%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Knowledge gain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bl>
          </a:graphicData>
        </a:graphic>
      </p:graphicFrame>
      <p:sp>
        <p:nvSpPr>
          <p:cNvPr id="244" name="Google Shape;244;p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OVERVIEW</a:t>
            </a:r>
            <a:endParaRPr sz="900"/>
          </a:p>
        </p:txBody>
      </p:sp>
      <p:sp>
        <p:nvSpPr>
          <p:cNvPr id="245" name="Google Shape;245;p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09  /  268</a:t>
            </a:r>
            <a:endParaRPr sz="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250" name="Shape 250"/>
        <p:cNvGrpSpPr/>
        <p:nvPr/>
      </p:nvGrpSpPr>
      <p:grpSpPr>
        <a:xfrm>
          <a:off x="0" y="0"/>
          <a:ext cx="0" cy="0"/>
          <a:chOff x="0" y="0"/>
          <a:chExt cx="0" cy="0"/>
        </a:xfrm>
      </p:grpSpPr>
      <p:sp>
        <p:nvSpPr>
          <p:cNvPr id="251" name="Google Shape;251;p10"/>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1</a:t>
            </a:r>
            <a:endParaRPr sz="1300"/>
          </a:p>
        </p:txBody>
      </p:sp>
      <p:sp>
        <p:nvSpPr>
          <p:cNvPr id="252" name="Google Shape;252;p10"/>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Foundations &amp; the Potential Outcomes Framework</a:t>
            </a:r>
            <a:endParaRPr sz="4000"/>
          </a:p>
        </p:txBody>
      </p:sp>
      <p:sp>
        <p:nvSpPr>
          <p:cNvPr id="253" name="Google Shape;253;p10"/>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Causal thinking, counterfactuals, the Neyman–Rubin model, estimands and identification, and the logic of randomization.</a:t>
            </a:r>
            <a:endParaRPr sz="1500"/>
          </a:p>
        </p:txBody>
      </p:sp>
      <p:cxnSp>
        <p:nvCxnSpPr>
          <p:cNvPr id="254" name="Google Shape;254;p10"/>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255" name="Google Shape;255;p1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1</a:t>
            </a:r>
            <a:endParaRPr sz="900"/>
          </a:p>
        </p:txBody>
      </p:sp>
      <p:sp>
        <p:nvSpPr>
          <p:cNvPr id="256" name="Google Shape;256;p1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10  /  268</a:t>
            </a:r>
            <a:endParaRPr sz="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1</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Three Kinds of Questions</a:t>
            </a:r>
            <a:endParaRPr sz="3400"/>
          </a:p>
        </p:txBody>
      </p:sp>
      <p:sp>
        <p:nvSpPr>
          <p:cNvPr id="264" name="Google Shape;264;p11"/>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Pearl's ‘ladder of causation’ separates three rungs. Data science lives mostly on the first; decisions demand the second and third.</a:t>
            </a:r>
            <a:endParaRPr sz="1450"/>
          </a:p>
        </p:txBody>
      </p:sp>
      <p:sp>
        <p:nvSpPr>
          <p:cNvPr id="265" name="Google Shape;265;p11"/>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Association — seeing</a:t>
            </a:r>
            <a:endParaRPr sz="1500"/>
          </a:p>
        </p:txBody>
      </p:sp>
      <p:sp>
        <p:nvSpPr>
          <p:cNvPr id="267" name="Google Shape;267;p11"/>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P(Y | X): what does observing X tell me about Y? Prediction, correlation, and most supervised ML live here.</a:t>
            </a:r>
            <a:endParaRPr sz="1250"/>
          </a:p>
        </p:txBody>
      </p:sp>
      <p:sp>
        <p:nvSpPr>
          <p:cNvPr id="268" name="Google Shape;268;p11"/>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1"/>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Intervention — doing</a:t>
            </a:r>
            <a:endParaRPr sz="1500"/>
          </a:p>
        </p:txBody>
      </p:sp>
      <p:sp>
        <p:nvSpPr>
          <p:cNvPr id="270" name="Google Shape;270;p11"/>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P(Y | do(X)): what happens to Y if I set X? This is the language of experiments and policy.</a:t>
            </a:r>
            <a:endParaRPr sz="1250"/>
          </a:p>
        </p:txBody>
      </p:sp>
      <p:sp>
        <p:nvSpPr>
          <p:cNvPr id="271" name="Google Shape;271;p11"/>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1"/>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Counterfactual — imagining</a:t>
            </a:r>
            <a:endParaRPr sz="1500"/>
          </a:p>
        </p:txBody>
      </p:sp>
      <p:sp>
        <p:nvSpPr>
          <p:cNvPr id="273" name="Google Shape;273;p11"/>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What would this unit's Y have been had X been different? The deepest rung, and the basis of individual effects.</a:t>
            </a:r>
            <a:endParaRPr sz="1250"/>
          </a:p>
        </p:txBody>
      </p:sp>
      <p:sp>
        <p:nvSpPr>
          <p:cNvPr id="274" name="Google Shape;274;p11"/>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KEY DISTINCTION</a:t>
            </a:r>
            <a:endParaRPr sz="1100"/>
          </a:p>
        </p:txBody>
      </p:sp>
      <p:sp>
        <p:nvSpPr>
          <p:cNvPr id="276" name="Google Shape;276;p11"/>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350">
                <a:solidFill>
                  <a:srgbClr val="16233F"/>
                </a:solidFill>
                <a:latin typeface="Calibri"/>
                <a:ea typeface="Calibri"/>
                <a:cs typeface="Calibri"/>
                <a:sym typeface="Calibri"/>
              </a:rPr>
              <a:t>Conditioning (seeing) filters the world as it is. Intervening (doing) changes the world. Confusing the two is the root of most causal errors in analytics.</a:t>
            </a:r>
            <a:endParaRPr sz="1350"/>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FOUNDATIONS</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11  /  268</a:t>
            </a:r>
            <a:endParaRPr sz="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sp>
        <p:nvSpPr>
          <p:cNvPr id="284" name="Google Shape;284;p1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1</a:t>
            </a:r>
            <a:endParaRPr sz="1200"/>
          </a:p>
        </p:txBody>
      </p:sp>
      <p:sp>
        <p:nvSpPr>
          <p:cNvPr id="285" name="Google Shape;285;p1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Why Correlation Is Not Causation</a:t>
            </a:r>
            <a:endParaRPr sz="3400"/>
          </a:p>
        </p:txBody>
      </p:sp>
      <p:sp>
        <p:nvSpPr>
          <p:cNvPr id="286" name="Google Shape;286;p12"/>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An observed association between treatment and outcome can arise from several distinct data-generating stories — only one of which is a causal effect.</a:t>
            </a:r>
            <a:endParaRPr sz="1450"/>
          </a:p>
        </p:txBody>
      </p:sp>
      <p:sp>
        <p:nvSpPr>
          <p:cNvPr id="287" name="Google Shape;287;p12"/>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2"/>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Reverse causation</a:t>
            </a:r>
            <a:endParaRPr sz="1500"/>
          </a:p>
        </p:txBody>
      </p:sp>
      <p:sp>
        <p:nvSpPr>
          <p:cNvPr id="289" name="Google Shape;289;p12"/>
          <p:cNvSpPr/>
          <p:nvPr/>
        </p:nvSpPr>
        <p:spPr>
          <a:xfrm>
            <a:off x="859536" y="283464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Y may cause X rather than the reverse (e.g. sicker patients receive more treatment).</a:t>
            </a:r>
            <a:endParaRPr sz="1250"/>
          </a:p>
        </p:txBody>
      </p:sp>
      <p:sp>
        <p:nvSpPr>
          <p:cNvPr id="290" name="Google Shape;290;p12"/>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2"/>
          <p:cNvSpPr/>
          <p:nvPr/>
        </p:nvSpPr>
        <p:spPr>
          <a:xfrm>
            <a:off x="859536" y="345186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Confounding</a:t>
            </a:r>
            <a:endParaRPr sz="1500"/>
          </a:p>
        </p:txBody>
      </p:sp>
      <p:sp>
        <p:nvSpPr>
          <p:cNvPr id="292" name="Google Shape;292;p12"/>
          <p:cNvSpPr/>
          <p:nvPr/>
        </p:nvSpPr>
        <p:spPr>
          <a:xfrm>
            <a:off x="859536" y="372618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common cause drives both X and Y, manufacturing association without any direct effect.</a:t>
            </a:r>
            <a:endParaRPr sz="1250"/>
          </a:p>
        </p:txBody>
      </p:sp>
      <p:sp>
        <p:nvSpPr>
          <p:cNvPr id="293" name="Google Shape;293;p12"/>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859536" y="434340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Selection</a:t>
            </a:r>
            <a:endParaRPr sz="1500"/>
          </a:p>
        </p:txBody>
      </p:sp>
      <p:sp>
        <p:nvSpPr>
          <p:cNvPr id="295" name="Google Shape;295;p12"/>
          <p:cNvSpPr/>
          <p:nvPr/>
        </p:nvSpPr>
        <p:spPr>
          <a:xfrm>
            <a:off x="859536" y="461772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Conditioning on how units entered the sample can create or distort association (collider bias).</a:t>
            </a:r>
            <a:endParaRPr sz="1250"/>
          </a:p>
        </p:txBody>
      </p:sp>
      <p:sp>
        <p:nvSpPr>
          <p:cNvPr id="296" name="Google Shape;296;p12"/>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859536" y="523494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Chance</a:t>
            </a:r>
            <a:endParaRPr sz="1500"/>
          </a:p>
        </p:txBody>
      </p:sp>
      <p:sp>
        <p:nvSpPr>
          <p:cNvPr id="298" name="Google Shape;298;p12"/>
          <p:cNvSpPr/>
          <p:nvPr/>
        </p:nvSpPr>
        <p:spPr>
          <a:xfrm>
            <a:off x="859536" y="550926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Finite samples produce spurious associations; more data narrows, but never removes, this on its own.</a:t>
            </a:r>
            <a:endParaRPr sz="1250"/>
          </a:p>
        </p:txBody>
      </p:sp>
      <p:sp>
        <p:nvSpPr>
          <p:cNvPr id="299" name="Google Shape;299;p1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FOUNDATIONS</a:t>
            </a:r>
            <a:endParaRPr sz="900"/>
          </a:p>
        </p:txBody>
      </p:sp>
      <p:sp>
        <p:nvSpPr>
          <p:cNvPr id="300" name="Google Shape;300;p1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12  /  268</a:t>
            </a:r>
            <a:endParaRPr sz="9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1</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Shape of a Confounded Comparison</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One variable drives both the supposed cause and the effect. Until that path is blocked, the association you measure is not the effect you want.</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WHAT TO SEE</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Two arrows leave digital literacy — one to adoption, one to completion. That shared origin is the entire problem.</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Blocking the backdoor path is what every method on Days 3 and 4 is trying to do. Randomisation does it by design; everything else does it by assumption.</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FOUNDATIONS</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13  /  268</a:t>
            </a:r>
            <a:endParaRPr sz="900"/>
          </a:p>
        </p:txBody>
      </p:sp>
      <p:pic>
        <p:nvPicPr>
          <p:cNvPr id="279" name="Picture 278" descr="m1_confounding_triangle.png"/>
          <p:cNvPicPr>
            <a:picLocks noChangeAspect="1"/>
          </p:cNvPicPr>
          <p:nvPr/>
        </p:nvPicPr>
        <p:blipFill>
          <a:blip r:embed="rId2"/>
          <a:stretch>
            <a:fillRect/>
          </a:stretch>
        </p:blipFill>
        <p:spPr>
          <a:xfrm>
            <a:off x="666337" y="2249424"/>
            <a:ext cx="7591868" cy="387705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1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1</a:t>
            </a:r>
            <a:endParaRPr sz="1200"/>
          </a:p>
        </p:txBody>
      </p:sp>
      <p:sp>
        <p:nvSpPr>
          <p:cNvPr id="307" name="Google Shape;307;p1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Cost of Getting It Wrong</a:t>
            </a:r>
            <a:endParaRPr sz="3400"/>
          </a:p>
        </p:txBody>
      </p:sp>
      <p:sp>
        <p:nvSpPr>
          <p:cNvPr id="308" name="Google Shape;308;p13"/>
          <p:cNvSpPr/>
          <p:nvPr/>
        </p:nvSpPr>
        <p:spPr>
          <a:xfrm>
            <a:off x="566928" y="1874520"/>
            <a:ext cx="3442106" cy="1600200"/>
          </a:xfrm>
          <a:prstGeom prst="roundRect">
            <a:avLst>
              <a:gd fmla="val 5714"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3"/>
          <p:cNvSpPr/>
          <p:nvPr/>
        </p:nvSpPr>
        <p:spPr>
          <a:xfrm>
            <a:off x="749808" y="2075688"/>
            <a:ext cx="3076346"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4000"/>
              <a:buFont typeface="Cambria"/>
              <a:buNone/>
            </a:pPr>
            <a:r>
              <a:rPr b="1" lang="en-US" sz="4000">
                <a:solidFill>
                  <a:srgbClr val="3FA9E0"/>
                </a:solidFill>
                <a:latin typeface="Cambria"/>
                <a:ea typeface="Cambria"/>
                <a:cs typeface="Cambria"/>
                <a:sym typeface="Cambria"/>
              </a:rPr>
              <a:t>~50%</a:t>
            </a:r>
            <a:endParaRPr sz="4000"/>
          </a:p>
        </p:txBody>
      </p:sp>
      <p:sp>
        <p:nvSpPr>
          <p:cNvPr id="310" name="Google Shape;310;p13"/>
          <p:cNvSpPr/>
          <p:nvPr/>
        </p:nvSpPr>
        <p:spPr>
          <a:xfrm>
            <a:off x="749808" y="2807208"/>
            <a:ext cx="3076346"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of naive observational ‘effects’ that fail to replicate in later randomized trials, across several review studies</a:t>
            </a:r>
            <a:endParaRPr sz="1200"/>
          </a:p>
        </p:txBody>
      </p:sp>
      <p:sp>
        <p:nvSpPr>
          <p:cNvPr id="311" name="Google Shape;311;p13"/>
          <p:cNvSpPr/>
          <p:nvPr/>
        </p:nvSpPr>
        <p:spPr>
          <a:xfrm>
            <a:off x="4374794" y="1874520"/>
            <a:ext cx="3442106" cy="1600200"/>
          </a:xfrm>
          <a:prstGeom prst="roundRect">
            <a:avLst>
              <a:gd fmla="val 5714"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3"/>
          <p:cNvSpPr/>
          <p:nvPr/>
        </p:nvSpPr>
        <p:spPr>
          <a:xfrm>
            <a:off x="4557674" y="2075688"/>
            <a:ext cx="3076346"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BA6"/>
              </a:buClr>
              <a:buSzPts val="4000"/>
              <a:buFont typeface="Cambria"/>
              <a:buNone/>
            </a:pPr>
            <a:r>
              <a:rPr b="1" lang="en-US" sz="4000">
                <a:solidFill>
                  <a:srgbClr val="5A5BA6"/>
                </a:solidFill>
                <a:latin typeface="Cambria"/>
                <a:ea typeface="Cambria"/>
                <a:cs typeface="Cambria"/>
                <a:sym typeface="Cambria"/>
              </a:rPr>
              <a:t>10×</a:t>
            </a:r>
            <a:endParaRPr sz="4000"/>
          </a:p>
        </p:txBody>
      </p:sp>
      <p:sp>
        <p:nvSpPr>
          <p:cNvPr id="313" name="Google Shape;313;p13"/>
          <p:cNvSpPr/>
          <p:nvPr/>
        </p:nvSpPr>
        <p:spPr>
          <a:xfrm>
            <a:off x="4557674" y="2807208"/>
            <a:ext cx="3076346"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typical gap between a headline A/B lift and its true effect when peeking and multiple testing go unmanaged</a:t>
            </a:r>
            <a:endParaRPr sz="1200"/>
          </a:p>
        </p:txBody>
      </p:sp>
      <p:sp>
        <p:nvSpPr>
          <p:cNvPr id="314" name="Google Shape;314;p13"/>
          <p:cNvSpPr/>
          <p:nvPr/>
        </p:nvSpPr>
        <p:spPr>
          <a:xfrm>
            <a:off x="8182661" y="1874520"/>
            <a:ext cx="3442106" cy="1600200"/>
          </a:xfrm>
          <a:prstGeom prst="roundRect">
            <a:avLst>
              <a:gd fmla="val 5714"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3"/>
          <p:cNvSpPr/>
          <p:nvPr/>
        </p:nvSpPr>
        <p:spPr>
          <a:xfrm>
            <a:off x="8365541" y="2075688"/>
            <a:ext cx="3076346"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4000"/>
              <a:buFont typeface="Cambria"/>
              <a:buNone/>
            </a:pPr>
            <a:r>
              <a:rPr b="1" lang="en-US" sz="4000">
                <a:solidFill>
                  <a:srgbClr val="EA7B38"/>
                </a:solidFill>
                <a:latin typeface="Cambria"/>
                <a:ea typeface="Cambria"/>
                <a:cs typeface="Cambria"/>
                <a:sym typeface="Cambria"/>
              </a:rPr>
              <a:t>∞</a:t>
            </a:r>
            <a:endParaRPr sz="4000"/>
          </a:p>
        </p:txBody>
      </p:sp>
      <p:sp>
        <p:nvSpPr>
          <p:cNvPr id="316" name="Google Shape;316;p13"/>
          <p:cNvSpPr/>
          <p:nvPr/>
        </p:nvSpPr>
        <p:spPr>
          <a:xfrm>
            <a:off x="8365541" y="2807208"/>
            <a:ext cx="3076346"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bias that no sample size can fix if the design is confounded — more data converges to the wrong number</a:t>
            </a:r>
            <a:endParaRPr sz="1200"/>
          </a:p>
        </p:txBody>
      </p:sp>
      <p:sp>
        <p:nvSpPr>
          <p:cNvPr id="317" name="Google Shape;317;p13"/>
          <p:cNvSpPr/>
          <p:nvPr/>
        </p:nvSpPr>
        <p:spPr>
          <a:xfrm>
            <a:off x="566928" y="374904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INSIGHT   </a:t>
            </a:r>
            <a:r>
              <a:rPr lang="en-US" sz="1300">
                <a:solidFill>
                  <a:srgbClr val="566581"/>
                </a:solidFill>
                <a:latin typeface="Calibri"/>
                <a:ea typeface="Calibri"/>
                <a:cs typeface="Calibri"/>
                <a:sym typeface="Calibri"/>
              </a:rPr>
              <a:t>Bias is a property of design and identification, not of sample size. This is why we spend Day 1 on design before touching estimation.</a:t>
            </a:r>
            <a:endParaRPr sz="1300"/>
          </a:p>
        </p:txBody>
      </p:sp>
      <p:sp>
        <p:nvSpPr>
          <p:cNvPr id="318" name="Google Shape;318;p1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FOUNDATIONS</a:t>
            </a:r>
            <a:endParaRPr sz="900"/>
          </a:p>
        </p:txBody>
      </p:sp>
      <p:sp>
        <p:nvSpPr>
          <p:cNvPr id="319" name="Google Shape;319;p1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14  /  268</a:t>
            </a:r>
            <a:endParaRPr sz="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1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1</a:t>
            </a:r>
            <a:endParaRPr sz="1200"/>
          </a:p>
        </p:txBody>
      </p:sp>
      <p:sp>
        <p:nvSpPr>
          <p:cNvPr id="326" name="Google Shape;326;p1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 Motivating Example: Does the Feature Help?</a:t>
            </a:r>
            <a:endParaRPr sz="3400"/>
          </a:p>
        </p:txBody>
      </p:sp>
      <p:sp>
        <p:nvSpPr>
          <p:cNvPr id="327" name="Google Shape;327;p14"/>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product team ships a new onboarding flow. Users who saw it retain at 62%; users who didn't, 48%. Is the flow worth +14 points?</a:t>
            </a:r>
            <a:endParaRPr sz="1450"/>
          </a:p>
        </p:txBody>
      </p:sp>
      <p:sp>
        <p:nvSpPr>
          <p:cNvPr id="328" name="Google Shape;328;p14"/>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4"/>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tempting read</a:t>
            </a:r>
            <a:endParaRPr sz="1500"/>
          </a:p>
        </p:txBody>
      </p:sp>
      <p:sp>
        <p:nvSpPr>
          <p:cNvPr id="330" name="Google Shape;330;p14"/>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flow raises retention by 14 points’ — a causal claim from a purely observational comparison.</a:t>
            </a:r>
            <a:endParaRPr sz="1250"/>
          </a:p>
        </p:txBody>
      </p:sp>
      <p:sp>
        <p:nvSpPr>
          <p:cNvPr id="331" name="Google Shape;331;p14"/>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4"/>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lurking problem</a:t>
            </a:r>
            <a:endParaRPr sz="1500"/>
          </a:p>
        </p:txBody>
      </p:sp>
      <p:sp>
        <p:nvSpPr>
          <p:cNvPr id="333" name="Google Shape;333;p14"/>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Who saw the new flow? Newer cohorts, power users, or a specific platform? Any of these confounds the comparison.</a:t>
            </a:r>
            <a:endParaRPr sz="1250"/>
          </a:p>
        </p:txBody>
      </p:sp>
      <p:sp>
        <p:nvSpPr>
          <p:cNvPr id="334" name="Google Shape;334;p14"/>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4"/>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disciplined move</a:t>
            </a:r>
            <a:endParaRPr sz="1500"/>
          </a:p>
        </p:txBody>
      </p:sp>
      <p:sp>
        <p:nvSpPr>
          <p:cNvPr id="336" name="Google Shape;336;p14"/>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Define the target quantity precisely, list what must be true to identify it, then choose a design that makes it credible.</a:t>
            </a:r>
            <a:endParaRPr sz="1250"/>
          </a:p>
        </p:txBody>
      </p:sp>
      <p:sp>
        <p:nvSpPr>
          <p:cNvPr id="337" name="Google Shape;337;p14"/>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4"/>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WE WILL RETURN TO THIS</a:t>
            </a:r>
            <a:endParaRPr sz="1100"/>
          </a:p>
        </p:txBody>
      </p:sp>
      <p:sp>
        <p:nvSpPr>
          <p:cNvPr id="339" name="Google Shape;339;p14"/>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By end of Day 2 you will estimate this effect from a randomized test; by Day 3, from observational data when a test is impossible.</a:t>
            </a:r>
            <a:endParaRPr sz="1350"/>
          </a:p>
        </p:txBody>
      </p:sp>
      <p:sp>
        <p:nvSpPr>
          <p:cNvPr id="340" name="Google Shape;340;p1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FOUNDATIONS</a:t>
            </a:r>
            <a:endParaRPr sz="900"/>
          </a:p>
        </p:txBody>
      </p:sp>
      <p:sp>
        <p:nvSpPr>
          <p:cNvPr id="341" name="Google Shape;341;p1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15  /  268</a:t>
            </a:r>
            <a:endParaRPr sz="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1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1</a:t>
            </a:r>
            <a:endParaRPr sz="1200"/>
          </a:p>
        </p:txBody>
      </p:sp>
      <p:sp>
        <p:nvSpPr>
          <p:cNvPr id="348" name="Google Shape;348;p1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Causal Inference Workflow</a:t>
            </a:r>
            <a:endParaRPr sz="3400"/>
          </a:p>
        </p:txBody>
      </p:sp>
      <p:sp>
        <p:nvSpPr>
          <p:cNvPr id="349" name="Google Shape;349;p15"/>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Every credible analysis in this course follows the same five-step spine.</a:t>
            </a:r>
            <a:endParaRPr sz="1400"/>
          </a:p>
        </p:txBody>
      </p:sp>
      <p:sp>
        <p:nvSpPr>
          <p:cNvPr id="350" name="Google Shape;350;p15"/>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5"/>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1</a:t>
            </a:r>
            <a:endParaRPr sz="1300"/>
          </a:p>
        </p:txBody>
      </p:sp>
      <p:sp>
        <p:nvSpPr>
          <p:cNvPr id="352" name="Google Shape;352;p15"/>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Question → estimand</a:t>
            </a:r>
            <a:endParaRPr sz="1600"/>
          </a:p>
        </p:txBody>
      </p:sp>
      <p:sp>
        <p:nvSpPr>
          <p:cNvPr id="353" name="Google Shape;353;p15"/>
          <p:cNvSpPr/>
          <p:nvPr/>
        </p:nvSpPr>
        <p:spPr>
          <a:xfrm>
            <a:off x="1298448" y="2734056"/>
            <a:ext cx="10234879" cy="37490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Translate the decision into a precisely defined causal quantity (whose effect, of what, on whom, on which outcome).</a:t>
            </a:r>
            <a:endParaRPr sz="1250"/>
          </a:p>
        </p:txBody>
      </p:sp>
      <p:sp>
        <p:nvSpPr>
          <p:cNvPr id="354" name="Google Shape;354;p15"/>
          <p:cNvSpPr/>
          <p:nvPr/>
        </p:nvSpPr>
        <p:spPr>
          <a:xfrm>
            <a:off x="566928" y="3209544"/>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5"/>
          <p:cNvSpPr/>
          <p:nvPr/>
        </p:nvSpPr>
        <p:spPr>
          <a:xfrm>
            <a:off x="566928" y="320954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2</a:t>
            </a:r>
            <a:endParaRPr sz="1300"/>
          </a:p>
        </p:txBody>
      </p:sp>
      <p:sp>
        <p:nvSpPr>
          <p:cNvPr id="356" name="Google Shape;356;p15"/>
          <p:cNvSpPr/>
          <p:nvPr/>
        </p:nvSpPr>
        <p:spPr>
          <a:xfrm>
            <a:off x="1298448" y="3163824"/>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Identification</a:t>
            </a:r>
            <a:endParaRPr sz="1600"/>
          </a:p>
        </p:txBody>
      </p:sp>
      <p:sp>
        <p:nvSpPr>
          <p:cNvPr id="357" name="Google Shape;357;p15"/>
          <p:cNvSpPr/>
          <p:nvPr/>
        </p:nvSpPr>
        <p:spPr>
          <a:xfrm>
            <a:off x="1298448" y="3474720"/>
            <a:ext cx="10234879" cy="37490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State the assumptions under which that estimand equals something computable from observed data.</a:t>
            </a:r>
            <a:endParaRPr sz="1250"/>
          </a:p>
        </p:txBody>
      </p:sp>
      <p:sp>
        <p:nvSpPr>
          <p:cNvPr id="358" name="Google Shape;358;p15"/>
          <p:cNvSpPr/>
          <p:nvPr/>
        </p:nvSpPr>
        <p:spPr>
          <a:xfrm>
            <a:off x="566928" y="3950208"/>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5"/>
          <p:cNvSpPr/>
          <p:nvPr/>
        </p:nvSpPr>
        <p:spPr>
          <a:xfrm>
            <a:off x="566928" y="395020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3</a:t>
            </a:r>
            <a:endParaRPr sz="1300"/>
          </a:p>
        </p:txBody>
      </p:sp>
      <p:sp>
        <p:nvSpPr>
          <p:cNvPr id="360" name="Google Shape;360;p15"/>
          <p:cNvSpPr/>
          <p:nvPr/>
        </p:nvSpPr>
        <p:spPr>
          <a:xfrm>
            <a:off x="1298448" y="3904488"/>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Estimation</a:t>
            </a:r>
            <a:endParaRPr sz="1600"/>
          </a:p>
        </p:txBody>
      </p:sp>
      <p:sp>
        <p:nvSpPr>
          <p:cNvPr id="361" name="Google Shape;361;p15"/>
          <p:cNvSpPr/>
          <p:nvPr/>
        </p:nvSpPr>
        <p:spPr>
          <a:xfrm>
            <a:off x="1298448" y="4215384"/>
            <a:ext cx="10234879" cy="37490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Choose an estimator; fit it; the estimator is only as good as the identification behind it.</a:t>
            </a:r>
            <a:endParaRPr sz="1250"/>
          </a:p>
        </p:txBody>
      </p:sp>
      <p:sp>
        <p:nvSpPr>
          <p:cNvPr id="362" name="Google Shape;362;p15"/>
          <p:cNvSpPr/>
          <p:nvPr/>
        </p:nvSpPr>
        <p:spPr>
          <a:xfrm>
            <a:off x="566928" y="4690872"/>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5"/>
          <p:cNvSpPr/>
          <p:nvPr/>
        </p:nvSpPr>
        <p:spPr>
          <a:xfrm>
            <a:off x="566928" y="469087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4</a:t>
            </a:r>
            <a:endParaRPr sz="1300"/>
          </a:p>
        </p:txBody>
      </p:sp>
      <p:sp>
        <p:nvSpPr>
          <p:cNvPr id="364" name="Google Shape;364;p15"/>
          <p:cNvSpPr/>
          <p:nvPr/>
        </p:nvSpPr>
        <p:spPr>
          <a:xfrm>
            <a:off x="1298448" y="4645152"/>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Inference</a:t>
            </a:r>
            <a:endParaRPr sz="1600"/>
          </a:p>
        </p:txBody>
      </p:sp>
      <p:sp>
        <p:nvSpPr>
          <p:cNvPr id="365" name="Google Shape;365;p15"/>
          <p:cNvSpPr/>
          <p:nvPr/>
        </p:nvSpPr>
        <p:spPr>
          <a:xfrm>
            <a:off x="1298448" y="4956048"/>
            <a:ext cx="10234879" cy="37490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Quantify uncertainty honestly — the right standard error for the design, not a default.</a:t>
            </a:r>
            <a:endParaRPr sz="1250"/>
          </a:p>
        </p:txBody>
      </p:sp>
      <p:sp>
        <p:nvSpPr>
          <p:cNvPr id="366" name="Google Shape;366;p15"/>
          <p:cNvSpPr/>
          <p:nvPr/>
        </p:nvSpPr>
        <p:spPr>
          <a:xfrm>
            <a:off x="566928" y="5431536"/>
            <a:ext cx="502920" cy="50292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5"/>
          <p:cNvSpPr/>
          <p:nvPr/>
        </p:nvSpPr>
        <p:spPr>
          <a:xfrm>
            <a:off x="566928" y="543153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5</a:t>
            </a:r>
            <a:endParaRPr sz="1300"/>
          </a:p>
        </p:txBody>
      </p:sp>
      <p:sp>
        <p:nvSpPr>
          <p:cNvPr id="368" name="Google Shape;368;p15"/>
          <p:cNvSpPr/>
          <p:nvPr/>
        </p:nvSpPr>
        <p:spPr>
          <a:xfrm>
            <a:off x="1298448" y="5385816"/>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Sensitivity</a:t>
            </a:r>
            <a:endParaRPr sz="1600"/>
          </a:p>
        </p:txBody>
      </p:sp>
      <p:sp>
        <p:nvSpPr>
          <p:cNvPr id="369" name="Google Shape;369;p15"/>
          <p:cNvSpPr/>
          <p:nvPr/>
        </p:nvSpPr>
        <p:spPr>
          <a:xfrm>
            <a:off x="1298448" y="5696712"/>
            <a:ext cx="10234879" cy="37490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Ask how far the assumptions could be wrong before the conclusion flips; report it.</a:t>
            </a:r>
            <a:endParaRPr sz="1250"/>
          </a:p>
        </p:txBody>
      </p:sp>
      <p:sp>
        <p:nvSpPr>
          <p:cNvPr id="370" name="Google Shape;370;p1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FOUNDATIONS</a:t>
            </a:r>
            <a:endParaRPr sz="900"/>
          </a:p>
        </p:txBody>
      </p:sp>
      <p:sp>
        <p:nvSpPr>
          <p:cNvPr id="371" name="Google Shape;371;p1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16  /  268</a:t>
            </a:r>
            <a:endParaRPr sz="9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1</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Order Is the Method</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Six steps, and one hard gate. An analysis that reorders them is not a faster analysis — it is a different, weaker one.</a:t>
            </a:r>
            <a:endParaRPr sz="1450"/>
          </a:p>
        </p:txBody>
      </p:sp>
      <p:sp>
        <p:nvSpPr>
          <p:cNvPr id="276" name="Google Shape;276;p11"/>
          <p:cNvSpPr/>
          <p:nvPr/>
        </p:nvSpPr>
        <p:spPr>
          <a:xfrm>
            <a:off x="566928" y="5797296"/>
            <a:ext cx="11055096" cy="4023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100">
                <a:solidFill>
                  <a:srgbClr val="16233F"/>
                </a:solidFill>
                <a:latin typeface="Calibri"/>
                <a:ea typeface="Calibri"/>
                <a:cs typeface="Calibri"/>
                <a:sym typeface="Calibri"/>
              </a:rPr>
              <a:t>THE GATE — Freeze the plan before you look at outcomes.</a:t>
            </a:r>
            <a:endParaRPr sz="1350"/>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FOUNDATIONS</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17  /  268</a:t>
            </a:r>
            <a:endParaRPr sz="900"/>
          </a:p>
        </p:txBody>
      </p:sp>
      <p:pic>
        <p:nvPicPr>
          <p:cNvPr id="279" name="Picture 278" descr="m7_engagement_pipeline.png"/>
          <p:cNvPicPr>
            <a:picLocks noChangeAspect="1"/>
          </p:cNvPicPr>
          <p:nvPr/>
        </p:nvPicPr>
        <p:blipFill>
          <a:blip r:embed="rId2"/>
          <a:stretch>
            <a:fillRect/>
          </a:stretch>
        </p:blipFill>
        <p:spPr>
          <a:xfrm>
            <a:off x="879647" y="2212848"/>
            <a:ext cx="10429657" cy="34747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sp>
        <p:nvSpPr>
          <p:cNvPr id="377" name="Google Shape;377;p1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1</a:t>
            </a:r>
            <a:endParaRPr sz="1200"/>
          </a:p>
        </p:txBody>
      </p:sp>
      <p:sp>
        <p:nvSpPr>
          <p:cNvPr id="378" name="Google Shape;378;p1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Terminology We Will Use Precisely</a:t>
            </a:r>
            <a:endParaRPr sz="3400"/>
          </a:p>
        </p:txBody>
      </p:sp>
      <p:sp>
        <p:nvSpPr>
          <p:cNvPr id="379" name="Google Shape;379;p16"/>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Sloppy vocabulary produces sloppy causal claims. We fix definitions now.</a:t>
            </a:r>
            <a:endParaRPr sz="1450"/>
          </a:p>
        </p:txBody>
      </p:sp>
      <p:sp>
        <p:nvSpPr>
          <p:cNvPr id="380" name="Google Shape;380;p16"/>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6"/>
          <p:cNvSpPr/>
          <p:nvPr/>
        </p:nvSpPr>
        <p:spPr>
          <a:xfrm>
            <a:off x="841248" y="2514600"/>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Unit — the entity that may receive treatment (user, patient, store, region).</a:t>
            </a:r>
            <a:endParaRPr sz="1400"/>
          </a:p>
        </p:txBody>
      </p:sp>
      <p:sp>
        <p:nvSpPr>
          <p:cNvPr id="382" name="Google Shape;382;p16"/>
          <p:cNvSpPr/>
          <p:nvPr/>
        </p:nvSpPr>
        <p:spPr>
          <a:xfrm>
            <a:off x="566928" y="3300984"/>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6"/>
          <p:cNvSpPr/>
          <p:nvPr/>
        </p:nvSpPr>
        <p:spPr>
          <a:xfrm>
            <a:off x="841248" y="3236976"/>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Treatment / exposure (T or D) — the intervention whose effect we want; often binary but can be multi-valued or continuous.</a:t>
            </a:r>
            <a:endParaRPr sz="1400"/>
          </a:p>
        </p:txBody>
      </p:sp>
      <p:sp>
        <p:nvSpPr>
          <p:cNvPr id="384" name="Google Shape;384;p16"/>
          <p:cNvSpPr/>
          <p:nvPr/>
        </p:nvSpPr>
        <p:spPr>
          <a:xfrm>
            <a:off x="566928" y="4023360"/>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a:off x="841248" y="3959352"/>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Outcome (Y) — the measured result we care about after treatment.</a:t>
            </a:r>
            <a:endParaRPr sz="1400"/>
          </a:p>
        </p:txBody>
      </p:sp>
      <p:sp>
        <p:nvSpPr>
          <p:cNvPr id="386" name="Google Shape;386;p16"/>
          <p:cNvSpPr/>
          <p:nvPr/>
        </p:nvSpPr>
        <p:spPr>
          <a:xfrm>
            <a:off x="566928" y="4745736"/>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6"/>
          <p:cNvSpPr/>
          <p:nvPr/>
        </p:nvSpPr>
        <p:spPr>
          <a:xfrm>
            <a:off x="841248" y="4681728"/>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Covariates (X) — pre-treatment characteristics; never post-treatment variables in the adjustment set.</a:t>
            </a:r>
            <a:endParaRPr sz="1400"/>
          </a:p>
        </p:txBody>
      </p:sp>
      <p:sp>
        <p:nvSpPr>
          <p:cNvPr id="388" name="Google Shape;388;p16"/>
          <p:cNvSpPr/>
          <p:nvPr/>
        </p:nvSpPr>
        <p:spPr>
          <a:xfrm>
            <a:off x="566928" y="5468112"/>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6"/>
          <p:cNvSpPr/>
          <p:nvPr/>
        </p:nvSpPr>
        <p:spPr>
          <a:xfrm>
            <a:off x="841248" y="5404104"/>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Estimand — the true quantity we target; Estimator — the procedure; Estimate — the number it returns.</a:t>
            </a:r>
            <a:endParaRPr sz="1400"/>
          </a:p>
        </p:txBody>
      </p:sp>
      <p:sp>
        <p:nvSpPr>
          <p:cNvPr id="390" name="Google Shape;390;p1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FOUNDATIONS</a:t>
            </a:r>
            <a:endParaRPr sz="900"/>
          </a:p>
        </p:txBody>
      </p:sp>
      <p:sp>
        <p:nvSpPr>
          <p:cNvPr id="391" name="Google Shape;391;p1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18  /  268</a:t>
            </a:r>
            <a:endParaRPr sz="9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96" name="Shape 396"/>
        <p:cNvGrpSpPr/>
        <p:nvPr/>
      </p:nvGrpSpPr>
      <p:grpSpPr>
        <a:xfrm>
          <a:off x="0" y="0"/>
          <a:ext cx="0" cy="0"/>
          <a:chOff x="0" y="0"/>
          <a:chExt cx="0" cy="0"/>
        </a:xfrm>
      </p:grpSpPr>
      <p:sp>
        <p:nvSpPr>
          <p:cNvPr id="397" name="Google Shape;397;p17"/>
          <p:cNvSpPr/>
          <p:nvPr/>
        </p:nvSpPr>
        <p:spPr>
          <a:xfrm>
            <a:off x="566928" y="914400"/>
            <a:ext cx="18288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0"/>
              <a:buFont typeface="Cambria"/>
              <a:buNone/>
            </a:pPr>
            <a:r>
              <a:rPr b="1" lang="en-US" sz="12000">
                <a:solidFill>
                  <a:srgbClr val="3FA9E0"/>
                </a:solidFill>
                <a:latin typeface="Cambria"/>
                <a:ea typeface="Cambria"/>
                <a:cs typeface="Cambria"/>
                <a:sym typeface="Cambria"/>
              </a:rPr>
              <a:t>“</a:t>
            </a:r>
            <a:endParaRPr sz="12000"/>
          </a:p>
        </p:txBody>
      </p:sp>
      <p:sp>
        <p:nvSpPr>
          <p:cNvPr id="398" name="Google Shape;398;p17"/>
          <p:cNvSpPr/>
          <p:nvPr/>
        </p:nvSpPr>
        <p:spPr>
          <a:xfrm>
            <a:off x="749808" y="2194560"/>
            <a:ext cx="10515600" cy="2377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3000"/>
              <a:buFont typeface="Cambria"/>
              <a:buNone/>
            </a:pPr>
            <a:r>
              <a:rPr i="1" lang="en-US" sz="3000">
                <a:solidFill>
                  <a:srgbClr val="FFFFFF"/>
                </a:solidFill>
                <a:latin typeface="Cambria"/>
                <a:ea typeface="Cambria"/>
                <a:cs typeface="Cambria"/>
                <a:sym typeface="Cambria"/>
              </a:rPr>
              <a:t>No causes in, no causes out. You cannot extract a causal conclusion from data without a causal assumption you brought to it.</a:t>
            </a:r>
            <a:endParaRPr sz="3000"/>
          </a:p>
        </p:txBody>
      </p:sp>
      <p:cxnSp>
        <p:nvCxnSpPr>
          <p:cNvPr id="399" name="Google Shape;399;p17"/>
          <p:cNvCxnSpPr/>
          <p:nvPr/>
        </p:nvCxnSpPr>
        <p:spPr>
          <a:xfrm>
            <a:off x="749808" y="4846320"/>
            <a:ext cx="1371600" cy="0"/>
          </a:xfrm>
          <a:prstGeom prst="straightConnector1">
            <a:avLst/>
          </a:prstGeom>
          <a:noFill/>
          <a:ln cap="flat" cmpd="sng" w="25400">
            <a:solidFill>
              <a:srgbClr val="3FA9E0"/>
            </a:solidFill>
            <a:prstDash val="solid"/>
            <a:round/>
            <a:headEnd len="sm" w="sm" type="none"/>
            <a:tailEnd len="sm" w="sm" type="none"/>
          </a:ln>
        </p:spPr>
      </p:cxnSp>
      <p:sp>
        <p:nvSpPr>
          <p:cNvPr id="400" name="Google Shape;400;p17"/>
          <p:cNvSpPr/>
          <p:nvPr/>
        </p:nvSpPr>
        <p:spPr>
          <a:xfrm>
            <a:off x="749808" y="502920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AF0"/>
              </a:buClr>
              <a:buSzPts val="1500"/>
              <a:buFont typeface="Calibri"/>
              <a:buNone/>
            </a:pPr>
            <a:r>
              <a:rPr b="1" lang="en-US" sz="1500">
                <a:solidFill>
                  <a:srgbClr val="C9DAF0"/>
                </a:solidFill>
                <a:latin typeface="Calibri"/>
                <a:ea typeface="Calibri"/>
                <a:cs typeface="Calibri"/>
                <a:sym typeface="Calibri"/>
              </a:rPr>
              <a:t>The identification principle</a:t>
            </a:r>
            <a:endParaRPr sz="1500"/>
          </a:p>
        </p:txBody>
      </p:sp>
      <p:sp>
        <p:nvSpPr>
          <p:cNvPr id="401" name="Google Shape;401;p17"/>
          <p:cNvSpPr/>
          <p:nvPr/>
        </p:nvSpPr>
        <p:spPr>
          <a:xfrm>
            <a:off x="749808" y="539496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1250"/>
              <a:buFont typeface="Calibri"/>
              <a:buNone/>
            </a:pPr>
            <a:r>
              <a:rPr lang="en-US" sz="1250">
                <a:solidFill>
                  <a:srgbClr val="9FB0C8"/>
                </a:solidFill>
                <a:latin typeface="Calibri"/>
                <a:ea typeface="Calibri"/>
                <a:cs typeface="Calibri"/>
                <a:sym typeface="Calibri"/>
              </a:rPr>
              <a:t>A recurring theme throughout this course</a:t>
            </a:r>
            <a:endParaRPr sz="1250"/>
          </a:p>
        </p:txBody>
      </p:sp>
      <p:sp>
        <p:nvSpPr>
          <p:cNvPr id="402" name="Google Shape;402;p1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1 · FOUNDATIONS</a:t>
            </a:r>
            <a:endParaRPr sz="900"/>
          </a:p>
        </p:txBody>
      </p:sp>
      <p:sp>
        <p:nvSpPr>
          <p:cNvPr id="403" name="Google Shape;403;p1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19  /  268</a:t>
            </a:r>
            <a:endParaRPr sz="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8" name="Shape 408"/>
        <p:cNvGrpSpPr/>
        <p:nvPr/>
      </p:nvGrpSpPr>
      <p:grpSpPr>
        <a:xfrm>
          <a:off x="0" y="0"/>
          <a:ext cx="0" cy="0"/>
          <a:chOff x="0" y="0"/>
          <a:chExt cx="0" cy="0"/>
        </a:xfrm>
      </p:grpSpPr>
      <p:sp>
        <p:nvSpPr>
          <p:cNvPr id="409" name="Google Shape;409;p1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1</a:t>
            </a:r>
            <a:endParaRPr sz="1200"/>
          </a:p>
        </p:txBody>
      </p:sp>
      <p:sp>
        <p:nvSpPr>
          <p:cNvPr id="410" name="Google Shape;410;p1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What Makes a Question Causal</a:t>
            </a:r>
            <a:endParaRPr sz="3400"/>
          </a:p>
        </p:txBody>
      </p:sp>
      <p:sp>
        <p:nvSpPr>
          <p:cNvPr id="411" name="Google Shape;411;p18"/>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causal question always implies a hypothetical manipulation — even when we can only observe.</a:t>
            </a:r>
            <a:endParaRPr sz="1450"/>
          </a:p>
        </p:txBody>
      </p:sp>
      <p:sp>
        <p:nvSpPr>
          <p:cNvPr id="412" name="Google Shape;412;p18"/>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8"/>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manipulation test</a:t>
            </a:r>
            <a:endParaRPr sz="1500"/>
          </a:p>
        </p:txBody>
      </p:sp>
      <p:sp>
        <p:nvSpPr>
          <p:cNvPr id="414" name="Google Shape;414;p18"/>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If you cannot describe how, in principle, treatment could be set, the causal question is ill-posed (‘the effect of race’ vs. ‘the effect of a name on a résumé’).</a:t>
            </a:r>
            <a:endParaRPr sz="1250"/>
          </a:p>
        </p:txBody>
      </p:sp>
      <p:sp>
        <p:nvSpPr>
          <p:cNvPr id="415" name="Google Shape;415;p18"/>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8"/>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Well-defined interventions</a:t>
            </a:r>
            <a:endParaRPr sz="1500"/>
          </a:p>
        </p:txBody>
      </p:sp>
      <p:sp>
        <p:nvSpPr>
          <p:cNvPr id="417" name="Google Shape;417;p18"/>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Precisely specifying the intervention removes ambiguity in the estimand and its interpretation.</a:t>
            </a:r>
            <a:endParaRPr sz="1250"/>
          </a:p>
        </p:txBody>
      </p:sp>
      <p:sp>
        <p:nvSpPr>
          <p:cNvPr id="418" name="Google Shape;418;p18"/>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8"/>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Consistency with SUTVA</a:t>
            </a:r>
            <a:endParaRPr sz="1500"/>
          </a:p>
        </p:txBody>
      </p:sp>
      <p:sp>
        <p:nvSpPr>
          <p:cNvPr id="420" name="Google Shape;420;p18"/>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One version of treatment, no interference — both introduced formally in Hour 3.</a:t>
            </a:r>
            <a:endParaRPr sz="1250"/>
          </a:p>
        </p:txBody>
      </p:sp>
      <p:sp>
        <p:nvSpPr>
          <p:cNvPr id="421" name="Google Shape;421;p1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FOUNDATIONS</a:t>
            </a:r>
            <a:endParaRPr sz="900"/>
          </a:p>
        </p:txBody>
      </p:sp>
      <p:sp>
        <p:nvSpPr>
          <p:cNvPr id="422" name="Google Shape;422;p1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20  /  268</a:t>
            </a:r>
            <a:endParaRPr sz="9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 name="Shape 427"/>
        <p:cNvGrpSpPr/>
        <p:nvPr/>
      </p:nvGrpSpPr>
      <p:grpSpPr>
        <a:xfrm>
          <a:off x="0" y="0"/>
          <a:ext cx="0" cy="0"/>
          <a:chOff x="0" y="0"/>
          <a:chExt cx="0" cy="0"/>
        </a:xfrm>
      </p:grpSpPr>
      <p:sp>
        <p:nvSpPr>
          <p:cNvPr id="428" name="Google Shape;428;p1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1</a:t>
            </a:r>
            <a:endParaRPr sz="1200"/>
          </a:p>
        </p:txBody>
      </p:sp>
      <p:sp>
        <p:nvSpPr>
          <p:cNvPr id="429" name="Google Shape;429;p1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Prediction vs. Causation: A Working Contrast</a:t>
            </a:r>
            <a:endParaRPr sz="3400"/>
          </a:p>
        </p:txBody>
      </p:sp>
      <p:sp>
        <p:nvSpPr>
          <p:cNvPr id="430" name="Google Shape;430;p19"/>
          <p:cNvSpPr/>
          <p:nvPr/>
        </p:nvSpPr>
        <p:spPr>
          <a:xfrm>
            <a:off x="566928" y="1828800"/>
            <a:ext cx="5254600" cy="4160520"/>
          </a:xfrm>
          <a:prstGeom prst="roundRect">
            <a:avLst>
              <a:gd fmla="val 2198"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859536" y="2084832"/>
            <a:ext cx="466938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PREDICTIVE MODELLING</a:t>
            </a:r>
            <a:endParaRPr sz="1100"/>
          </a:p>
        </p:txBody>
      </p:sp>
      <p:sp>
        <p:nvSpPr>
          <p:cNvPr id="432" name="Google Shape;432;p19"/>
          <p:cNvSpPr/>
          <p:nvPr/>
        </p:nvSpPr>
        <p:spPr>
          <a:xfrm>
            <a:off x="859536" y="2377440"/>
            <a:ext cx="466938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900"/>
              <a:buFont typeface="Cambria"/>
              <a:buNone/>
            </a:pPr>
            <a:r>
              <a:rPr b="1" lang="en-US" sz="1900">
                <a:solidFill>
                  <a:srgbClr val="16233F"/>
                </a:solidFill>
                <a:latin typeface="Cambria"/>
                <a:ea typeface="Cambria"/>
                <a:cs typeface="Cambria"/>
                <a:sym typeface="Cambria"/>
              </a:rPr>
              <a:t>Optimises Fit</a:t>
            </a:r>
            <a:endParaRPr sz="1900"/>
          </a:p>
        </p:txBody>
      </p:sp>
      <p:sp>
        <p:nvSpPr>
          <p:cNvPr id="433" name="Google Shape;433;p19"/>
          <p:cNvSpPr/>
          <p:nvPr/>
        </p:nvSpPr>
        <p:spPr>
          <a:xfrm>
            <a:off x="877824" y="3026664"/>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9"/>
          <p:cNvSpPr/>
          <p:nvPr/>
        </p:nvSpPr>
        <p:spPr>
          <a:xfrm>
            <a:off x="1115568" y="2971800"/>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Goal: minimise out-of-sample loss on Y.</a:t>
            </a:r>
            <a:endParaRPr sz="1250"/>
          </a:p>
        </p:txBody>
      </p:sp>
      <p:sp>
        <p:nvSpPr>
          <p:cNvPr id="435" name="Google Shape;435;p19"/>
          <p:cNvSpPr/>
          <p:nvPr/>
        </p:nvSpPr>
        <p:spPr>
          <a:xfrm>
            <a:off x="877824" y="3685032"/>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9"/>
          <p:cNvSpPr/>
          <p:nvPr/>
        </p:nvSpPr>
        <p:spPr>
          <a:xfrm>
            <a:off x="1115568" y="3630168"/>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Any feature that improves prediction is welcome — including post-treatment ones.</a:t>
            </a:r>
            <a:endParaRPr sz="1250"/>
          </a:p>
        </p:txBody>
      </p:sp>
      <p:sp>
        <p:nvSpPr>
          <p:cNvPr id="437" name="Google Shape;437;p19"/>
          <p:cNvSpPr/>
          <p:nvPr/>
        </p:nvSpPr>
        <p:spPr>
          <a:xfrm>
            <a:off x="877824" y="4343400"/>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9"/>
          <p:cNvSpPr/>
          <p:nvPr/>
        </p:nvSpPr>
        <p:spPr>
          <a:xfrm>
            <a:off x="1115568" y="4288536"/>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Success = accuracy / AUC / calibration.</a:t>
            </a:r>
            <a:endParaRPr sz="1250"/>
          </a:p>
        </p:txBody>
      </p:sp>
      <p:sp>
        <p:nvSpPr>
          <p:cNvPr id="439" name="Google Shape;439;p19"/>
          <p:cNvSpPr/>
          <p:nvPr/>
        </p:nvSpPr>
        <p:spPr>
          <a:xfrm>
            <a:off x="877824" y="5001768"/>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9"/>
          <p:cNvSpPr/>
          <p:nvPr/>
        </p:nvSpPr>
        <p:spPr>
          <a:xfrm>
            <a:off x="1115568" y="4946904"/>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great predictor can be a terrible basis for a decision.</a:t>
            </a:r>
            <a:endParaRPr sz="1250"/>
          </a:p>
        </p:txBody>
      </p:sp>
      <p:sp>
        <p:nvSpPr>
          <p:cNvPr id="441" name="Google Shape;441;p19"/>
          <p:cNvSpPr/>
          <p:nvPr/>
        </p:nvSpPr>
        <p:spPr>
          <a:xfrm>
            <a:off x="6370168" y="1828800"/>
            <a:ext cx="5254600" cy="4160520"/>
          </a:xfrm>
          <a:prstGeom prst="roundRect">
            <a:avLst>
              <a:gd fmla="val 2198" name="adj"/>
            </a:avLst>
          </a:prstGeom>
          <a:solidFill>
            <a:srgbClr val="E4EAF3"/>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9"/>
          <p:cNvSpPr/>
          <p:nvPr/>
        </p:nvSpPr>
        <p:spPr>
          <a:xfrm>
            <a:off x="6662776" y="2084832"/>
            <a:ext cx="466938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1100"/>
              <a:buFont typeface="Calibri"/>
              <a:buNone/>
            </a:pPr>
            <a:r>
              <a:rPr b="1" lang="en-US" sz="1100">
                <a:solidFill>
                  <a:srgbClr val="EA7B38"/>
                </a:solidFill>
                <a:latin typeface="Calibri"/>
                <a:ea typeface="Calibri"/>
                <a:cs typeface="Calibri"/>
                <a:sym typeface="Calibri"/>
              </a:rPr>
              <a:t>CAUSAL MODELLING</a:t>
            </a:r>
            <a:endParaRPr sz="1100"/>
          </a:p>
        </p:txBody>
      </p:sp>
      <p:sp>
        <p:nvSpPr>
          <p:cNvPr id="443" name="Google Shape;443;p19"/>
          <p:cNvSpPr/>
          <p:nvPr/>
        </p:nvSpPr>
        <p:spPr>
          <a:xfrm>
            <a:off x="6662776" y="2377440"/>
            <a:ext cx="466938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900"/>
              <a:buFont typeface="Cambria"/>
              <a:buNone/>
            </a:pPr>
            <a:r>
              <a:rPr b="1" lang="en-US" sz="1900">
                <a:solidFill>
                  <a:srgbClr val="16233F"/>
                </a:solidFill>
                <a:latin typeface="Cambria"/>
                <a:ea typeface="Cambria"/>
                <a:cs typeface="Cambria"/>
                <a:sym typeface="Cambria"/>
              </a:rPr>
              <a:t>Optimises Interpretation</a:t>
            </a:r>
            <a:endParaRPr sz="1900"/>
          </a:p>
        </p:txBody>
      </p:sp>
      <p:sp>
        <p:nvSpPr>
          <p:cNvPr id="444" name="Google Shape;444;p19"/>
          <p:cNvSpPr/>
          <p:nvPr/>
        </p:nvSpPr>
        <p:spPr>
          <a:xfrm>
            <a:off x="6681064" y="3026664"/>
            <a:ext cx="118872" cy="118872"/>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9"/>
          <p:cNvSpPr/>
          <p:nvPr/>
        </p:nvSpPr>
        <p:spPr>
          <a:xfrm>
            <a:off x="6918808" y="2971800"/>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Goal: recover the effect of intervening on T.</a:t>
            </a:r>
            <a:endParaRPr sz="1250"/>
          </a:p>
        </p:txBody>
      </p:sp>
      <p:sp>
        <p:nvSpPr>
          <p:cNvPr id="446" name="Google Shape;446;p19"/>
          <p:cNvSpPr/>
          <p:nvPr/>
        </p:nvSpPr>
        <p:spPr>
          <a:xfrm>
            <a:off x="6681064" y="3685032"/>
            <a:ext cx="118872" cy="118872"/>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9"/>
          <p:cNvSpPr/>
          <p:nvPr/>
        </p:nvSpPr>
        <p:spPr>
          <a:xfrm>
            <a:off x="6918808" y="3630168"/>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Adjustment set is chosen by causal structure, not by fit.</a:t>
            </a:r>
            <a:endParaRPr sz="1250"/>
          </a:p>
        </p:txBody>
      </p:sp>
      <p:sp>
        <p:nvSpPr>
          <p:cNvPr id="448" name="Google Shape;448;p19"/>
          <p:cNvSpPr/>
          <p:nvPr/>
        </p:nvSpPr>
        <p:spPr>
          <a:xfrm>
            <a:off x="6681064" y="4343400"/>
            <a:ext cx="118872" cy="118872"/>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9"/>
          <p:cNvSpPr/>
          <p:nvPr/>
        </p:nvSpPr>
        <p:spPr>
          <a:xfrm>
            <a:off x="6918808" y="4288536"/>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Success = unbiased, correctly-uncertain effect.</a:t>
            </a:r>
            <a:endParaRPr sz="1250"/>
          </a:p>
        </p:txBody>
      </p:sp>
      <p:sp>
        <p:nvSpPr>
          <p:cNvPr id="450" name="Google Shape;450;p19"/>
          <p:cNvSpPr/>
          <p:nvPr/>
        </p:nvSpPr>
        <p:spPr>
          <a:xfrm>
            <a:off x="6681064" y="5001768"/>
            <a:ext cx="118872" cy="118872"/>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9"/>
          <p:cNvSpPr/>
          <p:nvPr/>
        </p:nvSpPr>
        <p:spPr>
          <a:xfrm>
            <a:off x="6918808" y="4946904"/>
            <a:ext cx="4431640"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Adding the ‘wrong’ control can inject bias, not reduce it.</a:t>
            </a:r>
            <a:endParaRPr sz="1250"/>
          </a:p>
        </p:txBody>
      </p:sp>
      <p:sp>
        <p:nvSpPr>
          <p:cNvPr id="452" name="Google Shape;452;p1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FOUNDATIONS</a:t>
            </a:r>
            <a:endParaRPr sz="900"/>
          </a:p>
        </p:txBody>
      </p:sp>
      <p:sp>
        <p:nvSpPr>
          <p:cNvPr id="453" name="Google Shape;453;p1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21  /  268</a:t>
            </a:r>
            <a:endParaRPr sz="9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sp>
        <p:nvSpPr>
          <p:cNvPr id="459" name="Google Shape;459;p2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1</a:t>
            </a:r>
            <a:endParaRPr sz="1200"/>
          </a:p>
        </p:txBody>
      </p:sp>
      <p:sp>
        <p:nvSpPr>
          <p:cNvPr id="460" name="Google Shape;460;p2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Quick Check: Causal or Predictive?</a:t>
            </a:r>
            <a:endParaRPr sz="3400"/>
          </a:p>
        </p:txBody>
      </p:sp>
      <p:sp>
        <p:nvSpPr>
          <p:cNvPr id="461" name="Google Shape;461;p20"/>
          <p:cNvSpPr/>
          <p:nvPr/>
        </p:nvSpPr>
        <p:spPr>
          <a:xfrm>
            <a:off x="566928" y="1783080"/>
            <a:ext cx="11057839"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350"/>
              <a:buFont typeface="Calibri"/>
              <a:buNone/>
            </a:pPr>
            <a:r>
              <a:rPr lang="en-US" sz="1350">
                <a:solidFill>
                  <a:srgbClr val="566581"/>
                </a:solidFill>
                <a:latin typeface="Calibri"/>
                <a:ea typeface="Calibri"/>
                <a:cs typeface="Calibri"/>
                <a:sym typeface="Calibri"/>
              </a:rPr>
              <a:t>Classify each. We debrief live before moving to potential outcomes.</a:t>
            </a:r>
            <a:endParaRPr sz="1350"/>
          </a:p>
        </p:txBody>
      </p:sp>
      <p:sp>
        <p:nvSpPr>
          <p:cNvPr id="462" name="Google Shape;462;p20"/>
          <p:cNvSpPr/>
          <p:nvPr/>
        </p:nvSpPr>
        <p:spPr>
          <a:xfrm>
            <a:off x="566928" y="2331720"/>
            <a:ext cx="11057839" cy="1100328"/>
          </a:xfrm>
          <a:prstGeom prst="roundRect">
            <a:avLst>
              <a:gd fmla="val 6648"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0"/>
          <p:cNvSpPr/>
          <p:nvPr/>
        </p:nvSpPr>
        <p:spPr>
          <a:xfrm>
            <a:off x="768096" y="251460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0"/>
          <p:cNvSpPr/>
          <p:nvPr/>
        </p:nvSpPr>
        <p:spPr>
          <a:xfrm>
            <a:off x="768096" y="25146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465" name="Google Shape;465;p20"/>
          <p:cNvSpPr/>
          <p:nvPr/>
        </p:nvSpPr>
        <p:spPr>
          <a:xfrm>
            <a:off x="1344168" y="247802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‘Which customers are most likely to churn next month?’</a:t>
            </a:r>
            <a:endParaRPr sz="1400"/>
          </a:p>
        </p:txBody>
      </p:sp>
      <p:sp>
        <p:nvSpPr>
          <p:cNvPr id="466" name="Google Shape;466;p20"/>
          <p:cNvSpPr/>
          <p:nvPr/>
        </p:nvSpPr>
        <p:spPr>
          <a:xfrm>
            <a:off x="1344168" y="2935224"/>
            <a:ext cx="10051999" cy="441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Predictive      B) Causal</a:t>
            </a:r>
            <a:endParaRPr sz="1200"/>
          </a:p>
        </p:txBody>
      </p:sp>
      <p:sp>
        <p:nvSpPr>
          <p:cNvPr id="467" name="Google Shape;467;p20"/>
          <p:cNvSpPr/>
          <p:nvPr/>
        </p:nvSpPr>
        <p:spPr>
          <a:xfrm>
            <a:off x="566928" y="3596640"/>
            <a:ext cx="11057839" cy="1100328"/>
          </a:xfrm>
          <a:prstGeom prst="roundRect">
            <a:avLst>
              <a:gd fmla="val 6648"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0"/>
          <p:cNvSpPr/>
          <p:nvPr/>
        </p:nvSpPr>
        <p:spPr>
          <a:xfrm>
            <a:off x="768096" y="37795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0"/>
          <p:cNvSpPr/>
          <p:nvPr/>
        </p:nvSpPr>
        <p:spPr>
          <a:xfrm>
            <a:off x="768096" y="37795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470" name="Google Shape;470;p20"/>
          <p:cNvSpPr/>
          <p:nvPr/>
        </p:nvSpPr>
        <p:spPr>
          <a:xfrm>
            <a:off x="1344168" y="37429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‘Will offering this discount reduce churn?’</a:t>
            </a:r>
            <a:endParaRPr sz="1400"/>
          </a:p>
        </p:txBody>
      </p:sp>
      <p:sp>
        <p:nvSpPr>
          <p:cNvPr id="471" name="Google Shape;471;p20"/>
          <p:cNvSpPr/>
          <p:nvPr/>
        </p:nvSpPr>
        <p:spPr>
          <a:xfrm>
            <a:off x="1344168" y="4200144"/>
            <a:ext cx="10051999" cy="441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Predictive      B) Causal</a:t>
            </a:r>
            <a:endParaRPr sz="1200"/>
          </a:p>
        </p:txBody>
      </p:sp>
      <p:sp>
        <p:nvSpPr>
          <p:cNvPr id="472" name="Google Shape;472;p20"/>
          <p:cNvSpPr/>
          <p:nvPr/>
        </p:nvSpPr>
        <p:spPr>
          <a:xfrm>
            <a:off x="566928" y="4861560"/>
            <a:ext cx="11057839" cy="1100328"/>
          </a:xfrm>
          <a:prstGeom prst="roundRect">
            <a:avLst>
              <a:gd fmla="val 6648"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0"/>
          <p:cNvSpPr/>
          <p:nvPr/>
        </p:nvSpPr>
        <p:spPr>
          <a:xfrm>
            <a:off x="768096" y="504444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0"/>
          <p:cNvSpPr/>
          <p:nvPr/>
        </p:nvSpPr>
        <p:spPr>
          <a:xfrm>
            <a:off x="768096" y="504444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475" name="Google Shape;475;p20"/>
          <p:cNvSpPr/>
          <p:nvPr/>
        </p:nvSpPr>
        <p:spPr>
          <a:xfrm>
            <a:off x="1344168" y="500786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‘What retention would we see if we had never launched the flow?’</a:t>
            </a:r>
            <a:endParaRPr sz="1400"/>
          </a:p>
        </p:txBody>
      </p:sp>
      <p:sp>
        <p:nvSpPr>
          <p:cNvPr id="476" name="Google Shape;476;p20"/>
          <p:cNvSpPr/>
          <p:nvPr/>
        </p:nvSpPr>
        <p:spPr>
          <a:xfrm>
            <a:off x="1344168" y="5465064"/>
            <a:ext cx="10051999" cy="441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Predictive      B) Counterfactual</a:t>
            </a:r>
            <a:endParaRPr sz="1200"/>
          </a:p>
        </p:txBody>
      </p:sp>
      <p:sp>
        <p:nvSpPr>
          <p:cNvPr id="477" name="Google Shape;477;p2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FOUNDATIONS</a:t>
            </a:r>
            <a:endParaRPr sz="900"/>
          </a:p>
        </p:txBody>
      </p:sp>
      <p:sp>
        <p:nvSpPr>
          <p:cNvPr id="478" name="Google Shape;478;p2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22  /  268</a:t>
            </a:r>
            <a:endParaRPr sz="9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483" name="Shape 483"/>
        <p:cNvGrpSpPr/>
        <p:nvPr/>
      </p:nvGrpSpPr>
      <p:grpSpPr>
        <a:xfrm>
          <a:off x="0" y="0"/>
          <a:ext cx="0" cy="0"/>
          <a:chOff x="0" y="0"/>
          <a:chExt cx="0" cy="0"/>
        </a:xfrm>
      </p:grpSpPr>
      <p:sp>
        <p:nvSpPr>
          <p:cNvPr id="484" name="Google Shape;484;p21"/>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1 · HOUR 2</a:t>
            </a:r>
            <a:endParaRPr sz="1300"/>
          </a:p>
        </p:txBody>
      </p:sp>
      <p:sp>
        <p:nvSpPr>
          <p:cNvPr id="485" name="Google Shape;485;p21"/>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The Potential Outcomes Framework</a:t>
            </a:r>
            <a:endParaRPr sz="4000"/>
          </a:p>
        </p:txBody>
      </p:sp>
      <p:sp>
        <p:nvSpPr>
          <p:cNvPr id="486" name="Google Shape;486;p21"/>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The Neyman–Rubin causal model: counterfactual outcomes, individual and average effects, and the fundamental problem.</a:t>
            </a:r>
            <a:endParaRPr sz="1500"/>
          </a:p>
        </p:txBody>
      </p:sp>
      <p:cxnSp>
        <p:nvCxnSpPr>
          <p:cNvPr id="487" name="Google Shape;487;p21"/>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488" name="Google Shape;488;p2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1</a:t>
            </a:r>
            <a:endParaRPr sz="900"/>
          </a:p>
        </p:txBody>
      </p:sp>
      <p:sp>
        <p:nvSpPr>
          <p:cNvPr id="489" name="Google Shape;489;p2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23  /  268</a:t>
            </a:r>
            <a:endParaRPr sz="9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4" name="Shape 494"/>
        <p:cNvGrpSpPr/>
        <p:nvPr/>
      </p:nvGrpSpPr>
      <p:grpSpPr>
        <a:xfrm>
          <a:off x="0" y="0"/>
          <a:ext cx="0" cy="0"/>
          <a:chOff x="0" y="0"/>
          <a:chExt cx="0" cy="0"/>
        </a:xfrm>
      </p:grpSpPr>
      <p:sp>
        <p:nvSpPr>
          <p:cNvPr id="495" name="Google Shape;495;p2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2</a:t>
            </a:r>
            <a:endParaRPr sz="1200"/>
          </a:p>
        </p:txBody>
      </p:sp>
      <p:sp>
        <p:nvSpPr>
          <p:cNvPr id="496" name="Google Shape;496;p2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Potential Outcomes: The Core Idea</a:t>
            </a:r>
            <a:endParaRPr sz="3400"/>
          </a:p>
        </p:txBody>
      </p:sp>
      <p:sp>
        <p:nvSpPr>
          <p:cNvPr id="497" name="Google Shape;497;p22"/>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Each unit i carries two potential outcomes: Yᵢ(1) if treated and Yᵢ(0) if not. Both exist in principle; we observe only one.</a:t>
            </a:r>
            <a:endParaRPr sz="1450"/>
          </a:p>
        </p:txBody>
      </p:sp>
      <p:sp>
        <p:nvSpPr>
          <p:cNvPr id="498" name="Google Shape;498;p22"/>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2"/>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Individual treatment effect</a:t>
            </a:r>
            <a:endParaRPr sz="1500"/>
          </a:p>
        </p:txBody>
      </p:sp>
      <p:sp>
        <p:nvSpPr>
          <p:cNvPr id="500" name="Google Shape;500;p22"/>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τᵢ = Yᵢ(1) − Yᵢ(0). The causal effect for unit i is a contrast between two states of the same unit.</a:t>
            </a:r>
            <a:endParaRPr sz="1250"/>
          </a:p>
        </p:txBody>
      </p:sp>
      <p:sp>
        <p:nvSpPr>
          <p:cNvPr id="501" name="Google Shape;501;p22"/>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2"/>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observed outcome</a:t>
            </a:r>
            <a:endParaRPr sz="1500"/>
          </a:p>
        </p:txBody>
      </p:sp>
      <p:sp>
        <p:nvSpPr>
          <p:cNvPr id="503" name="Google Shape;503;p22"/>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Yᵢ = Tᵢ·Yᵢ(1) + (1−Tᵢ)·Yᵢ(0). Treatment selects which potential outcome we get to see.</a:t>
            </a:r>
            <a:endParaRPr sz="1250"/>
          </a:p>
        </p:txBody>
      </p:sp>
      <p:sp>
        <p:nvSpPr>
          <p:cNvPr id="504" name="Google Shape;504;p22"/>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2"/>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Counterfactual = missing data</a:t>
            </a:r>
            <a:endParaRPr sz="1500"/>
          </a:p>
        </p:txBody>
      </p:sp>
      <p:sp>
        <p:nvSpPr>
          <p:cNvPr id="506" name="Google Shape;506;p22"/>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unobserved potential outcome is a missing value; causal inference is, formally, a missing-data problem.</a:t>
            </a:r>
            <a:endParaRPr sz="1250"/>
          </a:p>
        </p:txBody>
      </p:sp>
      <p:sp>
        <p:nvSpPr>
          <p:cNvPr id="507" name="Google Shape;507;p22"/>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2"/>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UNIT TABLE</a:t>
            </a:r>
            <a:endParaRPr sz="1100"/>
          </a:p>
        </p:txBody>
      </p:sp>
      <p:sp>
        <p:nvSpPr>
          <p:cNvPr id="509" name="Google Shape;509;p22"/>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Y(1),Y(0)</a:t>
            </a:r>
            <a:endParaRPr sz="5400"/>
          </a:p>
        </p:txBody>
      </p:sp>
      <p:sp>
        <p:nvSpPr>
          <p:cNvPr id="510" name="Google Shape;510;p22"/>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Imagine a spreadsheet with both columns filled in. Reality hands you one cell per row and hides the other. Every method is a strategy for the hidden column.</a:t>
            </a:r>
            <a:endParaRPr sz="1300"/>
          </a:p>
        </p:txBody>
      </p:sp>
      <p:sp>
        <p:nvSpPr>
          <p:cNvPr id="511" name="Google Shape;511;p2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POTENTIAL OUTCOMES</a:t>
            </a:r>
            <a:endParaRPr sz="900"/>
          </a:p>
        </p:txBody>
      </p:sp>
      <p:sp>
        <p:nvSpPr>
          <p:cNvPr id="512" name="Google Shape;512;p2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24  /  268</a:t>
            </a:r>
            <a:endParaRPr sz="90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2</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Two Worlds You Cannot Both Visit</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Every unit carries two potential outcomes. Exactly one of them ever happens; the other is a counterfactual that no amount of data can recover.</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WHY IT MATTERS</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The individual effect τᵢ is not merely hard to measure — it is undefined in the data.</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This is why causal inference is a missing-data problem, and why the entire discipline is about when a treated group may legitimately stand in for a control group's missing world.</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POTENTIAL OUTCOMES</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25  /  268</a:t>
            </a:r>
            <a:endParaRPr sz="900"/>
          </a:p>
        </p:txBody>
      </p:sp>
      <p:pic>
        <p:nvPicPr>
          <p:cNvPr id="279" name="Picture 278" descr="m1_two_worlds.png"/>
          <p:cNvPicPr>
            <a:picLocks noChangeAspect="1"/>
          </p:cNvPicPr>
          <p:nvPr/>
        </p:nvPicPr>
        <p:blipFill>
          <a:blip r:embed="rId2"/>
          <a:stretch>
            <a:fillRect/>
          </a:stretch>
        </p:blipFill>
        <p:spPr>
          <a:xfrm>
            <a:off x="666337" y="2249424"/>
            <a:ext cx="7591868" cy="387705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7" name="Shape 517"/>
        <p:cNvGrpSpPr/>
        <p:nvPr/>
      </p:nvGrpSpPr>
      <p:grpSpPr>
        <a:xfrm>
          <a:off x="0" y="0"/>
          <a:ext cx="0" cy="0"/>
          <a:chOff x="0" y="0"/>
          <a:chExt cx="0" cy="0"/>
        </a:xfrm>
      </p:grpSpPr>
      <p:sp>
        <p:nvSpPr>
          <p:cNvPr id="518" name="Google Shape;518;p2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2</a:t>
            </a:r>
            <a:endParaRPr sz="1200"/>
          </a:p>
        </p:txBody>
      </p:sp>
      <p:sp>
        <p:nvSpPr>
          <p:cNvPr id="519" name="Google Shape;519;p2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Fundamental Problem of Causal Inference</a:t>
            </a:r>
            <a:endParaRPr sz="3400"/>
          </a:p>
        </p:txBody>
      </p:sp>
      <p:sp>
        <p:nvSpPr>
          <p:cNvPr id="520" name="Google Shape;520;p23"/>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We can never observe both Yᵢ(1) and Yᵢ(0) for the same unit at the same time. Individual effects are, in general, unobservable.</a:t>
            </a:r>
            <a:endParaRPr sz="1450"/>
          </a:p>
        </p:txBody>
      </p:sp>
      <p:sp>
        <p:nvSpPr>
          <p:cNvPr id="521" name="Google Shape;521;p23"/>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3"/>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Holland's statement</a:t>
            </a:r>
            <a:endParaRPr sz="1500"/>
          </a:p>
        </p:txBody>
      </p:sp>
      <p:sp>
        <p:nvSpPr>
          <p:cNvPr id="523" name="Google Shape;523;p23"/>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For any unit we see the factual outcome and lose the counterfactual — so τᵢ is never directly measured.</a:t>
            </a:r>
            <a:endParaRPr sz="1250"/>
          </a:p>
        </p:txBody>
      </p:sp>
      <p:sp>
        <p:nvSpPr>
          <p:cNvPr id="524" name="Google Shape;524;p23"/>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3"/>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Why averages rescue us</a:t>
            </a:r>
            <a:endParaRPr sz="1500"/>
          </a:p>
        </p:txBody>
      </p:sp>
      <p:sp>
        <p:nvSpPr>
          <p:cNvPr id="526" name="Google Shape;526;p23"/>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While τᵢ is hidden, the average effect over a population can be identified under the right design.</a:t>
            </a:r>
            <a:endParaRPr sz="1250"/>
          </a:p>
        </p:txBody>
      </p:sp>
      <p:sp>
        <p:nvSpPr>
          <p:cNvPr id="527" name="Google Shape;527;p23"/>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3"/>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switch of target</a:t>
            </a:r>
            <a:endParaRPr sz="1500"/>
          </a:p>
        </p:txBody>
      </p:sp>
      <p:sp>
        <p:nvSpPr>
          <p:cNvPr id="529" name="Google Shape;529;p23"/>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We shift from the impossible (individual) to the feasible (population or subgroup) causal quantity.</a:t>
            </a:r>
            <a:endParaRPr sz="1250"/>
          </a:p>
        </p:txBody>
      </p:sp>
      <p:sp>
        <p:nvSpPr>
          <p:cNvPr id="530" name="Google Shape;530;p23"/>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3"/>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CONSEQUENCE</a:t>
            </a:r>
            <a:endParaRPr sz="1100"/>
          </a:p>
        </p:txBody>
      </p:sp>
      <p:sp>
        <p:nvSpPr>
          <p:cNvPr id="532" name="Google Shape;532;p23"/>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Everything that follows — randomization, matching, DiD, IV — is a device for filling in the missing counterfactual, on average, credibly.</a:t>
            </a:r>
            <a:endParaRPr sz="1350"/>
          </a:p>
        </p:txBody>
      </p:sp>
      <p:sp>
        <p:nvSpPr>
          <p:cNvPr id="533" name="Google Shape;533;p2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POTENTIAL OUTCOMES</a:t>
            </a:r>
            <a:endParaRPr sz="900"/>
          </a:p>
        </p:txBody>
      </p:sp>
      <p:sp>
        <p:nvSpPr>
          <p:cNvPr id="534" name="Google Shape;534;p2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26  /  268</a:t>
            </a:r>
            <a:endParaRPr sz="9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2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2</a:t>
            </a:r>
            <a:endParaRPr sz="1200"/>
          </a:p>
        </p:txBody>
      </p:sp>
      <p:sp>
        <p:nvSpPr>
          <p:cNvPr id="541" name="Google Shape;541;p2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 Family of Causal Estimands</a:t>
            </a:r>
            <a:endParaRPr sz="3400"/>
          </a:p>
        </p:txBody>
      </p:sp>
      <p:sp>
        <p:nvSpPr>
          <p:cNvPr id="542" name="Google Shape;542;p24"/>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Different decisions target different averages. Naming the estimand is step one.</a:t>
            </a:r>
            <a:endParaRPr sz="1400"/>
          </a:p>
        </p:txBody>
      </p:sp>
      <p:sp>
        <p:nvSpPr>
          <p:cNvPr id="543" name="Google Shape;543;p24"/>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4"/>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ATE</a:t>
            </a:r>
            <a:endParaRPr sz="1300"/>
          </a:p>
        </p:txBody>
      </p:sp>
      <p:sp>
        <p:nvSpPr>
          <p:cNvPr id="545" name="Google Shape;545;p24"/>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Average Treatment Effect</a:t>
            </a:r>
            <a:endParaRPr sz="1600"/>
          </a:p>
        </p:txBody>
      </p:sp>
      <p:sp>
        <p:nvSpPr>
          <p:cNvPr id="546" name="Google Shape;546;p24"/>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E[Y(1) − Y(0)] over the whole population. ‘If everyone were treated vs. no one.’</a:t>
            </a:r>
            <a:endParaRPr sz="1250"/>
          </a:p>
        </p:txBody>
      </p:sp>
      <p:sp>
        <p:nvSpPr>
          <p:cNvPr id="547" name="Google Shape;547;p24"/>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4"/>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ATT</a:t>
            </a:r>
            <a:endParaRPr sz="1300"/>
          </a:p>
        </p:txBody>
      </p:sp>
      <p:sp>
        <p:nvSpPr>
          <p:cNvPr id="549" name="Google Shape;549;p24"/>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Effect on the Treated</a:t>
            </a:r>
            <a:endParaRPr sz="1600"/>
          </a:p>
        </p:txBody>
      </p:sp>
      <p:sp>
        <p:nvSpPr>
          <p:cNvPr id="550" name="Google Shape;550;p24"/>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E[Y(1) − Y(0) | T = 1]. ‘For those who actually got it, how much did it help?’ Often the policy-relevant one.</a:t>
            </a:r>
            <a:endParaRPr sz="1250"/>
          </a:p>
        </p:txBody>
      </p:sp>
      <p:sp>
        <p:nvSpPr>
          <p:cNvPr id="551" name="Google Shape;551;p24"/>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4"/>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CATE</a:t>
            </a:r>
            <a:endParaRPr sz="1300"/>
          </a:p>
        </p:txBody>
      </p:sp>
      <p:sp>
        <p:nvSpPr>
          <p:cNvPr id="553" name="Google Shape;553;p24"/>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Conditional / Heterogeneous</a:t>
            </a:r>
            <a:endParaRPr sz="1600"/>
          </a:p>
        </p:txBody>
      </p:sp>
      <p:sp>
        <p:nvSpPr>
          <p:cNvPr id="554" name="Google Shape;554;p24"/>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τ(x) = E[Y(1) − Y(0) | X = x]. Effects that vary by subgroup — the basis of targeting and personalisation.</a:t>
            </a:r>
            <a:endParaRPr sz="1250"/>
          </a:p>
        </p:txBody>
      </p:sp>
      <p:sp>
        <p:nvSpPr>
          <p:cNvPr id="555" name="Google Shape;555;p24"/>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4"/>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ITT</a:t>
            </a:r>
            <a:endParaRPr sz="1300"/>
          </a:p>
        </p:txBody>
      </p:sp>
      <p:sp>
        <p:nvSpPr>
          <p:cNvPr id="557" name="Google Shape;557;p24"/>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Intention-to-Treat</a:t>
            </a:r>
            <a:endParaRPr sz="1600"/>
          </a:p>
        </p:txBody>
      </p:sp>
      <p:sp>
        <p:nvSpPr>
          <p:cNvPr id="558" name="Google Shape;558;p24"/>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Effect of being assigned treatment, regardless of compliance. What a real rollout can actually deliver.</a:t>
            </a:r>
            <a:endParaRPr sz="1250"/>
          </a:p>
        </p:txBody>
      </p:sp>
      <p:sp>
        <p:nvSpPr>
          <p:cNvPr id="559" name="Google Shape;559;p2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POTENTIAL OUTCOMES</a:t>
            </a:r>
            <a:endParaRPr sz="900"/>
          </a:p>
        </p:txBody>
      </p:sp>
      <p:sp>
        <p:nvSpPr>
          <p:cNvPr id="560" name="Google Shape;560;p2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27  /  268</a:t>
            </a:r>
            <a:endParaRPr sz="9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p2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2</a:t>
            </a:r>
            <a:endParaRPr sz="1200"/>
          </a:p>
        </p:txBody>
      </p:sp>
      <p:sp>
        <p:nvSpPr>
          <p:cNvPr id="567" name="Google Shape;567;p2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 Worked Numerical Example</a:t>
            </a:r>
            <a:endParaRPr sz="3400"/>
          </a:p>
        </p:txBody>
      </p:sp>
      <p:sp>
        <p:nvSpPr>
          <p:cNvPr id="568" name="Google Shape;568;p25"/>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Six users, hypothetical full potential-outcomes table. Retention days under treatment Y(1) and control Y(0).</a:t>
            </a:r>
            <a:endParaRPr sz="1450"/>
          </a:p>
        </p:txBody>
      </p:sp>
      <p:sp>
        <p:nvSpPr>
          <p:cNvPr id="569" name="Google Shape;569;p25"/>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5"/>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full (oracle) table</a:t>
            </a:r>
            <a:endParaRPr sz="1500"/>
          </a:p>
        </p:txBody>
      </p:sp>
      <p:sp>
        <p:nvSpPr>
          <p:cNvPr id="571" name="Google Shape;571;p25"/>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Y(1) = [30,25,40,22,35,28]; Y(0) = [24,26,31,20,27,25]. True ATE = mean(Y(1)−Y(0)) = +4.17 days.</a:t>
            </a:r>
            <a:endParaRPr sz="1250"/>
          </a:p>
        </p:txBody>
      </p:sp>
      <p:sp>
        <p:nvSpPr>
          <p:cNvPr id="572" name="Google Shape;572;p25"/>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5"/>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What we actually see</a:t>
            </a:r>
            <a:endParaRPr sz="1500"/>
          </a:p>
        </p:txBody>
      </p:sp>
      <p:sp>
        <p:nvSpPr>
          <p:cNvPr id="574" name="Google Shape;574;p25"/>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If units 1,3,5 are treated and 2,4,6 control, we observe only [30,·,40,·,35,·] and [·,26,·,20,·,25].</a:t>
            </a:r>
            <a:endParaRPr sz="1250"/>
          </a:p>
        </p:txBody>
      </p:sp>
      <p:sp>
        <p:nvSpPr>
          <p:cNvPr id="575" name="Google Shape;575;p25"/>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5"/>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naive difference</a:t>
            </a:r>
            <a:endParaRPr sz="1500"/>
          </a:p>
        </p:txBody>
      </p:sp>
      <p:sp>
        <p:nvSpPr>
          <p:cNvPr id="577" name="Google Shape;577;p25"/>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Mean(treated) − mean(control) = 35 − 23.7 = +11.3 — far above the true +4.17 because treated units were healthier to begin with.</a:t>
            </a:r>
            <a:endParaRPr sz="1250"/>
          </a:p>
        </p:txBody>
      </p:sp>
      <p:sp>
        <p:nvSpPr>
          <p:cNvPr id="578" name="Google Shape;578;p25"/>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5"/>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TRUE VS. NAIVE</a:t>
            </a:r>
            <a:endParaRPr sz="1100"/>
          </a:p>
        </p:txBody>
      </p:sp>
      <p:sp>
        <p:nvSpPr>
          <p:cNvPr id="580" name="Google Shape;580;p25"/>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4.2 vs 11.3</a:t>
            </a:r>
            <a:endParaRPr sz="5400"/>
          </a:p>
        </p:txBody>
      </p:sp>
      <p:sp>
        <p:nvSpPr>
          <p:cNvPr id="581" name="Google Shape;581;p25"/>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Selection into treatment inflated the naive estimate 2.7×. Randomization is what would have made the naive difference honest.</a:t>
            </a:r>
            <a:endParaRPr sz="1300"/>
          </a:p>
        </p:txBody>
      </p:sp>
      <p:sp>
        <p:nvSpPr>
          <p:cNvPr id="582" name="Google Shape;582;p2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POTENTIAL OUTCOMES</a:t>
            </a:r>
            <a:endParaRPr sz="900"/>
          </a:p>
        </p:txBody>
      </p:sp>
      <p:sp>
        <p:nvSpPr>
          <p:cNvPr id="583" name="Google Shape;583;p2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28  /  268</a:t>
            </a:r>
            <a:endParaRPr sz="9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8" name="Shape 588"/>
        <p:cNvGrpSpPr/>
        <p:nvPr/>
      </p:nvGrpSpPr>
      <p:grpSpPr>
        <a:xfrm>
          <a:off x="0" y="0"/>
          <a:ext cx="0" cy="0"/>
          <a:chOff x="0" y="0"/>
          <a:chExt cx="0" cy="0"/>
        </a:xfrm>
      </p:grpSpPr>
      <p:sp>
        <p:nvSpPr>
          <p:cNvPr id="589" name="Google Shape;589;p2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2</a:t>
            </a:r>
            <a:endParaRPr sz="1200"/>
          </a:p>
        </p:txBody>
      </p:sp>
      <p:sp>
        <p:nvSpPr>
          <p:cNvPr id="590" name="Google Shape;590;p2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Selection Bias, Made Precise</a:t>
            </a:r>
            <a:endParaRPr sz="3400"/>
          </a:p>
        </p:txBody>
      </p:sp>
      <p:sp>
        <p:nvSpPr>
          <p:cNvPr id="591" name="Google Shape;591;p26"/>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naive difference decomposes cleanly, exposing exactly what randomization removes.</a:t>
            </a:r>
            <a:endParaRPr sz="1450"/>
          </a:p>
        </p:txBody>
      </p:sp>
      <p:sp>
        <p:nvSpPr>
          <p:cNvPr id="592" name="Google Shape;592;p26"/>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6"/>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decomposition</a:t>
            </a:r>
            <a:endParaRPr sz="1500"/>
          </a:p>
        </p:txBody>
      </p:sp>
      <p:sp>
        <p:nvSpPr>
          <p:cNvPr id="594" name="Google Shape;594;p26"/>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E[Y|T=1] − E[Y|T=0] = ATT + { E[Y(0)|T=1] − E[Y(0)|T=0] }.</a:t>
            </a:r>
            <a:endParaRPr sz="1250"/>
          </a:p>
        </p:txBody>
      </p:sp>
      <p:sp>
        <p:nvSpPr>
          <p:cNvPr id="595" name="Google Shape;595;p26"/>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6"/>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bias term</a:t>
            </a:r>
            <a:endParaRPr sz="1500"/>
          </a:p>
        </p:txBody>
      </p:sp>
      <p:sp>
        <p:nvSpPr>
          <p:cNvPr id="597" name="Google Shape;597;p26"/>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braces are baseline (selection) bias: how treated and control units would have differed even without treatment.</a:t>
            </a:r>
            <a:endParaRPr sz="1250"/>
          </a:p>
        </p:txBody>
      </p:sp>
      <p:sp>
        <p:nvSpPr>
          <p:cNvPr id="598" name="Google Shape;598;p26"/>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6"/>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escape</a:t>
            </a:r>
            <a:endParaRPr sz="1500"/>
          </a:p>
        </p:txBody>
      </p:sp>
      <p:sp>
        <p:nvSpPr>
          <p:cNvPr id="600" name="Google Shape;600;p26"/>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If treatment is independent of potential outcomes, that term is zero and the naive difference equals the ATE.</a:t>
            </a:r>
            <a:endParaRPr sz="1250"/>
          </a:p>
        </p:txBody>
      </p:sp>
      <p:sp>
        <p:nvSpPr>
          <p:cNvPr id="601" name="Google Shape;601;p26"/>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6"/>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READ IT ALOUD</a:t>
            </a:r>
            <a:endParaRPr sz="1100"/>
          </a:p>
        </p:txBody>
      </p:sp>
      <p:sp>
        <p:nvSpPr>
          <p:cNvPr id="603" name="Google Shape;603;p26"/>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350">
                <a:solidFill>
                  <a:srgbClr val="16233F"/>
                </a:solidFill>
                <a:latin typeface="Calibri"/>
                <a:ea typeface="Calibri"/>
                <a:cs typeface="Calibri"/>
                <a:sym typeface="Calibri"/>
              </a:rPr>
              <a:t>Observed gap = real effect on the treated + how different the groups already were. Design is the fight to zero out the second term.</a:t>
            </a:r>
            <a:endParaRPr sz="1350"/>
          </a:p>
        </p:txBody>
      </p:sp>
      <p:sp>
        <p:nvSpPr>
          <p:cNvPr id="604" name="Google Shape;604;p2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POTENTIAL OUTCOMES</a:t>
            </a:r>
            <a:endParaRPr sz="900"/>
          </a:p>
        </p:txBody>
      </p:sp>
      <p:sp>
        <p:nvSpPr>
          <p:cNvPr id="605" name="Google Shape;605;p2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29  /  268</a:t>
            </a:r>
            <a:endParaRPr sz="90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2</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Where the Extra 14 Points Came From</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same feature, the same platform, the same outcome metric — measured once with self-selection and once with a coin flip.</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READ IT ALOUD</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The naive difference is not a noisy version of the truth. It is the truth PLUS a second quantity that has nothing to do with the feature.</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Selection bias here is nearly three times the real effect. A team acting on the red bar would have credited the uploader with work that digital literacy did on its own.</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POTENTIAL OUTCOMES</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30  /  268</a:t>
            </a:r>
            <a:endParaRPr sz="900"/>
          </a:p>
        </p:txBody>
      </p:sp>
      <p:pic>
        <p:nvPicPr>
          <p:cNvPr id="279" name="Picture 278" descr="m1_bias_decomposition.png"/>
          <p:cNvPicPr>
            <a:picLocks noChangeAspect="1"/>
          </p:cNvPicPr>
          <p:nvPr/>
        </p:nvPicPr>
        <p:blipFill>
          <a:blip r:embed="rId2"/>
          <a:stretch>
            <a:fillRect/>
          </a:stretch>
        </p:blipFill>
        <p:spPr>
          <a:xfrm>
            <a:off x="833442" y="2249424"/>
            <a:ext cx="7257659" cy="387705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sp>
        <p:nvSpPr>
          <p:cNvPr id="611" name="Google Shape;611;p2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2</a:t>
            </a:r>
            <a:endParaRPr sz="1200"/>
          </a:p>
        </p:txBody>
      </p:sp>
      <p:sp>
        <p:nvSpPr>
          <p:cNvPr id="612" name="Google Shape;612;p2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Potential Outcomes: Common Misreadings</a:t>
            </a:r>
            <a:endParaRPr sz="3400"/>
          </a:p>
        </p:txBody>
      </p:sp>
      <p:sp>
        <p:nvSpPr>
          <p:cNvPr id="613" name="Google Shape;613;p27"/>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Precision here prevents errors everywhere downstream.</a:t>
            </a:r>
            <a:endParaRPr sz="1450"/>
          </a:p>
        </p:txBody>
      </p:sp>
      <p:sp>
        <p:nvSpPr>
          <p:cNvPr id="614" name="Google Shape;614;p27"/>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7"/>
          <p:cNvSpPr/>
          <p:nvPr/>
        </p:nvSpPr>
        <p:spPr>
          <a:xfrm>
            <a:off x="841248" y="2514600"/>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Y(1) and Y(0) are defined for every unit — including units that were never treated. They are not ‘the treated group’s outcome.’</a:t>
            </a:r>
            <a:endParaRPr sz="1400"/>
          </a:p>
        </p:txBody>
      </p:sp>
      <p:sp>
        <p:nvSpPr>
          <p:cNvPr id="616" name="Google Shape;616;p27"/>
          <p:cNvSpPr/>
          <p:nvPr/>
        </p:nvSpPr>
        <p:spPr>
          <a:xfrm>
            <a:off x="566928" y="3328416"/>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7"/>
          <p:cNvSpPr/>
          <p:nvPr/>
        </p:nvSpPr>
        <p:spPr>
          <a:xfrm>
            <a:off x="841248" y="3264408"/>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The effect τᵢ is a within-unit contrast, not a between-group difference.</a:t>
            </a:r>
            <a:endParaRPr sz="1400"/>
          </a:p>
        </p:txBody>
      </p:sp>
      <p:sp>
        <p:nvSpPr>
          <p:cNvPr id="618" name="Google Shape;618;p27"/>
          <p:cNvSpPr/>
          <p:nvPr/>
        </p:nvSpPr>
        <p:spPr>
          <a:xfrm>
            <a:off x="566928" y="4078224"/>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7"/>
          <p:cNvSpPr/>
          <p:nvPr/>
        </p:nvSpPr>
        <p:spPr>
          <a:xfrm>
            <a:off x="841248" y="4014216"/>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‘No effect for the average’ (ATE = 0) does not mean ‘no effect for anyone’ — positive and negative CATEs can cancel.</a:t>
            </a:r>
            <a:endParaRPr sz="1400"/>
          </a:p>
        </p:txBody>
      </p:sp>
      <p:sp>
        <p:nvSpPr>
          <p:cNvPr id="620" name="Google Shape;620;p27"/>
          <p:cNvSpPr/>
          <p:nvPr/>
        </p:nvSpPr>
        <p:spPr>
          <a:xfrm>
            <a:off x="566928" y="4828032"/>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7"/>
          <p:cNvSpPr/>
          <p:nvPr/>
        </p:nvSpPr>
        <p:spPr>
          <a:xfrm>
            <a:off x="841248" y="4764024"/>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Potential outcomes are fixed attributes of a unit under an intervention; randomness enters through which one we observe.</a:t>
            </a:r>
            <a:endParaRPr sz="1400"/>
          </a:p>
        </p:txBody>
      </p:sp>
      <p:sp>
        <p:nvSpPr>
          <p:cNvPr id="622" name="Google Shape;622;p2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POTENTIAL OUTCOMES</a:t>
            </a:r>
            <a:endParaRPr sz="900"/>
          </a:p>
        </p:txBody>
      </p:sp>
      <p:sp>
        <p:nvSpPr>
          <p:cNvPr id="623" name="Google Shape;623;p2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31  /  268</a:t>
            </a:r>
            <a:endParaRPr sz="9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8" name="Shape 628"/>
        <p:cNvGrpSpPr/>
        <p:nvPr/>
      </p:nvGrpSpPr>
      <p:grpSpPr>
        <a:xfrm>
          <a:off x="0" y="0"/>
          <a:ext cx="0" cy="0"/>
          <a:chOff x="0" y="0"/>
          <a:chExt cx="0" cy="0"/>
        </a:xfrm>
      </p:grpSpPr>
      <p:sp>
        <p:nvSpPr>
          <p:cNvPr id="629" name="Google Shape;629;p2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2</a:t>
            </a:r>
            <a:endParaRPr sz="1200"/>
          </a:p>
        </p:txBody>
      </p:sp>
      <p:sp>
        <p:nvSpPr>
          <p:cNvPr id="630" name="Google Shape;630;p2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Knowledge Check: Estimands</a:t>
            </a:r>
            <a:endParaRPr sz="3400"/>
          </a:p>
        </p:txBody>
      </p:sp>
      <p:sp>
        <p:nvSpPr>
          <p:cNvPr id="631" name="Google Shape;631;p28"/>
          <p:cNvSpPr/>
          <p:nvPr/>
        </p:nvSpPr>
        <p:spPr>
          <a:xfrm>
            <a:off x="566928" y="178308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8"/>
          <p:cNvSpPr/>
          <p:nvPr/>
        </p:nvSpPr>
        <p:spPr>
          <a:xfrm>
            <a:off x="768096" y="196596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8"/>
          <p:cNvSpPr/>
          <p:nvPr/>
        </p:nvSpPr>
        <p:spPr>
          <a:xfrm>
            <a:off x="768096"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634" name="Google Shape;634;p28"/>
          <p:cNvSpPr/>
          <p:nvPr/>
        </p:nvSpPr>
        <p:spPr>
          <a:xfrm>
            <a:off x="1344168" y="19293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A regulator asks: ‘Among firms that adopted the standard, how much did emissions fall because of it?’ Which estimand?</a:t>
            </a:r>
            <a:endParaRPr sz="1400"/>
          </a:p>
        </p:txBody>
      </p:sp>
      <p:sp>
        <p:nvSpPr>
          <p:cNvPr id="635" name="Google Shape;635;p28"/>
          <p:cNvSpPr/>
          <p:nvPr/>
        </p:nvSpPr>
        <p:spPr>
          <a:xfrm>
            <a:off x="1344168" y="23865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ATE      B) ATT      C) CATE      D) ITT</a:t>
            </a:r>
            <a:endParaRPr sz="1200"/>
          </a:p>
        </p:txBody>
      </p:sp>
      <p:sp>
        <p:nvSpPr>
          <p:cNvPr id="636" name="Google Shape;636;p28"/>
          <p:cNvSpPr/>
          <p:nvPr/>
        </p:nvSpPr>
        <p:spPr>
          <a:xfrm>
            <a:off x="566928" y="306324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8"/>
          <p:cNvSpPr/>
          <p:nvPr/>
        </p:nvSpPr>
        <p:spPr>
          <a:xfrm>
            <a:off x="768096" y="32461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8"/>
          <p:cNvSpPr/>
          <p:nvPr/>
        </p:nvSpPr>
        <p:spPr>
          <a:xfrm>
            <a:off x="768096"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639" name="Google Shape;639;p28"/>
          <p:cNvSpPr/>
          <p:nvPr/>
        </p:nvSpPr>
        <p:spPr>
          <a:xfrm>
            <a:off x="1344168" y="32095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You want to personalise a promotion by customer segment. Which estimand do you need?</a:t>
            </a:r>
            <a:endParaRPr sz="1400"/>
          </a:p>
        </p:txBody>
      </p:sp>
      <p:sp>
        <p:nvSpPr>
          <p:cNvPr id="640" name="Google Shape;640;p28"/>
          <p:cNvSpPr/>
          <p:nvPr/>
        </p:nvSpPr>
        <p:spPr>
          <a:xfrm>
            <a:off x="1344168" y="36667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ATE      B) ATT      C) CATE      D) ITT</a:t>
            </a:r>
            <a:endParaRPr sz="1200"/>
          </a:p>
        </p:txBody>
      </p:sp>
      <p:sp>
        <p:nvSpPr>
          <p:cNvPr id="641" name="Google Shape;641;p28"/>
          <p:cNvSpPr/>
          <p:nvPr/>
        </p:nvSpPr>
        <p:spPr>
          <a:xfrm>
            <a:off x="566928" y="434340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8"/>
          <p:cNvSpPr/>
          <p:nvPr/>
        </p:nvSpPr>
        <p:spPr>
          <a:xfrm>
            <a:off x="768096" y="452628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8"/>
          <p:cNvSpPr/>
          <p:nvPr/>
        </p:nvSpPr>
        <p:spPr>
          <a:xfrm>
            <a:off x="768096" y="4526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644" name="Google Shape;644;p28"/>
          <p:cNvSpPr/>
          <p:nvPr/>
        </p:nvSpPr>
        <p:spPr>
          <a:xfrm>
            <a:off x="1344168" y="44897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In a trial with imperfect compliance, the effect of assignment (not uptake) is the:</a:t>
            </a:r>
            <a:endParaRPr sz="1400"/>
          </a:p>
        </p:txBody>
      </p:sp>
      <p:sp>
        <p:nvSpPr>
          <p:cNvPr id="645" name="Google Shape;645;p28"/>
          <p:cNvSpPr/>
          <p:nvPr/>
        </p:nvSpPr>
        <p:spPr>
          <a:xfrm>
            <a:off x="1344168" y="49469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ATT      B) LATE      C) ITT      D) CATE</a:t>
            </a:r>
            <a:endParaRPr sz="1200"/>
          </a:p>
        </p:txBody>
      </p:sp>
      <p:sp>
        <p:nvSpPr>
          <p:cNvPr id="646" name="Google Shape;646;p2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POTENTIAL OUTCOMES</a:t>
            </a:r>
            <a:endParaRPr sz="900"/>
          </a:p>
        </p:txBody>
      </p:sp>
      <p:sp>
        <p:nvSpPr>
          <p:cNvPr id="647" name="Google Shape;647;p2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32  /  268</a:t>
            </a:r>
            <a:endParaRPr sz="9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652" name="Shape 652"/>
        <p:cNvGrpSpPr/>
        <p:nvPr/>
      </p:nvGrpSpPr>
      <p:grpSpPr>
        <a:xfrm>
          <a:off x="0" y="0"/>
          <a:ext cx="0" cy="0"/>
          <a:chOff x="0" y="0"/>
          <a:chExt cx="0" cy="0"/>
        </a:xfrm>
      </p:grpSpPr>
      <p:sp>
        <p:nvSpPr>
          <p:cNvPr id="653" name="Google Shape;653;p29"/>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1 · HOUR 3</a:t>
            </a:r>
            <a:endParaRPr sz="1300"/>
          </a:p>
        </p:txBody>
      </p:sp>
      <p:sp>
        <p:nvSpPr>
          <p:cNvPr id="654" name="Google Shape;654;p29"/>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Identification: The Assumptions That Do the Work</a:t>
            </a:r>
            <a:endParaRPr sz="4000"/>
          </a:p>
        </p:txBody>
      </p:sp>
      <p:sp>
        <p:nvSpPr>
          <p:cNvPr id="655" name="Google Shape;655;p29"/>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SUTVA, ignorability / unconfoundedness, positivity / overlap, and consistency — what must hold for an estimand to be recoverable.</a:t>
            </a:r>
            <a:endParaRPr sz="1500"/>
          </a:p>
        </p:txBody>
      </p:sp>
      <p:cxnSp>
        <p:nvCxnSpPr>
          <p:cNvPr id="656" name="Google Shape;656;p29"/>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657" name="Google Shape;657;p2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1</a:t>
            </a:r>
            <a:endParaRPr sz="900"/>
          </a:p>
        </p:txBody>
      </p:sp>
      <p:sp>
        <p:nvSpPr>
          <p:cNvPr id="658" name="Google Shape;658;p2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33  /  268</a:t>
            </a:r>
            <a:endParaRPr sz="9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3" name="Shape 663"/>
        <p:cNvGrpSpPr/>
        <p:nvPr/>
      </p:nvGrpSpPr>
      <p:grpSpPr>
        <a:xfrm>
          <a:off x="0" y="0"/>
          <a:ext cx="0" cy="0"/>
          <a:chOff x="0" y="0"/>
          <a:chExt cx="0" cy="0"/>
        </a:xfrm>
      </p:grpSpPr>
      <p:sp>
        <p:nvSpPr>
          <p:cNvPr id="664" name="Google Shape;664;p3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3</a:t>
            </a:r>
            <a:endParaRPr sz="1200"/>
          </a:p>
        </p:txBody>
      </p:sp>
      <p:sp>
        <p:nvSpPr>
          <p:cNvPr id="665" name="Google Shape;665;p3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Identification Assumptions</a:t>
            </a:r>
            <a:endParaRPr sz="3400"/>
          </a:p>
        </p:txBody>
      </p:sp>
      <p:sp>
        <p:nvSpPr>
          <p:cNvPr id="666" name="Google Shape;666;p30"/>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An estimand is identified when it can be written as a function of the observed-data distribution. These are the standard sufficient conditions.</a:t>
            </a:r>
            <a:endParaRPr sz="1400"/>
          </a:p>
        </p:txBody>
      </p:sp>
      <p:sp>
        <p:nvSpPr>
          <p:cNvPr id="667" name="Google Shape;667;p30"/>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0"/>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A1</a:t>
            </a:r>
            <a:endParaRPr sz="1300"/>
          </a:p>
        </p:txBody>
      </p:sp>
      <p:sp>
        <p:nvSpPr>
          <p:cNvPr id="669" name="Google Shape;669;p30"/>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SUTVA</a:t>
            </a:r>
            <a:endParaRPr sz="1600"/>
          </a:p>
        </p:txBody>
      </p:sp>
      <p:sp>
        <p:nvSpPr>
          <p:cNvPr id="670" name="Google Shape;670;p30"/>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Stable Unit Treatment Value: no interference between units, and a single well-defined version of treatment.</a:t>
            </a:r>
            <a:endParaRPr sz="1250"/>
          </a:p>
        </p:txBody>
      </p:sp>
      <p:sp>
        <p:nvSpPr>
          <p:cNvPr id="671" name="Google Shape;671;p30"/>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0"/>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A2</a:t>
            </a:r>
            <a:endParaRPr sz="1300"/>
          </a:p>
        </p:txBody>
      </p:sp>
      <p:sp>
        <p:nvSpPr>
          <p:cNvPr id="673" name="Google Shape;673;p30"/>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Ignorability / unconfoundedness</a:t>
            </a:r>
            <a:endParaRPr sz="1600"/>
          </a:p>
        </p:txBody>
      </p:sp>
      <p:sp>
        <p:nvSpPr>
          <p:cNvPr id="674" name="Google Shape;674;p30"/>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{Y(1),Y(0)} ⊥ T | X. Given covariates, treatment is as-good-as-random.</a:t>
            </a:r>
            <a:endParaRPr sz="1250"/>
          </a:p>
        </p:txBody>
      </p:sp>
      <p:sp>
        <p:nvSpPr>
          <p:cNvPr id="675" name="Google Shape;675;p30"/>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0"/>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A3</a:t>
            </a:r>
            <a:endParaRPr sz="1300"/>
          </a:p>
        </p:txBody>
      </p:sp>
      <p:sp>
        <p:nvSpPr>
          <p:cNvPr id="677" name="Google Shape;677;p30"/>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Positivity / overlap</a:t>
            </a:r>
            <a:endParaRPr sz="1600"/>
          </a:p>
        </p:txBody>
      </p:sp>
      <p:sp>
        <p:nvSpPr>
          <p:cNvPr id="678" name="Google Shape;678;p30"/>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0 &lt; P(T=1 | X=x) &lt; 1 for all x. Every covariate profile could, in principle, be in either arm.</a:t>
            </a:r>
            <a:endParaRPr sz="1250"/>
          </a:p>
        </p:txBody>
      </p:sp>
      <p:sp>
        <p:nvSpPr>
          <p:cNvPr id="679" name="Google Shape;679;p30"/>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0"/>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A4</a:t>
            </a:r>
            <a:endParaRPr sz="1300"/>
          </a:p>
        </p:txBody>
      </p:sp>
      <p:sp>
        <p:nvSpPr>
          <p:cNvPr id="681" name="Google Shape;681;p30"/>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Consistency</a:t>
            </a:r>
            <a:endParaRPr sz="1600"/>
          </a:p>
        </p:txBody>
      </p:sp>
      <p:sp>
        <p:nvSpPr>
          <p:cNvPr id="682" name="Google Shape;682;p30"/>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observed Y equals the potential outcome for the treatment actually received: Y = Y(T).</a:t>
            </a:r>
            <a:endParaRPr sz="1250"/>
          </a:p>
        </p:txBody>
      </p:sp>
      <p:sp>
        <p:nvSpPr>
          <p:cNvPr id="683" name="Google Shape;683;p3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IDENTIFICATION</a:t>
            </a:r>
            <a:endParaRPr sz="900"/>
          </a:p>
        </p:txBody>
      </p:sp>
      <p:sp>
        <p:nvSpPr>
          <p:cNvPr id="684" name="Google Shape;684;p3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34  /  268</a:t>
            </a:r>
            <a:endParaRPr sz="9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9" name="Shape 689"/>
        <p:cNvGrpSpPr/>
        <p:nvPr/>
      </p:nvGrpSpPr>
      <p:grpSpPr>
        <a:xfrm>
          <a:off x="0" y="0"/>
          <a:ext cx="0" cy="0"/>
          <a:chOff x="0" y="0"/>
          <a:chExt cx="0" cy="0"/>
        </a:xfrm>
      </p:grpSpPr>
      <p:sp>
        <p:nvSpPr>
          <p:cNvPr id="690" name="Google Shape;690;p3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3</a:t>
            </a:r>
            <a:endParaRPr sz="1200"/>
          </a:p>
        </p:txBody>
      </p:sp>
      <p:sp>
        <p:nvSpPr>
          <p:cNvPr id="691" name="Google Shape;691;p3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SUTVA in Depth</a:t>
            </a:r>
            <a:endParaRPr sz="3400"/>
          </a:p>
        </p:txBody>
      </p:sp>
      <p:sp>
        <p:nvSpPr>
          <p:cNvPr id="692" name="Google Shape;692;p31"/>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Two hidden clauses that quietly break many real analyses.</a:t>
            </a:r>
            <a:endParaRPr sz="1450"/>
          </a:p>
        </p:txBody>
      </p:sp>
      <p:sp>
        <p:nvSpPr>
          <p:cNvPr id="693" name="Google Shape;693;p31"/>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1"/>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No interference</a:t>
            </a:r>
            <a:endParaRPr sz="1500"/>
          </a:p>
        </p:txBody>
      </p:sp>
      <p:sp>
        <p:nvSpPr>
          <p:cNvPr id="695" name="Google Shape;695;p31"/>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Unit i's outcome is unaffected by unit j's treatment. Violated by network effects, marketplaces, epidemics, and word-of-mouth.</a:t>
            </a:r>
            <a:endParaRPr sz="1250"/>
          </a:p>
        </p:txBody>
      </p:sp>
      <p:sp>
        <p:nvSpPr>
          <p:cNvPr id="696" name="Google Shape;696;p31"/>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1"/>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One version of treatment</a:t>
            </a:r>
            <a:endParaRPr sz="1500"/>
          </a:p>
        </p:txBody>
      </p:sp>
      <p:sp>
        <p:nvSpPr>
          <p:cNvPr id="698" name="Google Shape;698;p31"/>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treatment is well-defined; there are not hidden variants delivering different effects under the same label.</a:t>
            </a:r>
            <a:endParaRPr sz="1250"/>
          </a:p>
        </p:txBody>
      </p:sp>
      <p:sp>
        <p:nvSpPr>
          <p:cNvPr id="699" name="Google Shape;699;p31"/>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1"/>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When it breaks</a:t>
            </a:r>
            <a:endParaRPr sz="1500"/>
          </a:p>
        </p:txBody>
      </p:sp>
      <p:sp>
        <p:nvSpPr>
          <p:cNvPr id="701" name="Google Shape;701;p31"/>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Cluster-randomize, or model spillovers explicitly (partial interference, exposure mapping). We treat this on Day 2 and Day 4.</a:t>
            </a:r>
            <a:endParaRPr sz="1250"/>
          </a:p>
        </p:txBody>
      </p:sp>
      <p:sp>
        <p:nvSpPr>
          <p:cNvPr id="702" name="Google Shape;702;p31"/>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1"/>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MARKETPLACE WARNING</a:t>
            </a:r>
            <a:endParaRPr sz="1100"/>
          </a:p>
        </p:txBody>
      </p:sp>
      <p:sp>
        <p:nvSpPr>
          <p:cNvPr id="704" name="Google Shape;704;p31"/>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In two-sided platforms, treating buyers changes the environment for control buyers. Naive user-level A/B tests can be badly biased by interference.</a:t>
            </a:r>
            <a:endParaRPr sz="1350"/>
          </a:p>
        </p:txBody>
      </p:sp>
      <p:sp>
        <p:nvSpPr>
          <p:cNvPr id="705" name="Google Shape;705;p3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IDENTIFICATION</a:t>
            </a:r>
            <a:endParaRPr sz="900"/>
          </a:p>
        </p:txBody>
      </p:sp>
      <p:sp>
        <p:nvSpPr>
          <p:cNvPr id="706" name="Google Shape;706;p3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35  /  268</a:t>
            </a:r>
            <a:endParaRPr sz="9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1" name="Shape 711"/>
        <p:cNvGrpSpPr/>
        <p:nvPr/>
      </p:nvGrpSpPr>
      <p:grpSpPr>
        <a:xfrm>
          <a:off x="0" y="0"/>
          <a:ext cx="0" cy="0"/>
          <a:chOff x="0" y="0"/>
          <a:chExt cx="0" cy="0"/>
        </a:xfrm>
      </p:grpSpPr>
      <p:sp>
        <p:nvSpPr>
          <p:cNvPr id="712" name="Google Shape;712;p3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3</a:t>
            </a:r>
            <a:endParaRPr sz="1200"/>
          </a:p>
        </p:txBody>
      </p:sp>
      <p:sp>
        <p:nvSpPr>
          <p:cNvPr id="713" name="Google Shape;713;p3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Ignorability: The Load-Bearing Wall</a:t>
            </a:r>
            <a:endParaRPr sz="3400"/>
          </a:p>
        </p:txBody>
      </p:sp>
      <p:sp>
        <p:nvSpPr>
          <p:cNvPr id="714" name="Google Shape;714;p32"/>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Unconfoundedness says that, conditional on measured covariates, assignment carries no information about the potential outcomes.</a:t>
            </a:r>
            <a:endParaRPr sz="1450"/>
          </a:p>
        </p:txBody>
      </p:sp>
      <p:sp>
        <p:nvSpPr>
          <p:cNvPr id="715" name="Google Shape;715;p32"/>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2"/>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In randomized trials</a:t>
            </a:r>
            <a:endParaRPr sz="1500"/>
          </a:p>
        </p:txBody>
      </p:sp>
      <p:sp>
        <p:nvSpPr>
          <p:cNvPr id="717" name="Google Shape;717;p32"/>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It holds by design and requires no covariates — randomization guarantees {Y(1),Y(0)} ⊥ T.</a:t>
            </a:r>
            <a:endParaRPr sz="1250"/>
          </a:p>
        </p:txBody>
      </p:sp>
      <p:sp>
        <p:nvSpPr>
          <p:cNvPr id="718" name="Google Shape;718;p32"/>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2"/>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In observational studies</a:t>
            </a:r>
            <a:endParaRPr sz="1500"/>
          </a:p>
        </p:txBody>
      </p:sp>
      <p:sp>
        <p:nvSpPr>
          <p:cNvPr id="720" name="Google Shape;720;p32"/>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It is an assumption, not a fact. It holds only if X captures every common cause of T and Y (‘no unmeasured confounding’).</a:t>
            </a:r>
            <a:endParaRPr sz="1250"/>
          </a:p>
        </p:txBody>
      </p:sp>
      <p:sp>
        <p:nvSpPr>
          <p:cNvPr id="721" name="Google Shape;721;p32"/>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2"/>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Why it is untestable</a:t>
            </a:r>
            <a:endParaRPr sz="1500"/>
          </a:p>
        </p:txBody>
      </p:sp>
      <p:sp>
        <p:nvSpPr>
          <p:cNvPr id="723" name="Google Shape;723;p32"/>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data cannot reveal a confounder you never measured. This is why observational causal claims need sensitivity analysis (Day 4).</a:t>
            </a:r>
            <a:endParaRPr sz="1250"/>
          </a:p>
        </p:txBody>
      </p:sp>
      <p:sp>
        <p:nvSpPr>
          <p:cNvPr id="724" name="Google Shape;724;p3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IDENTIFICATION</a:t>
            </a:r>
            <a:endParaRPr sz="900"/>
          </a:p>
        </p:txBody>
      </p:sp>
      <p:sp>
        <p:nvSpPr>
          <p:cNvPr id="725" name="Google Shape;725;p3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36  /  268</a:t>
            </a:r>
            <a:endParaRPr sz="9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0" name="Shape 730"/>
        <p:cNvGrpSpPr/>
        <p:nvPr/>
      </p:nvGrpSpPr>
      <p:grpSpPr>
        <a:xfrm>
          <a:off x="0" y="0"/>
          <a:ext cx="0" cy="0"/>
          <a:chOff x="0" y="0"/>
          <a:chExt cx="0" cy="0"/>
        </a:xfrm>
      </p:grpSpPr>
      <p:sp>
        <p:nvSpPr>
          <p:cNvPr id="731" name="Google Shape;731;p3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3</a:t>
            </a:r>
            <a:endParaRPr sz="1200"/>
          </a:p>
        </p:txBody>
      </p:sp>
      <p:sp>
        <p:nvSpPr>
          <p:cNvPr id="732" name="Google Shape;732;p3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Positivity / Overlap</a:t>
            </a:r>
            <a:endParaRPr sz="3400"/>
          </a:p>
        </p:txBody>
      </p:sp>
      <p:sp>
        <p:nvSpPr>
          <p:cNvPr id="733" name="Google Shape;733;p33"/>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You cannot estimate a counterfactual for a covariate region where one arm never appears.</a:t>
            </a:r>
            <a:endParaRPr sz="1450"/>
          </a:p>
        </p:txBody>
      </p:sp>
      <p:sp>
        <p:nvSpPr>
          <p:cNvPr id="734" name="Google Shape;734;p33"/>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3"/>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Structural violation</a:t>
            </a:r>
            <a:endParaRPr sz="1500"/>
          </a:p>
        </p:txBody>
      </p:sp>
      <p:sp>
        <p:nvSpPr>
          <p:cNvPr id="736" name="Google Shape;736;p33"/>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rule forbids treatment for some group (e.g. under-18s never eligible). No data can fill that counterfactual.</a:t>
            </a:r>
            <a:endParaRPr sz="1250"/>
          </a:p>
        </p:txBody>
      </p:sp>
      <p:sp>
        <p:nvSpPr>
          <p:cNvPr id="737" name="Google Shape;737;p33"/>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3"/>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Practical violation</a:t>
            </a:r>
            <a:endParaRPr sz="1500"/>
          </a:p>
        </p:txBody>
      </p:sp>
      <p:sp>
        <p:nvSpPr>
          <p:cNvPr id="739" name="Google Shape;739;p33"/>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Overlap is technically present but propensity scores near 0 or 1 create extreme weights and unstable estimates.</a:t>
            </a:r>
            <a:endParaRPr sz="1250"/>
          </a:p>
        </p:txBody>
      </p:sp>
      <p:sp>
        <p:nvSpPr>
          <p:cNvPr id="740" name="Google Shape;740;p33"/>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3"/>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Diagnostics</a:t>
            </a:r>
            <a:endParaRPr sz="1500"/>
          </a:p>
        </p:txBody>
      </p:sp>
      <p:sp>
        <p:nvSpPr>
          <p:cNvPr id="742" name="Google Shape;742;p33"/>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Plot the propensity-score distributions by arm; trim, restrict to common support, or redefine the estimand (e.g. ATT, ATO).</a:t>
            </a:r>
            <a:endParaRPr sz="1250"/>
          </a:p>
        </p:txBody>
      </p:sp>
      <p:sp>
        <p:nvSpPr>
          <p:cNvPr id="743" name="Google Shape;743;p33"/>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3"/>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OVERLAP CHECK</a:t>
            </a:r>
            <a:endParaRPr sz="1100"/>
          </a:p>
        </p:txBody>
      </p:sp>
      <p:sp>
        <p:nvSpPr>
          <p:cNvPr id="745" name="Google Shape;745;p33"/>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0&lt;e(x)&lt;1</a:t>
            </a:r>
            <a:endParaRPr sz="5400"/>
          </a:p>
        </p:txBody>
      </p:sp>
      <p:sp>
        <p:nvSpPr>
          <p:cNvPr id="746" name="Google Shape;746;p33"/>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The propensity score e(x)=P(T=1|X=x) must stay away from 0 and 1. Its distribution by arm is your first diagnostic in any observational study.</a:t>
            </a:r>
            <a:endParaRPr sz="1300"/>
          </a:p>
        </p:txBody>
      </p:sp>
      <p:sp>
        <p:nvSpPr>
          <p:cNvPr id="747" name="Google Shape;747;p3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IDENTIFICATION</a:t>
            </a:r>
            <a:endParaRPr sz="900"/>
          </a:p>
        </p:txBody>
      </p:sp>
      <p:sp>
        <p:nvSpPr>
          <p:cNvPr id="748" name="Google Shape;748;p3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37  /  268</a:t>
            </a:r>
            <a:endParaRPr sz="9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3" name="Shape 753"/>
        <p:cNvGrpSpPr/>
        <p:nvPr/>
      </p:nvGrpSpPr>
      <p:grpSpPr>
        <a:xfrm>
          <a:off x="0" y="0"/>
          <a:ext cx="0" cy="0"/>
          <a:chOff x="0" y="0"/>
          <a:chExt cx="0" cy="0"/>
        </a:xfrm>
      </p:grpSpPr>
      <p:sp>
        <p:nvSpPr>
          <p:cNvPr id="754" name="Google Shape;754;p3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3</a:t>
            </a:r>
            <a:endParaRPr sz="1200"/>
          </a:p>
        </p:txBody>
      </p:sp>
      <p:sp>
        <p:nvSpPr>
          <p:cNvPr id="755" name="Google Shape;755;p3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Good Controls, Bad Controls</a:t>
            </a:r>
            <a:endParaRPr sz="3400"/>
          </a:p>
        </p:txBody>
      </p:sp>
      <p:sp>
        <p:nvSpPr>
          <p:cNvPr id="756" name="Google Shape;756;p34"/>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‘Add more controls’ is not neutral. What you adjust for is a causal decision, and some adjustments create bias.</a:t>
            </a:r>
            <a:endParaRPr sz="1450"/>
          </a:p>
        </p:txBody>
      </p:sp>
      <p:sp>
        <p:nvSpPr>
          <p:cNvPr id="757" name="Google Shape;757;p34"/>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4"/>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Confounder — adjust</a:t>
            </a:r>
            <a:endParaRPr sz="1500"/>
          </a:p>
        </p:txBody>
      </p:sp>
      <p:sp>
        <p:nvSpPr>
          <p:cNvPr id="759" name="Google Shape;759;p34"/>
          <p:cNvSpPr/>
          <p:nvPr/>
        </p:nvSpPr>
        <p:spPr>
          <a:xfrm>
            <a:off x="859536" y="283464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common cause of T and Y. Adjusting removes backdoor bias. This is the good case.</a:t>
            </a:r>
            <a:endParaRPr sz="1250"/>
          </a:p>
        </p:txBody>
      </p:sp>
      <p:sp>
        <p:nvSpPr>
          <p:cNvPr id="760" name="Google Shape;760;p34"/>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4"/>
          <p:cNvSpPr/>
          <p:nvPr/>
        </p:nvSpPr>
        <p:spPr>
          <a:xfrm>
            <a:off x="859536" y="345186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Mediator — do not adjust</a:t>
            </a:r>
            <a:endParaRPr sz="1500"/>
          </a:p>
        </p:txBody>
      </p:sp>
      <p:sp>
        <p:nvSpPr>
          <p:cNvPr id="762" name="Google Shape;762;p34"/>
          <p:cNvSpPr/>
          <p:nvPr/>
        </p:nvSpPr>
        <p:spPr>
          <a:xfrm>
            <a:off x="859536" y="372618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On the causal path T → M → Y. Adjusting blocks part of the very effect you want to measure.</a:t>
            </a:r>
            <a:endParaRPr sz="1250"/>
          </a:p>
        </p:txBody>
      </p:sp>
      <p:sp>
        <p:nvSpPr>
          <p:cNvPr id="763" name="Google Shape;763;p34"/>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4"/>
          <p:cNvSpPr/>
          <p:nvPr/>
        </p:nvSpPr>
        <p:spPr>
          <a:xfrm>
            <a:off x="859536" y="434340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Collider — do not adjust</a:t>
            </a:r>
            <a:endParaRPr sz="1500"/>
          </a:p>
        </p:txBody>
      </p:sp>
      <p:sp>
        <p:nvSpPr>
          <p:cNvPr id="765" name="Google Shape;765;p34"/>
          <p:cNvSpPr/>
          <p:nvPr/>
        </p:nvSpPr>
        <p:spPr>
          <a:xfrm>
            <a:off x="859536" y="461772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common effect of two variables. Conditioning on it opens a spurious path (selection bias).</a:t>
            </a:r>
            <a:endParaRPr sz="1250"/>
          </a:p>
        </p:txBody>
      </p:sp>
      <p:sp>
        <p:nvSpPr>
          <p:cNvPr id="766" name="Google Shape;766;p34"/>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4"/>
          <p:cNvSpPr/>
          <p:nvPr/>
        </p:nvSpPr>
        <p:spPr>
          <a:xfrm>
            <a:off x="859536" y="523494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Post-treatment — never adjust</a:t>
            </a:r>
            <a:endParaRPr sz="1500"/>
          </a:p>
        </p:txBody>
      </p:sp>
      <p:sp>
        <p:nvSpPr>
          <p:cNvPr id="768" name="Google Shape;768;p34"/>
          <p:cNvSpPr/>
          <p:nvPr/>
        </p:nvSpPr>
        <p:spPr>
          <a:xfrm>
            <a:off x="859536" y="550926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Anything measured after treatment risks being a mediator or collider. Keep the adjustment set pre-treatment.</a:t>
            </a:r>
            <a:endParaRPr sz="1250"/>
          </a:p>
        </p:txBody>
      </p:sp>
      <p:sp>
        <p:nvSpPr>
          <p:cNvPr id="769" name="Google Shape;769;p3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IDENTIFICATION</a:t>
            </a:r>
            <a:endParaRPr sz="900"/>
          </a:p>
        </p:txBody>
      </p:sp>
      <p:sp>
        <p:nvSpPr>
          <p:cNvPr id="770" name="Google Shape;770;p3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38  /  268</a:t>
            </a:r>
            <a:endParaRPr sz="9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5" name="Shape 775"/>
        <p:cNvGrpSpPr/>
        <p:nvPr/>
      </p:nvGrpSpPr>
      <p:grpSpPr>
        <a:xfrm>
          <a:off x="0" y="0"/>
          <a:ext cx="0" cy="0"/>
          <a:chOff x="0" y="0"/>
          <a:chExt cx="0" cy="0"/>
        </a:xfrm>
      </p:grpSpPr>
      <p:sp>
        <p:nvSpPr>
          <p:cNvPr id="776" name="Google Shape;776;p3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3</a:t>
            </a:r>
            <a:endParaRPr sz="1200"/>
          </a:p>
        </p:txBody>
      </p:sp>
      <p:sp>
        <p:nvSpPr>
          <p:cNvPr id="777" name="Google Shape;777;p3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From Estimand to Estimator: The Bridge</a:t>
            </a:r>
            <a:endParaRPr sz="3400"/>
          </a:p>
        </p:txBody>
      </p:sp>
      <p:sp>
        <p:nvSpPr>
          <p:cNvPr id="778" name="Google Shape;778;p35"/>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Under A1–A4, the ATE becomes computable from observed data.</a:t>
            </a:r>
            <a:endParaRPr sz="1450"/>
          </a:p>
        </p:txBody>
      </p:sp>
      <p:sp>
        <p:nvSpPr>
          <p:cNvPr id="779" name="Google Shape;779;p35"/>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5"/>
          <p:cNvSpPr/>
          <p:nvPr/>
        </p:nvSpPr>
        <p:spPr>
          <a:xfrm>
            <a:off x="841248" y="2514600"/>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Adjustment (g-formula): ATE = Eₓ[ E[Y | T=1, X] − E[Y | T=0, X] ]. Average the covariate-specific gaps.</a:t>
            </a:r>
            <a:endParaRPr sz="1400"/>
          </a:p>
        </p:txBody>
      </p:sp>
      <p:sp>
        <p:nvSpPr>
          <p:cNvPr id="781" name="Google Shape;781;p35"/>
          <p:cNvSpPr/>
          <p:nvPr/>
        </p:nvSpPr>
        <p:spPr>
          <a:xfrm>
            <a:off x="566928" y="3328416"/>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5"/>
          <p:cNvSpPr/>
          <p:nvPr/>
        </p:nvSpPr>
        <p:spPr>
          <a:xfrm>
            <a:off x="841248" y="3264408"/>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Weighting (IPW): re-weight units by 1/P(T | X) to build a pseudo-population where T is independent of X.</a:t>
            </a:r>
            <a:endParaRPr sz="1400"/>
          </a:p>
        </p:txBody>
      </p:sp>
      <p:sp>
        <p:nvSpPr>
          <p:cNvPr id="783" name="Google Shape;783;p35"/>
          <p:cNvSpPr/>
          <p:nvPr/>
        </p:nvSpPr>
        <p:spPr>
          <a:xfrm>
            <a:off x="566928" y="4078224"/>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5"/>
          <p:cNvSpPr/>
          <p:nvPr/>
        </p:nvSpPr>
        <p:spPr>
          <a:xfrm>
            <a:off x="841248" y="4014216"/>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Both are valid under the same assumptions; they differ in what they model (outcome vs. treatment).</a:t>
            </a:r>
            <a:endParaRPr sz="1400"/>
          </a:p>
        </p:txBody>
      </p:sp>
      <p:sp>
        <p:nvSpPr>
          <p:cNvPr id="785" name="Google Shape;785;p35"/>
          <p:cNvSpPr/>
          <p:nvPr/>
        </p:nvSpPr>
        <p:spPr>
          <a:xfrm>
            <a:off x="566928" y="4828032"/>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5"/>
          <p:cNvSpPr/>
          <p:nvPr/>
        </p:nvSpPr>
        <p:spPr>
          <a:xfrm>
            <a:off x="841248" y="4764024"/>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Doubly-robust estimators combine them and stay consistent if either model is right — covered on Day 3.</a:t>
            </a:r>
            <a:endParaRPr sz="1400"/>
          </a:p>
        </p:txBody>
      </p:sp>
      <p:sp>
        <p:nvSpPr>
          <p:cNvPr id="787" name="Google Shape;787;p3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IDENTIFICATION</a:t>
            </a:r>
            <a:endParaRPr sz="900"/>
          </a:p>
        </p:txBody>
      </p:sp>
      <p:sp>
        <p:nvSpPr>
          <p:cNvPr id="788" name="Google Shape;788;p3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39  /  268</a:t>
            </a:r>
            <a:endParaRPr sz="9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3" name="Shape 793"/>
        <p:cNvGrpSpPr/>
        <p:nvPr/>
      </p:nvGrpSpPr>
      <p:grpSpPr>
        <a:xfrm>
          <a:off x="0" y="0"/>
          <a:ext cx="0" cy="0"/>
          <a:chOff x="0" y="0"/>
          <a:chExt cx="0" cy="0"/>
        </a:xfrm>
      </p:grpSpPr>
      <p:sp>
        <p:nvSpPr>
          <p:cNvPr id="794" name="Google Shape;794;p3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3</a:t>
            </a:r>
            <a:endParaRPr sz="1200"/>
          </a:p>
        </p:txBody>
      </p:sp>
      <p:sp>
        <p:nvSpPr>
          <p:cNvPr id="795" name="Google Shape;795;p3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Knowledge Check: Assumptions</a:t>
            </a:r>
            <a:endParaRPr sz="3400"/>
          </a:p>
        </p:txBody>
      </p:sp>
      <p:sp>
        <p:nvSpPr>
          <p:cNvPr id="796" name="Google Shape;796;p36"/>
          <p:cNvSpPr/>
          <p:nvPr/>
        </p:nvSpPr>
        <p:spPr>
          <a:xfrm>
            <a:off x="566928" y="178308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6"/>
          <p:cNvSpPr/>
          <p:nvPr/>
        </p:nvSpPr>
        <p:spPr>
          <a:xfrm>
            <a:off x="768096" y="196596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6"/>
          <p:cNvSpPr/>
          <p:nvPr/>
        </p:nvSpPr>
        <p:spPr>
          <a:xfrm>
            <a:off x="768096"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799" name="Google Shape;799;p36"/>
          <p:cNvSpPr/>
          <p:nvPr/>
        </p:nvSpPr>
        <p:spPr>
          <a:xfrm>
            <a:off x="1344168" y="19293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A viral referral program means treated users recruit control users. Which assumption is threatened?</a:t>
            </a:r>
            <a:endParaRPr sz="1400"/>
          </a:p>
        </p:txBody>
      </p:sp>
      <p:sp>
        <p:nvSpPr>
          <p:cNvPr id="800" name="Google Shape;800;p36"/>
          <p:cNvSpPr/>
          <p:nvPr/>
        </p:nvSpPr>
        <p:spPr>
          <a:xfrm>
            <a:off x="1344168" y="23865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SUTVA      B) Positivity      C) Consistency      D) Ignorability</a:t>
            </a:r>
            <a:endParaRPr sz="1200"/>
          </a:p>
        </p:txBody>
      </p:sp>
      <p:sp>
        <p:nvSpPr>
          <p:cNvPr id="801" name="Google Shape;801;p36"/>
          <p:cNvSpPr/>
          <p:nvPr/>
        </p:nvSpPr>
        <p:spPr>
          <a:xfrm>
            <a:off x="566928" y="306324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6"/>
          <p:cNvSpPr/>
          <p:nvPr/>
        </p:nvSpPr>
        <p:spPr>
          <a:xfrm>
            <a:off x="768096" y="32461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6"/>
          <p:cNvSpPr/>
          <p:nvPr/>
        </p:nvSpPr>
        <p:spPr>
          <a:xfrm>
            <a:off x="768096"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804" name="Google Shape;804;p36"/>
          <p:cNvSpPr/>
          <p:nvPr/>
        </p:nvSpPr>
        <p:spPr>
          <a:xfrm>
            <a:off x="1344168" y="32095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No one over age 65 was ever eligible for the treatment. This is a violation of:</a:t>
            </a:r>
            <a:endParaRPr sz="1400"/>
          </a:p>
        </p:txBody>
      </p:sp>
      <p:sp>
        <p:nvSpPr>
          <p:cNvPr id="805" name="Google Shape;805;p36"/>
          <p:cNvSpPr/>
          <p:nvPr/>
        </p:nvSpPr>
        <p:spPr>
          <a:xfrm>
            <a:off x="1344168" y="36667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SUTVA      B) Positivity      C) Ignorability      D) Consistency</a:t>
            </a:r>
            <a:endParaRPr sz="1200"/>
          </a:p>
        </p:txBody>
      </p:sp>
      <p:sp>
        <p:nvSpPr>
          <p:cNvPr id="806" name="Google Shape;806;p36"/>
          <p:cNvSpPr/>
          <p:nvPr/>
        </p:nvSpPr>
        <p:spPr>
          <a:xfrm>
            <a:off x="566928" y="434340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6"/>
          <p:cNvSpPr/>
          <p:nvPr/>
        </p:nvSpPr>
        <p:spPr>
          <a:xfrm>
            <a:off x="768096" y="452628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6"/>
          <p:cNvSpPr/>
          <p:nvPr/>
        </p:nvSpPr>
        <p:spPr>
          <a:xfrm>
            <a:off x="768096" y="4526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809" name="Google Shape;809;p36"/>
          <p:cNvSpPr/>
          <p:nvPr/>
        </p:nvSpPr>
        <p:spPr>
          <a:xfrm>
            <a:off x="1344168" y="44897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You suspect an unmeasured driver of both uptake and outcome. Which assumption is at risk, and is it testable?</a:t>
            </a:r>
            <a:endParaRPr sz="1400"/>
          </a:p>
        </p:txBody>
      </p:sp>
      <p:sp>
        <p:nvSpPr>
          <p:cNvPr id="810" name="Google Shape;810;p36"/>
          <p:cNvSpPr/>
          <p:nvPr/>
        </p:nvSpPr>
        <p:spPr>
          <a:xfrm>
            <a:off x="1344168" y="49469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Ignorability; untestable      B) Positivity; testable      C) SUTVA; testable      D) Consistency; untestable</a:t>
            </a:r>
            <a:endParaRPr sz="1200"/>
          </a:p>
        </p:txBody>
      </p:sp>
      <p:sp>
        <p:nvSpPr>
          <p:cNvPr id="811" name="Google Shape;811;p3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IDENTIFICATION</a:t>
            </a:r>
            <a:endParaRPr sz="900"/>
          </a:p>
        </p:txBody>
      </p:sp>
      <p:sp>
        <p:nvSpPr>
          <p:cNvPr id="812" name="Google Shape;812;p3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40  /  268</a:t>
            </a:r>
            <a:endParaRPr sz="9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817" name="Shape 817"/>
        <p:cNvGrpSpPr/>
        <p:nvPr/>
      </p:nvGrpSpPr>
      <p:grpSpPr>
        <a:xfrm>
          <a:off x="0" y="0"/>
          <a:ext cx="0" cy="0"/>
          <a:chOff x="0" y="0"/>
          <a:chExt cx="0" cy="0"/>
        </a:xfrm>
      </p:grpSpPr>
      <p:sp>
        <p:nvSpPr>
          <p:cNvPr id="818" name="Google Shape;818;p37"/>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1 · HOUR 4</a:t>
            </a:r>
            <a:endParaRPr sz="1300"/>
          </a:p>
        </p:txBody>
      </p:sp>
      <p:sp>
        <p:nvSpPr>
          <p:cNvPr id="819" name="Google Shape;819;p37"/>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Why Randomization Works</a:t>
            </a:r>
            <a:endParaRPr sz="4000"/>
          </a:p>
        </p:txBody>
      </p:sp>
      <p:sp>
        <p:nvSpPr>
          <p:cNvPr id="820" name="Google Shape;820;p37"/>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Randomization as the mechanism that guarantees ignorability, balances all confounders in expectation, and licenses design-based inference.</a:t>
            </a:r>
            <a:endParaRPr sz="1500"/>
          </a:p>
        </p:txBody>
      </p:sp>
      <p:cxnSp>
        <p:nvCxnSpPr>
          <p:cNvPr id="821" name="Google Shape;821;p37"/>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822" name="Google Shape;822;p3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1</a:t>
            </a:r>
            <a:endParaRPr sz="900"/>
          </a:p>
        </p:txBody>
      </p:sp>
      <p:sp>
        <p:nvSpPr>
          <p:cNvPr id="823" name="Google Shape;823;p3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41  /  268</a:t>
            </a:r>
            <a:endParaRPr sz="9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8" name="Shape 828"/>
        <p:cNvGrpSpPr/>
        <p:nvPr/>
      </p:nvGrpSpPr>
      <p:grpSpPr>
        <a:xfrm>
          <a:off x="0" y="0"/>
          <a:ext cx="0" cy="0"/>
          <a:chOff x="0" y="0"/>
          <a:chExt cx="0" cy="0"/>
        </a:xfrm>
      </p:grpSpPr>
      <p:sp>
        <p:nvSpPr>
          <p:cNvPr id="829" name="Google Shape;829;p3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4</a:t>
            </a:r>
            <a:endParaRPr sz="1200"/>
          </a:p>
        </p:txBody>
      </p:sp>
      <p:sp>
        <p:nvSpPr>
          <p:cNvPr id="830" name="Google Shape;830;p3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What Randomization Buys You</a:t>
            </a:r>
            <a:endParaRPr sz="3400"/>
          </a:p>
        </p:txBody>
      </p:sp>
      <p:sp>
        <p:nvSpPr>
          <p:cNvPr id="831" name="Google Shape;831;p38"/>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Random assignment is the single most powerful tool in the course because it makes the load-bearing assumptions true by construction.</a:t>
            </a:r>
            <a:endParaRPr sz="1450"/>
          </a:p>
        </p:txBody>
      </p:sp>
      <p:sp>
        <p:nvSpPr>
          <p:cNvPr id="832" name="Google Shape;832;p38"/>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8"/>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Ignorability for free</a:t>
            </a:r>
            <a:endParaRPr sz="1500"/>
          </a:p>
        </p:txBody>
      </p:sp>
      <p:sp>
        <p:nvSpPr>
          <p:cNvPr id="834" name="Google Shape;834;p38"/>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Because assignment is independent of everything, {Y(1),Y(0)} ⊥ T holds without any covariates.</a:t>
            </a:r>
            <a:endParaRPr sz="1250"/>
          </a:p>
        </p:txBody>
      </p:sp>
      <p:sp>
        <p:nvSpPr>
          <p:cNvPr id="835" name="Google Shape;835;p38"/>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8"/>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Balance in expectation</a:t>
            </a:r>
            <a:endParaRPr sz="1500"/>
          </a:p>
        </p:txBody>
      </p:sp>
      <p:sp>
        <p:nvSpPr>
          <p:cNvPr id="837" name="Google Shape;837;p38"/>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Measured and unmeasured covariates are balanced across arms on average — including confounders you never thought of.</a:t>
            </a:r>
            <a:endParaRPr sz="1250"/>
          </a:p>
        </p:txBody>
      </p:sp>
      <p:sp>
        <p:nvSpPr>
          <p:cNvPr id="838" name="Google Shape;838;p38"/>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8"/>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A valid comparison</a:t>
            </a:r>
            <a:endParaRPr sz="1500"/>
          </a:p>
        </p:txBody>
      </p:sp>
      <p:sp>
        <p:nvSpPr>
          <p:cNvPr id="840" name="Google Shape;840;p38"/>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control group becomes an unbiased stand-in for the treated group's missing Y(0), so the naive difference is the ATE.</a:t>
            </a:r>
            <a:endParaRPr sz="1250"/>
          </a:p>
        </p:txBody>
      </p:sp>
      <p:sp>
        <p:nvSpPr>
          <p:cNvPr id="841" name="Google Shape;841;p38"/>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8"/>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MAGIC</a:t>
            </a:r>
            <a:endParaRPr sz="1100"/>
          </a:p>
        </p:txBody>
      </p:sp>
      <p:sp>
        <p:nvSpPr>
          <p:cNvPr id="843" name="Google Shape;843;p38"/>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a:t>
            </a:r>
            <a:endParaRPr sz="5400"/>
          </a:p>
        </p:txBody>
      </p:sp>
      <p:sp>
        <p:nvSpPr>
          <p:cNvPr id="844" name="Google Shape;844;p38"/>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Independence of assignment from potential outcomes is what turns an ordinary group difference into a causal effect. Everything else is bookkeeping.</a:t>
            </a:r>
            <a:endParaRPr sz="1300"/>
          </a:p>
        </p:txBody>
      </p:sp>
      <p:sp>
        <p:nvSpPr>
          <p:cNvPr id="845" name="Google Shape;845;p3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RANDOMIZATION</a:t>
            </a:r>
            <a:endParaRPr sz="900"/>
          </a:p>
        </p:txBody>
      </p:sp>
      <p:sp>
        <p:nvSpPr>
          <p:cNvPr id="846" name="Google Shape;846;p3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42  /  268</a:t>
            </a:r>
            <a:endParaRPr sz="9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1" name="Shape 851"/>
        <p:cNvGrpSpPr/>
        <p:nvPr/>
      </p:nvGrpSpPr>
      <p:grpSpPr>
        <a:xfrm>
          <a:off x="0" y="0"/>
          <a:ext cx="0" cy="0"/>
          <a:chOff x="0" y="0"/>
          <a:chExt cx="0" cy="0"/>
        </a:xfrm>
      </p:grpSpPr>
      <p:sp>
        <p:nvSpPr>
          <p:cNvPr id="852" name="Google Shape;852;p3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4</a:t>
            </a:r>
            <a:endParaRPr sz="1200"/>
          </a:p>
        </p:txBody>
      </p:sp>
      <p:sp>
        <p:nvSpPr>
          <p:cNvPr id="853" name="Google Shape;853;p3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Balance: In Expectation, Not Every Time</a:t>
            </a:r>
            <a:endParaRPr sz="3400"/>
          </a:p>
        </p:txBody>
      </p:sp>
      <p:sp>
        <p:nvSpPr>
          <p:cNvPr id="854" name="Google Shape;854;p39"/>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Randomization balances covariates on average across hypothetical repetitions — any single experiment can still show chance imbalance.</a:t>
            </a:r>
            <a:endParaRPr sz="1450"/>
          </a:p>
        </p:txBody>
      </p:sp>
      <p:sp>
        <p:nvSpPr>
          <p:cNvPr id="855" name="Google Shape;855;p39"/>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9"/>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Expected balance</a:t>
            </a:r>
            <a:endParaRPr sz="1500"/>
          </a:p>
        </p:txBody>
      </p:sp>
      <p:sp>
        <p:nvSpPr>
          <p:cNvPr id="857" name="Google Shape;857;p39"/>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Over many re-randomizations, arm means of any covariate converge; there is no systematic difference.</a:t>
            </a:r>
            <a:endParaRPr sz="1250"/>
          </a:p>
        </p:txBody>
      </p:sp>
      <p:sp>
        <p:nvSpPr>
          <p:cNvPr id="858" name="Google Shape;858;p39"/>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9"/>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Realised imbalance</a:t>
            </a:r>
            <a:endParaRPr sz="1500"/>
          </a:p>
        </p:txBody>
      </p:sp>
      <p:sp>
        <p:nvSpPr>
          <p:cNvPr id="860" name="Google Shape;860;p39"/>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In one draw, a covariate can differ by chance, especially in small samples.</a:t>
            </a:r>
            <a:endParaRPr sz="1250"/>
          </a:p>
        </p:txBody>
      </p:sp>
      <p:sp>
        <p:nvSpPr>
          <p:cNvPr id="861" name="Google Shape;861;p39"/>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9"/>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Remedies</a:t>
            </a:r>
            <a:endParaRPr sz="1500"/>
          </a:p>
        </p:txBody>
      </p:sp>
      <p:sp>
        <p:nvSpPr>
          <p:cNvPr id="863" name="Google Shape;863;p39"/>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Stratify or block on strong predictors before randomizing; adjust for pre-treatment covariates in analysis (Day 2).</a:t>
            </a:r>
            <a:endParaRPr sz="1250"/>
          </a:p>
        </p:txBody>
      </p:sp>
      <p:sp>
        <p:nvSpPr>
          <p:cNvPr id="864" name="Google Shape;864;p39"/>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9"/>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DO NOT ‘FIX’ BY DISCARDING</a:t>
            </a:r>
            <a:endParaRPr sz="1100"/>
          </a:p>
        </p:txBody>
      </p:sp>
      <p:sp>
        <p:nvSpPr>
          <p:cNvPr id="866" name="Google Shape;866;p39"/>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Never drop units to force balance after the fact — that breaks randomization. Design balance in up front, or adjust with pre-treatment covariates.</a:t>
            </a:r>
            <a:endParaRPr sz="1350"/>
          </a:p>
        </p:txBody>
      </p:sp>
      <p:sp>
        <p:nvSpPr>
          <p:cNvPr id="867" name="Google Shape;867;p3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RANDOMIZATION</a:t>
            </a:r>
            <a:endParaRPr sz="900"/>
          </a:p>
        </p:txBody>
      </p:sp>
      <p:sp>
        <p:nvSpPr>
          <p:cNvPr id="868" name="Google Shape;868;p3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43  /  268</a:t>
            </a:r>
            <a:endParaRPr sz="9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3" name="Shape 873"/>
        <p:cNvGrpSpPr/>
        <p:nvPr/>
      </p:nvGrpSpPr>
      <p:grpSpPr>
        <a:xfrm>
          <a:off x="0" y="0"/>
          <a:ext cx="0" cy="0"/>
          <a:chOff x="0" y="0"/>
          <a:chExt cx="0" cy="0"/>
        </a:xfrm>
      </p:grpSpPr>
      <p:sp>
        <p:nvSpPr>
          <p:cNvPr id="874" name="Google Shape;874;p4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4</a:t>
            </a:r>
            <a:endParaRPr sz="1200"/>
          </a:p>
        </p:txBody>
      </p:sp>
      <p:sp>
        <p:nvSpPr>
          <p:cNvPr id="875" name="Google Shape;875;p4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Design-Based vs. Model-Based Inference</a:t>
            </a:r>
            <a:endParaRPr sz="3400"/>
          </a:p>
        </p:txBody>
      </p:sp>
      <p:sp>
        <p:nvSpPr>
          <p:cNvPr id="876" name="Google Shape;876;p40"/>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Two philosophies for where the randomness in your standard error comes from.</a:t>
            </a:r>
            <a:endParaRPr sz="1400"/>
          </a:p>
        </p:txBody>
      </p:sp>
      <p:sp>
        <p:nvSpPr>
          <p:cNvPr id="877" name="Google Shape;877;p40"/>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0"/>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01</a:t>
            </a:r>
            <a:endParaRPr sz="1300"/>
          </a:p>
        </p:txBody>
      </p:sp>
      <p:sp>
        <p:nvSpPr>
          <p:cNvPr id="879" name="Google Shape;879;p40"/>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Design-based (Neyman / Fisher)</a:t>
            </a:r>
            <a:endParaRPr sz="1600"/>
          </a:p>
        </p:txBody>
      </p:sp>
      <p:sp>
        <p:nvSpPr>
          <p:cNvPr id="880" name="Google Shape;880;p40"/>
          <p:cNvSpPr/>
          <p:nvPr/>
        </p:nvSpPr>
        <p:spPr>
          <a:xfrm>
            <a:off x="1298448" y="2734056"/>
            <a:ext cx="10234879" cy="685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Randomness is the assignment mechanism itself. Potential outcomes are fixed; only T is random. No outcome model required.</a:t>
            </a:r>
            <a:endParaRPr sz="1250"/>
          </a:p>
        </p:txBody>
      </p:sp>
      <p:sp>
        <p:nvSpPr>
          <p:cNvPr id="881" name="Google Shape;881;p40"/>
          <p:cNvSpPr/>
          <p:nvPr/>
        </p:nvSpPr>
        <p:spPr>
          <a:xfrm>
            <a:off x="566928" y="352044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40"/>
          <p:cNvSpPr/>
          <p:nvPr/>
        </p:nvSpPr>
        <p:spPr>
          <a:xfrm>
            <a:off x="566928" y="35204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02</a:t>
            </a:r>
            <a:endParaRPr sz="1300"/>
          </a:p>
        </p:txBody>
      </p:sp>
      <p:sp>
        <p:nvSpPr>
          <p:cNvPr id="883" name="Google Shape;883;p40"/>
          <p:cNvSpPr/>
          <p:nvPr/>
        </p:nvSpPr>
        <p:spPr>
          <a:xfrm>
            <a:off x="1298448" y="34747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Model-based (super-population)</a:t>
            </a:r>
            <a:endParaRPr sz="1600"/>
          </a:p>
        </p:txBody>
      </p:sp>
      <p:sp>
        <p:nvSpPr>
          <p:cNvPr id="884" name="Google Shape;884;p40"/>
          <p:cNvSpPr/>
          <p:nvPr/>
        </p:nvSpPr>
        <p:spPr>
          <a:xfrm>
            <a:off x="1298448" y="3785616"/>
            <a:ext cx="10234879" cy="685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Units are a random sample from a population; inference targets a population parameter through an assumed model.</a:t>
            </a:r>
            <a:endParaRPr sz="1250"/>
          </a:p>
        </p:txBody>
      </p:sp>
      <p:sp>
        <p:nvSpPr>
          <p:cNvPr id="885" name="Google Shape;885;p40"/>
          <p:cNvSpPr/>
          <p:nvPr/>
        </p:nvSpPr>
        <p:spPr>
          <a:xfrm>
            <a:off x="566928" y="457200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40"/>
          <p:cNvSpPr/>
          <p:nvPr/>
        </p:nvSpPr>
        <p:spPr>
          <a:xfrm>
            <a:off x="566928" y="45720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03</a:t>
            </a:r>
            <a:endParaRPr sz="1300"/>
          </a:p>
        </p:txBody>
      </p:sp>
      <p:sp>
        <p:nvSpPr>
          <p:cNvPr id="887" name="Google Shape;887;p40"/>
          <p:cNvSpPr/>
          <p:nvPr/>
        </p:nvSpPr>
        <p:spPr>
          <a:xfrm>
            <a:off x="1298448" y="452628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Why it matters</a:t>
            </a:r>
            <a:endParaRPr sz="1600"/>
          </a:p>
        </p:txBody>
      </p:sp>
      <p:sp>
        <p:nvSpPr>
          <p:cNvPr id="888" name="Google Shape;888;p40"/>
          <p:cNvSpPr/>
          <p:nvPr/>
        </p:nvSpPr>
        <p:spPr>
          <a:xfrm>
            <a:off x="1298448" y="4837176"/>
            <a:ext cx="10234879" cy="685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two can give different standard errors. Design-based inference is the most assumption-light and is our default for experiments.</a:t>
            </a:r>
            <a:endParaRPr sz="1250"/>
          </a:p>
        </p:txBody>
      </p:sp>
      <p:sp>
        <p:nvSpPr>
          <p:cNvPr id="889" name="Google Shape;889;p4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RANDOMIZATION</a:t>
            </a:r>
            <a:endParaRPr sz="900"/>
          </a:p>
        </p:txBody>
      </p:sp>
      <p:sp>
        <p:nvSpPr>
          <p:cNvPr id="890" name="Google Shape;890;p4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44  /  268</a:t>
            </a:r>
            <a:endParaRPr sz="9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5" name="Shape 895"/>
        <p:cNvGrpSpPr/>
        <p:nvPr/>
      </p:nvGrpSpPr>
      <p:grpSpPr>
        <a:xfrm>
          <a:off x="0" y="0"/>
          <a:ext cx="0" cy="0"/>
          <a:chOff x="0" y="0"/>
          <a:chExt cx="0" cy="0"/>
        </a:xfrm>
      </p:grpSpPr>
      <p:sp>
        <p:nvSpPr>
          <p:cNvPr id="896" name="Google Shape;896;p4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4</a:t>
            </a:r>
            <a:endParaRPr sz="1200"/>
          </a:p>
        </p:txBody>
      </p:sp>
      <p:sp>
        <p:nvSpPr>
          <p:cNvPr id="897" name="Google Shape;897;p4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Fisher's Sharp Null &amp; Randomization Inference</a:t>
            </a:r>
            <a:endParaRPr sz="3400"/>
          </a:p>
        </p:txBody>
      </p:sp>
      <p:sp>
        <p:nvSpPr>
          <p:cNvPr id="898" name="Google Shape;898;p41"/>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test that needs no distributional assumptions — only the randomization you actually performed.</a:t>
            </a:r>
            <a:endParaRPr sz="1450"/>
          </a:p>
        </p:txBody>
      </p:sp>
      <p:sp>
        <p:nvSpPr>
          <p:cNvPr id="899" name="Google Shape;899;p41"/>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1"/>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sharp null</a:t>
            </a:r>
            <a:endParaRPr sz="1500"/>
          </a:p>
        </p:txBody>
      </p:sp>
      <p:sp>
        <p:nvSpPr>
          <p:cNvPr id="901" name="Google Shape;901;p41"/>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H₀: Yᵢ(1) = Yᵢ(0) for every unit — zero effect for everyone, not just on average.</a:t>
            </a:r>
            <a:endParaRPr sz="1250"/>
          </a:p>
        </p:txBody>
      </p:sp>
      <p:sp>
        <p:nvSpPr>
          <p:cNvPr id="902" name="Google Shape;902;p41"/>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41"/>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trick</a:t>
            </a:r>
            <a:endParaRPr sz="1500"/>
          </a:p>
        </p:txBody>
      </p:sp>
      <p:sp>
        <p:nvSpPr>
          <p:cNvPr id="904" name="Google Shape;904;p41"/>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Under the sharp null, both potential outcomes are known for all units, so we can recompute the statistic under every possible re-assignment.</a:t>
            </a:r>
            <a:endParaRPr sz="1250"/>
          </a:p>
        </p:txBody>
      </p:sp>
      <p:sp>
        <p:nvSpPr>
          <p:cNvPr id="905" name="Google Shape;905;p41"/>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41"/>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p-value</a:t>
            </a:r>
            <a:endParaRPr sz="1500"/>
          </a:p>
        </p:txBody>
      </p:sp>
      <p:sp>
        <p:nvSpPr>
          <p:cNvPr id="907" name="Google Shape;907;p41"/>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It is the fraction of re-randomizations giving a statistic as extreme as observed — exact, finite-sample valid.</a:t>
            </a:r>
            <a:endParaRPr sz="1250"/>
          </a:p>
        </p:txBody>
      </p:sp>
      <p:sp>
        <p:nvSpPr>
          <p:cNvPr id="908" name="Google Shape;908;p41"/>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41"/>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EXACTNESS</a:t>
            </a:r>
            <a:endParaRPr sz="1100"/>
          </a:p>
        </p:txBody>
      </p:sp>
      <p:sp>
        <p:nvSpPr>
          <p:cNvPr id="910" name="Google Shape;910;p41"/>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Exact p</a:t>
            </a:r>
            <a:endParaRPr sz="5400"/>
          </a:p>
        </p:txBody>
      </p:sp>
      <p:sp>
        <p:nvSpPr>
          <p:cNvPr id="911" name="Google Shape;911;p41"/>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No CLT, no normality, no large-n. The reference distribution is generated by permuting treatment labels — the same randomness you used to assign.</a:t>
            </a:r>
            <a:endParaRPr sz="1300"/>
          </a:p>
        </p:txBody>
      </p:sp>
      <p:sp>
        <p:nvSpPr>
          <p:cNvPr id="912" name="Google Shape;912;p4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RANDOMIZATION</a:t>
            </a:r>
            <a:endParaRPr sz="900"/>
          </a:p>
        </p:txBody>
      </p:sp>
      <p:sp>
        <p:nvSpPr>
          <p:cNvPr id="913" name="Google Shape;913;p4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45  /  268</a:t>
            </a:r>
            <a:endParaRPr sz="9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8" name="Shape 918"/>
        <p:cNvGrpSpPr/>
        <p:nvPr/>
      </p:nvGrpSpPr>
      <p:grpSpPr>
        <a:xfrm>
          <a:off x="0" y="0"/>
          <a:ext cx="0" cy="0"/>
          <a:chOff x="0" y="0"/>
          <a:chExt cx="0" cy="0"/>
        </a:xfrm>
      </p:grpSpPr>
      <p:sp>
        <p:nvSpPr>
          <p:cNvPr id="919" name="Google Shape;919;p4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4</a:t>
            </a:r>
            <a:endParaRPr sz="1200"/>
          </a:p>
        </p:txBody>
      </p:sp>
      <p:sp>
        <p:nvSpPr>
          <p:cNvPr id="920" name="Google Shape;920;p4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Neyman's Approach: Unbiased ATE &amp; Variance</a:t>
            </a:r>
            <a:endParaRPr sz="3400"/>
          </a:p>
        </p:txBody>
      </p:sp>
      <p:sp>
        <p:nvSpPr>
          <p:cNvPr id="921" name="Google Shape;921;p42"/>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Where Fisher tests a sharp null, Neyman estimates the average effect and its sampling variance.</a:t>
            </a:r>
            <a:endParaRPr sz="1450"/>
          </a:p>
        </p:txBody>
      </p:sp>
      <p:sp>
        <p:nvSpPr>
          <p:cNvPr id="922" name="Google Shape;922;p42"/>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2"/>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Unbiased estimator</a:t>
            </a:r>
            <a:endParaRPr sz="1500"/>
          </a:p>
        </p:txBody>
      </p:sp>
      <p:sp>
        <p:nvSpPr>
          <p:cNvPr id="924" name="Google Shape;924;p42"/>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difference in arm means is an unbiased estimator of the (sample) ATE under complete randomization.</a:t>
            </a:r>
            <a:endParaRPr sz="1250"/>
          </a:p>
        </p:txBody>
      </p:sp>
      <p:sp>
        <p:nvSpPr>
          <p:cNvPr id="925" name="Google Shape;925;p42"/>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42"/>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Conservative variance</a:t>
            </a:r>
            <a:endParaRPr sz="1500"/>
          </a:p>
        </p:txBody>
      </p:sp>
      <p:sp>
        <p:nvSpPr>
          <p:cNvPr id="927" name="Google Shape;927;p42"/>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classic Neyman variance is conservative because the covariance of potential outcomes is unidentified.</a:t>
            </a:r>
            <a:endParaRPr sz="1250"/>
          </a:p>
        </p:txBody>
      </p:sp>
      <p:sp>
        <p:nvSpPr>
          <p:cNvPr id="928" name="Google Shape;928;p42"/>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42"/>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Practical upshot</a:t>
            </a:r>
            <a:endParaRPr sz="1500"/>
          </a:p>
        </p:txBody>
      </p:sp>
      <p:sp>
        <p:nvSpPr>
          <p:cNvPr id="930" name="Google Shape;930;p42"/>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Report the difference in means with a design-based (often robust) standard error; it is honest and light on assumptions.</a:t>
            </a:r>
            <a:endParaRPr sz="1250"/>
          </a:p>
        </p:txBody>
      </p:sp>
      <p:sp>
        <p:nvSpPr>
          <p:cNvPr id="931" name="Google Shape;931;p4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RANDOMIZATION</a:t>
            </a:r>
            <a:endParaRPr sz="900"/>
          </a:p>
        </p:txBody>
      </p:sp>
      <p:sp>
        <p:nvSpPr>
          <p:cNvPr id="932" name="Google Shape;932;p4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46  /  268</a:t>
            </a:r>
            <a:endParaRPr sz="9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7" name="Shape 937"/>
        <p:cNvGrpSpPr/>
        <p:nvPr/>
      </p:nvGrpSpPr>
      <p:grpSpPr>
        <a:xfrm>
          <a:off x="0" y="0"/>
          <a:ext cx="0" cy="0"/>
          <a:chOff x="0" y="0"/>
          <a:chExt cx="0" cy="0"/>
        </a:xfrm>
      </p:grpSpPr>
      <p:sp>
        <p:nvSpPr>
          <p:cNvPr id="938" name="Google Shape;938;p4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4</a:t>
            </a:r>
            <a:endParaRPr sz="1200"/>
          </a:p>
        </p:txBody>
      </p:sp>
      <p:sp>
        <p:nvSpPr>
          <p:cNvPr id="939" name="Google Shape;939;p4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When You Cannot Randomize</a:t>
            </a:r>
            <a:endParaRPr sz="3400"/>
          </a:p>
        </p:txBody>
      </p:sp>
      <p:sp>
        <p:nvSpPr>
          <p:cNvPr id="940" name="Google Shape;940;p43"/>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Randomization is the gold standard, but real constraints often forbid it. This is the entire motivation for Days 3–4.</a:t>
            </a:r>
            <a:endParaRPr sz="1450"/>
          </a:p>
        </p:txBody>
      </p:sp>
      <p:sp>
        <p:nvSpPr>
          <p:cNvPr id="941" name="Google Shape;941;p43"/>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43"/>
          <p:cNvSpPr/>
          <p:nvPr/>
        </p:nvSpPr>
        <p:spPr>
          <a:xfrm>
            <a:off x="841248" y="2514600"/>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Ethics — you cannot randomly assign harmful exposures or withhold known benefits.</a:t>
            </a:r>
            <a:endParaRPr sz="1400"/>
          </a:p>
        </p:txBody>
      </p:sp>
      <p:sp>
        <p:nvSpPr>
          <p:cNvPr id="943" name="Google Shape;943;p43"/>
          <p:cNvSpPr/>
          <p:nvPr/>
        </p:nvSpPr>
        <p:spPr>
          <a:xfrm>
            <a:off x="566928" y="3300984"/>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43"/>
          <p:cNvSpPr/>
          <p:nvPr/>
        </p:nvSpPr>
        <p:spPr>
          <a:xfrm>
            <a:off x="841248" y="3236976"/>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Feasibility — some treatments cannot be manipulated at the unit level (macro policy, prices set market-wide).</a:t>
            </a:r>
            <a:endParaRPr sz="1400"/>
          </a:p>
        </p:txBody>
      </p:sp>
      <p:sp>
        <p:nvSpPr>
          <p:cNvPr id="945" name="Google Shape;945;p43"/>
          <p:cNvSpPr/>
          <p:nvPr/>
        </p:nvSpPr>
        <p:spPr>
          <a:xfrm>
            <a:off x="566928" y="4023360"/>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43"/>
          <p:cNvSpPr/>
          <p:nvPr/>
        </p:nvSpPr>
        <p:spPr>
          <a:xfrm>
            <a:off x="841248" y="3959352"/>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Cost &amp; time — experiments can be slow or expensive relative to abundant observational data.</a:t>
            </a:r>
            <a:endParaRPr sz="1400"/>
          </a:p>
        </p:txBody>
      </p:sp>
      <p:sp>
        <p:nvSpPr>
          <p:cNvPr id="947" name="Google Shape;947;p43"/>
          <p:cNvSpPr/>
          <p:nvPr/>
        </p:nvSpPr>
        <p:spPr>
          <a:xfrm>
            <a:off x="566928" y="4745736"/>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43"/>
          <p:cNvSpPr/>
          <p:nvPr/>
        </p:nvSpPr>
        <p:spPr>
          <a:xfrm>
            <a:off x="841248" y="4681728"/>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History — the question is about something that already happened and cannot be re-run.</a:t>
            </a:r>
            <a:endParaRPr sz="1400"/>
          </a:p>
        </p:txBody>
      </p:sp>
      <p:sp>
        <p:nvSpPr>
          <p:cNvPr id="949" name="Google Shape;949;p43"/>
          <p:cNvSpPr/>
          <p:nvPr/>
        </p:nvSpPr>
        <p:spPr>
          <a:xfrm>
            <a:off x="566928" y="5468112"/>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43"/>
          <p:cNvSpPr/>
          <p:nvPr/>
        </p:nvSpPr>
        <p:spPr>
          <a:xfrm>
            <a:off x="841248" y="5404104"/>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The response: quasi-experiments that borrow the logic of randomization from natural or as-if-random variation.</a:t>
            </a:r>
            <a:endParaRPr sz="1400"/>
          </a:p>
        </p:txBody>
      </p:sp>
      <p:sp>
        <p:nvSpPr>
          <p:cNvPr id="951" name="Google Shape;951;p4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RANDOMIZATION</a:t>
            </a:r>
            <a:endParaRPr sz="900"/>
          </a:p>
        </p:txBody>
      </p:sp>
      <p:sp>
        <p:nvSpPr>
          <p:cNvPr id="952" name="Google Shape;952;p4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47  /  268</a:t>
            </a:r>
            <a:endParaRPr sz="90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4</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Ladder of Evidence</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When a coin flip is impossible, you climb down. Each rung is easier to run and buys its answer with a stronger, less testable assumption.</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POINT</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You never escape the assumption. You only choose which one you will have to defend in the room.</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Days 3 and 4 work down this ladder. For each method, learn the assumption first and the estimator second — the estimator is the easy part.</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RANDOMIZATION</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48  /  268</a:t>
            </a:r>
            <a:endParaRPr sz="900"/>
          </a:p>
        </p:txBody>
      </p:sp>
      <p:pic>
        <p:nvPicPr>
          <p:cNvPr id="279" name="Picture 278" descr="m5_ladder_of_evidence.png"/>
          <p:cNvPicPr>
            <a:picLocks noChangeAspect="1"/>
          </p:cNvPicPr>
          <p:nvPr/>
        </p:nvPicPr>
        <p:blipFill>
          <a:blip r:embed="rId2"/>
          <a:stretch>
            <a:fillRect/>
          </a:stretch>
        </p:blipFill>
        <p:spPr>
          <a:xfrm>
            <a:off x="666337" y="2249424"/>
            <a:ext cx="7591868" cy="3877056"/>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7" name="Shape 957"/>
        <p:cNvGrpSpPr/>
        <p:nvPr/>
      </p:nvGrpSpPr>
      <p:grpSpPr>
        <a:xfrm>
          <a:off x="0" y="0"/>
          <a:ext cx="0" cy="0"/>
          <a:chOff x="0" y="0"/>
          <a:chExt cx="0" cy="0"/>
        </a:xfrm>
      </p:grpSpPr>
      <p:sp>
        <p:nvSpPr>
          <p:cNvPr id="958" name="Google Shape;958;p4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4</a:t>
            </a:r>
            <a:endParaRPr sz="1200"/>
          </a:p>
        </p:txBody>
      </p:sp>
      <p:sp>
        <p:nvSpPr>
          <p:cNvPr id="959" name="Google Shape;959;p4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Knowledge Check: Randomization</a:t>
            </a:r>
            <a:endParaRPr sz="3400"/>
          </a:p>
        </p:txBody>
      </p:sp>
      <p:sp>
        <p:nvSpPr>
          <p:cNvPr id="960" name="Google Shape;960;p44"/>
          <p:cNvSpPr/>
          <p:nvPr/>
        </p:nvSpPr>
        <p:spPr>
          <a:xfrm>
            <a:off x="566928" y="178308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44"/>
          <p:cNvSpPr/>
          <p:nvPr/>
        </p:nvSpPr>
        <p:spPr>
          <a:xfrm>
            <a:off x="768096" y="196596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44"/>
          <p:cNvSpPr/>
          <p:nvPr/>
        </p:nvSpPr>
        <p:spPr>
          <a:xfrm>
            <a:off x="768096"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963" name="Google Shape;963;p44"/>
          <p:cNvSpPr/>
          <p:nvPr/>
        </p:nvSpPr>
        <p:spPr>
          <a:xfrm>
            <a:off x="1344168" y="19293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Randomization guarantees balance of unmeasured confounders …</a:t>
            </a:r>
            <a:endParaRPr sz="1400"/>
          </a:p>
        </p:txBody>
      </p:sp>
      <p:sp>
        <p:nvSpPr>
          <p:cNvPr id="964" name="Google Shape;964;p44"/>
          <p:cNvSpPr/>
          <p:nvPr/>
        </p:nvSpPr>
        <p:spPr>
          <a:xfrm>
            <a:off x="1344168" y="23865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exactly, in every sample      B) in expectation, across repetitions      C) only if n is large      D) never</a:t>
            </a:r>
            <a:endParaRPr sz="1200"/>
          </a:p>
        </p:txBody>
      </p:sp>
      <p:sp>
        <p:nvSpPr>
          <p:cNvPr id="965" name="Google Shape;965;p44"/>
          <p:cNvSpPr/>
          <p:nvPr/>
        </p:nvSpPr>
        <p:spPr>
          <a:xfrm>
            <a:off x="566928" y="306324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44"/>
          <p:cNvSpPr/>
          <p:nvPr/>
        </p:nvSpPr>
        <p:spPr>
          <a:xfrm>
            <a:off x="768096" y="32461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44"/>
          <p:cNvSpPr/>
          <p:nvPr/>
        </p:nvSpPr>
        <p:spPr>
          <a:xfrm>
            <a:off x="768096"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968" name="Google Shape;968;p44"/>
          <p:cNvSpPr/>
          <p:nvPr/>
        </p:nvSpPr>
        <p:spPr>
          <a:xfrm>
            <a:off x="1344168" y="32095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Fisher's randomization test is valid because it relies on:</a:t>
            </a:r>
            <a:endParaRPr sz="1400"/>
          </a:p>
        </p:txBody>
      </p:sp>
      <p:sp>
        <p:nvSpPr>
          <p:cNvPr id="969" name="Google Shape;969;p44"/>
          <p:cNvSpPr/>
          <p:nvPr/>
        </p:nvSpPr>
        <p:spPr>
          <a:xfrm>
            <a:off x="1344168" y="36667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Normality of Y      B) The CLT      C) The assignment mechanism      D) A correct outcome model</a:t>
            </a:r>
            <a:endParaRPr sz="1200"/>
          </a:p>
        </p:txBody>
      </p:sp>
      <p:sp>
        <p:nvSpPr>
          <p:cNvPr id="970" name="Google Shape;970;p44"/>
          <p:cNvSpPr/>
          <p:nvPr/>
        </p:nvSpPr>
        <p:spPr>
          <a:xfrm>
            <a:off x="566928" y="434340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44"/>
          <p:cNvSpPr/>
          <p:nvPr/>
        </p:nvSpPr>
        <p:spPr>
          <a:xfrm>
            <a:off x="768096" y="452628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4"/>
          <p:cNvSpPr/>
          <p:nvPr/>
        </p:nvSpPr>
        <p:spPr>
          <a:xfrm>
            <a:off x="768096" y="4526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973" name="Google Shape;973;p44"/>
          <p:cNvSpPr/>
          <p:nvPr/>
        </p:nvSpPr>
        <p:spPr>
          <a:xfrm>
            <a:off x="1344168" y="44897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The sharp null hypothesis states that the treatment effect is zero for:</a:t>
            </a:r>
            <a:endParaRPr sz="1400"/>
          </a:p>
        </p:txBody>
      </p:sp>
      <p:sp>
        <p:nvSpPr>
          <p:cNvPr id="974" name="Google Shape;974;p44"/>
          <p:cNvSpPr/>
          <p:nvPr/>
        </p:nvSpPr>
        <p:spPr>
          <a:xfrm>
            <a:off x="1344168" y="49469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the average unit      B) every unit      C) the treated only      D) large samples only</a:t>
            </a:r>
            <a:endParaRPr sz="1200"/>
          </a:p>
        </p:txBody>
      </p:sp>
      <p:sp>
        <p:nvSpPr>
          <p:cNvPr id="975" name="Google Shape;975;p4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RANDOMIZATION</a:t>
            </a:r>
            <a:endParaRPr sz="900"/>
          </a:p>
        </p:txBody>
      </p:sp>
      <p:sp>
        <p:nvSpPr>
          <p:cNvPr id="976" name="Google Shape;976;p4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49  /  268</a:t>
            </a:r>
            <a:endParaRPr sz="9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981" name="Shape 981"/>
        <p:cNvGrpSpPr/>
        <p:nvPr/>
      </p:nvGrpSpPr>
      <p:grpSpPr>
        <a:xfrm>
          <a:off x="0" y="0"/>
          <a:ext cx="0" cy="0"/>
          <a:chOff x="0" y="0"/>
          <a:chExt cx="0" cy="0"/>
        </a:xfrm>
      </p:grpSpPr>
      <p:sp>
        <p:nvSpPr>
          <p:cNvPr id="982" name="Google Shape;982;p45"/>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1 · HOUR 5</a:t>
            </a:r>
            <a:endParaRPr sz="1300"/>
          </a:p>
        </p:txBody>
      </p:sp>
      <p:sp>
        <p:nvSpPr>
          <p:cNvPr id="983" name="Google Shape;983;p45"/>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Lab 1 &amp; Consolidation</a:t>
            </a:r>
            <a:endParaRPr sz="4000"/>
          </a:p>
        </p:txBody>
      </p:sp>
      <p:sp>
        <p:nvSpPr>
          <p:cNvPr id="984" name="Google Shape;984;p45"/>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Simulate potential outcomes, feel the fundamental problem, and see randomization repair selection bias — in code.</a:t>
            </a:r>
            <a:endParaRPr sz="1500"/>
          </a:p>
        </p:txBody>
      </p:sp>
      <p:cxnSp>
        <p:nvCxnSpPr>
          <p:cNvPr id="985" name="Google Shape;985;p45"/>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986" name="Google Shape;986;p4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1</a:t>
            </a:r>
            <a:endParaRPr sz="900"/>
          </a:p>
        </p:txBody>
      </p:sp>
      <p:sp>
        <p:nvSpPr>
          <p:cNvPr id="987" name="Google Shape;987;p4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50  /  268</a:t>
            </a:r>
            <a:endParaRPr sz="9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992" name="Shape 992"/>
        <p:cNvGrpSpPr/>
        <p:nvPr/>
      </p:nvGrpSpPr>
      <p:grpSpPr>
        <a:xfrm>
          <a:off x="0" y="0"/>
          <a:ext cx="0" cy="0"/>
          <a:chOff x="0" y="0"/>
          <a:chExt cx="0" cy="0"/>
        </a:xfrm>
      </p:grpSpPr>
      <p:sp>
        <p:nvSpPr>
          <p:cNvPr id="993" name="Google Shape;993;p46"/>
          <p:cNvSpPr/>
          <p:nvPr/>
        </p:nvSpPr>
        <p:spPr>
          <a:xfrm>
            <a:off x="566928" y="50292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DAY 1 · HANDS-ON LAB 1</a:t>
            </a:r>
            <a:endParaRPr sz="1200"/>
          </a:p>
        </p:txBody>
      </p:sp>
      <p:sp>
        <p:nvSpPr>
          <p:cNvPr id="994" name="Google Shape;994;p46"/>
          <p:cNvSpPr/>
          <p:nvPr/>
        </p:nvSpPr>
        <p:spPr>
          <a:xfrm>
            <a:off x="566928" y="868680"/>
            <a:ext cx="11057839"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Simulating the Counterfactual World</a:t>
            </a:r>
            <a:endParaRPr sz="3000"/>
          </a:p>
        </p:txBody>
      </p:sp>
      <p:sp>
        <p:nvSpPr>
          <p:cNvPr id="995" name="Google Shape;995;p46"/>
          <p:cNvSpPr/>
          <p:nvPr/>
        </p:nvSpPr>
        <p:spPr>
          <a:xfrm>
            <a:off x="566928" y="2011680"/>
            <a:ext cx="3931920" cy="3931920"/>
          </a:xfrm>
          <a:prstGeom prst="roundRect">
            <a:avLst>
              <a:gd fmla="val 2326" name="adj"/>
            </a:avLst>
          </a:prstGeom>
          <a:solidFill>
            <a:srgbClr val="1C2E4E"/>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46"/>
          <p:cNvSpPr/>
          <p:nvPr/>
        </p:nvSpPr>
        <p:spPr>
          <a:xfrm>
            <a:off x="841248" y="22402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OBJECTIVE</a:t>
            </a:r>
            <a:endParaRPr sz="1100"/>
          </a:p>
        </p:txBody>
      </p:sp>
      <p:sp>
        <p:nvSpPr>
          <p:cNvPr id="997" name="Google Shape;997;p46"/>
          <p:cNvSpPr/>
          <p:nvPr/>
        </p:nvSpPr>
        <p:spPr>
          <a:xfrm>
            <a:off x="841248" y="2542032"/>
            <a:ext cx="3383280" cy="128016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300"/>
              <a:buFont typeface="Calibri"/>
              <a:buNone/>
            </a:pPr>
            <a:r>
              <a:rPr lang="en-US" sz="1300">
                <a:solidFill>
                  <a:srgbClr val="C9DAF0"/>
                </a:solidFill>
                <a:latin typeface="Calibri"/>
                <a:ea typeface="Calibri"/>
                <a:cs typeface="Calibri"/>
                <a:sym typeface="Calibri"/>
              </a:rPr>
              <a:t>Build a synthetic population where you control the full potential-outcomes table, then experience why the naive estimate misleads and how randomization fixes it.</a:t>
            </a:r>
            <a:endParaRPr sz="1300"/>
          </a:p>
        </p:txBody>
      </p:sp>
      <p:sp>
        <p:nvSpPr>
          <p:cNvPr id="998" name="Google Shape;998;p46"/>
          <p:cNvSpPr/>
          <p:nvPr/>
        </p:nvSpPr>
        <p:spPr>
          <a:xfrm>
            <a:off x="841248" y="420624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DELIVERABLE</a:t>
            </a:r>
            <a:endParaRPr sz="1100"/>
          </a:p>
        </p:txBody>
      </p:sp>
      <p:sp>
        <p:nvSpPr>
          <p:cNvPr id="999" name="Google Shape;999;p46"/>
          <p:cNvSpPr/>
          <p:nvPr/>
        </p:nvSpPr>
        <p:spPr>
          <a:xfrm>
            <a:off x="841248" y="4498848"/>
            <a:ext cx="3383280"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 notebook that reports true ATE, naive (selection-biased) estimate, and randomized estimate with a design-based standard error.</a:t>
            </a:r>
            <a:endParaRPr sz="1250"/>
          </a:p>
        </p:txBody>
      </p:sp>
      <p:sp>
        <p:nvSpPr>
          <p:cNvPr id="1000" name="Google Shape;1000;p46"/>
          <p:cNvSpPr/>
          <p:nvPr/>
        </p:nvSpPr>
        <p:spPr>
          <a:xfrm>
            <a:off x="4864608" y="2029968"/>
            <a:ext cx="676015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STEPS</a:t>
            </a:r>
            <a:endParaRPr sz="1100"/>
          </a:p>
        </p:txBody>
      </p:sp>
      <p:sp>
        <p:nvSpPr>
          <p:cNvPr id="1001" name="Google Shape;1001;p46"/>
          <p:cNvSpPr/>
          <p:nvPr/>
        </p:nvSpPr>
        <p:spPr>
          <a:xfrm>
            <a:off x="4864608" y="23957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46"/>
          <p:cNvSpPr/>
          <p:nvPr/>
        </p:nvSpPr>
        <p:spPr>
          <a:xfrm>
            <a:off x="4864608" y="23957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1</a:t>
            </a:r>
            <a:endParaRPr sz="1300"/>
          </a:p>
        </p:txBody>
      </p:sp>
      <p:sp>
        <p:nvSpPr>
          <p:cNvPr id="1003" name="Google Shape;1003;p46"/>
          <p:cNvSpPr/>
          <p:nvPr/>
        </p:nvSpPr>
        <p:spPr>
          <a:xfrm>
            <a:off x="5413248" y="23774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Generate N=5,000 units with a confounder X and true Y(0), Y(1) as functions of X plus noise.</a:t>
            </a:r>
            <a:endParaRPr sz="1250"/>
          </a:p>
        </p:txBody>
      </p:sp>
      <p:sp>
        <p:nvSpPr>
          <p:cNvPr id="1004" name="Google Shape;1004;p46"/>
          <p:cNvSpPr/>
          <p:nvPr/>
        </p:nvSpPr>
        <p:spPr>
          <a:xfrm>
            <a:off x="4864608" y="2982468"/>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46"/>
          <p:cNvSpPr/>
          <p:nvPr/>
        </p:nvSpPr>
        <p:spPr>
          <a:xfrm>
            <a:off x="4864608" y="29824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2</a:t>
            </a:r>
            <a:endParaRPr sz="1300"/>
          </a:p>
        </p:txBody>
      </p:sp>
      <p:sp>
        <p:nvSpPr>
          <p:cNvPr id="1006" name="Google Shape;1006;p46"/>
          <p:cNvSpPr/>
          <p:nvPr/>
        </p:nvSpPr>
        <p:spPr>
          <a:xfrm>
            <a:off x="5413248" y="296418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Compute the oracle ATE from the full potential-outcomes table.</a:t>
            </a:r>
            <a:endParaRPr sz="1250"/>
          </a:p>
        </p:txBody>
      </p:sp>
      <p:sp>
        <p:nvSpPr>
          <p:cNvPr id="1007" name="Google Shape;1007;p46"/>
          <p:cNvSpPr/>
          <p:nvPr/>
        </p:nvSpPr>
        <p:spPr>
          <a:xfrm>
            <a:off x="4864608" y="3569208"/>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46"/>
          <p:cNvSpPr/>
          <p:nvPr/>
        </p:nvSpPr>
        <p:spPr>
          <a:xfrm>
            <a:off x="4864608" y="35692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3</a:t>
            </a:r>
            <a:endParaRPr sz="1300"/>
          </a:p>
        </p:txBody>
      </p:sp>
      <p:sp>
        <p:nvSpPr>
          <p:cNvPr id="1009" name="Google Shape;1009;p46"/>
          <p:cNvSpPr/>
          <p:nvPr/>
        </p:nvSpPr>
        <p:spPr>
          <a:xfrm>
            <a:off x="5413248" y="355092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Induce selection: let P(T=1) increase with X; compute the naive difference in means.</a:t>
            </a:r>
            <a:endParaRPr sz="1250"/>
          </a:p>
        </p:txBody>
      </p:sp>
      <p:sp>
        <p:nvSpPr>
          <p:cNvPr id="1010" name="Google Shape;1010;p46"/>
          <p:cNvSpPr/>
          <p:nvPr/>
        </p:nvSpPr>
        <p:spPr>
          <a:xfrm>
            <a:off x="4864608" y="4155948"/>
            <a:ext cx="384048" cy="384048"/>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46"/>
          <p:cNvSpPr/>
          <p:nvPr/>
        </p:nvSpPr>
        <p:spPr>
          <a:xfrm>
            <a:off x="4864608" y="41559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4</a:t>
            </a:r>
            <a:endParaRPr sz="1300"/>
          </a:p>
        </p:txBody>
      </p:sp>
      <p:sp>
        <p:nvSpPr>
          <p:cNvPr id="1012" name="Google Shape;1012;p46"/>
          <p:cNvSpPr/>
          <p:nvPr/>
        </p:nvSpPr>
        <p:spPr>
          <a:xfrm>
            <a:off x="5413248" y="413766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Re-assign T completely at random; recompute the difference in means.</a:t>
            </a:r>
            <a:endParaRPr sz="1250"/>
          </a:p>
        </p:txBody>
      </p:sp>
      <p:sp>
        <p:nvSpPr>
          <p:cNvPr id="1013" name="Google Shape;1013;p46"/>
          <p:cNvSpPr/>
          <p:nvPr/>
        </p:nvSpPr>
        <p:spPr>
          <a:xfrm>
            <a:off x="4864608" y="4742688"/>
            <a:ext cx="384048" cy="384048"/>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46"/>
          <p:cNvSpPr/>
          <p:nvPr/>
        </p:nvSpPr>
        <p:spPr>
          <a:xfrm>
            <a:off x="4864608" y="47426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5</a:t>
            </a:r>
            <a:endParaRPr sz="1300"/>
          </a:p>
        </p:txBody>
      </p:sp>
      <p:sp>
        <p:nvSpPr>
          <p:cNvPr id="1015" name="Google Shape;1015;p46"/>
          <p:cNvSpPr/>
          <p:nvPr/>
        </p:nvSpPr>
        <p:spPr>
          <a:xfrm>
            <a:off x="5413248" y="472440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Compare all three; plot covariate balance before and after randomization.</a:t>
            </a:r>
            <a:endParaRPr sz="1250"/>
          </a:p>
        </p:txBody>
      </p:sp>
      <p:sp>
        <p:nvSpPr>
          <p:cNvPr id="1016" name="Google Shape;1016;p46"/>
          <p:cNvSpPr/>
          <p:nvPr/>
        </p:nvSpPr>
        <p:spPr>
          <a:xfrm>
            <a:off x="4864608" y="53294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46"/>
          <p:cNvSpPr/>
          <p:nvPr/>
        </p:nvSpPr>
        <p:spPr>
          <a:xfrm>
            <a:off x="4864608" y="53294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6</a:t>
            </a:r>
            <a:endParaRPr sz="1300"/>
          </a:p>
        </p:txBody>
      </p:sp>
      <p:sp>
        <p:nvSpPr>
          <p:cNvPr id="1018" name="Google Shape;1018;p46"/>
          <p:cNvSpPr/>
          <p:nvPr/>
        </p:nvSpPr>
        <p:spPr>
          <a:xfrm>
            <a:off x="5413248" y="53111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Add a randomization-inference p-value via 1,000 label permutations.</a:t>
            </a:r>
            <a:endParaRPr sz="1250"/>
          </a:p>
        </p:txBody>
      </p:sp>
      <p:sp>
        <p:nvSpPr>
          <p:cNvPr id="1019" name="Google Shape;1019;p4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1 · LAB</a:t>
            </a:r>
            <a:endParaRPr sz="900"/>
          </a:p>
        </p:txBody>
      </p:sp>
      <p:sp>
        <p:nvSpPr>
          <p:cNvPr id="1020" name="Google Shape;1020;p4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51  /  268</a:t>
            </a:r>
            <a:endParaRPr sz="9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5" name="Shape 1025"/>
        <p:cNvGrpSpPr/>
        <p:nvPr/>
      </p:nvGrpSpPr>
      <p:grpSpPr>
        <a:xfrm>
          <a:off x="0" y="0"/>
          <a:ext cx="0" cy="0"/>
          <a:chOff x="0" y="0"/>
          <a:chExt cx="0" cy="0"/>
        </a:xfrm>
      </p:grpSpPr>
      <p:sp>
        <p:nvSpPr>
          <p:cNvPr id="1026" name="Google Shape;1026;p4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5</a:t>
            </a:r>
            <a:endParaRPr sz="1200"/>
          </a:p>
        </p:txBody>
      </p:sp>
      <p:sp>
        <p:nvSpPr>
          <p:cNvPr id="1027" name="Google Shape;1027;p4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Lab 1 Debrief: What You Should See</a:t>
            </a:r>
            <a:endParaRPr sz="3400"/>
          </a:p>
        </p:txBody>
      </p:sp>
      <p:sp>
        <p:nvSpPr>
          <p:cNvPr id="1028" name="Google Shape;1028;p47"/>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numbers are engineered to make the lesson unmistakable.</a:t>
            </a:r>
            <a:endParaRPr sz="1450"/>
          </a:p>
        </p:txBody>
      </p:sp>
      <p:sp>
        <p:nvSpPr>
          <p:cNvPr id="1029" name="Google Shape;1029;p47"/>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47"/>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Naive ≠ truth</a:t>
            </a:r>
            <a:endParaRPr sz="1500"/>
          </a:p>
        </p:txBody>
      </p:sp>
      <p:sp>
        <p:nvSpPr>
          <p:cNvPr id="1031" name="Google Shape;1031;p47"/>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selection-biased estimate is systematically off, and more data does not fix it — it converges to the biased value.</a:t>
            </a:r>
            <a:endParaRPr sz="1250"/>
          </a:p>
        </p:txBody>
      </p:sp>
      <p:sp>
        <p:nvSpPr>
          <p:cNvPr id="1032" name="Google Shape;1032;p47"/>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47"/>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Randomized ≈ truth</a:t>
            </a:r>
            <a:endParaRPr sz="1500"/>
          </a:p>
        </p:txBody>
      </p:sp>
      <p:sp>
        <p:nvSpPr>
          <p:cNvPr id="1034" name="Google Shape;1034;p47"/>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randomized estimate centres on the true ATE, with a spread that shrinks as n grows.</a:t>
            </a:r>
            <a:endParaRPr sz="1250"/>
          </a:p>
        </p:txBody>
      </p:sp>
      <p:sp>
        <p:nvSpPr>
          <p:cNvPr id="1035" name="Google Shape;1035;p47"/>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47"/>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Balance is visible</a:t>
            </a:r>
            <a:endParaRPr sz="1500"/>
          </a:p>
        </p:txBody>
      </p:sp>
      <p:sp>
        <p:nvSpPr>
          <p:cNvPr id="1037" name="Google Shape;1037;p47"/>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Covariate distributions overlap after randomization and diverge under selection — the diagnostic you will use all week.</a:t>
            </a:r>
            <a:endParaRPr sz="1250"/>
          </a:p>
        </p:txBody>
      </p:sp>
      <p:sp>
        <p:nvSpPr>
          <p:cNvPr id="1038" name="Google Shape;1038;p4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LAB</a:t>
            </a:r>
            <a:endParaRPr sz="900"/>
          </a:p>
        </p:txBody>
      </p:sp>
      <p:sp>
        <p:nvSpPr>
          <p:cNvPr id="1039" name="Google Shape;1039;p4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52  /  268</a:t>
            </a:r>
            <a:endParaRPr sz="900"/>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5</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Big Data Does Not Fix a Biased Design</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same simulation run at every sample size from 100 to 20,000, averaged over 40 draws at each point.</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PUNCHLINE</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The randomised line converges on the truth. The self-selected line converges too — on the wrong number.</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More data shrinks the shaded band, not the gap. If a stakeholder answers a design objection with 'but we have millions of rows', this is the slide.</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LAB</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53  /  268</a:t>
            </a:r>
            <a:endParaRPr sz="900"/>
          </a:p>
        </p:txBody>
      </p:sp>
      <p:pic>
        <p:nvPicPr>
          <p:cNvPr id="279" name="Picture 278" descr="m1_bias_vs_n.png"/>
          <p:cNvPicPr>
            <a:picLocks noChangeAspect="1"/>
          </p:cNvPicPr>
          <p:nvPr/>
        </p:nvPicPr>
        <p:blipFill>
          <a:blip r:embed="rId2"/>
          <a:stretch>
            <a:fillRect/>
          </a:stretch>
        </p:blipFill>
        <p:spPr>
          <a:xfrm>
            <a:off x="1059235" y="2249424"/>
            <a:ext cx="6806072" cy="3877056"/>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4" name="Shape 1044"/>
        <p:cNvGrpSpPr/>
        <p:nvPr/>
      </p:nvGrpSpPr>
      <p:grpSpPr>
        <a:xfrm>
          <a:off x="0" y="0"/>
          <a:ext cx="0" cy="0"/>
          <a:chOff x="0" y="0"/>
          <a:chExt cx="0" cy="0"/>
        </a:xfrm>
      </p:grpSpPr>
      <p:sp>
        <p:nvSpPr>
          <p:cNvPr id="1045" name="Google Shape;1045;p4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HOUR 5</a:t>
            </a:r>
            <a:endParaRPr sz="1200"/>
          </a:p>
        </p:txBody>
      </p:sp>
      <p:sp>
        <p:nvSpPr>
          <p:cNvPr id="1046" name="Google Shape;1046;p4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Discussion: Bring a Question From Your Work</a:t>
            </a:r>
            <a:endParaRPr sz="3400"/>
          </a:p>
        </p:txBody>
      </p:sp>
      <p:sp>
        <p:nvSpPr>
          <p:cNvPr id="1047" name="Google Shape;1047;p48"/>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In pairs, translate a real question from your context into the framework. We surface a few to the room.</a:t>
            </a:r>
            <a:endParaRPr sz="1450"/>
          </a:p>
        </p:txBody>
      </p:sp>
      <p:sp>
        <p:nvSpPr>
          <p:cNvPr id="1048" name="Google Shape;1048;p48"/>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48"/>
          <p:cNvSpPr/>
          <p:nvPr/>
        </p:nvSpPr>
        <p:spPr>
          <a:xfrm>
            <a:off x="841248" y="2514600"/>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State the decision, the treatment, the outcome, and the population.</a:t>
            </a:r>
            <a:endParaRPr sz="1400"/>
          </a:p>
        </p:txBody>
      </p:sp>
      <p:sp>
        <p:nvSpPr>
          <p:cNvPr id="1050" name="Google Shape;1050;p48"/>
          <p:cNvSpPr/>
          <p:nvPr/>
        </p:nvSpPr>
        <p:spPr>
          <a:xfrm>
            <a:off x="566928" y="3328416"/>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48"/>
          <p:cNvSpPr/>
          <p:nvPr/>
        </p:nvSpPr>
        <p:spPr>
          <a:xfrm>
            <a:off x="841248" y="3264408"/>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Name the estimand (ATE, ATT, CATE, or ITT) and justify the choice.</a:t>
            </a:r>
            <a:endParaRPr sz="1400"/>
          </a:p>
        </p:txBody>
      </p:sp>
      <p:sp>
        <p:nvSpPr>
          <p:cNvPr id="1052" name="Google Shape;1052;p48"/>
          <p:cNvSpPr/>
          <p:nvPr/>
        </p:nvSpPr>
        <p:spPr>
          <a:xfrm>
            <a:off x="566928" y="4078224"/>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48"/>
          <p:cNvSpPr/>
          <p:nvPr/>
        </p:nvSpPr>
        <p:spPr>
          <a:xfrm>
            <a:off x="841248" y="4014216"/>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List the most plausible confounders and whether you can measure them.</a:t>
            </a:r>
            <a:endParaRPr sz="1400"/>
          </a:p>
        </p:txBody>
      </p:sp>
      <p:sp>
        <p:nvSpPr>
          <p:cNvPr id="1054" name="Google Shape;1054;p48"/>
          <p:cNvSpPr/>
          <p:nvPr/>
        </p:nvSpPr>
        <p:spPr>
          <a:xfrm>
            <a:off x="566928" y="4828032"/>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48"/>
          <p:cNvSpPr/>
          <p:nvPr/>
        </p:nvSpPr>
        <p:spPr>
          <a:xfrm>
            <a:off x="841248" y="4764024"/>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Decide: could you randomize? If not, what natural variation might stand in?</a:t>
            </a:r>
            <a:endParaRPr sz="1400"/>
          </a:p>
        </p:txBody>
      </p:sp>
      <p:sp>
        <p:nvSpPr>
          <p:cNvPr id="1056" name="Google Shape;1056;p4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DISCUSSION</a:t>
            </a:r>
            <a:endParaRPr sz="900"/>
          </a:p>
        </p:txBody>
      </p:sp>
      <p:sp>
        <p:nvSpPr>
          <p:cNvPr id="1057" name="Google Shape;1057;p4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54  /  268</a:t>
            </a:r>
            <a:endParaRPr sz="9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2" name="Shape 1062"/>
        <p:cNvGrpSpPr/>
        <p:nvPr/>
      </p:nvGrpSpPr>
      <p:grpSpPr>
        <a:xfrm>
          <a:off x="0" y="0"/>
          <a:ext cx="0" cy="0"/>
          <a:chOff x="0" y="0"/>
          <a:chExt cx="0" cy="0"/>
        </a:xfrm>
      </p:grpSpPr>
      <p:sp>
        <p:nvSpPr>
          <p:cNvPr id="1063" name="Google Shape;1063;p4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1 · WRAP</a:t>
            </a:r>
            <a:endParaRPr sz="1200"/>
          </a:p>
        </p:txBody>
      </p:sp>
      <p:sp>
        <p:nvSpPr>
          <p:cNvPr id="1064" name="Google Shape;1064;p4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Day 1 in One Slide</a:t>
            </a:r>
            <a:endParaRPr sz="3400"/>
          </a:p>
        </p:txBody>
      </p:sp>
      <p:sp>
        <p:nvSpPr>
          <p:cNvPr id="1065" name="Google Shape;1065;p49"/>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mental model that carries the whole course.</a:t>
            </a:r>
            <a:endParaRPr sz="1450"/>
          </a:p>
        </p:txBody>
      </p:sp>
      <p:sp>
        <p:nvSpPr>
          <p:cNvPr id="1066" name="Google Shape;1066;p49"/>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49"/>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Causal ≠ predictive</a:t>
            </a:r>
            <a:endParaRPr sz="1500"/>
          </a:p>
        </p:txBody>
      </p:sp>
      <p:sp>
        <p:nvSpPr>
          <p:cNvPr id="1068" name="Google Shape;1068;p49"/>
          <p:cNvSpPr/>
          <p:nvPr/>
        </p:nvSpPr>
        <p:spPr>
          <a:xfrm>
            <a:off x="859536" y="283464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Intervention questions need counterfactual reasoning, not just correlation.</a:t>
            </a:r>
            <a:endParaRPr sz="1250"/>
          </a:p>
        </p:txBody>
      </p:sp>
      <p:sp>
        <p:nvSpPr>
          <p:cNvPr id="1069" name="Google Shape;1069;p49"/>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49"/>
          <p:cNvSpPr/>
          <p:nvPr/>
        </p:nvSpPr>
        <p:spPr>
          <a:xfrm>
            <a:off x="859536" y="345186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Potential outcomes</a:t>
            </a:r>
            <a:endParaRPr sz="1500"/>
          </a:p>
        </p:txBody>
      </p:sp>
      <p:sp>
        <p:nvSpPr>
          <p:cNvPr id="1071" name="Google Shape;1071;p49"/>
          <p:cNvSpPr/>
          <p:nvPr/>
        </p:nvSpPr>
        <p:spPr>
          <a:xfrm>
            <a:off x="859536" y="372618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Effects are within-unit contrasts; the missing counterfactual is the whole problem.</a:t>
            </a:r>
            <a:endParaRPr sz="1250"/>
          </a:p>
        </p:txBody>
      </p:sp>
      <p:sp>
        <p:nvSpPr>
          <p:cNvPr id="1072" name="Google Shape;1072;p49"/>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49"/>
          <p:cNvSpPr/>
          <p:nvPr/>
        </p:nvSpPr>
        <p:spPr>
          <a:xfrm>
            <a:off x="859536" y="434340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Identification first</a:t>
            </a:r>
            <a:endParaRPr sz="1500"/>
          </a:p>
        </p:txBody>
      </p:sp>
      <p:sp>
        <p:nvSpPr>
          <p:cNvPr id="1074" name="Google Shape;1074;p49"/>
          <p:cNvSpPr/>
          <p:nvPr/>
        </p:nvSpPr>
        <p:spPr>
          <a:xfrm>
            <a:off x="859536" y="461772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SUTVA, ignorability, positivity, consistency decide credibility before any estimator.</a:t>
            </a:r>
            <a:endParaRPr sz="1250"/>
          </a:p>
        </p:txBody>
      </p:sp>
      <p:sp>
        <p:nvSpPr>
          <p:cNvPr id="1075" name="Google Shape;1075;p49"/>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49"/>
          <p:cNvSpPr/>
          <p:nvPr/>
        </p:nvSpPr>
        <p:spPr>
          <a:xfrm>
            <a:off x="859536" y="523494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Randomization is the benchmark</a:t>
            </a:r>
            <a:endParaRPr sz="1500"/>
          </a:p>
        </p:txBody>
      </p:sp>
      <p:sp>
        <p:nvSpPr>
          <p:cNvPr id="1077" name="Google Shape;1077;p49"/>
          <p:cNvSpPr/>
          <p:nvPr/>
        </p:nvSpPr>
        <p:spPr>
          <a:xfrm>
            <a:off x="859536" y="550926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It makes ignorability true by design; quasi-experiments approximate it.</a:t>
            </a:r>
            <a:endParaRPr sz="1250"/>
          </a:p>
        </p:txBody>
      </p:sp>
      <p:sp>
        <p:nvSpPr>
          <p:cNvPr id="1078" name="Google Shape;1078;p49"/>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49"/>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TOMORROW</a:t>
            </a:r>
            <a:endParaRPr sz="1100"/>
          </a:p>
        </p:txBody>
      </p:sp>
      <p:sp>
        <p:nvSpPr>
          <p:cNvPr id="1080" name="Google Shape;1080;p49"/>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350">
                <a:solidFill>
                  <a:srgbClr val="16233F"/>
                </a:solidFill>
                <a:latin typeface="Calibri"/>
                <a:ea typeface="Calibri"/>
                <a:cs typeface="Calibri"/>
                <a:sym typeface="Calibri"/>
              </a:rPr>
              <a:t>Day 2: we design real experiments — randomization schemes, power and MDE, regression estimation, and production A/B testing.</a:t>
            </a:r>
            <a:endParaRPr sz="1350"/>
          </a:p>
        </p:txBody>
      </p:sp>
      <p:sp>
        <p:nvSpPr>
          <p:cNvPr id="1081" name="Google Shape;1081;p4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1 · SUMMARY</a:t>
            </a:r>
            <a:endParaRPr sz="900"/>
          </a:p>
        </p:txBody>
      </p:sp>
      <p:sp>
        <p:nvSpPr>
          <p:cNvPr id="1082" name="Google Shape;1082;p4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55  /  268</a:t>
            </a:r>
            <a:endParaRPr sz="9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1087" name="Shape 1087"/>
        <p:cNvGrpSpPr/>
        <p:nvPr/>
      </p:nvGrpSpPr>
      <p:grpSpPr>
        <a:xfrm>
          <a:off x="0" y="0"/>
          <a:ext cx="0" cy="0"/>
          <a:chOff x="0" y="0"/>
          <a:chExt cx="0" cy="0"/>
        </a:xfrm>
      </p:grpSpPr>
      <p:sp>
        <p:nvSpPr>
          <p:cNvPr id="1088" name="Google Shape;1088;p50"/>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2</a:t>
            </a:r>
            <a:endParaRPr sz="1300"/>
          </a:p>
        </p:txBody>
      </p:sp>
      <p:sp>
        <p:nvSpPr>
          <p:cNvPr id="1089" name="Google Shape;1089;p50"/>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Randomized Experiments &amp; A/B Testing</a:t>
            </a:r>
            <a:endParaRPr sz="4000"/>
          </a:p>
        </p:txBody>
      </p:sp>
      <p:sp>
        <p:nvSpPr>
          <p:cNvPr id="1090" name="Google Shape;1090;p50"/>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Design of experiments, randomization vs. design-based inference, regression estimation of effects, power and MDE, and production A/B testing.</a:t>
            </a:r>
            <a:endParaRPr sz="1500"/>
          </a:p>
        </p:txBody>
      </p:sp>
      <p:cxnSp>
        <p:nvCxnSpPr>
          <p:cNvPr id="1091" name="Google Shape;1091;p50"/>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1092" name="Google Shape;1092;p5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2</a:t>
            </a:r>
            <a:endParaRPr sz="900"/>
          </a:p>
        </p:txBody>
      </p:sp>
      <p:sp>
        <p:nvSpPr>
          <p:cNvPr id="1093" name="Google Shape;1093;p5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56  /  268</a:t>
            </a:r>
            <a:endParaRPr sz="9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8" name="Shape 1098"/>
        <p:cNvGrpSpPr/>
        <p:nvPr/>
      </p:nvGrpSpPr>
      <p:grpSpPr>
        <a:xfrm>
          <a:off x="0" y="0"/>
          <a:ext cx="0" cy="0"/>
          <a:chOff x="0" y="0"/>
          <a:chExt cx="0" cy="0"/>
        </a:xfrm>
      </p:grpSpPr>
      <p:sp>
        <p:nvSpPr>
          <p:cNvPr id="1099" name="Google Shape;1099;p5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OVERVIEW</a:t>
            </a:r>
            <a:endParaRPr sz="1200"/>
          </a:p>
        </p:txBody>
      </p:sp>
      <p:sp>
        <p:nvSpPr>
          <p:cNvPr id="1100" name="Google Shape;1100;p5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Today's Five Hours</a:t>
            </a:r>
            <a:endParaRPr sz="3400"/>
          </a:p>
        </p:txBody>
      </p:sp>
      <p:sp>
        <p:nvSpPr>
          <p:cNvPr id="1101" name="Google Shape;1101;p51"/>
          <p:cNvSpPr/>
          <p:nvPr/>
        </p:nvSpPr>
        <p:spPr>
          <a:xfrm>
            <a:off x="566928" y="178308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A9E0"/>
              </a:buClr>
              <a:buSzPts val="3000"/>
              <a:buFont typeface="Cambria"/>
              <a:buNone/>
            </a:pPr>
            <a:r>
              <a:rPr b="1" lang="en-US" sz="3000">
                <a:solidFill>
                  <a:srgbClr val="3FA9E0"/>
                </a:solidFill>
                <a:latin typeface="Cambria"/>
                <a:ea typeface="Cambria"/>
                <a:cs typeface="Cambria"/>
                <a:sym typeface="Cambria"/>
              </a:rPr>
              <a:t>01</a:t>
            </a:r>
            <a:endParaRPr sz="3000"/>
          </a:p>
        </p:txBody>
      </p:sp>
      <p:sp>
        <p:nvSpPr>
          <p:cNvPr id="1102" name="Google Shape;1102;p51"/>
          <p:cNvSpPr/>
          <p:nvPr/>
        </p:nvSpPr>
        <p:spPr>
          <a:xfrm>
            <a:off x="1435608" y="178308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1 — Design of Experiments</a:t>
            </a:r>
            <a:endParaRPr sz="1600"/>
          </a:p>
        </p:txBody>
      </p:sp>
      <p:sp>
        <p:nvSpPr>
          <p:cNvPr id="1103" name="Google Shape;1103;p51"/>
          <p:cNvSpPr/>
          <p:nvPr/>
        </p:nvSpPr>
        <p:spPr>
          <a:xfrm>
            <a:off x="1435608" y="209397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Randomization schemes: complete, block, stratified, cluster, and factorial designs.</a:t>
            </a:r>
            <a:endParaRPr sz="1150"/>
          </a:p>
        </p:txBody>
      </p:sp>
      <p:sp>
        <p:nvSpPr>
          <p:cNvPr id="1104" name="Google Shape;1104;p51"/>
          <p:cNvSpPr/>
          <p:nvPr/>
        </p:nvSpPr>
        <p:spPr>
          <a:xfrm>
            <a:off x="6324448" y="178308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BA6"/>
              </a:buClr>
              <a:buSzPts val="3000"/>
              <a:buFont typeface="Cambria"/>
              <a:buNone/>
            </a:pPr>
            <a:r>
              <a:rPr b="1" lang="en-US" sz="3000">
                <a:solidFill>
                  <a:srgbClr val="5A5BA6"/>
                </a:solidFill>
                <a:latin typeface="Cambria"/>
                <a:ea typeface="Cambria"/>
                <a:cs typeface="Cambria"/>
                <a:sym typeface="Cambria"/>
              </a:rPr>
              <a:t>02</a:t>
            </a:r>
            <a:endParaRPr sz="3000"/>
          </a:p>
        </p:txBody>
      </p:sp>
      <p:sp>
        <p:nvSpPr>
          <p:cNvPr id="1105" name="Google Shape;1105;p51"/>
          <p:cNvSpPr/>
          <p:nvPr/>
        </p:nvSpPr>
        <p:spPr>
          <a:xfrm>
            <a:off x="7193128" y="178308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2 — Inference for Experiments</a:t>
            </a:r>
            <a:endParaRPr sz="1600"/>
          </a:p>
        </p:txBody>
      </p:sp>
      <p:sp>
        <p:nvSpPr>
          <p:cNvPr id="1106" name="Google Shape;1106;p51"/>
          <p:cNvSpPr/>
          <p:nvPr/>
        </p:nvSpPr>
        <p:spPr>
          <a:xfrm>
            <a:off x="7193128" y="209397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Randomization (Fisher) and design-based (Neyman) inference in practice.</a:t>
            </a:r>
            <a:endParaRPr sz="1150"/>
          </a:p>
        </p:txBody>
      </p:sp>
      <p:sp>
        <p:nvSpPr>
          <p:cNvPr id="1107" name="Google Shape;1107;p51"/>
          <p:cNvSpPr/>
          <p:nvPr/>
        </p:nvSpPr>
        <p:spPr>
          <a:xfrm>
            <a:off x="566928" y="288036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7B38"/>
              </a:buClr>
              <a:buSzPts val="3000"/>
              <a:buFont typeface="Cambria"/>
              <a:buNone/>
            </a:pPr>
            <a:r>
              <a:rPr b="1" lang="en-US" sz="3000">
                <a:solidFill>
                  <a:srgbClr val="EA7B38"/>
                </a:solidFill>
                <a:latin typeface="Cambria"/>
                <a:ea typeface="Cambria"/>
                <a:cs typeface="Cambria"/>
                <a:sym typeface="Cambria"/>
              </a:rPr>
              <a:t>03</a:t>
            </a:r>
            <a:endParaRPr sz="3000"/>
          </a:p>
        </p:txBody>
      </p:sp>
      <p:sp>
        <p:nvSpPr>
          <p:cNvPr id="1108" name="Google Shape;1108;p51"/>
          <p:cNvSpPr/>
          <p:nvPr/>
        </p:nvSpPr>
        <p:spPr>
          <a:xfrm>
            <a:off x="1435608" y="288036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3 — Regression &amp; Covariate Adjustment</a:t>
            </a:r>
            <a:endParaRPr sz="1600"/>
          </a:p>
        </p:txBody>
      </p:sp>
      <p:sp>
        <p:nvSpPr>
          <p:cNvPr id="1109" name="Google Shape;1109;p51"/>
          <p:cNvSpPr/>
          <p:nvPr/>
        </p:nvSpPr>
        <p:spPr>
          <a:xfrm>
            <a:off x="1435608" y="319125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Regression estimators, CUPED variance reduction, and heterogeneous effects (CATE).</a:t>
            </a:r>
            <a:endParaRPr sz="1150"/>
          </a:p>
        </p:txBody>
      </p:sp>
      <p:sp>
        <p:nvSpPr>
          <p:cNvPr id="1110" name="Google Shape;1110;p51"/>
          <p:cNvSpPr/>
          <p:nvPr/>
        </p:nvSpPr>
        <p:spPr>
          <a:xfrm>
            <a:off x="6324448" y="288036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E9B90"/>
              </a:buClr>
              <a:buSzPts val="3000"/>
              <a:buFont typeface="Cambria"/>
              <a:buNone/>
            </a:pPr>
            <a:r>
              <a:rPr b="1" lang="en-US" sz="3000">
                <a:solidFill>
                  <a:srgbClr val="3E9B90"/>
                </a:solidFill>
                <a:latin typeface="Cambria"/>
                <a:ea typeface="Cambria"/>
                <a:cs typeface="Cambria"/>
                <a:sym typeface="Cambria"/>
              </a:rPr>
              <a:t>04</a:t>
            </a:r>
            <a:endParaRPr sz="3000"/>
          </a:p>
        </p:txBody>
      </p:sp>
      <p:sp>
        <p:nvSpPr>
          <p:cNvPr id="1111" name="Google Shape;1111;p51"/>
          <p:cNvSpPr/>
          <p:nvPr/>
        </p:nvSpPr>
        <p:spPr>
          <a:xfrm>
            <a:off x="7193128" y="288036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4 — A/B Testing in Production</a:t>
            </a:r>
            <a:endParaRPr sz="1600"/>
          </a:p>
        </p:txBody>
      </p:sp>
      <p:sp>
        <p:nvSpPr>
          <p:cNvPr id="1112" name="Google Shape;1112;p51"/>
          <p:cNvSpPr/>
          <p:nvPr/>
        </p:nvSpPr>
        <p:spPr>
          <a:xfrm>
            <a:off x="7193128" y="319125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Hypotheses, power/MDE, sequential testing, peeking, multiplicity, guardrails.</a:t>
            </a:r>
            <a:endParaRPr sz="1150"/>
          </a:p>
        </p:txBody>
      </p:sp>
      <p:sp>
        <p:nvSpPr>
          <p:cNvPr id="1113" name="Google Shape;1113;p51"/>
          <p:cNvSpPr/>
          <p:nvPr/>
        </p:nvSpPr>
        <p:spPr>
          <a:xfrm>
            <a:off x="566928" y="397764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3BB59"/>
              </a:buClr>
              <a:buSzPts val="3000"/>
              <a:buFont typeface="Cambria"/>
              <a:buNone/>
            </a:pPr>
            <a:r>
              <a:rPr b="1" lang="en-US" sz="3000">
                <a:solidFill>
                  <a:srgbClr val="73BB59"/>
                </a:solidFill>
                <a:latin typeface="Cambria"/>
                <a:ea typeface="Cambria"/>
                <a:cs typeface="Cambria"/>
                <a:sym typeface="Cambria"/>
              </a:rPr>
              <a:t>05</a:t>
            </a:r>
            <a:endParaRPr sz="3000"/>
          </a:p>
        </p:txBody>
      </p:sp>
      <p:sp>
        <p:nvSpPr>
          <p:cNvPr id="1114" name="Google Shape;1114;p51"/>
          <p:cNvSpPr/>
          <p:nvPr/>
        </p:nvSpPr>
        <p:spPr>
          <a:xfrm>
            <a:off x="1435608" y="397764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5 — Lab 2 &amp; Discussion</a:t>
            </a:r>
            <a:endParaRPr sz="1600"/>
          </a:p>
        </p:txBody>
      </p:sp>
      <p:sp>
        <p:nvSpPr>
          <p:cNvPr id="1115" name="Google Shape;1115;p51"/>
          <p:cNvSpPr/>
          <p:nvPr/>
        </p:nvSpPr>
        <p:spPr>
          <a:xfrm>
            <a:off x="1435608" y="428853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Run and analyse a full A/B test; diagnose common failure modes.</a:t>
            </a:r>
            <a:endParaRPr sz="1150"/>
          </a:p>
        </p:txBody>
      </p:sp>
      <p:sp>
        <p:nvSpPr>
          <p:cNvPr id="1116" name="Google Shape;1116;p5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a:t>
            </a:r>
            <a:endParaRPr sz="900"/>
          </a:p>
        </p:txBody>
      </p:sp>
      <p:sp>
        <p:nvSpPr>
          <p:cNvPr id="1117" name="Google Shape;1117;p5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57  /  268</a:t>
            </a:r>
            <a:endParaRPr sz="9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2" name="Shape 1122"/>
        <p:cNvGrpSpPr/>
        <p:nvPr/>
      </p:nvGrpSpPr>
      <p:grpSpPr>
        <a:xfrm>
          <a:off x="0" y="0"/>
          <a:ext cx="0" cy="0"/>
          <a:chOff x="0" y="0"/>
          <a:chExt cx="0" cy="0"/>
        </a:xfrm>
      </p:grpSpPr>
      <p:sp>
        <p:nvSpPr>
          <p:cNvPr id="1123" name="Google Shape;1123;p5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1</a:t>
            </a:r>
            <a:endParaRPr sz="1200"/>
          </a:p>
        </p:txBody>
      </p:sp>
      <p:sp>
        <p:nvSpPr>
          <p:cNvPr id="1124" name="Google Shape;1124;p5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Anatomy of an Experiment</a:t>
            </a:r>
            <a:endParaRPr sz="3400"/>
          </a:p>
        </p:txBody>
      </p:sp>
      <p:sp>
        <p:nvSpPr>
          <p:cNvPr id="1125" name="Google Shape;1125;p52"/>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Before choosing a scheme, fix the design vocabulary that determines what your estimate means.</a:t>
            </a:r>
            <a:endParaRPr sz="1450"/>
          </a:p>
        </p:txBody>
      </p:sp>
      <p:sp>
        <p:nvSpPr>
          <p:cNvPr id="1126" name="Google Shape;1126;p52"/>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52"/>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Unit of randomization</a:t>
            </a:r>
            <a:endParaRPr sz="1500"/>
          </a:p>
        </p:txBody>
      </p:sp>
      <p:sp>
        <p:nvSpPr>
          <p:cNvPr id="1128" name="Google Shape;1128;p52"/>
          <p:cNvSpPr/>
          <p:nvPr/>
        </p:nvSpPr>
        <p:spPr>
          <a:xfrm>
            <a:off x="859536" y="283464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level at which treatment is assigned (user, session, cluster). It must match the level of interference and of the decision.</a:t>
            </a:r>
            <a:endParaRPr sz="1250"/>
          </a:p>
        </p:txBody>
      </p:sp>
      <p:sp>
        <p:nvSpPr>
          <p:cNvPr id="1129" name="Google Shape;1129;p52"/>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52"/>
          <p:cNvSpPr/>
          <p:nvPr/>
        </p:nvSpPr>
        <p:spPr>
          <a:xfrm>
            <a:off x="859536" y="345186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Treatment arms</a:t>
            </a:r>
            <a:endParaRPr sz="1500"/>
          </a:p>
        </p:txBody>
      </p:sp>
      <p:sp>
        <p:nvSpPr>
          <p:cNvPr id="1131" name="Google Shape;1131;p52"/>
          <p:cNvSpPr/>
          <p:nvPr/>
        </p:nvSpPr>
        <p:spPr>
          <a:xfrm>
            <a:off x="859536" y="372618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Control plus one or more variants; more arms split power and multiply comparisons.</a:t>
            </a:r>
            <a:endParaRPr sz="1250"/>
          </a:p>
        </p:txBody>
      </p:sp>
      <p:sp>
        <p:nvSpPr>
          <p:cNvPr id="1132" name="Google Shape;1132;p52"/>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52"/>
          <p:cNvSpPr/>
          <p:nvPr/>
        </p:nvSpPr>
        <p:spPr>
          <a:xfrm>
            <a:off x="859536" y="434340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Randomization scheme</a:t>
            </a:r>
            <a:endParaRPr sz="1500"/>
          </a:p>
        </p:txBody>
      </p:sp>
      <p:sp>
        <p:nvSpPr>
          <p:cNvPr id="1134" name="Google Shape;1134;p52"/>
          <p:cNvSpPr/>
          <p:nvPr/>
        </p:nvSpPr>
        <p:spPr>
          <a:xfrm>
            <a:off x="859536" y="461772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probabilistic rule mapping units to arms — the source of all causal validity.</a:t>
            </a:r>
            <a:endParaRPr sz="1250"/>
          </a:p>
        </p:txBody>
      </p:sp>
      <p:sp>
        <p:nvSpPr>
          <p:cNvPr id="1135" name="Google Shape;1135;p52"/>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52"/>
          <p:cNvSpPr/>
          <p:nvPr/>
        </p:nvSpPr>
        <p:spPr>
          <a:xfrm>
            <a:off x="859536" y="523494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Primary &amp; guardrail metrics</a:t>
            </a:r>
            <a:endParaRPr sz="1500"/>
          </a:p>
        </p:txBody>
      </p:sp>
      <p:sp>
        <p:nvSpPr>
          <p:cNvPr id="1137" name="Google Shape;1137;p52"/>
          <p:cNvSpPr/>
          <p:nvPr/>
        </p:nvSpPr>
        <p:spPr>
          <a:xfrm>
            <a:off x="859536" y="550926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One pre-specified success metric, plus metrics that must not degrade (latency, revenue, complaints).</a:t>
            </a:r>
            <a:endParaRPr sz="1250"/>
          </a:p>
        </p:txBody>
      </p:sp>
      <p:sp>
        <p:nvSpPr>
          <p:cNvPr id="1138" name="Google Shape;1138;p5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DESIGN</a:t>
            </a:r>
            <a:endParaRPr sz="900"/>
          </a:p>
        </p:txBody>
      </p:sp>
      <p:sp>
        <p:nvSpPr>
          <p:cNvPr id="1139" name="Google Shape;1139;p5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58  /  268</a:t>
            </a:r>
            <a:endParaRPr sz="900"/>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1</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Anatomy of an Injaz Experiment</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Six decisions, all of them made before a single row of data exists. Every ambiguity left here becomes an argument after the results land.</a:t>
            </a:r>
            <a:endParaRPr sz="1450"/>
          </a:p>
        </p:txBody>
      </p:sp>
      <p:sp>
        <p:nvSpPr>
          <p:cNvPr id="276" name="Google Shape;276;p11"/>
          <p:cNvSpPr/>
          <p:nvPr/>
        </p:nvSpPr>
        <p:spPr>
          <a:xfrm>
            <a:off x="566928" y="5797296"/>
            <a:ext cx="11055096" cy="4023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100">
                <a:solidFill>
                  <a:srgbClr val="16233F"/>
                </a:solidFill>
                <a:latin typeface="Calibri"/>
                <a:ea typeface="Calibri"/>
                <a:cs typeface="Calibri"/>
                <a:sym typeface="Calibri"/>
              </a:rPr>
              <a:t>WATCH THE SPLIT — The unit of RANDOMISATION and the unit of ANALYSIS are different boxes, and confusing them is the most common silent error in industry A/B testing.</a:t>
            </a:r>
            <a:endParaRPr sz="1350"/>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DESIGN</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59  /  268</a:t>
            </a:r>
            <a:endParaRPr sz="900"/>
          </a:p>
        </p:txBody>
      </p:sp>
      <p:pic>
        <p:nvPicPr>
          <p:cNvPr id="279" name="Picture 278" descr="m2_experiment_anatomy.png"/>
          <p:cNvPicPr>
            <a:picLocks noChangeAspect="1"/>
          </p:cNvPicPr>
          <p:nvPr/>
        </p:nvPicPr>
        <p:blipFill>
          <a:blip r:embed="rId2"/>
          <a:stretch>
            <a:fillRect/>
          </a:stretch>
        </p:blipFill>
        <p:spPr>
          <a:xfrm>
            <a:off x="879647" y="2212848"/>
            <a:ext cx="10429657" cy="347472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4" name="Shape 1144"/>
        <p:cNvGrpSpPr/>
        <p:nvPr/>
      </p:nvGrpSpPr>
      <p:grpSpPr>
        <a:xfrm>
          <a:off x="0" y="0"/>
          <a:ext cx="0" cy="0"/>
          <a:chOff x="0" y="0"/>
          <a:chExt cx="0" cy="0"/>
        </a:xfrm>
      </p:grpSpPr>
      <p:sp>
        <p:nvSpPr>
          <p:cNvPr id="1145" name="Google Shape;1145;p5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1</a:t>
            </a:r>
            <a:endParaRPr sz="1200"/>
          </a:p>
        </p:txBody>
      </p:sp>
      <p:sp>
        <p:nvSpPr>
          <p:cNvPr id="1146" name="Google Shape;1146;p5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 Menu of Randomization Schemes</a:t>
            </a:r>
            <a:endParaRPr sz="3400"/>
          </a:p>
        </p:txBody>
      </p:sp>
      <p:sp>
        <p:nvSpPr>
          <p:cNvPr id="1147" name="Google Shape;1147;p53"/>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Each buys a different mix of balance, power, and operational simplicity.</a:t>
            </a:r>
            <a:endParaRPr sz="1400"/>
          </a:p>
        </p:txBody>
      </p:sp>
      <p:sp>
        <p:nvSpPr>
          <p:cNvPr id="1148" name="Google Shape;1148;p53"/>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53"/>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01</a:t>
            </a:r>
            <a:endParaRPr sz="1300"/>
          </a:p>
        </p:txBody>
      </p:sp>
      <p:sp>
        <p:nvSpPr>
          <p:cNvPr id="1150" name="Google Shape;1150;p53"/>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Complete randomization</a:t>
            </a:r>
            <a:endParaRPr sz="1600"/>
          </a:p>
        </p:txBody>
      </p:sp>
      <p:sp>
        <p:nvSpPr>
          <p:cNvPr id="1151" name="Google Shape;1151;p53"/>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Each unit independently assigned. Simplest; can leave chance imbalance in small samples.</a:t>
            </a:r>
            <a:endParaRPr sz="1250"/>
          </a:p>
        </p:txBody>
      </p:sp>
      <p:sp>
        <p:nvSpPr>
          <p:cNvPr id="1152" name="Google Shape;1152;p53"/>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53"/>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02</a:t>
            </a:r>
            <a:endParaRPr sz="1300"/>
          </a:p>
        </p:txBody>
      </p:sp>
      <p:sp>
        <p:nvSpPr>
          <p:cNvPr id="1154" name="Google Shape;1154;p53"/>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Block / stratified</a:t>
            </a:r>
            <a:endParaRPr sz="1600"/>
          </a:p>
        </p:txBody>
      </p:sp>
      <p:sp>
        <p:nvSpPr>
          <p:cNvPr id="1155" name="Google Shape;1155;p53"/>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Randomize within strata of a strong pre-treatment predictor to guarantee balance and cut variance.</a:t>
            </a:r>
            <a:endParaRPr sz="1250"/>
          </a:p>
        </p:txBody>
      </p:sp>
      <p:sp>
        <p:nvSpPr>
          <p:cNvPr id="1156" name="Google Shape;1156;p53"/>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53"/>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03</a:t>
            </a:r>
            <a:endParaRPr sz="1300"/>
          </a:p>
        </p:txBody>
      </p:sp>
      <p:sp>
        <p:nvSpPr>
          <p:cNvPr id="1158" name="Google Shape;1158;p53"/>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Cluster randomization</a:t>
            </a:r>
            <a:endParaRPr sz="1600"/>
          </a:p>
        </p:txBody>
      </p:sp>
      <p:sp>
        <p:nvSpPr>
          <p:cNvPr id="1159" name="Google Shape;1159;p53"/>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Assign whole groups (stores, classrooms, regions) when interference or delivery forces it — at a power cost.</a:t>
            </a:r>
            <a:endParaRPr sz="1250"/>
          </a:p>
        </p:txBody>
      </p:sp>
      <p:sp>
        <p:nvSpPr>
          <p:cNvPr id="1160" name="Google Shape;1160;p53"/>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53"/>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04</a:t>
            </a:r>
            <a:endParaRPr sz="1300"/>
          </a:p>
        </p:txBody>
      </p:sp>
      <p:sp>
        <p:nvSpPr>
          <p:cNvPr id="1162" name="Google Shape;1162;p53"/>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Factorial</a:t>
            </a:r>
            <a:endParaRPr sz="1600"/>
          </a:p>
        </p:txBody>
      </p:sp>
      <p:sp>
        <p:nvSpPr>
          <p:cNvPr id="1163" name="Google Shape;1163;p53"/>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Cross two or more treatments to estimate main effects and interactions in one experiment.</a:t>
            </a:r>
            <a:endParaRPr sz="1250"/>
          </a:p>
        </p:txBody>
      </p:sp>
      <p:sp>
        <p:nvSpPr>
          <p:cNvPr id="1164" name="Google Shape;1164;p5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DESIGN</a:t>
            </a:r>
            <a:endParaRPr sz="900"/>
          </a:p>
        </p:txBody>
      </p:sp>
      <p:sp>
        <p:nvSpPr>
          <p:cNvPr id="1165" name="Google Shape;1165;p5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60  /  268</a:t>
            </a:r>
            <a:endParaRPr sz="9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0" name="Shape 1170"/>
        <p:cNvGrpSpPr/>
        <p:nvPr/>
      </p:nvGrpSpPr>
      <p:grpSpPr>
        <a:xfrm>
          <a:off x="0" y="0"/>
          <a:ext cx="0" cy="0"/>
          <a:chOff x="0" y="0"/>
          <a:chExt cx="0" cy="0"/>
        </a:xfrm>
      </p:grpSpPr>
      <p:sp>
        <p:nvSpPr>
          <p:cNvPr id="1171" name="Google Shape;1171;p5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1</a:t>
            </a:r>
            <a:endParaRPr sz="1200"/>
          </a:p>
        </p:txBody>
      </p:sp>
      <p:sp>
        <p:nvSpPr>
          <p:cNvPr id="1172" name="Google Shape;1172;p5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Blocking &amp; Stratification: Balance by Design</a:t>
            </a:r>
            <a:endParaRPr sz="3400"/>
          </a:p>
        </p:txBody>
      </p:sp>
      <p:sp>
        <p:nvSpPr>
          <p:cNvPr id="1173" name="Google Shape;1173;p54"/>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‘Block what you can, randomize what you cannot.’ Stratifying on strong predictors removes chance imbalance before it happens.</a:t>
            </a:r>
            <a:endParaRPr sz="1450"/>
          </a:p>
        </p:txBody>
      </p:sp>
      <p:sp>
        <p:nvSpPr>
          <p:cNvPr id="1174" name="Google Shape;1174;p54"/>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54"/>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How it works</a:t>
            </a:r>
            <a:endParaRPr sz="1500"/>
          </a:p>
        </p:txBody>
      </p:sp>
      <p:sp>
        <p:nvSpPr>
          <p:cNvPr id="1176" name="Google Shape;1176;p54"/>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Partition units into strata (e.g. by prior activity), then randomize independently within each stratum.</a:t>
            </a:r>
            <a:endParaRPr sz="1250"/>
          </a:p>
        </p:txBody>
      </p:sp>
      <p:sp>
        <p:nvSpPr>
          <p:cNvPr id="1177" name="Google Shape;1177;p54"/>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54"/>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Why it helps</a:t>
            </a:r>
            <a:endParaRPr sz="1500"/>
          </a:p>
        </p:txBody>
      </p:sp>
      <p:sp>
        <p:nvSpPr>
          <p:cNvPr id="1179" name="Google Shape;1179;p54"/>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It forces covariate balance and reduces sampling variance of the effect estimate — tighter intervals for free.</a:t>
            </a:r>
            <a:endParaRPr sz="1250"/>
          </a:p>
        </p:txBody>
      </p:sp>
      <p:sp>
        <p:nvSpPr>
          <p:cNvPr id="1180" name="Google Shape;1180;p54"/>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54"/>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Analysis must match design</a:t>
            </a:r>
            <a:endParaRPr sz="1500"/>
          </a:p>
        </p:txBody>
      </p:sp>
      <p:sp>
        <p:nvSpPr>
          <p:cNvPr id="1182" name="Google Shape;1182;p54"/>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Include stratum indicators (or stratum-fixed effects) in the analysis, or you understate precision.</a:t>
            </a:r>
            <a:endParaRPr sz="1250"/>
          </a:p>
        </p:txBody>
      </p:sp>
      <p:sp>
        <p:nvSpPr>
          <p:cNvPr id="1183" name="Google Shape;1183;p54"/>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54"/>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VARIANCE WIN</a:t>
            </a:r>
            <a:endParaRPr sz="1100"/>
          </a:p>
        </p:txBody>
      </p:sp>
      <p:sp>
        <p:nvSpPr>
          <p:cNvPr id="1185" name="Google Shape;1185;p54"/>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 SE</a:t>
            </a:r>
            <a:endParaRPr sz="5400"/>
          </a:p>
        </p:txBody>
      </p:sp>
      <p:sp>
        <p:nvSpPr>
          <p:cNvPr id="1186" name="Google Shape;1186;p54"/>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Blocking on a covariate that explains a share ρ² of outcome variance shrinks the effect's variance by roughly that fraction — often a large, cheap gain.</a:t>
            </a:r>
            <a:endParaRPr sz="1300"/>
          </a:p>
        </p:txBody>
      </p:sp>
      <p:sp>
        <p:nvSpPr>
          <p:cNvPr id="1187" name="Google Shape;1187;p5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DESIGN</a:t>
            </a:r>
            <a:endParaRPr sz="900"/>
          </a:p>
        </p:txBody>
      </p:sp>
      <p:sp>
        <p:nvSpPr>
          <p:cNvPr id="1188" name="Google Shape;1188;p5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61  /  268</a:t>
            </a:r>
            <a:endParaRPr sz="9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3" name="Shape 1193"/>
        <p:cNvGrpSpPr/>
        <p:nvPr/>
      </p:nvGrpSpPr>
      <p:grpSpPr>
        <a:xfrm>
          <a:off x="0" y="0"/>
          <a:ext cx="0" cy="0"/>
          <a:chOff x="0" y="0"/>
          <a:chExt cx="0" cy="0"/>
        </a:xfrm>
      </p:grpSpPr>
      <p:sp>
        <p:nvSpPr>
          <p:cNvPr id="1194" name="Google Shape;1194;p5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1</a:t>
            </a:r>
            <a:endParaRPr sz="1200"/>
          </a:p>
        </p:txBody>
      </p:sp>
      <p:sp>
        <p:nvSpPr>
          <p:cNvPr id="1195" name="Google Shape;1195;p5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Cluster Randomization &amp; Its Price</a:t>
            </a:r>
            <a:endParaRPr sz="3400"/>
          </a:p>
        </p:txBody>
      </p:sp>
      <p:sp>
        <p:nvSpPr>
          <p:cNvPr id="1196" name="Google Shape;1196;p55"/>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Sometimes you must treat groups, not individuals — but correlated units within a cluster carry less information than independent ones.</a:t>
            </a:r>
            <a:endParaRPr sz="1450"/>
          </a:p>
        </p:txBody>
      </p:sp>
      <p:sp>
        <p:nvSpPr>
          <p:cNvPr id="1197" name="Google Shape;1197;p55"/>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55"/>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When it is required</a:t>
            </a:r>
            <a:endParaRPr sz="1500"/>
          </a:p>
        </p:txBody>
      </p:sp>
      <p:sp>
        <p:nvSpPr>
          <p:cNvPr id="1199" name="Google Shape;1199;p55"/>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Interference within groups, or treatments delivered at group level (a store layout, a regional campaign).</a:t>
            </a:r>
            <a:endParaRPr sz="1250"/>
          </a:p>
        </p:txBody>
      </p:sp>
      <p:sp>
        <p:nvSpPr>
          <p:cNvPr id="1200" name="Google Shape;1200;p55"/>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55"/>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design effect</a:t>
            </a:r>
            <a:endParaRPr sz="1500"/>
          </a:p>
        </p:txBody>
      </p:sp>
      <p:sp>
        <p:nvSpPr>
          <p:cNvPr id="1202" name="Google Shape;1202;p55"/>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Effective sample size falls by a factor 1 + (m−1)ρ, where m is cluster size and ρ the intra-cluster correlation.</a:t>
            </a:r>
            <a:endParaRPr sz="1250"/>
          </a:p>
        </p:txBody>
      </p:sp>
      <p:sp>
        <p:nvSpPr>
          <p:cNvPr id="1203" name="Google Shape;1203;p55"/>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55"/>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Consequences</a:t>
            </a:r>
            <a:endParaRPr sz="1500"/>
          </a:p>
        </p:txBody>
      </p:sp>
      <p:sp>
        <p:nvSpPr>
          <p:cNvPr id="1205" name="Google Shape;1205;p55"/>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You need more clusters (not just more units), and you must cluster your standard errors (Day 4).</a:t>
            </a:r>
            <a:endParaRPr sz="1250"/>
          </a:p>
        </p:txBody>
      </p:sp>
      <p:sp>
        <p:nvSpPr>
          <p:cNvPr id="1206" name="Google Shape;1206;p55"/>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55"/>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COMMON MISTAKE</a:t>
            </a:r>
            <a:endParaRPr sz="1100"/>
          </a:p>
        </p:txBody>
      </p:sp>
      <p:sp>
        <p:nvSpPr>
          <p:cNvPr id="1208" name="Google Shape;1208;p55"/>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Randomizing by cluster but analysing as if by individual dramatically understates uncertainty — a frequent source of false ‘wins’.</a:t>
            </a:r>
            <a:endParaRPr sz="1350"/>
          </a:p>
        </p:txBody>
      </p:sp>
      <p:sp>
        <p:nvSpPr>
          <p:cNvPr id="1209" name="Google Shape;1209;p5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DESIGN</a:t>
            </a:r>
            <a:endParaRPr sz="900"/>
          </a:p>
        </p:txBody>
      </p:sp>
      <p:sp>
        <p:nvSpPr>
          <p:cNvPr id="1210" name="Google Shape;1210;p5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62  /  268</a:t>
            </a:r>
            <a:endParaRPr sz="9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5" name="Shape 1215"/>
        <p:cNvGrpSpPr/>
        <p:nvPr/>
      </p:nvGrpSpPr>
      <p:grpSpPr>
        <a:xfrm>
          <a:off x="0" y="0"/>
          <a:ext cx="0" cy="0"/>
          <a:chOff x="0" y="0"/>
          <a:chExt cx="0" cy="0"/>
        </a:xfrm>
      </p:grpSpPr>
      <p:sp>
        <p:nvSpPr>
          <p:cNvPr id="1216" name="Google Shape;1216;p5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1</a:t>
            </a:r>
            <a:endParaRPr sz="1200"/>
          </a:p>
        </p:txBody>
      </p:sp>
      <p:sp>
        <p:nvSpPr>
          <p:cNvPr id="1217" name="Google Shape;1217;p5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Factorial Designs: More Answers per Experiment</a:t>
            </a:r>
            <a:endParaRPr sz="3400"/>
          </a:p>
        </p:txBody>
      </p:sp>
      <p:sp>
        <p:nvSpPr>
          <p:cNvPr id="1218" name="Google Shape;1218;p56"/>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Crossing treatments lets you learn about several interventions — and their interactions — at once.</a:t>
            </a:r>
            <a:endParaRPr sz="1450"/>
          </a:p>
        </p:txBody>
      </p:sp>
      <p:sp>
        <p:nvSpPr>
          <p:cNvPr id="1219" name="Google Shape;1219;p56"/>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56"/>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2×2 example</a:t>
            </a:r>
            <a:endParaRPr sz="1500"/>
          </a:p>
        </p:txBody>
      </p:sp>
      <p:sp>
        <p:nvSpPr>
          <p:cNvPr id="1221" name="Google Shape;1221;p56"/>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Test a new headline (on/off) crossed with a new price (old/new): four cells, two main effects, one interaction.</a:t>
            </a:r>
            <a:endParaRPr sz="1250"/>
          </a:p>
        </p:txBody>
      </p:sp>
      <p:sp>
        <p:nvSpPr>
          <p:cNvPr id="1222" name="Google Shape;1222;p56"/>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56"/>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Efficiency</a:t>
            </a:r>
            <a:endParaRPr sz="1500"/>
          </a:p>
        </p:txBody>
      </p:sp>
      <p:sp>
        <p:nvSpPr>
          <p:cNvPr id="1224" name="Google Shape;1224;p56"/>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Main effects use the whole sample, so factorial can be far cheaper than separate experiments.</a:t>
            </a:r>
            <a:endParaRPr sz="1250"/>
          </a:p>
        </p:txBody>
      </p:sp>
      <p:sp>
        <p:nvSpPr>
          <p:cNvPr id="1225" name="Google Shape;1225;p56"/>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56"/>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Watch interactions</a:t>
            </a:r>
            <a:endParaRPr sz="1500"/>
          </a:p>
        </p:txBody>
      </p:sp>
      <p:sp>
        <p:nvSpPr>
          <p:cNvPr id="1227" name="Google Shape;1227;p56"/>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If effects are strongly non-additive, main effects alone mislead — pre-specify which interactions matter.</a:t>
            </a:r>
            <a:endParaRPr sz="1250"/>
          </a:p>
        </p:txBody>
      </p:sp>
      <p:sp>
        <p:nvSpPr>
          <p:cNvPr id="1228" name="Google Shape;1228;p5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DESIGN</a:t>
            </a:r>
            <a:endParaRPr sz="900"/>
          </a:p>
        </p:txBody>
      </p:sp>
      <p:sp>
        <p:nvSpPr>
          <p:cNvPr id="1229" name="Google Shape;1229;p5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63  /  268</a:t>
            </a:r>
            <a:endParaRPr sz="9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4" name="Shape 1234"/>
        <p:cNvGrpSpPr/>
        <p:nvPr/>
      </p:nvGrpSpPr>
      <p:grpSpPr>
        <a:xfrm>
          <a:off x="0" y="0"/>
          <a:ext cx="0" cy="0"/>
          <a:chOff x="0" y="0"/>
          <a:chExt cx="0" cy="0"/>
        </a:xfrm>
      </p:grpSpPr>
      <p:sp>
        <p:nvSpPr>
          <p:cNvPr id="1235" name="Google Shape;1235;p5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1</a:t>
            </a:r>
            <a:endParaRPr sz="1200"/>
          </a:p>
        </p:txBody>
      </p:sp>
      <p:sp>
        <p:nvSpPr>
          <p:cNvPr id="1236" name="Google Shape;1236;p5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Randomization Unit vs. Analysis Unit</a:t>
            </a:r>
            <a:endParaRPr sz="3400"/>
          </a:p>
        </p:txBody>
      </p:sp>
      <p:sp>
        <p:nvSpPr>
          <p:cNvPr id="1237" name="Google Shape;1237;p57"/>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subtle but decisive choice that shapes both bias and variance.</a:t>
            </a:r>
            <a:endParaRPr sz="1450"/>
          </a:p>
        </p:txBody>
      </p:sp>
      <p:sp>
        <p:nvSpPr>
          <p:cNvPr id="1238" name="Google Shape;1238;p57"/>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57"/>
          <p:cNvSpPr/>
          <p:nvPr/>
        </p:nvSpPr>
        <p:spPr>
          <a:xfrm>
            <a:off x="841248" y="2514600"/>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Randomize at the level where interference stops — if users influence each other, user-level tests leak.</a:t>
            </a:r>
            <a:endParaRPr sz="1400"/>
          </a:p>
        </p:txBody>
      </p:sp>
      <p:sp>
        <p:nvSpPr>
          <p:cNvPr id="1240" name="Google Shape;1240;p57"/>
          <p:cNvSpPr/>
          <p:nvPr/>
        </p:nvSpPr>
        <p:spPr>
          <a:xfrm>
            <a:off x="566928" y="3328416"/>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57"/>
          <p:cNvSpPr/>
          <p:nvPr/>
        </p:nvSpPr>
        <p:spPr>
          <a:xfrm>
            <a:off x="841248" y="3264408"/>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Session-level randomization gives power but breaks if the same user appears in both arms (contamination).</a:t>
            </a:r>
            <a:endParaRPr sz="1400"/>
          </a:p>
        </p:txBody>
      </p:sp>
      <p:sp>
        <p:nvSpPr>
          <p:cNvPr id="1242" name="Google Shape;1242;p57"/>
          <p:cNvSpPr/>
          <p:nvPr/>
        </p:nvSpPr>
        <p:spPr>
          <a:xfrm>
            <a:off x="566928" y="4078224"/>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57"/>
          <p:cNvSpPr/>
          <p:nvPr/>
        </p:nvSpPr>
        <p:spPr>
          <a:xfrm>
            <a:off x="841248" y="4014216"/>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The analysis unit should be at or above the randomization unit; never analyse finer than you assigned.</a:t>
            </a:r>
            <a:endParaRPr sz="1400"/>
          </a:p>
        </p:txBody>
      </p:sp>
      <p:sp>
        <p:nvSpPr>
          <p:cNvPr id="1244" name="Google Shape;1244;p57"/>
          <p:cNvSpPr/>
          <p:nvPr/>
        </p:nvSpPr>
        <p:spPr>
          <a:xfrm>
            <a:off x="566928" y="4828032"/>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57"/>
          <p:cNvSpPr/>
          <p:nvPr/>
        </p:nvSpPr>
        <p:spPr>
          <a:xfrm>
            <a:off x="841248" y="4764024"/>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Repeated observations per unit require clustered or aggregated inference to avoid fake precision.</a:t>
            </a:r>
            <a:endParaRPr sz="1400"/>
          </a:p>
        </p:txBody>
      </p:sp>
      <p:sp>
        <p:nvSpPr>
          <p:cNvPr id="1246" name="Google Shape;1246;p5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DESIGN</a:t>
            </a:r>
            <a:endParaRPr sz="900"/>
          </a:p>
        </p:txBody>
      </p:sp>
      <p:sp>
        <p:nvSpPr>
          <p:cNvPr id="1247" name="Google Shape;1247;p5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64  /  268</a:t>
            </a:r>
            <a:endParaRPr sz="900"/>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1</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Choosing the Randomisation Unit</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Three questions decide it, and they must be answered in this order. The convenient answer and the correct answer are rarely the same.</a:t>
            </a:r>
            <a:endParaRPr sz="1450"/>
          </a:p>
        </p:txBody>
      </p:sp>
      <p:sp>
        <p:nvSpPr>
          <p:cNvPr id="276" name="Google Shape;276;p11"/>
          <p:cNvSpPr/>
          <p:nvPr/>
        </p:nvSpPr>
        <p:spPr>
          <a:xfrm>
            <a:off x="566928" y="5797296"/>
            <a:ext cx="11055096" cy="4023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100">
                <a:solidFill>
                  <a:srgbClr val="16233F"/>
                </a:solidFill>
                <a:latin typeface="Calibri"/>
                <a:ea typeface="Calibri"/>
                <a:cs typeface="Calibri"/>
                <a:sym typeface="Calibri"/>
              </a:rPr>
              <a:t>DEFAULT TO USER — Session-level randomisation is tempting because it maximises the sample. It is also wrong whenever users return, because the same person lands in both arms.</a:t>
            </a:r>
            <a:endParaRPr sz="1350"/>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DESIGN</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65  /  268</a:t>
            </a:r>
            <a:endParaRPr sz="900"/>
          </a:p>
        </p:txBody>
      </p:sp>
      <p:pic>
        <p:nvPicPr>
          <p:cNvPr id="279" name="Picture 278" descr="m2_randomisation_unit_tree.png"/>
          <p:cNvPicPr>
            <a:picLocks noChangeAspect="1"/>
          </p:cNvPicPr>
          <p:nvPr/>
        </p:nvPicPr>
        <p:blipFill>
          <a:blip r:embed="rId2"/>
          <a:stretch>
            <a:fillRect/>
          </a:stretch>
        </p:blipFill>
        <p:spPr>
          <a:xfrm>
            <a:off x="879647" y="2212848"/>
            <a:ext cx="10429657" cy="347472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1</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When One Unit's Treatment Reaches Another</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SUTVA is the quiet assumption behind every A/B test: your outcome does not depend on anyone else's assignment. Two ways it breaks in production.</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TELL</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In both panels, the measured 'effect' is partly the control group getting WORSE — which flatters the treatment for free.</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Spillover inflates a null feature; cannibalisation invents a winner out of a fixed supply. Both are design problems and neither shows up in a p-value.</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DESIGN</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66  /  268</a:t>
            </a:r>
            <a:endParaRPr sz="900"/>
          </a:p>
        </p:txBody>
      </p:sp>
      <p:pic>
        <p:nvPicPr>
          <p:cNvPr id="279" name="Picture 278" descr="m2_interference.png"/>
          <p:cNvPicPr>
            <a:picLocks noChangeAspect="1"/>
          </p:cNvPicPr>
          <p:nvPr/>
        </p:nvPicPr>
        <p:blipFill>
          <a:blip r:embed="rId2"/>
          <a:stretch>
            <a:fillRect/>
          </a:stretch>
        </p:blipFill>
        <p:spPr>
          <a:xfrm>
            <a:off x="666337" y="2249424"/>
            <a:ext cx="7591868" cy="3877056"/>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2" name="Shape 1252"/>
        <p:cNvGrpSpPr/>
        <p:nvPr/>
      </p:nvGrpSpPr>
      <p:grpSpPr>
        <a:xfrm>
          <a:off x="0" y="0"/>
          <a:ext cx="0" cy="0"/>
          <a:chOff x="0" y="0"/>
          <a:chExt cx="0" cy="0"/>
        </a:xfrm>
      </p:grpSpPr>
      <p:sp>
        <p:nvSpPr>
          <p:cNvPr id="1253" name="Google Shape;1253;p5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1</a:t>
            </a:r>
            <a:endParaRPr sz="1200"/>
          </a:p>
        </p:txBody>
      </p:sp>
      <p:sp>
        <p:nvSpPr>
          <p:cNvPr id="1254" name="Google Shape;1254;p5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Knowledge Check: Design Choices</a:t>
            </a:r>
            <a:endParaRPr sz="3400"/>
          </a:p>
        </p:txBody>
      </p:sp>
      <p:sp>
        <p:nvSpPr>
          <p:cNvPr id="1255" name="Google Shape;1255;p58"/>
          <p:cNvSpPr/>
          <p:nvPr/>
        </p:nvSpPr>
        <p:spPr>
          <a:xfrm>
            <a:off x="566928" y="178308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58"/>
          <p:cNvSpPr/>
          <p:nvPr/>
        </p:nvSpPr>
        <p:spPr>
          <a:xfrm>
            <a:off x="768096" y="196596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58"/>
          <p:cNvSpPr/>
          <p:nvPr/>
        </p:nvSpPr>
        <p:spPr>
          <a:xfrm>
            <a:off x="768096"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1258" name="Google Shape;1258;p58"/>
          <p:cNvSpPr/>
          <p:nvPr/>
        </p:nvSpPr>
        <p:spPr>
          <a:xfrm>
            <a:off x="1344168" y="19293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A campaign is delivered per city and neighbours may hear about it. Best design?</a:t>
            </a:r>
            <a:endParaRPr sz="1400"/>
          </a:p>
        </p:txBody>
      </p:sp>
      <p:sp>
        <p:nvSpPr>
          <p:cNvPr id="1259" name="Google Shape;1259;p58"/>
          <p:cNvSpPr/>
          <p:nvPr/>
        </p:nvSpPr>
        <p:spPr>
          <a:xfrm>
            <a:off x="1344168" y="23865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Complete      B) Cluster (by city)      C) Factorial      D) Session-level</a:t>
            </a:r>
            <a:endParaRPr sz="1200"/>
          </a:p>
        </p:txBody>
      </p:sp>
      <p:sp>
        <p:nvSpPr>
          <p:cNvPr id="1260" name="Google Shape;1260;p58"/>
          <p:cNvSpPr/>
          <p:nvPr/>
        </p:nvSpPr>
        <p:spPr>
          <a:xfrm>
            <a:off x="566928" y="306324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58"/>
          <p:cNvSpPr/>
          <p:nvPr/>
        </p:nvSpPr>
        <p:spPr>
          <a:xfrm>
            <a:off x="768096" y="32461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58"/>
          <p:cNvSpPr/>
          <p:nvPr/>
        </p:nvSpPr>
        <p:spPr>
          <a:xfrm>
            <a:off x="768096"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1263" name="Google Shape;1263;p58"/>
          <p:cNvSpPr/>
          <p:nvPr/>
        </p:nvSpPr>
        <p:spPr>
          <a:xfrm>
            <a:off x="1344168" y="32095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You have one covariate that strongly predicts the outcome. To cut variance you should:</a:t>
            </a:r>
            <a:endParaRPr sz="1400"/>
          </a:p>
        </p:txBody>
      </p:sp>
      <p:sp>
        <p:nvSpPr>
          <p:cNvPr id="1264" name="Google Shape;1264;p58"/>
          <p:cNvSpPr/>
          <p:nvPr/>
        </p:nvSpPr>
        <p:spPr>
          <a:xfrm>
            <a:off x="1344168" y="36667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Add more arms      B) Stratify on it      C) Ignore it      D) Drop imbalanced units</a:t>
            </a:r>
            <a:endParaRPr sz="1200"/>
          </a:p>
        </p:txBody>
      </p:sp>
      <p:sp>
        <p:nvSpPr>
          <p:cNvPr id="1265" name="Google Shape;1265;p58"/>
          <p:cNvSpPr/>
          <p:nvPr/>
        </p:nvSpPr>
        <p:spPr>
          <a:xfrm>
            <a:off x="566928" y="434340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58"/>
          <p:cNvSpPr/>
          <p:nvPr/>
        </p:nvSpPr>
        <p:spPr>
          <a:xfrm>
            <a:off x="768096" y="452628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58"/>
          <p:cNvSpPr/>
          <p:nvPr/>
        </p:nvSpPr>
        <p:spPr>
          <a:xfrm>
            <a:off x="768096" y="4526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1268" name="Google Shape;1268;p58"/>
          <p:cNvSpPr/>
          <p:nvPr/>
        </p:nvSpPr>
        <p:spPr>
          <a:xfrm>
            <a:off x="1344168" y="44897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Analysing a cluster-randomized test at the individual level will typically:</a:t>
            </a:r>
            <a:endParaRPr sz="1400"/>
          </a:p>
        </p:txBody>
      </p:sp>
      <p:sp>
        <p:nvSpPr>
          <p:cNvPr id="1269" name="Google Shape;1269;p58"/>
          <p:cNvSpPr/>
          <p:nvPr/>
        </p:nvSpPr>
        <p:spPr>
          <a:xfrm>
            <a:off x="1344168" y="49469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Overstate SE      B) Understate SE      C) Be unbiased      D) Fix imbalance</a:t>
            </a:r>
            <a:endParaRPr sz="1200"/>
          </a:p>
        </p:txBody>
      </p:sp>
      <p:sp>
        <p:nvSpPr>
          <p:cNvPr id="1270" name="Google Shape;1270;p5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DESIGN</a:t>
            </a:r>
            <a:endParaRPr sz="900"/>
          </a:p>
        </p:txBody>
      </p:sp>
      <p:sp>
        <p:nvSpPr>
          <p:cNvPr id="1271" name="Google Shape;1271;p5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67  /  268</a:t>
            </a:r>
            <a:endParaRPr sz="9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1276" name="Shape 1276"/>
        <p:cNvGrpSpPr/>
        <p:nvPr/>
      </p:nvGrpSpPr>
      <p:grpSpPr>
        <a:xfrm>
          <a:off x="0" y="0"/>
          <a:ext cx="0" cy="0"/>
          <a:chOff x="0" y="0"/>
          <a:chExt cx="0" cy="0"/>
        </a:xfrm>
      </p:grpSpPr>
      <p:sp>
        <p:nvSpPr>
          <p:cNvPr id="1277" name="Google Shape;1277;p59"/>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2 · HOUR 2</a:t>
            </a:r>
            <a:endParaRPr sz="1300"/>
          </a:p>
        </p:txBody>
      </p:sp>
      <p:sp>
        <p:nvSpPr>
          <p:cNvPr id="1278" name="Google Shape;1278;p59"/>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Inference for Experiments</a:t>
            </a:r>
            <a:endParaRPr sz="4000"/>
          </a:p>
        </p:txBody>
      </p:sp>
      <p:sp>
        <p:nvSpPr>
          <p:cNvPr id="1279" name="Google Shape;1279;p59"/>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Turning a design into an estimate with honest uncertainty: randomization inference and Neyman's design-based standard errors.</a:t>
            </a:r>
            <a:endParaRPr sz="1500"/>
          </a:p>
        </p:txBody>
      </p:sp>
      <p:cxnSp>
        <p:nvCxnSpPr>
          <p:cNvPr id="1280" name="Google Shape;1280;p59"/>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1281" name="Google Shape;1281;p5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2</a:t>
            </a:r>
            <a:endParaRPr sz="900"/>
          </a:p>
        </p:txBody>
      </p:sp>
      <p:sp>
        <p:nvSpPr>
          <p:cNvPr id="1282" name="Google Shape;1282;p5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68  /  268</a:t>
            </a:r>
            <a:endParaRPr sz="9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7" name="Shape 1287"/>
        <p:cNvGrpSpPr/>
        <p:nvPr/>
      </p:nvGrpSpPr>
      <p:grpSpPr>
        <a:xfrm>
          <a:off x="0" y="0"/>
          <a:ext cx="0" cy="0"/>
          <a:chOff x="0" y="0"/>
          <a:chExt cx="0" cy="0"/>
        </a:xfrm>
      </p:grpSpPr>
      <p:sp>
        <p:nvSpPr>
          <p:cNvPr id="1288" name="Google Shape;1288;p6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2</a:t>
            </a:r>
            <a:endParaRPr sz="1200"/>
          </a:p>
        </p:txBody>
      </p:sp>
      <p:sp>
        <p:nvSpPr>
          <p:cNvPr id="1289" name="Google Shape;1289;p6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Randomization Inference in Practice</a:t>
            </a:r>
            <a:endParaRPr sz="3400"/>
          </a:p>
        </p:txBody>
      </p:sp>
      <p:sp>
        <p:nvSpPr>
          <p:cNvPr id="1290" name="Google Shape;1290;p60"/>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permutation logic from Day 1, operationalised as a repeatable procedure.</a:t>
            </a:r>
            <a:endParaRPr sz="1450"/>
          </a:p>
        </p:txBody>
      </p:sp>
      <p:sp>
        <p:nvSpPr>
          <p:cNvPr id="1291" name="Google Shape;1291;p60"/>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60"/>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Choose a test statistic</a:t>
            </a:r>
            <a:endParaRPr sz="1500"/>
          </a:p>
        </p:txBody>
      </p:sp>
      <p:sp>
        <p:nvSpPr>
          <p:cNvPr id="1293" name="Google Shape;1293;p60"/>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Difference in means, difference in ranks, or a studentised statistic — pick before seeing the data.</a:t>
            </a:r>
            <a:endParaRPr sz="1250"/>
          </a:p>
        </p:txBody>
      </p:sp>
      <p:sp>
        <p:nvSpPr>
          <p:cNvPr id="1294" name="Google Shape;1294;p60"/>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60"/>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Permute the labels</a:t>
            </a:r>
            <a:endParaRPr sz="1500"/>
          </a:p>
        </p:txBody>
      </p:sp>
      <p:sp>
        <p:nvSpPr>
          <p:cNvPr id="1296" name="Google Shape;1296;p60"/>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Reassign treatment respecting the actual design (e.g. within blocks) many times; recompute the statistic each time.</a:t>
            </a:r>
            <a:endParaRPr sz="1250"/>
          </a:p>
        </p:txBody>
      </p:sp>
      <p:sp>
        <p:nvSpPr>
          <p:cNvPr id="1297" name="Google Shape;1297;p60"/>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60"/>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Read off significance</a:t>
            </a:r>
            <a:endParaRPr sz="1500"/>
          </a:p>
        </p:txBody>
      </p:sp>
      <p:sp>
        <p:nvSpPr>
          <p:cNvPr id="1299" name="Google Shape;1299;p60"/>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p-value is the share of permutations at least as extreme as observed; invert for confidence intervals.</a:t>
            </a:r>
            <a:endParaRPr sz="1250"/>
          </a:p>
        </p:txBody>
      </p:sp>
      <p:sp>
        <p:nvSpPr>
          <p:cNvPr id="1300" name="Google Shape;1300;p60"/>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60"/>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ASSUMPTION COST</a:t>
            </a:r>
            <a:endParaRPr sz="1100"/>
          </a:p>
        </p:txBody>
      </p:sp>
      <p:sp>
        <p:nvSpPr>
          <p:cNvPr id="1302" name="Google Shape;1302;p60"/>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Minimal</a:t>
            </a:r>
            <a:endParaRPr sz="5400"/>
          </a:p>
        </p:txBody>
      </p:sp>
      <p:sp>
        <p:nvSpPr>
          <p:cNvPr id="1303" name="Google Shape;1303;p60"/>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Randomization inference imports no distributional assumptions and respects your exact design — including blocks and clusters — by permuting the way you assigned.</a:t>
            </a:r>
            <a:endParaRPr sz="1300"/>
          </a:p>
        </p:txBody>
      </p:sp>
      <p:sp>
        <p:nvSpPr>
          <p:cNvPr id="1304" name="Google Shape;1304;p6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INFERENCE</a:t>
            </a:r>
            <a:endParaRPr sz="900"/>
          </a:p>
        </p:txBody>
      </p:sp>
      <p:sp>
        <p:nvSpPr>
          <p:cNvPr id="1305" name="Google Shape;1305;p6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69  /  268</a:t>
            </a:r>
            <a:endParaRPr sz="9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0" name="Shape 1310"/>
        <p:cNvGrpSpPr/>
        <p:nvPr/>
      </p:nvGrpSpPr>
      <p:grpSpPr>
        <a:xfrm>
          <a:off x="0" y="0"/>
          <a:ext cx="0" cy="0"/>
          <a:chOff x="0" y="0"/>
          <a:chExt cx="0" cy="0"/>
        </a:xfrm>
      </p:grpSpPr>
      <p:sp>
        <p:nvSpPr>
          <p:cNvPr id="1311" name="Google Shape;1311;p6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2</a:t>
            </a:r>
            <a:endParaRPr sz="1200"/>
          </a:p>
        </p:txBody>
      </p:sp>
      <p:sp>
        <p:nvSpPr>
          <p:cNvPr id="1312" name="Google Shape;1312;p6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Neyman's Design-Based Standard Error</a:t>
            </a:r>
            <a:endParaRPr sz="3400"/>
          </a:p>
        </p:txBody>
      </p:sp>
      <p:sp>
        <p:nvSpPr>
          <p:cNvPr id="1313" name="Google Shape;1313;p61"/>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For estimation (not just testing), Neyman gives an unbiased ATE and a variance derived from the assignment.</a:t>
            </a:r>
            <a:endParaRPr sz="1450"/>
          </a:p>
        </p:txBody>
      </p:sp>
      <p:sp>
        <p:nvSpPr>
          <p:cNvPr id="1314" name="Google Shape;1314;p61"/>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61"/>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estimator</a:t>
            </a:r>
            <a:endParaRPr sz="1500"/>
          </a:p>
        </p:txBody>
      </p:sp>
      <p:sp>
        <p:nvSpPr>
          <p:cNvPr id="1316" name="Google Shape;1316;p61"/>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τ̂ = ȳ₁ − ȳ₀, the difference in arm means — unbiased for the ATE under complete randomization.</a:t>
            </a:r>
            <a:endParaRPr sz="1250"/>
          </a:p>
        </p:txBody>
      </p:sp>
      <p:sp>
        <p:nvSpPr>
          <p:cNvPr id="1317" name="Google Shape;1317;p61"/>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61"/>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variance</a:t>
            </a:r>
            <a:endParaRPr sz="1500"/>
          </a:p>
        </p:txBody>
      </p:sp>
      <p:sp>
        <p:nvSpPr>
          <p:cNvPr id="1319" name="Google Shape;1319;p61"/>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Var = S₁²/n₁ + S₀²/n₀ (conservative), estimated from within-arm sample variances.</a:t>
            </a:r>
            <a:endParaRPr sz="1250"/>
          </a:p>
        </p:txBody>
      </p:sp>
      <p:sp>
        <p:nvSpPr>
          <p:cNvPr id="1320" name="Google Shape;1320;p61"/>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61"/>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Equivalence</a:t>
            </a:r>
            <a:endParaRPr sz="1500"/>
          </a:p>
        </p:txBody>
      </p:sp>
      <p:sp>
        <p:nvSpPr>
          <p:cNvPr id="1322" name="Google Shape;1322;p61"/>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Under complete randomization this matches a heteroskedasticity-robust (HC2) standard error from a regression of Y on T.</a:t>
            </a:r>
            <a:endParaRPr sz="1250"/>
          </a:p>
        </p:txBody>
      </p:sp>
      <p:sp>
        <p:nvSpPr>
          <p:cNvPr id="1323" name="Google Shape;1323;p6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INFERENCE</a:t>
            </a:r>
            <a:endParaRPr sz="900"/>
          </a:p>
        </p:txBody>
      </p:sp>
      <p:sp>
        <p:nvSpPr>
          <p:cNvPr id="1324" name="Google Shape;1324;p6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70  /  268</a:t>
            </a:r>
            <a:endParaRPr sz="9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9" name="Shape 1329"/>
        <p:cNvGrpSpPr/>
        <p:nvPr/>
      </p:nvGrpSpPr>
      <p:grpSpPr>
        <a:xfrm>
          <a:off x="0" y="0"/>
          <a:ext cx="0" cy="0"/>
          <a:chOff x="0" y="0"/>
          <a:chExt cx="0" cy="0"/>
        </a:xfrm>
      </p:grpSpPr>
      <p:sp>
        <p:nvSpPr>
          <p:cNvPr id="1330" name="Google Shape;1330;p6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2</a:t>
            </a:r>
            <a:endParaRPr sz="1200"/>
          </a:p>
        </p:txBody>
      </p:sp>
      <p:sp>
        <p:nvSpPr>
          <p:cNvPr id="1331" name="Google Shape;1331;p6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Fisher vs. Neyman</a:t>
            </a:r>
            <a:endParaRPr sz="3400"/>
          </a:p>
        </p:txBody>
      </p:sp>
      <p:sp>
        <p:nvSpPr>
          <p:cNvPr id="1332" name="Google Shape;1332;p62"/>
          <p:cNvSpPr/>
          <p:nvPr/>
        </p:nvSpPr>
        <p:spPr>
          <a:xfrm>
            <a:off x="566928" y="1828800"/>
            <a:ext cx="5117440" cy="4160520"/>
          </a:xfrm>
          <a:prstGeom prst="roundRect">
            <a:avLst>
              <a:gd fmla="val 2198"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62"/>
          <p:cNvSpPr/>
          <p:nvPr/>
        </p:nvSpPr>
        <p:spPr>
          <a:xfrm>
            <a:off x="859536" y="2084832"/>
            <a:ext cx="45322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FISHER</a:t>
            </a:r>
            <a:endParaRPr sz="1100"/>
          </a:p>
        </p:txBody>
      </p:sp>
      <p:sp>
        <p:nvSpPr>
          <p:cNvPr id="1334" name="Google Shape;1334;p62"/>
          <p:cNvSpPr/>
          <p:nvPr/>
        </p:nvSpPr>
        <p:spPr>
          <a:xfrm>
            <a:off x="859536" y="2377440"/>
            <a:ext cx="45322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Randomization Test</a:t>
            </a:r>
            <a:endParaRPr sz="2000"/>
          </a:p>
        </p:txBody>
      </p:sp>
      <p:sp>
        <p:nvSpPr>
          <p:cNvPr id="1335" name="Google Shape;1335;p62"/>
          <p:cNvSpPr/>
          <p:nvPr/>
        </p:nvSpPr>
        <p:spPr>
          <a:xfrm>
            <a:off x="877824" y="3072384"/>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62"/>
          <p:cNvSpPr/>
          <p:nvPr/>
        </p:nvSpPr>
        <p:spPr>
          <a:xfrm>
            <a:off x="1115568" y="3017520"/>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Targets the sharp null: no effect for any unit.</a:t>
            </a:r>
            <a:endParaRPr sz="1250"/>
          </a:p>
        </p:txBody>
      </p:sp>
      <p:sp>
        <p:nvSpPr>
          <p:cNvPr id="1337" name="Google Shape;1337;p62"/>
          <p:cNvSpPr/>
          <p:nvPr/>
        </p:nvSpPr>
        <p:spPr>
          <a:xfrm>
            <a:off x="877824" y="3694176"/>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62"/>
          <p:cNvSpPr/>
          <p:nvPr/>
        </p:nvSpPr>
        <p:spPr>
          <a:xfrm>
            <a:off x="1115568" y="3639312"/>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Produces an exact p-value by permutation.</a:t>
            </a:r>
            <a:endParaRPr sz="1250"/>
          </a:p>
        </p:txBody>
      </p:sp>
      <p:sp>
        <p:nvSpPr>
          <p:cNvPr id="1339" name="Google Shape;1339;p62"/>
          <p:cNvSpPr/>
          <p:nvPr/>
        </p:nvSpPr>
        <p:spPr>
          <a:xfrm>
            <a:off x="877824" y="4315968"/>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62"/>
          <p:cNvSpPr/>
          <p:nvPr/>
        </p:nvSpPr>
        <p:spPr>
          <a:xfrm>
            <a:off x="1115568" y="4261104"/>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No estimate of effect size on its own.</a:t>
            </a:r>
            <a:endParaRPr sz="1250"/>
          </a:p>
        </p:txBody>
      </p:sp>
      <p:sp>
        <p:nvSpPr>
          <p:cNvPr id="1341" name="Google Shape;1341;p62"/>
          <p:cNvSpPr/>
          <p:nvPr/>
        </p:nvSpPr>
        <p:spPr>
          <a:xfrm>
            <a:off x="877824" y="4937760"/>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62"/>
          <p:cNvSpPr/>
          <p:nvPr/>
        </p:nvSpPr>
        <p:spPr>
          <a:xfrm>
            <a:off x="1115568" y="4882896"/>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Ideal for small samples and clean significance.</a:t>
            </a:r>
            <a:endParaRPr sz="1250"/>
          </a:p>
        </p:txBody>
      </p:sp>
      <p:sp>
        <p:nvSpPr>
          <p:cNvPr id="1343" name="Google Shape;1343;p62"/>
          <p:cNvSpPr/>
          <p:nvPr/>
        </p:nvSpPr>
        <p:spPr>
          <a:xfrm>
            <a:off x="6507328" y="1828800"/>
            <a:ext cx="5117440" cy="4160520"/>
          </a:xfrm>
          <a:prstGeom prst="roundRect">
            <a:avLst>
              <a:gd fmla="val 2198" name="adj"/>
            </a:avLst>
          </a:prstGeom>
          <a:solidFill>
            <a:srgbClr val="16233F"/>
          </a:solidFill>
          <a:ln cap="flat" cmpd="sng" w="12700">
            <a:solidFill>
              <a:srgbClr val="1623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62"/>
          <p:cNvSpPr/>
          <p:nvPr/>
        </p:nvSpPr>
        <p:spPr>
          <a:xfrm>
            <a:off x="6799936" y="2084832"/>
            <a:ext cx="45322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NEYMAN</a:t>
            </a:r>
            <a:endParaRPr sz="1100"/>
          </a:p>
        </p:txBody>
      </p:sp>
      <p:sp>
        <p:nvSpPr>
          <p:cNvPr id="1345" name="Google Shape;1345;p62"/>
          <p:cNvSpPr/>
          <p:nvPr/>
        </p:nvSpPr>
        <p:spPr>
          <a:xfrm>
            <a:off x="6799936" y="2377440"/>
            <a:ext cx="45322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Design-Based Estimation</a:t>
            </a:r>
            <a:endParaRPr sz="2000"/>
          </a:p>
        </p:txBody>
      </p:sp>
      <p:sp>
        <p:nvSpPr>
          <p:cNvPr id="1346" name="Google Shape;1346;p62"/>
          <p:cNvSpPr/>
          <p:nvPr/>
        </p:nvSpPr>
        <p:spPr>
          <a:xfrm>
            <a:off x="6818224" y="3072384"/>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62"/>
          <p:cNvSpPr/>
          <p:nvPr/>
        </p:nvSpPr>
        <p:spPr>
          <a:xfrm>
            <a:off x="7055968" y="3017520"/>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Targets the average effect (ATE).</a:t>
            </a:r>
            <a:endParaRPr sz="1250"/>
          </a:p>
        </p:txBody>
      </p:sp>
      <p:sp>
        <p:nvSpPr>
          <p:cNvPr id="1348" name="Google Shape;1348;p62"/>
          <p:cNvSpPr/>
          <p:nvPr/>
        </p:nvSpPr>
        <p:spPr>
          <a:xfrm>
            <a:off x="6818224" y="3694176"/>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62"/>
          <p:cNvSpPr/>
          <p:nvPr/>
        </p:nvSpPr>
        <p:spPr>
          <a:xfrm>
            <a:off x="7055968" y="3639312"/>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Gives an estimate plus a (conservative) SE.</a:t>
            </a:r>
            <a:endParaRPr sz="1250"/>
          </a:p>
        </p:txBody>
      </p:sp>
      <p:sp>
        <p:nvSpPr>
          <p:cNvPr id="1350" name="Google Shape;1350;p62"/>
          <p:cNvSpPr/>
          <p:nvPr/>
        </p:nvSpPr>
        <p:spPr>
          <a:xfrm>
            <a:off x="6818224" y="4315968"/>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62"/>
          <p:cNvSpPr/>
          <p:nvPr/>
        </p:nvSpPr>
        <p:spPr>
          <a:xfrm>
            <a:off x="7055968" y="4261104"/>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Tests the weaker null of zero average effect.</a:t>
            </a:r>
            <a:endParaRPr sz="1250"/>
          </a:p>
        </p:txBody>
      </p:sp>
      <p:sp>
        <p:nvSpPr>
          <p:cNvPr id="1352" name="Google Shape;1352;p62"/>
          <p:cNvSpPr/>
          <p:nvPr/>
        </p:nvSpPr>
        <p:spPr>
          <a:xfrm>
            <a:off x="6818224" y="4937760"/>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62"/>
          <p:cNvSpPr/>
          <p:nvPr/>
        </p:nvSpPr>
        <p:spPr>
          <a:xfrm>
            <a:off x="7055968" y="4882896"/>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Ideal when you need an effect size and interval.</a:t>
            </a:r>
            <a:endParaRPr sz="1250"/>
          </a:p>
        </p:txBody>
      </p:sp>
      <p:sp>
        <p:nvSpPr>
          <p:cNvPr id="1354" name="Google Shape;1354;p62"/>
          <p:cNvSpPr/>
          <p:nvPr/>
        </p:nvSpPr>
        <p:spPr>
          <a:xfrm>
            <a:off x="5803240" y="3616452"/>
            <a:ext cx="585216" cy="585216"/>
          </a:xfrm>
          <a:prstGeom prst="ellipse">
            <a:avLst/>
          </a:prstGeom>
          <a:solidFill>
            <a:srgbClr val="3FA9E0"/>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62"/>
          <p:cNvSpPr/>
          <p:nvPr/>
        </p:nvSpPr>
        <p:spPr>
          <a:xfrm>
            <a:off x="5803240" y="361645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lang="en-US" sz="1500">
                <a:solidFill>
                  <a:srgbClr val="FFFFFF"/>
                </a:solidFill>
                <a:latin typeface="Cambria"/>
                <a:ea typeface="Cambria"/>
                <a:cs typeface="Cambria"/>
                <a:sym typeface="Cambria"/>
              </a:rPr>
              <a:t>VS</a:t>
            </a:r>
            <a:endParaRPr sz="1500"/>
          </a:p>
        </p:txBody>
      </p:sp>
      <p:sp>
        <p:nvSpPr>
          <p:cNvPr id="1356" name="Google Shape;1356;p6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INFERENCE</a:t>
            </a:r>
            <a:endParaRPr sz="900"/>
          </a:p>
        </p:txBody>
      </p:sp>
      <p:sp>
        <p:nvSpPr>
          <p:cNvPr id="1357" name="Google Shape;1357;p6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71  /  268</a:t>
            </a:r>
            <a:endParaRPr sz="900"/>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2" name="Shape 1362"/>
        <p:cNvGrpSpPr/>
        <p:nvPr/>
      </p:nvGrpSpPr>
      <p:grpSpPr>
        <a:xfrm>
          <a:off x="0" y="0"/>
          <a:ext cx="0" cy="0"/>
          <a:chOff x="0" y="0"/>
          <a:chExt cx="0" cy="0"/>
        </a:xfrm>
      </p:grpSpPr>
      <p:sp>
        <p:nvSpPr>
          <p:cNvPr id="1363" name="Google Shape;1363;p6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2</a:t>
            </a:r>
            <a:endParaRPr sz="1200"/>
          </a:p>
        </p:txBody>
      </p:sp>
      <p:sp>
        <p:nvSpPr>
          <p:cNvPr id="1364" name="Google Shape;1364;p6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Reading an Experiment's Result Honestly</a:t>
            </a:r>
            <a:endParaRPr sz="3400"/>
          </a:p>
        </p:txBody>
      </p:sp>
      <p:sp>
        <p:nvSpPr>
          <p:cNvPr id="1365" name="Google Shape;1365;p63"/>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result is a triple: point estimate, interval, and the assumptions behind both.</a:t>
            </a:r>
            <a:endParaRPr sz="1450"/>
          </a:p>
        </p:txBody>
      </p:sp>
      <p:sp>
        <p:nvSpPr>
          <p:cNvPr id="1366" name="Google Shape;1366;p63"/>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63"/>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Effect size, in context</a:t>
            </a:r>
            <a:endParaRPr sz="1500"/>
          </a:p>
        </p:txBody>
      </p:sp>
      <p:sp>
        <p:nvSpPr>
          <p:cNvPr id="1368" name="Google Shape;1368;p63"/>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Report the estimate in the metric's real units and as a relative lift; statistical and practical significance differ.</a:t>
            </a:r>
            <a:endParaRPr sz="1250"/>
          </a:p>
        </p:txBody>
      </p:sp>
      <p:sp>
        <p:nvSpPr>
          <p:cNvPr id="1369" name="Google Shape;1369;p63"/>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63"/>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Interval, not just p</a:t>
            </a:r>
            <a:endParaRPr sz="1500"/>
          </a:p>
        </p:txBody>
      </p:sp>
      <p:sp>
        <p:nvSpPr>
          <p:cNvPr id="1371" name="Google Shape;1371;p63"/>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confidence (or compatibility) interval communicates precision and the range of effects the data can't rule out.</a:t>
            </a:r>
            <a:endParaRPr sz="1250"/>
          </a:p>
        </p:txBody>
      </p:sp>
      <p:sp>
        <p:nvSpPr>
          <p:cNvPr id="1372" name="Google Shape;1372;p63"/>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63"/>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Assumptions ledger</a:t>
            </a:r>
            <a:endParaRPr sz="1500"/>
          </a:p>
        </p:txBody>
      </p:sp>
      <p:sp>
        <p:nvSpPr>
          <p:cNvPr id="1374" name="Google Shape;1374;p63"/>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State the randomization unit, the SE type, and any adjustment — so a reader can judge credibility.</a:t>
            </a:r>
            <a:endParaRPr sz="1250"/>
          </a:p>
        </p:txBody>
      </p:sp>
      <p:sp>
        <p:nvSpPr>
          <p:cNvPr id="1375" name="Google Shape;1375;p6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INFERENCE</a:t>
            </a:r>
            <a:endParaRPr sz="900"/>
          </a:p>
        </p:txBody>
      </p:sp>
      <p:sp>
        <p:nvSpPr>
          <p:cNvPr id="1376" name="Google Shape;1376;p6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72  /  268</a:t>
            </a:r>
            <a:endParaRPr sz="90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1" name="Shape 1381"/>
        <p:cNvGrpSpPr/>
        <p:nvPr/>
      </p:nvGrpSpPr>
      <p:grpSpPr>
        <a:xfrm>
          <a:off x="0" y="0"/>
          <a:ext cx="0" cy="0"/>
          <a:chOff x="0" y="0"/>
          <a:chExt cx="0" cy="0"/>
        </a:xfrm>
      </p:grpSpPr>
      <p:sp>
        <p:nvSpPr>
          <p:cNvPr id="1382" name="Google Shape;1382;p6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2</a:t>
            </a:r>
            <a:endParaRPr sz="1200"/>
          </a:p>
        </p:txBody>
      </p:sp>
      <p:sp>
        <p:nvSpPr>
          <p:cNvPr id="1383" name="Google Shape;1383;p6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Interpreting p-values Without the Usual Errors</a:t>
            </a:r>
            <a:endParaRPr sz="3400"/>
          </a:p>
        </p:txBody>
      </p:sp>
      <p:sp>
        <p:nvSpPr>
          <p:cNvPr id="1384" name="Google Shape;1384;p64"/>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Even experts slip here; we state the correct readings explicitly.</a:t>
            </a:r>
            <a:endParaRPr sz="1450"/>
          </a:p>
        </p:txBody>
      </p:sp>
      <p:sp>
        <p:nvSpPr>
          <p:cNvPr id="1385" name="Google Shape;1385;p64"/>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64"/>
          <p:cNvSpPr/>
          <p:nvPr/>
        </p:nvSpPr>
        <p:spPr>
          <a:xfrm>
            <a:off x="841248" y="2514600"/>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 p-value is P(data at least this extreme | null), not P(null | data).</a:t>
            </a:r>
            <a:endParaRPr sz="1400"/>
          </a:p>
        </p:txBody>
      </p:sp>
      <p:sp>
        <p:nvSpPr>
          <p:cNvPr id="1387" name="Google Shape;1387;p64"/>
          <p:cNvSpPr/>
          <p:nvPr/>
        </p:nvSpPr>
        <p:spPr>
          <a:xfrm>
            <a:off x="566928" y="3328416"/>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64"/>
          <p:cNvSpPr/>
          <p:nvPr/>
        </p:nvSpPr>
        <p:spPr>
          <a:xfrm>
            <a:off x="841248" y="3264408"/>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‘p &gt; 0.05’ is not evidence of no effect — absence of evidence ≠ evidence of absence.</a:t>
            </a:r>
            <a:endParaRPr sz="1400"/>
          </a:p>
        </p:txBody>
      </p:sp>
      <p:sp>
        <p:nvSpPr>
          <p:cNvPr id="1389" name="Google Shape;1389;p64"/>
          <p:cNvSpPr/>
          <p:nvPr/>
        </p:nvSpPr>
        <p:spPr>
          <a:xfrm>
            <a:off x="566928" y="4078224"/>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64"/>
          <p:cNvSpPr/>
          <p:nvPr/>
        </p:nvSpPr>
        <p:spPr>
          <a:xfrm>
            <a:off x="841248" y="4014216"/>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 tiny p on a huge sample can accompany a trivial, non-actionable effect.</a:t>
            </a:r>
            <a:endParaRPr sz="1400"/>
          </a:p>
        </p:txBody>
      </p:sp>
      <p:sp>
        <p:nvSpPr>
          <p:cNvPr id="1391" name="Google Shape;1391;p64"/>
          <p:cNvSpPr/>
          <p:nvPr/>
        </p:nvSpPr>
        <p:spPr>
          <a:xfrm>
            <a:off x="566928" y="4828032"/>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64"/>
          <p:cNvSpPr/>
          <p:nvPr/>
        </p:nvSpPr>
        <p:spPr>
          <a:xfrm>
            <a:off x="841248" y="4764024"/>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The confidence interval usually carries more decision-relevant information than the p-value alone.</a:t>
            </a:r>
            <a:endParaRPr sz="1400"/>
          </a:p>
        </p:txBody>
      </p:sp>
      <p:sp>
        <p:nvSpPr>
          <p:cNvPr id="1393" name="Google Shape;1393;p6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INFERENCE</a:t>
            </a:r>
            <a:endParaRPr sz="900"/>
          </a:p>
        </p:txBody>
      </p:sp>
      <p:sp>
        <p:nvSpPr>
          <p:cNvPr id="1394" name="Google Shape;1394;p6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73  /  268</a:t>
            </a:r>
            <a:endParaRPr sz="9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9" name="Shape 1399"/>
        <p:cNvGrpSpPr/>
        <p:nvPr/>
      </p:nvGrpSpPr>
      <p:grpSpPr>
        <a:xfrm>
          <a:off x="0" y="0"/>
          <a:ext cx="0" cy="0"/>
          <a:chOff x="0" y="0"/>
          <a:chExt cx="0" cy="0"/>
        </a:xfrm>
      </p:grpSpPr>
      <p:sp>
        <p:nvSpPr>
          <p:cNvPr id="1400" name="Google Shape;1400;p6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2</a:t>
            </a:r>
            <a:endParaRPr sz="1200"/>
          </a:p>
        </p:txBody>
      </p:sp>
      <p:sp>
        <p:nvSpPr>
          <p:cNvPr id="1401" name="Google Shape;1401;p6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Knowledge Check: Inference</a:t>
            </a:r>
            <a:endParaRPr sz="3400"/>
          </a:p>
        </p:txBody>
      </p:sp>
      <p:sp>
        <p:nvSpPr>
          <p:cNvPr id="1402" name="Google Shape;1402;p65"/>
          <p:cNvSpPr/>
          <p:nvPr/>
        </p:nvSpPr>
        <p:spPr>
          <a:xfrm>
            <a:off x="566928" y="178308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65"/>
          <p:cNvSpPr/>
          <p:nvPr/>
        </p:nvSpPr>
        <p:spPr>
          <a:xfrm>
            <a:off x="768096" y="196596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65"/>
          <p:cNvSpPr/>
          <p:nvPr/>
        </p:nvSpPr>
        <p:spPr>
          <a:xfrm>
            <a:off x="768096"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1405" name="Google Shape;1405;p65"/>
          <p:cNvSpPr/>
          <p:nvPr/>
        </p:nvSpPr>
        <p:spPr>
          <a:xfrm>
            <a:off x="1344168" y="19293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You need an effect size with an interval, not just a test. Use:</a:t>
            </a:r>
            <a:endParaRPr sz="1400"/>
          </a:p>
        </p:txBody>
      </p:sp>
      <p:sp>
        <p:nvSpPr>
          <p:cNvPr id="1406" name="Google Shape;1406;p65"/>
          <p:cNvSpPr/>
          <p:nvPr/>
        </p:nvSpPr>
        <p:spPr>
          <a:xfrm>
            <a:off x="1344168" y="23865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Fisher's sharp-null test      B) Neyman estimation      C) A chi-square test      D) None</a:t>
            </a:r>
            <a:endParaRPr sz="1200"/>
          </a:p>
        </p:txBody>
      </p:sp>
      <p:sp>
        <p:nvSpPr>
          <p:cNvPr id="1407" name="Google Shape;1407;p65"/>
          <p:cNvSpPr/>
          <p:nvPr/>
        </p:nvSpPr>
        <p:spPr>
          <a:xfrm>
            <a:off x="566928" y="306324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65"/>
          <p:cNvSpPr/>
          <p:nvPr/>
        </p:nvSpPr>
        <p:spPr>
          <a:xfrm>
            <a:off x="768096" y="32461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65"/>
          <p:cNvSpPr/>
          <p:nvPr/>
        </p:nvSpPr>
        <p:spPr>
          <a:xfrm>
            <a:off x="768096"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1410" name="Google Shape;1410;p65"/>
          <p:cNvSpPr/>
          <p:nvPr/>
        </p:nvSpPr>
        <p:spPr>
          <a:xfrm>
            <a:off x="1344168" y="32095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Under complete randomization, the Neyman SE for ȳ₁−ȳ₀ corresponds to which regression SE?</a:t>
            </a:r>
            <a:endParaRPr sz="1400"/>
          </a:p>
        </p:txBody>
      </p:sp>
      <p:sp>
        <p:nvSpPr>
          <p:cNvPr id="1411" name="Google Shape;1411;p65"/>
          <p:cNvSpPr/>
          <p:nvPr/>
        </p:nvSpPr>
        <p:spPr>
          <a:xfrm>
            <a:off x="1344168" y="36667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Classical OLS      B) HC2 robust      C) Clustered      D) Bootstrap only</a:t>
            </a:r>
            <a:endParaRPr sz="1200"/>
          </a:p>
        </p:txBody>
      </p:sp>
      <p:sp>
        <p:nvSpPr>
          <p:cNvPr id="1412" name="Google Shape;1412;p65"/>
          <p:cNvSpPr/>
          <p:nvPr/>
        </p:nvSpPr>
        <p:spPr>
          <a:xfrm>
            <a:off x="566928" y="434340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65"/>
          <p:cNvSpPr/>
          <p:nvPr/>
        </p:nvSpPr>
        <p:spPr>
          <a:xfrm>
            <a:off x="768096" y="452628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65"/>
          <p:cNvSpPr/>
          <p:nvPr/>
        </p:nvSpPr>
        <p:spPr>
          <a:xfrm>
            <a:off x="768096" y="4526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1415" name="Google Shape;1415;p65"/>
          <p:cNvSpPr/>
          <p:nvPr/>
        </p:nvSpPr>
        <p:spPr>
          <a:xfrm>
            <a:off x="1344168" y="44897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‘p = 0.20, so the treatment has no effect.’ This statement is:</a:t>
            </a:r>
            <a:endParaRPr sz="1400"/>
          </a:p>
        </p:txBody>
      </p:sp>
      <p:sp>
        <p:nvSpPr>
          <p:cNvPr id="1416" name="Google Shape;1416;p65"/>
          <p:cNvSpPr/>
          <p:nvPr/>
        </p:nvSpPr>
        <p:spPr>
          <a:xfrm>
            <a:off x="1344168" y="49469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Correct      B) Incorrect — confuses no evidence with no effect      C) Correct if n large      D) Correct if randomized</a:t>
            </a:r>
            <a:endParaRPr sz="1200"/>
          </a:p>
        </p:txBody>
      </p:sp>
      <p:sp>
        <p:nvSpPr>
          <p:cNvPr id="1417" name="Google Shape;1417;p6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INFERENCE</a:t>
            </a:r>
            <a:endParaRPr sz="900"/>
          </a:p>
        </p:txBody>
      </p:sp>
      <p:sp>
        <p:nvSpPr>
          <p:cNvPr id="1418" name="Google Shape;1418;p6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74  /  268</a:t>
            </a:r>
            <a:endParaRPr sz="9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1423" name="Shape 1423"/>
        <p:cNvGrpSpPr/>
        <p:nvPr/>
      </p:nvGrpSpPr>
      <p:grpSpPr>
        <a:xfrm>
          <a:off x="0" y="0"/>
          <a:ext cx="0" cy="0"/>
          <a:chOff x="0" y="0"/>
          <a:chExt cx="0" cy="0"/>
        </a:xfrm>
      </p:grpSpPr>
      <p:sp>
        <p:nvSpPr>
          <p:cNvPr id="1424" name="Google Shape;1424;p66"/>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2 · HOUR 3</a:t>
            </a:r>
            <a:endParaRPr sz="1300"/>
          </a:p>
        </p:txBody>
      </p:sp>
      <p:sp>
        <p:nvSpPr>
          <p:cNvPr id="1425" name="Google Shape;1425;p66"/>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Regression, Adjustment &amp; Heterogeneity</a:t>
            </a:r>
            <a:endParaRPr sz="4000"/>
          </a:p>
        </p:txBody>
      </p:sp>
      <p:sp>
        <p:nvSpPr>
          <p:cNvPr id="1426" name="Google Shape;1426;p66"/>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Regression estimators for experiments, covariate adjustment and CUPED for variance reduction, and estimating effects that vary (CATE).</a:t>
            </a:r>
            <a:endParaRPr sz="1500"/>
          </a:p>
        </p:txBody>
      </p:sp>
      <p:cxnSp>
        <p:nvCxnSpPr>
          <p:cNvPr id="1427" name="Google Shape;1427;p66"/>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1428" name="Google Shape;1428;p6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2</a:t>
            </a:r>
            <a:endParaRPr sz="900"/>
          </a:p>
        </p:txBody>
      </p:sp>
      <p:sp>
        <p:nvSpPr>
          <p:cNvPr id="1429" name="Google Shape;1429;p6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75  /  268</a:t>
            </a:r>
            <a:endParaRPr sz="90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4" name="Shape 1434"/>
        <p:cNvGrpSpPr/>
        <p:nvPr/>
      </p:nvGrpSpPr>
      <p:grpSpPr>
        <a:xfrm>
          <a:off x="0" y="0"/>
          <a:ext cx="0" cy="0"/>
          <a:chOff x="0" y="0"/>
          <a:chExt cx="0" cy="0"/>
        </a:xfrm>
      </p:grpSpPr>
      <p:sp>
        <p:nvSpPr>
          <p:cNvPr id="1435" name="Google Shape;1435;p6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3</a:t>
            </a:r>
            <a:endParaRPr sz="1200"/>
          </a:p>
        </p:txBody>
      </p:sp>
      <p:sp>
        <p:nvSpPr>
          <p:cNvPr id="1436" name="Google Shape;1436;p6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Regression as an Estimator of Treatment Effects</a:t>
            </a:r>
            <a:endParaRPr sz="3400"/>
          </a:p>
        </p:txBody>
      </p:sp>
      <p:sp>
        <p:nvSpPr>
          <p:cNvPr id="1437" name="Google Shape;1437;p67"/>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In a randomized experiment, a regression of Y on T recovers the ATE — and adding pre-treatment covariates can sharpen it.</a:t>
            </a:r>
            <a:endParaRPr sz="1450"/>
          </a:p>
        </p:txBody>
      </p:sp>
      <p:sp>
        <p:nvSpPr>
          <p:cNvPr id="1438" name="Google Shape;1438;p67"/>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67"/>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Simple regression</a:t>
            </a:r>
            <a:endParaRPr sz="1500"/>
          </a:p>
        </p:txBody>
      </p:sp>
      <p:sp>
        <p:nvSpPr>
          <p:cNvPr id="1440" name="Google Shape;1440;p67"/>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Y = α + τ·T + ε. The coefficient τ̂ equals the difference in means; use robust (HC2) SEs.</a:t>
            </a:r>
            <a:endParaRPr sz="1250"/>
          </a:p>
        </p:txBody>
      </p:sp>
      <p:sp>
        <p:nvSpPr>
          <p:cNvPr id="1441" name="Google Shape;1441;p67"/>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67"/>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Covariate adjustment</a:t>
            </a:r>
            <a:endParaRPr sz="1500"/>
          </a:p>
        </p:txBody>
      </p:sp>
      <p:sp>
        <p:nvSpPr>
          <p:cNvPr id="1443" name="Google Shape;1443;p67"/>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Y = α + τ·T + Xβ + ε. Under randomization this leaves τ̂ unbiased and usually reduces its variance.</a:t>
            </a:r>
            <a:endParaRPr sz="1250"/>
          </a:p>
        </p:txBody>
      </p:sp>
      <p:sp>
        <p:nvSpPr>
          <p:cNvPr id="1444" name="Google Shape;1444;p67"/>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67"/>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Lin's estimator</a:t>
            </a:r>
            <a:endParaRPr sz="1500"/>
          </a:p>
        </p:txBody>
      </p:sp>
      <p:sp>
        <p:nvSpPr>
          <p:cNvPr id="1446" name="Google Shape;1446;p67"/>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Interact T with centred covariates to guarantee no loss of efficiency and correct finite-sample behaviour.</a:t>
            </a:r>
            <a:endParaRPr sz="1250"/>
          </a:p>
        </p:txBody>
      </p:sp>
      <p:sp>
        <p:nvSpPr>
          <p:cNvPr id="1447" name="Google Shape;1447;p67"/>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67"/>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ADJUST ONLY PRE-TREATMENT</a:t>
            </a:r>
            <a:endParaRPr sz="1100"/>
          </a:p>
        </p:txBody>
      </p:sp>
      <p:sp>
        <p:nvSpPr>
          <p:cNvPr id="1449" name="Google Shape;1449;p67"/>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Covariate adjustment is safe only for variables fixed before treatment. Adjusting for anything post-treatment reintroduces bias.</a:t>
            </a:r>
            <a:endParaRPr sz="1350"/>
          </a:p>
        </p:txBody>
      </p:sp>
      <p:sp>
        <p:nvSpPr>
          <p:cNvPr id="1450" name="Google Shape;1450;p6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REGRESSION</a:t>
            </a:r>
            <a:endParaRPr sz="900"/>
          </a:p>
        </p:txBody>
      </p:sp>
      <p:sp>
        <p:nvSpPr>
          <p:cNvPr id="1451" name="Google Shape;1451;p6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76  /  268</a:t>
            </a:r>
            <a:endParaRPr sz="900"/>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6" name="Shape 1456"/>
        <p:cNvGrpSpPr/>
        <p:nvPr/>
      </p:nvGrpSpPr>
      <p:grpSpPr>
        <a:xfrm>
          <a:off x="0" y="0"/>
          <a:ext cx="0" cy="0"/>
          <a:chOff x="0" y="0"/>
          <a:chExt cx="0" cy="0"/>
        </a:xfrm>
      </p:grpSpPr>
      <p:sp>
        <p:nvSpPr>
          <p:cNvPr id="1457" name="Google Shape;1457;p6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3</a:t>
            </a:r>
            <a:endParaRPr sz="1200"/>
          </a:p>
        </p:txBody>
      </p:sp>
      <p:sp>
        <p:nvSpPr>
          <p:cNvPr id="1458" name="Google Shape;1458;p6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CUPED: Variance Reduction With Pre-Period Data</a:t>
            </a:r>
            <a:endParaRPr sz="3400"/>
          </a:p>
        </p:txBody>
      </p:sp>
      <p:sp>
        <p:nvSpPr>
          <p:cNvPr id="1459" name="Google Shape;1459;p68"/>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Controlled-experiment Using Pre-Existing Data uses each unit's pre-treatment metric to strip out noise, tightening the estimate.</a:t>
            </a:r>
            <a:endParaRPr sz="1450"/>
          </a:p>
        </p:txBody>
      </p:sp>
      <p:sp>
        <p:nvSpPr>
          <p:cNvPr id="1460" name="Google Shape;1460;p68"/>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68"/>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idea</a:t>
            </a:r>
            <a:endParaRPr sz="1500"/>
          </a:p>
        </p:txBody>
      </p:sp>
      <p:sp>
        <p:nvSpPr>
          <p:cNvPr id="1462" name="Google Shape;1462;p68"/>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Regress the outcome on a strongly correlated pre-period covariate and analyse the residual variation instead.</a:t>
            </a:r>
            <a:endParaRPr sz="1250"/>
          </a:p>
        </p:txBody>
      </p:sp>
      <p:sp>
        <p:nvSpPr>
          <p:cNvPr id="1463" name="Google Shape;1463;p68"/>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68"/>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payoff</a:t>
            </a:r>
            <a:endParaRPr sz="1500"/>
          </a:p>
        </p:txBody>
      </p:sp>
      <p:sp>
        <p:nvSpPr>
          <p:cNvPr id="1465" name="Google Shape;1465;p68"/>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Variance falls by roughly the squared pre/post correlation — the same power as a much larger sample.</a:t>
            </a:r>
            <a:endParaRPr sz="1250"/>
          </a:p>
        </p:txBody>
      </p:sp>
      <p:sp>
        <p:nvSpPr>
          <p:cNvPr id="1466" name="Google Shape;1466;p68"/>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68"/>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guarantee</a:t>
            </a:r>
            <a:endParaRPr sz="1500"/>
          </a:p>
        </p:txBody>
      </p:sp>
      <p:sp>
        <p:nvSpPr>
          <p:cNvPr id="1468" name="Google Shape;1468;p68"/>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Because the covariate is pre-treatment, CUPED leaves the effect estimate unbiased; it only removes noise.</a:t>
            </a:r>
            <a:endParaRPr sz="1250"/>
          </a:p>
        </p:txBody>
      </p:sp>
      <p:sp>
        <p:nvSpPr>
          <p:cNvPr id="1469" name="Google Shape;1469;p68"/>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68"/>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EFFECTIVE N</a:t>
            </a:r>
            <a:endParaRPr sz="1100"/>
          </a:p>
        </p:txBody>
      </p:sp>
      <p:sp>
        <p:nvSpPr>
          <p:cNvPr id="1471" name="Google Shape;1471;p68"/>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up to 2×</a:t>
            </a:r>
            <a:endParaRPr sz="5400"/>
          </a:p>
        </p:txBody>
      </p:sp>
      <p:sp>
        <p:nvSpPr>
          <p:cNvPr id="1472" name="Google Shape;1472;p68"/>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A pre-period metric correlated 0.7 with the outcome can roughly halve variance — equivalent to doubling the sample at no extra cost.</a:t>
            </a:r>
            <a:endParaRPr sz="1300"/>
          </a:p>
        </p:txBody>
      </p:sp>
      <p:sp>
        <p:nvSpPr>
          <p:cNvPr id="1473" name="Google Shape;1473;p6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REGRESSION</a:t>
            </a:r>
            <a:endParaRPr sz="900"/>
          </a:p>
        </p:txBody>
      </p:sp>
      <p:sp>
        <p:nvSpPr>
          <p:cNvPr id="1474" name="Google Shape;1474;p6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77  /  268</a:t>
            </a:r>
            <a:endParaRPr sz="900"/>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3</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CUPED on Real Injaz Data</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pre-experiment completion rate correlates 0.37 with the post-period outcome. Variance falls by ρ² — and the sample you did not have to collect is free.</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ONE RULE</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The covariate must be measured BEFORE assignment. A pre-period variable cannot be affected by a treatment that had not happened yet, which is the whole safety argument.</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Adjust on a post-treatment variable and you are no longer reducing variance — you are removing part of the effect.</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REGRESSION</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78  /  268</a:t>
            </a:r>
            <a:endParaRPr sz="900"/>
          </a:p>
        </p:txBody>
      </p:sp>
      <p:pic>
        <p:nvPicPr>
          <p:cNvPr id="279" name="Picture 278" descr="m3_cuped_variance.png"/>
          <p:cNvPicPr>
            <a:picLocks noChangeAspect="1"/>
          </p:cNvPicPr>
          <p:nvPr/>
        </p:nvPicPr>
        <p:blipFill>
          <a:blip r:embed="rId2"/>
          <a:stretch>
            <a:fillRect/>
          </a:stretch>
        </p:blipFill>
        <p:spPr>
          <a:xfrm>
            <a:off x="816942" y="2249424"/>
            <a:ext cx="7290659" cy="3877056"/>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9" name="Shape 1479"/>
        <p:cNvGrpSpPr/>
        <p:nvPr/>
      </p:nvGrpSpPr>
      <p:grpSpPr>
        <a:xfrm>
          <a:off x="0" y="0"/>
          <a:ext cx="0" cy="0"/>
          <a:chOff x="0" y="0"/>
          <a:chExt cx="0" cy="0"/>
        </a:xfrm>
      </p:grpSpPr>
      <p:sp>
        <p:nvSpPr>
          <p:cNvPr id="1480" name="Google Shape;1480;p6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3</a:t>
            </a:r>
            <a:endParaRPr sz="1200"/>
          </a:p>
        </p:txBody>
      </p:sp>
      <p:sp>
        <p:nvSpPr>
          <p:cNvPr id="1481" name="Google Shape;1481;p6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Heterogeneous Effects: Beyond the Average</a:t>
            </a:r>
            <a:endParaRPr sz="3400"/>
          </a:p>
        </p:txBody>
      </p:sp>
      <p:sp>
        <p:nvSpPr>
          <p:cNvPr id="1482" name="Google Shape;1482;p69"/>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ATE hides winners and losers. CATE estimation asks: for whom does the treatment work, and by how much?</a:t>
            </a:r>
            <a:endParaRPr sz="1450"/>
          </a:p>
        </p:txBody>
      </p:sp>
      <p:sp>
        <p:nvSpPr>
          <p:cNvPr id="1483" name="Google Shape;1483;p69"/>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69"/>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Why it matters</a:t>
            </a:r>
            <a:endParaRPr sz="1500"/>
          </a:p>
        </p:txBody>
      </p:sp>
      <p:sp>
        <p:nvSpPr>
          <p:cNvPr id="1485" name="Google Shape;1485;p69"/>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Targeting, personalisation, and fairness all require knowing how τ(x) varies across subgroups.</a:t>
            </a:r>
            <a:endParaRPr sz="1250"/>
          </a:p>
        </p:txBody>
      </p:sp>
      <p:sp>
        <p:nvSpPr>
          <p:cNvPr id="1486" name="Google Shape;1486;p69"/>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69"/>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Pre-specify or penalise</a:t>
            </a:r>
            <a:endParaRPr sz="1500"/>
          </a:p>
        </p:txBody>
      </p:sp>
      <p:sp>
        <p:nvSpPr>
          <p:cNvPr id="1488" name="Google Shape;1488;p69"/>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Testing many subgroups invites false discoveries; pre-register hypotheses or use methods built for search.</a:t>
            </a:r>
            <a:endParaRPr sz="1250"/>
          </a:p>
        </p:txBody>
      </p:sp>
      <p:sp>
        <p:nvSpPr>
          <p:cNvPr id="1489" name="Google Shape;1489;p69"/>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69"/>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Modern estimators</a:t>
            </a:r>
            <a:endParaRPr sz="1500"/>
          </a:p>
        </p:txBody>
      </p:sp>
      <p:sp>
        <p:nvSpPr>
          <p:cNvPr id="1491" name="Google Shape;1491;p69"/>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Causal forests, meta-learners (S/T/X-learners), and doubly-robust learners estimate τ(x) with valid uncertainty.</a:t>
            </a:r>
            <a:endParaRPr sz="1250"/>
          </a:p>
        </p:txBody>
      </p:sp>
      <p:sp>
        <p:nvSpPr>
          <p:cNvPr id="1492" name="Google Shape;1492;p6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REGRESSION</a:t>
            </a:r>
            <a:endParaRPr sz="900"/>
          </a:p>
        </p:txBody>
      </p:sp>
      <p:sp>
        <p:nvSpPr>
          <p:cNvPr id="1493" name="Google Shape;1493;p6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79  /  268</a:t>
            </a:r>
            <a:endParaRPr sz="9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8" name="Shape 1498"/>
        <p:cNvGrpSpPr/>
        <p:nvPr/>
      </p:nvGrpSpPr>
      <p:grpSpPr>
        <a:xfrm>
          <a:off x="0" y="0"/>
          <a:ext cx="0" cy="0"/>
          <a:chOff x="0" y="0"/>
          <a:chExt cx="0" cy="0"/>
        </a:xfrm>
      </p:grpSpPr>
      <p:sp>
        <p:nvSpPr>
          <p:cNvPr id="1499" name="Google Shape;1499;p7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3</a:t>
            </a:r>
            <a:endParaRPr sz="1200"/>
          </a:p>
        </p:txBody>
      </p:sp>
      <p:sp>
        <p:nvSpPr>
          <p:cNvPr id="1500" name="Google Shape;1500;p7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Meta-Learners for CATE</a:t>
            </a:r>
            <a:endParaRPr sz="3400"/>
          </a:p>
        </p:txBody>
      </p:sp>
      <p:sp>
        <p:nvSpPr>
          <p:cNvPr id="1501" name="Google Shape;1501;p70"/>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 vocabulary of practical estimators you can build on top of any ML model.</a:t>
            </a:r>
            <a:endParaRPr sz="1400"/>
          </a:p>
        </p:txBody>
      </p:sp>
      <p:sp>
        <p:nvSpPr>
          <p:cNvPr id="1502" name="Google Shape;1502;p70"/>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70"/>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S</a:t>
            </a:r>
            <a:endParaRPr sz="1300"/>
          </a:p>
        </p:txBody>
      </p:sp>
      <p:sp>
        <p:nvSpPr>
          <p:cNvPr id="1504" name="Google Shape;1504;p70"/>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S-learner</a:t>
            </a:r>
            <a:endParaRPr sz="1600"/>
          </a:p>
        </p:txBody>
      </p:sp>
      <p:sp>
        <p:nvSpPr>
          <p:cNvPr id="1505" name="Google Shape;1505;p70"/>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One model with treatment as a feature; predict with T=1 and T=0 and difference. Simple; can under-detect small effects.</a:t>
            </a:r>
            <a:endParaRPr sz="1250"/>
          </a:p>
        </p:txBody>
      </p:sp>
      <p:sp>
        <p:nvSpPr>
          <p:cNvPr id="1506" name="Google Shape;1506;p70"/>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70"/>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T</a:t>
            </a:r>
            <a:endParaRPr sz="1300"/>
          </a:p>
        </p:txBody>
      </p:sp>
      <p:sp>
        <p:nvSpPr>
          <p:cNvPr id="1508" name="Google Shape;1508;p70"/>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T-learner</a:t>
            </a:r>
            <a:endParaRPr sz="1600"/>
          </a:p>
        </p:txBody>
      </p:sp>
      <p:sp>
        <p:nvSpPr>
          <p:cNvPr id="1509" name="Google Shape;1509;p70"/>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Separate models per arm; difference their predictions. Flexible; can be noisy with imbalanced arms.</a:t>
            </a:r>
            <a:endParaRPr sz="1250"/>
          </a:p>
        </p:txBody>
      </p:sp>
      <p:sp>
        <p:nvSpPr>
          <p:cNvPr id="1510" name="Google Shape;1510;p70"/>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70"/>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X</a:t>
            </a:r>
            <a:endParaRPr sz="1300"/>
          </a:p>
        </p:txBody>
      </p:sp>
      <p:sp>
        <p:nvSpPr>
          <p:cNvPr id="1512" name="Google Shape;1512;p70"/>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X-learner</a:t>
            </a:r>
            <a:endParaRPr sz="1600"/>
          </a:p>
        </p:txBody>
      </p:sp>
      <p:sp>
        <p:nvSpPr>
          <p:cNvPr id="1513" name="Google Shape;1513;p70"/>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Uses imputed effects and propensity weighting; strong when arms are very unequal in size.</a:t>
            </a:r>
            <a:endParaRPr sz="1250"/>
          </a:p>
        </p:txBody>
      </p:sp>
      <p:sp>
        <p:nvSpPr>
          <p:cNvPr id="1514" name="Google Shape;1514;p70"/>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70"/>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DR</a:t>
            </a:r>
            <a:endParaRPr sz="1300"/>
          </a:p>
        </p:txBody>
      </p:sp>
      <p:sp>
        <p:nvSpPr>
          <p:cNvPr id="1516" name="Google Shape;1516;p70"/>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DR / R-learner</a:t>
            </a:r>
            <a:endParaRPr sz="1600"/>
          </a:p>
        </p:txBody>
      </p:sp>
      <p:sp>
        <p:nvSpPr>
          <p:cNvPr id="1517" name="Google Shape;1517;p70"/>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Doubly-robust and residual-based learners with better theoretical guarantees for the effect surface.</a:t>
            </a:r>
            <a:endParaRPr sz="1250"/>
          </a:p>
        </p:txBody>
      </p:sp>
      <p:sp>
        <p:nvSpPr>
          <p:cNvPr id="1518" name="Google Shape;1518;p7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REGRESSION</a:t>
            </a:r>
            <a:endParaRPr sz="900"/>
          </a:p>
        </p:txBody>
      </p:sp>
      <p:sp>
        <p:nvSpPr>
          <p:cNvPr id="1519" name="Google Shape;1519;p7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80  /  268</a:t>
            </a:r>
            <a:endParaRPr sz="900"/>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4" name="Shape 1524"/>
        <p:cNvGrpSpPr/>
        <p:nvPr/>
      </p:nvGrpSpPr>
      <p:grpSpPr>
        <a:xfrm>
          <a:off x="0" y="0"/>
          <a:ext cx="0" cy="0"/>
          <a:chOff x="0" y="0"/>
          <a:chExt cx="0" cy="0"/>
        </a:xfrm>
      </p:grpSpPr>
      <p:sp>
        <p:nvSpPr>
          <p:cNvPr id="1525" name="Google Shape;1525;p7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3</a:t>
            </a:r>
            <a:endParaRPr sz="1200"/>
          </a:p>
        </p:txBody>
      </p:sp>
      <p:sp>
        <p:nvSpPr>
          <p:cNvPr id="1526" name="Google Shape;1526;p7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Guarding Against False Subgroup Findings</a:t>
            </a:r>
            <a:endParaRPr sz="3400"/>
          </a:p>
        </p:txBody>
      </p:sp>
      <p:sp>
        <p:nvSpPr>
          <p:cNvPr id="1527" name="Google Shape;1527;p71"/>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Heterogeneity analysis is where credible experiments quietly go wrong.</a:t>
            </a:r>
            <a:endParaRPr sz="1450"/>
          </a:p>
        </p:txBody>
      </p:sp>
      <p:sp>
        <p:nvSpPr>
          <p:cNvPr id="1528" name="Google Shape;1528;p71"/>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71"/>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garden of forking paths</a:t>
            </a:r>
            <a:endParaRPr sz="1500"/>
          </a:p>
        </p:txBody>
      </p:sp>
      <p:sp>
        <p:nvSpPr>
          <p:cNvPr id="1530" name="Google Shape;1530;p71"/>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Enough subgroups guarantee a ‘significant’ one by chance; each looks compelling in isolation.</a:t>
            </a:r>
            <a:endParaRPr sz="1250"/>
          </a:p>
        </p:txBody>
      </p:sp>
      <p:sp>
        <p:nvSpPr>
          <p:cNvPr id="1531" name="Google Shape;1531;p71"/>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71"/>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Discipline</a:t>
            </a:r>
            <a:endParaRPr sz="1500"/>
          </a:p>
        </p:txBody>
      </p:sp>
      <p:sp>
        <p:nvSpPr>
          <p:cNvPr id="1533" name="Google Shape;1533;p71"/>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Pre-register a small set of hypotheses; treat the rest as exploratory and correct for multiplicity.</a:t>
            </a:r>
            <a:endParaRPr sz="1250"/>
          </a:p>
        </p:txBody>
      </p:sp>
      <p:sp>
        <p:nvSpPr>
          <p:cNvPr id="1534" name="Google Shape;1534;p71"/>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71"/>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Validate</a:t>
            </a:r>
            <a:endParaRPr sz="1500"/>
          </a:p>
        </p:txBody>
      </p:sp>
      <p:sp>
        <p:nvSpPr>
          <p:cNvPr id="1536" name="Google Shape;1536;p71"/>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Confirm promising CATEs in a held-out slice or a follow-up experiment before acting.</a:t>
            </a:r>
            <a:endParaRPr sz="1250"/>
          </a:p>
        </p:txBody>
      </p:sp>
      <p:sp>
        <p:nvSpPr>
          <p:cNvPr id="1537" name="Google Shape;1537;p7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REGRESSION</a:t>
            </a:r>
            <a:endParaRPr sz="900"/>
          </a:p>
        </p:txBody>
      </p:sp>
      <p:sp>
        <p:nvSpPr>
          <p:cNvPr id="1538" name="Google Shape;1538;p7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81  /  268</a:t>
            </a:r>
            <a:endParaRPr sz="90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3" name="Shape 1543"/>
        <p:cNvGrpSpPr/>
        <p:nvPr/>
      </p:nvGrpSpPr>
      <p:grpSpPr>
        <a:xfrm>
          <a:off x="0" y="0"/>
          <a:ext cx="0" cy="0"/>
          <a:chOff x="0" y="0"/>
          <a:chExt cx="0" cy="0"/>
        </a:xfrm>
      </p:grpSpPr>
      <p:sp>
        <p:nvSpPr>
          <p:cNvPr id="1544" name="Google Shape;1544;p7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3</a:t>
            </a:r>
            <a:endParaRPr sz="1200"/>
          </a:p>
        </p:txBody>
      </p:sp>
      <p:sp>
        <p:nvSpPr>
          <p:cNvPr id="1545" name="Google Shape;1545;p7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Knowledge Check: Adjustment &amp; CATE</a:t>
            </a:r>
            <a:endParaRPr sz="3400"/>
          </a:p>
        </p:txBody>
      </p:sp>
      <p:sp>
        <p:nvSpPr>
          <p:cNvPr id="1546" name="Google Shape;1546;p72"/>
          <p:cNvSpPr/>
          <p:nvPr/>
        </p:nvSpPr>
        <p:spPr>
          <a:xfrm>
            <a:off x="566928" y="178308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72"/>
          <p:cNvSpPr/>
          <p:nvPr/>
        </p:nvSpPr>
        <p:spPr>
          <a:xfrm>
            <a:off x="768096" y="196596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72"/>
          <p:cNvSpPr/>
          <p:nvPr/>
        </p:nvSpPr>
        <p:spPr>
          <a:xfrm>
            <a:off x="768096"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1549" name="Google Shape;1549;p72"/>
          <p:cNvSpPr/>
          <p:nvPr/>
        </p:nvSpPr>
        <p:spPr>
          <a:xfrm>
            <a:off x="1344168" y="19293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CUPED reduces variance without bias because the adjustment variable is:</a:t>
            </a:r>
            <a:endParaRPr sz="1400"/>
          </a:p>
        </p:txBody>
      </p:sp>
      <p:sp>
        <p:nvSpPr>
          <p:cNvPr id="1550" name="Google Shape;1550;p72"/>
          <p:cNvSpPr/>
          <p:nvPr/>
        </p:nvSpPr>
        <p:spPr>
          <a:xfrm>
            <a:off x="1344168" y="23865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An outcome      B) Post-treatment      C) Pre-treatment      D) The treatment</a:t>
            </a:r>
            <a:endParaRPr sz="1200"/>
          </a:p>
        </p:txBody>
      </p:sp>
      <p:sp>
        <p:nvSpPr>
          <p:cNvPr id="1551" name="Google Shape;1551;p72"/>
          <p:cNvSpPr/>
          <p:nvPr/>
        </p:nvSpPr>
        <p:spPr>
          <a:xfrm>
            <a:off x="566928" y="306324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72"/>
          <p:cNvSpPr/>
          <p:nvPr/>
        </p:nvSpPr>
        <p:spPr>
          <a:xfrm>
            <a:off x="768096" y="32461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72"/>
          <p:cNvSpPr/>
          <p:nvPr/>
        </p:nvSpPr>
        <p:spPr>
          <a:xfrm>
            <a:off x="768096"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1554" name="Google Shape;1554;p72"/>
          <p:cNvSpPr/>
          <p:nvPr/>
        </p:nvSpPr>
        <p:spPr>
          <a:xfrm>
            <a:off x="1344168" y="32095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Which learner is designed to handle very unequal arm sizes?</a:t>
            </a:r>
            <a:endParaRPr sz="1400"/>
          </a:p>
        </p:txBody>
      </p:sp>
      <p:sp>
        <p:nvSpPr>
          <p:cNvPr id="1555" name="Google Shape;1555;p72"/>
          <p:cNvSpPr/>
          <p:nvPr/>
        </p:nvSpPr>
        <p:spPr>
          <a:xfrm>
            <a:off x="1344168" y="36667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S-learner      B) T-learner      C) X-learner      D) OLS</a:t>
            </a:r>
            <a:endParaRPr sz="1200"/>
          </a:p>
        </p:txBody>
      </p:sp>
      <p:sp>
        <p:nvSpPr>
          <p:cNvPr id="1556" name="Google Shape;1556;p72"/>
          <p:cNvSpPr/>
          <p:nvPr/>
        </p:nvSpPr>
        <p:spPr>
          <a:xfrm>
            <a:off x="566928" y="434340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72"/>
          <p:cNvSpPr/>
          <p:nvPr/>
        </p:nvSpPr>
        <p:spPr>
          <a:xfrm>
            <a:off x="768096" y="452628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72"/>
          <p:cNvSpPr/>
          <p:nvPr/>
        </p:nvSpPr>
        <p:spPr>
          <a:xfrm>
            <a:off x="768096" y="4526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1559" name="Google Shape;1559;p72"/>
          <p:cNvSpPr/>
          <p:nvPr/>
        </p:nvSpPr>
        <p:spPr>
          <a:xfrm>
            <a:off x="1344168" y="44897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Reporting the single most significant subgroup out of 20 unplanned tests risks:</a:t>
            </a:r>
            <a:endParaRPr sz="1400"/>
          </a:p>
        </p:txBody>
      </p:sp>
      <p:sp>
        <p:nvSpPr>
          <p:cNvPr id="1560" name="Google Shape;1560;p72"/>
          <p:cNvSpPr/>
          <p:nvPr/>
        </p:nvSpPr>
        <p:spPr>
          <a:xfrm>
            <a:off x="1344168" y="49469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Underpowering      B) Multiplicity / false discovery      C) Confounding      D) Non-compliance</a:t>
            </a:r>
            <a:endParaRPr sz="1200"/>
          </a:p>
        </p:txBody>
      </p:sp>
      <p:sp>
        <p:nvSpPr>
          <p:cNvPr id="1561" name="Google Shape;1561;p7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REGRESSION</a:t>
            </a:r>
            <a:endParaRPr sz="900"/>
          </a:p>
        </p:txBody>
      </p:sp>
      <p:sp>
        <p:nvSpPr>
          <p:cNvPr id="1562" name="Google Shape;1562;p7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82  /  268</a:t>
            </a:r>
            <a:endParaRPr sz="900"/>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1567" name="Shape 1567"/>
        <p:cNvGrpSpPr/>
        <p:nvPr/>
      </p:nvGrpSpPr>
      <p:grpSpPr>
        <a:xfrm>
          <a:off x="0" y="0"/>
          <a:ext cx="0" cy="0"/>
          <a:chOff x="0" y="0"/>
          <a:chExt cx="0" cy="0"/>
        </a:xfrm>
      </p:grpSpPr>
      <p:sp>
        <p:nvSpPr>
          <p:cNvPr id="1568" name="Google Shape;1568;p73"/>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2 · HOUR 4</a:t>
            </a:r>
            <a:endParaRPr sz="1300"/>
          </a:p>
        </p:txBody>
      </p:sp>
      <p:sp>
        <p:nvSpPr>
          <p:cNvPr id="1569" name="Google Shape;1569;p73"/>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A/B Testing in Production</a:t>
            </a:r>
            <a:endParaRPr sz="4000"/>
          </a:p>
        </p:txBody>
      </p:sp>
      <p:sp>
        <p:nvSpPr>
          <p:cNvPr id="1570" name="Google Shape;1570;p73"/>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From hypothesis to decision: power and MDE, sample-size planning, sequential testing and peeking, multiple comparisons, and guardrail metrics.</a:t>
            </a:r>
            <a:endParaRPr sz="1500"/>
          </a:p>
        </p:txBody>
      </p:sp>
      <p:cxnSp>
        <p:nvCxnSpPr>
          <p:cNvPr id="1571" name="Google Shape;1571;p73"/>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1572" name="Google Shape;1572;p7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2</a:t>
            </a:r>
            <a:endParaRPr sz="900"/>
          </a:p>
        </p:txBody>
      </p:sp>
      <p:sp>
        <p:nvSpPr>
          <p:cNvPr id="1573" name="Google Shape;1573;p7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83  /  268</a:t>
            </a:r>
            <a:endParaRPr sz="900"/>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8" name="Shape 1578"/>
        <p:cNvGrpSpPr/>
        <p:nvPr/>
      </p:nvGrpSpPr>
      <p:grpSpPr>
        <a:xfrm>
          <a:off x="0" y="0"/>
          <a:ext cx="0" cy="0"/>
          <a:chOff x="0" y="0"/>
          <a:chExt cx="0" cy="0"/>
        </a:xfrm>
      </p:grpSpPr>
      <p:sp>
        <p:nvSpPr>
          <p:cNvPr id="1579" name="Google Shape;1579;p7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1580" name="Google Shape;1580;p7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A/B Testing Lifecycle</a:t>
            </a:r>
            <a:endParaRPr sz="3400"/>
          </a:p>
        </p:txBody>
      </p:sp>
      <p:sp>
        <p:nvSpPr>
          <p:cNvPr id="1581" name="Google Shape;1581;p74"/>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 trustworthy experiment is decided mostly before it launches.</a:t>
            </a:r>
            <a:endParaRPr sz="1400"/>
          </a:p>
        </p:txBody>
      </p:sp>
      <p:sp>
        <p:nvSpPr>
          <p:cNvPr id="1582" name="Google Shape;1582;p74"/>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74"/>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1</a:t>
            </a:r>
            <a:endParaRPr sz="1300"/>
          </a:p>
        </p:txBody>
      </p:sp>
      <p:sp>
        <p:nvSpPr>
          <p:cNvPr id="1584" name="Google Shape;1584;p74"/>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Hypothesis &amp; metric</a:t>
            </a:r>
            <a:endParaRPr sz="1600"/>
          </a:p>
        </p:txBody>
      </p:sp>
      <p:sp>
        <p:nvSpPr>
          <p:cNvPr id="1585" name="Google Shape;1585;p74"/>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directional, pre-registered claim on one primary metric, with guardrails named up front.</a:t>
            </a:r>
            <a:endParaRPr sz="1250"/>
          </a:p>
        </p:txBody>
      </p:sp>
      <p:sp>
        <p:nvSpPr>
          <p:cNvPr id="1586" name="Google Shape;1586;p74"/>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74"/>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2</a:t>
            </a:r>
            <a:endParaRPr sz="1300"/>
          </a:p>
        </p:txBody>
      </p:sp>
      <p:sp>
        <p:nvSpPr>
          <p:cNvPr id="1588" name="Google Shape;1588;p74"/>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Power &amp; sample size</a:t>
            </a:r>
            <a:endParaRPr sz="1600"/>
          </a:p>
        </p:txBody>
      </p:sp>
      <p:sp>
        <p:nvSpPr>
          <p:cNvPr id="1589" name="Google Shape;1589;p74"/>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Fix α, target power, and the minimum detectable effect; compute the required n and runtime.</a:t>
            </a:r>
            <a:endParaRPr sz="1250"/>
          </a:p>
        </p:txBody>
      </p:sp>
      <p:sp>
        <p:nvSpPr>
          <p:cNvPr id="1590" name="Google Shape;1590;p74"/>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74"/>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3</a:t>
            </a:r>
            <a:endParaRPr sz="1300"/>
          </a:p>
        </p:txBody>
      </p:sp>
      <p:sp>
        <p:nvSpPr>
          <p:cNvPr id="1592" name="Google Shape;1592;p74"/>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Randomize &amp; instrument</a:t>
            </a:r>
            <a:endParaRPr sz="1600"/>
          </a:p>
        </p:txBody>
      </p:sp>
      <p:sp>
        <p:nvSpPr>
          <p:cNvPr id="1593" name="Google Shape;1593;p74"/>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Assign at the right unit, verify the split (A/A test), and log clean exposure and outcome data.</a:t>
            </a:r>
            <a:endParaRPr sz="1250"/>
          </a:p>
        </p:txBody>
      </p:sp>
      <p:sp>
        <p:nvSpPr>
          <p:cNvPr id="1594" name="Google Shape;1594;p74"/>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74"/>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4</a:t>
            </a:r>
            <a:endParaRPr sz="1300"/>
          </a:p>
        </p:txBody>
      </p:sp>
      <p:sp>
        <p:nvSpPr>
          <p:cNvPr id="1596" name="Google Shape;1596;p74"/>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Analyse &amp; decide</a:t>
            </a:r>
            <a:endParaRPr sz="1600"/>
          </a:p>
        </p:txBody>
      </p:sp>
      <p:sp>
        <p:nvSpPr>
          <p:cNvPr id="1597" name="Google Shape;1597;p74"/>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Estimate with valid inference at the pre-set horizon; check guardrails; ship, iterate, or stop.</a:t>
            </a:r>
            <a:endParaRPr sz="1250"/>
          </a:p>
        </p:txBody>
      </p:sp>
      <p:sp>
        <p:nvSpPr>
          <p:cNvPr id="1598" name="Google Shape;1598;p7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1599" name="Google Shape;1599;p7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84  /  268</a:t>
            </a:r>
            <a:endParaRPr sz="900"/>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4" name="Shape 1604"/>
        <p:cNvGrpSpPr/>
        <p:nvPr/>
      </p:nvGrpSpPr>
      <p:grpSpPr>
        <a:xfrm>
          <a:off x="0" y="0"/>
          <a:ext cx="0" cy="0"/>
          <a:chOff x="0" y="0"/>
          <a:chExt cx="0" cy="0"/>
        </a:xfrm>
      </p:grpSpPr>
      <p:sp>
        <p:nvSpPr>
          <p:cNvPr id="1605" name="Google Shape;1605;p7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1606" name="Google Shape;1606;p7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Power, MDE &amp; Sample Size</a:t>
            </a:r>
            <a:endParaRPr sz="3400"/>
          </a:p>
        </p:txBody>
      </p:sp>
      <p:sp>
        <p:nvSpPr>
          <p:cNvPr id="1607" name="Google Shape;1607;p75"/>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Four quantities are locked together; choose three and the fourth follows.</a:t>
            </a:r>
            <a:endParaRPr sz="1450"/>
          </a:p>
        </p:txBody>
      </p:sp>
      <p:sp>
        <p:nvSpPr>
          <p:cNvPr id="1608" name="Google Shape;1608;p75"/>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75"/>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quartet</a:t>
            </a:r>
            <a:endParaRPr sz="1500"/>
          </a:p>
        </p:txBody>
      </p:sp>
      <p:sp>
        <p:nvSpPr>
          <p:cNvPr id="1610" name="Google Shape;1610;p75"/>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Significance α, power 1−β, minimum detectable effect (MDE), and sample size n move as one system.</a:t>
            </a:r>
            <a:endParaRPr sz="1250"/>
          </a:p>
        </p:txBody>
      </p:sp>
      <p:sp>
        <p:nvSpPr>
          <p:cNvPr id="1611" name="Google Shape;1611;p75"/>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75"/>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MDE intuition</a:t>
            </a:r>
            <a:endParaRPr sz="1500"/>
          </a:p>
        </p:txBody>
      </p:sp>
      <p:sp>
        <p:nvSpPr>
          <p:cNvPr id="1613" name="Google Shape;1613;p75"/>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MDE ≈ (z_{α/2}+z_{β})·σ·√(1/n₁ + 1/n₀). Halving the MDE roughly quadruples the required n.</a:t>
            </a:r>
            <a:endParaRPr sz="1250"/>
          </a:p>
        </p:txBody>
      </p:sp>
      <p:sp>
        <p:nvSpPr>
          <p:cNvPr id="1614" name="Google Shape;1614;p75"/>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75"/>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Plan before you run</a:t>
            </a:r>
            <a:endParaRPr sz="1500"/>
          </a:p>
        </p:txBody>
      </p:sp>
      <p:sp>
        <p:nvSpPr>
          <p:cNvPr id="1616" name="Google Shape;1616;p75"/>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Decide the horizon in advance; an underpowered test that ‘finds nothing’ is uninformative, not reassuring.</a:t>
            </a:r>
            <a:endParaRPr sz="1250"/>
          </a:p>
        </p:txBody>
      </p:sp>
      <p:sp>
        <p:nvSpPr>
          <p:cNvPr id="1617" name="Google Shape;1617;p75"/>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75"/>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SCALING LAW</a:t>
            </a:r>
            <a:endParaRPr sz="1100"/>
          </a:p>
        </p:txBody>
      </p:sp>
      <p:sp>
        <p:nvSpPr>
          <p:cNvPr id="1619" name="Google Shape;1619;p75"/>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n ∝ 1/δ²</a:t>
            </a:r>
            <a:endParaRPr sz="5400"/>
          </a:p>
        </p:txBody>
      </p:sp>
      <p:sp>
        <p:nvSpPr>
          <p:cNvPr id="1620" name="Google Shape;1620;p75"/>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Detecting effects half as large costs about four times the sample. This is why chasing tiny lifts is so expensive — and why variance reduction pays.</a:t>
            </a:r>
            <a:endParaRPr sz="1300"/>
          </a:p>
        </p:txBody>
      </p:sp>
      <p:sp>
        <p:nvSpPr>
          <p:cNvPr id="1621" name="Google Shape;1621;p7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1622" name="Google Shape;1622;p7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85  /  268</a:t>
            </a:r>
            <a:endParaRPr sz="900"/>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Four Quantities, One Equation</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Significance, power, minimum detectable effect and sample size are bound together. Fix any three and the fourth is no longer yours to choose.</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ASYMMETRY</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The relationship is quadratic in the MDE and only linear in the rest.</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That is why ambition is the expensive knob: halving the effect you want to detect quadruples the traffic you need. Negotiate the MDE early, in the room, with the product owner present.</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86  /  268</a:t>
            </a:r>
            <a:endParaRPr sz="900"/>
          </a:p>
        </p:txBody>
      </p:sp>
      <p:pic>
        <p:nvPicPr>
          <p:cNvPr id="279" name="Picture 278" descr="m3_four_way_tradeoff.png"/>
          <p:cNvPicPr>
            <a:picLocks noChangeAspect="1"/>
          </p:cNvPicPr>
          <p:nvPr/>
        </p:nvPicPr>
        <p:blipFill>
          <a:blip r:embed="rId2"/>
          <a:stretch>
            <a:fillRect/>
          </a:stretch>
        </p:blipFill>
        <p:spPr>
          <a:xfrm>
            <a:off x="666337" y="2249424"/>
            <a:ext cx="7591868" cy="3877056"/>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Type I, Type II, and What Power Actually Is</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Two error types, one threshold, and a trade you cannot escape — only place deliberately.</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SAY IT PRECISELY</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'This test is 80% powered' is an incomplete sentence. Power is always power AGAINST A SPECIFIC EFFECT SIZE.</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Moving the critical value does not reduce error; it moves error from one cell of the table to the other. Which error costs more is a business question, not a statistical one.</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87  /  268</a:t>
            </a:r>
            <a:endParaRPr sz="900"/>
          </a:p>
        </p:txBody>
      </p:sp>
      <p:pic>
        <p:nvPicPr>
          <p:cNvPr id="279" name="Picture 278" descr="m3_type_i_ii.png"/>
          <p:cNvPicPr>
            <a:picLocks noChangeAspect="1"/>
          </p:cNvPicPr>
          <p:nvPr/>
        </p:nvPicPr>
        <p:blipFill>
          <a:blip r:embed="rId2"/>
          <a:stretch>
            <a:fillRect/>
          </a:stretch>
        </p:blipFill>
        <p:spPr>
          <a:xfrm>
            <a:off x="1217085" y="2249424"/>
            <a:ext cx="6490372" cy="3877056"/>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Ambition Is Quadratic</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Required sample per arm against the minimum detectable effect, at a 55% baseline, 5% significance and 80% power.</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THREE POINTS</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2.0 pp costs roughly 9,700 per arm. 1.0 pp costs four times that. 0.5 pp costs sixteen times.</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Print this and put it on the wall. It ends the 'can we just detect a small improvement too?' conversation in about ten seconds.</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88  /  268</a:t>
            </a:r>
            <a:endParaRPr sz="900"/>
          </a:p>
        </p:txBody>
      </p:sp>
      <p:pic>
        <p:nvPicPr>
          <p:cNvPr id="279" name="Picture 278" descr="m3_mde_vs_n.png"/>
          <p:cNvPicPr>
            <a:picLocks noChangeAspect="1"/>
          </p:cNvPicPr>
          <p:nvPr/>
        </p:nvPicPr>
        <p:blipFill>
          <a:blip r:embed="rId2"/>
          <a:stretch>
            <a:fillRect/>
          </a:stretch>
        </p:blipFill>
        <p:spPr>
          <a:xfrm>
            <a:off x="991834" y="2249424"/>
            <a:ext cx="6940875" cy="3877056"/>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From a Sample Size to a Date</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number of users is not a plan. Four multiplications turn it into a commitment the delivery team can hold you to.</a:t>
            </a:r>
            <a:endParaRPr sz="1450"/>
          </a:p>
        </p:txBody>
      </p:sp>
      <p:sp>
        <p:nvSpPr>
          <p:cNvPr id="276" name="Google Shape;276;p11"/>
          <p:cNvSpPr/>
          <p:nvPr/>
        </p:nvSpPr>
        <p:spPr>
          <a:xfrm>
            <a:off x="566928" y="5797296"/>
            <a:ext cx="11055096" cy="4023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100">
                <a:solidFill>
                  <a:srgbClr val="16233F"/>
                </a:solidFill>
                <a:latin typeface="Calibri"/>
                <a:ea typeface="Calibri"/>
                <a:cs typeface="Calibri"/>
                <a:sym typeface="Calibri"/>
              </a:rPr>
              <a:t>THE FLOOR — Round up to whole weeks. Weekday and weekend users are different people with different completion rates, so stopping mid-week samples a biased slice of the population.</a:t>
            </a:r>
            <a:endParaRPr sz="1350"/>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89  /  268</a:t>
            </a:r>
            <a:endParaRPr sz="900"/>
          </a:p>
        </p:txBody>
      </p:sp>
      <p:pic>
        <p:nvPicPr>
          <p:cNvPr id="279" name="Picture 278" descr="m3_run_length_pipeline.png"/>
          <p:cNvPicPr>
            <a:picLocks noChangeAspect="1"/>
          </p:cNvPicPr>
          <p:nvPr/>
        </p:nvPicPr>
        <p:blipFill>
          <a:blip r:embed="rId2"/>
          <a:stretch>
            <a:fillRect/>
          </a:stretch>
        </p:blipFill>
        <p:spPr>
          <a:xfrm>
            <a:off x="879647" y="2212848"/>
            <a:ext cx="10429657" cy="347472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7" name="Shape 1627"/>
        <p:cNvGrpSpPr/>
        <p:nvPr/>
      </p:nvGrpSpPr>
      <p:grpSpPr>
        <a:xfrm>
          <a:off x="0" y="0"/>
          <a:ext cx="0" cy="0"/>
          <a:chOff x="0" y="0"/>
          <a:chExt cx="0" cy="0"/>
        </a:xfrm>
      </p:grpSpPr>
      <p:sp>
        <p:nvSpPr>
          <p:cNvPr id="1628" name="Google Shape;1628;p7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1629" name="Google Shape;1629;p7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Peeking Problem</a:t>
            </a:r>
            <a:endParaRPr sz="3400"/>
          </a:p>
        </p:txBody>
      </p:sp>
      <p:sp>
        <p:nvSpPr>
          <p:cNvPr id="1630" name="Google Shape;1630;p76"/>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Repeatedly checking a fixed-horizon test and stopping at the first ‘significant’ moment inflates the false-positive rate dramatically.</a:t>
            </a:r>
            <a:endParaRPr sz="1450"/>
          </a:p>
        </p:txBody>
      </p:sp>
      <p:sp>
        <p:nvSpPr>
          <p:cNvPr id="1631" name="Google Shape;1631;p76"/>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76"/>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Why it happens</a:t>
            </a:r>
            <a:endParaRPr sz="1500"/>
          </a:p>
        </p:txBody>
      </p:sp>
      <p:sp>
        <p:nvSpPr>
          <p:cNvPr id="1633" name="Google Shape;1633;p76"/>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Each look is another chance for noise to cross the threshold; the nominal 5% becomes far higher with continuous monitoring.</a:t>
            </a:r>
            <a:endParaRPr sz="1250"/>
          </a:p>
        </p:txBody>
      </p:sp>
      <p:sp>
        <p:nvSpPr>
          <p:cNvPr id="1634" name="Google Shape;1634;p76"/>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76"/>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scale of it</a:t>
            </a:r>
            <a:endParaRPr sz="1500"/>
          </a:p>
        </p:txBody>
      </p:sp>
      <p:sp>
        <p:nvSpPr>
          <p:cNvPr id="1636" name="Google Shape;1636;p76"/>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Unrestricted peeking can push the true false-positive rate from 5% to 20–30% or more.</a:t>
            </a:r>
            <a:endParaRPr sz="1250"/>
          </a:p>
        </p:txBody>
      </p:sp>
      <p:sp>
        <p:nvSpPr>
          <p:cNvPr id="1637" name="Google Shape;1637;p76"/>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76"/>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Do not ‘stop when green’</a:t>
            </a:r>
            <a:endParaRPr sz="1500"/>
          </a:p>
        </p:txBody>
      </p:sp>
      <p:sp>
        <p:nvSpPr>
          <p:cNvPr id="1639" name="Google Shape;1639;p76"/>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fixed-horizon p-value is only valid at the pre-planned sample size, checked once.</a:t>
            </a:r>
            <a:endParaRPr sz="1250"/>
          </a:p>
        </p:txBody>
      </p:sp>
      <p:sp>
        <p:nvSpPr>
          <p:cNvPr id="1640" name="Google Shape;1640;p76"/>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76"/>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FIX</a:t>
            </a:r>
            <a:endParaRPr sz="1100"/>
          </a:p>
        </p:txBody>
      </p:sp>
      <p:sp>
        <p:nvSpPr>
          <p:cNvPr id="1642" name="Google Shape;1642;p76"/>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Use methods designed for continuous monitoring: sequential tests, alpha-spending / group-sequential boundaries, or always-valid confidence sequences.</a:t>
            </a:r>
            <a:endParaRPr sz="1350"/>
          </a:p>
        </p:txBody>
      </p:sp>
      <p:sp>
        <p:nvSpPr>
          <p:cNvPr id="1643" name="Google Shape;1643;p7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1644" name="Google Shape;1644;p7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90  /  268</a:t>
            </a:r>
            <a:endParaRPr sz="900"/>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What Peeking Costs You</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Two thousand simulated experiments, every one of them with a true effect of exactly zero. The only thing that changes between bars is how often someone looked.</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NO EFFECT EXISTS</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Every 'significant' result on this chart is false. At twenty looks, one experiment in four declares a winner that does not exist.</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This is not a warning about impatience. It is arithmetic: each look is another chance to cross the line, and the 5% you promised was for ONE look.</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91  /  268</a:t>
            </a:r>
            <a:endParaRPr sz="900"/>
          </a:p>
        </p:txBody>
      </p:sp>
      <p:pic>
        <p:nvPicPr>
          <p:cNvPr id="279" name="Picture 278" descr="m4_peeking_staircase.png"/>
          <p:cNvPicPr>
            <a:picLocks noChangeAspect="1"/>
          </p:cNvPicPr>
          <p:nvPr/>
        </p:nvPicPr>
        <p:blipFill>
          <a:blip r:embed="rId2"/>
          <a:stretch>
            <a:fillRect/>
          </a:stretch>
        </p:blipFill>
        <p:spPr>
          <a:xfrm>
            <a:off x="852941" y="2249424"/>
            <a:ext cx="7218661" cy="3877056"/>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9" name="Shape 1649"/>
        <p:cNvGrpSpPr/>
        <p:nvPr/>
      </p:nvGrpSpPr>
      <p:grpSpPr>
        <a:xfrm>
          <a:off x="0" y="0"/>
          <a:ext cx="0" cy="0"/>
          <a:chOff x="0" y="0"/>
          <a:chExt cx="0" cy="0"/>
        </a:xfrm>
      </p:grpSpPr>
      <p:sp>
        <p:nvSpPr>
          <p:cNvPr id="1650" name="Google Shape;1650;p7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1651" name="Google Shape;1651;p7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Valid Ways to Look Early</a:t>
            </a:r>
            <a:endParaRPr sz="3400"/>
          </a:p>
        </p:txBody>
      </p:sp>
      <p:sp>
        <p:nvSpPr>
          <p:cNvPr id="1652" name="Google Shape;1652;p77"/>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You can monitor continuously — with the right machinery.</a:t>
            </a:r>
            <a:endParaRPr sz="1400"/>
          </a:p>
        </p:txBody>
      </p:sp>
      <p:sp>
        <p:nvSpPr>
          <p:cNvPr id="1653" name="Google Shape;1653;p77"/>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77"/>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01</a:t>
            </a:r>
            <a:endParaRPr sz="1300"/>
          </a:p>
        </p:txBody>
      </p:sp>
      <p:sp>
        <p:nvSpPr>
          <p:cNvPr id="1655" name="Google Shape;1655;p77"/>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Group-sequential / alpha spending</a:t>
            </a:r>
            <a:endParaRPr sz="1600"/>
          </a:p>
        </p:txBody>
      </p:sp>
      <p:sp>
        <p:nvSpPr>
          <p:cNvPr id="1656" name="Google Shape;1656;p77"/>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Pre-plan a few interim looks and spend the error budget across them (O'Brien–Fleming, Pocock).</a:t>
            </a:r>
            <a:endParaRPr sz="1250"/>
          </a:p>
        </p:txBody>
      </p:sp>
      <p:sp>
        <p:nvSpPr>
          <p:cNvPr id="1657" name="Google Shape;1657;p77"/>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77"/>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02</a:t>
            </a:r>
            <a:endParaRPr sz="1300"/>
          </a:p>
        </p:txBody>
      </p:sp>
      <p:sp>
        <p:nvSpPr>
          <p:cNvPr id="1659" name="Google Shape;1659;p77"/>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Sequential probability ratio (SPRT)</a:t>
            </a:r>
            <a:endParaRPr sz="1600"/>
          </a:p>
        </p:txBody>
      </p:sp>
      <p:sp>
        <p:nvSpPr>
          <p:cNvPr id="1660" name="Google Shape;1660;p77"/>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Accumulate evidence and stop when a likelihood-ratio boundary is crossed — efficient for early stops.</a:t>
            </a:r>
            <a:endParaRPr sz="1250"/>
          </a:p>
        </p:txBody>
      </p:sp>
      <p:sp>
        <p:nvSpPr>
          <p:cNvPr id="1661" name="Google Shape;1661;p77"/>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77"/>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03</a:t>
            </a:r>
            <a:endParaRPr sz="1300"/>
          </a:p>
        </p:txBody>
      </p:sp>
      <p:sp>
        <p:nvSpPr>
          <p:cNvPr id="1663" name="Google Shape;1663;p77"/>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Always-valid inference</a:t>
            </a:r>
            <a:endParaRPr sz="1600"/>
          </a:p>
        </p:txBody>
      </p:sp>
      <p:sp>
        <p:nvSpPr>
          <p:cNvPr id="1664" name="Google Shape;1664;p77"/>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Confidence sequences / e-values remain valid under continuous peeking at any stopping time.</a:t>
            </a:r>
            <a:endParaRPr sz="1250"/>
          </a:p>
        </p:txBody>
      </p:sp>
      <p:sp>
        <p:nvSpPr>
          <p:cNvPr id="1665" name="Google Shape;1665;p77"/>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77"/>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04</a:t>
            </a:r>
            <a:endParaRPr sz="1300"/>
          </a:p>
        </p:txBody>
      </p:sp>
      <p:sp>
        <p:nvSpPr>
          <p:cNvPr id="1667" name="Google Shape;1667;p77"/>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Bayesian monitoring</a:t>
            </a:r>
            <a:endParaRPr sz="1600"/>
          </a:p>
        </p:txBody>
      </p:sp>
      <p:sp>
        <p:nvSpPr>
          <p:cNvPr id="1668" name="Google Shape;1668;p77"/>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Track the posterior and decision loss; valid if priors and the decision rule are set in advance.</a:t>
            </a:r>
            <a:endParaRPr sz="1250"/>
          </a:p>
        </p:txBody>
      </p:sp>
      <p:sp>
        <p:nvSpPr>
          <p:cNvPr id="1669" name="Google Shape;1669;p7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1670" name="Google Shape;1670;p7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92  /  268</a:t>
            </a:r>
            <a:endParaRPr sz="900"/>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5" name="Shape 1675"/>
        <p:cNvGrpSpPr/>
        <p:nvPr/>
      </p:nvGrpSpPr>
      <p:grpSpPr>
        <a:xfrm>
          <a:off x="0" y="0"/>
          <a:ext cx="0" cy="0"/>
          <a:chOff x="0" y="0"/>
          <a:chExt cx="0" cy="0"/>
        </a:xfrm>
      </p:grpSpPr>
      <p:sp>
        <p:nvSpPr>
          <p:cNvPr id="1676" name="Google Shape;1676;p7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1677" name="Google Shape;1677;p7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Multiple Testing &amp; Guardrails</a:t>
            </a:r>
            <a:endParaRPr sz="3400"/>
          </a:p>
        </p:txBody>
      </p:sp>
      <p:sp>
        <p:nvSpPr>
          <p:cNvPr id="1678" name="Google Shape;1678;p78"/>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Many metrics, many variants, many segments — each comparison is a fresh chance for a false positive.</a:t>
            </a:r>
            <a:endParaRPr sz="1450"/>
          </a:p>
        </p:txBody>
      </p:sp>
      <p:sp>
        <p:nvSpPr>
          <p:cNvPr id="1679" name="Google Shape;1679;p78"/>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78"/>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Control the error rate</a:t>
            </a:r>
            <a:endParaRPr sz="1500"/>
          </a:p>
        </p:txBody>
      </p:sp>
      <p:sp>
        <p:nvSpPr>
          <p:cNvPr id="1681" name="Google Shape;1681;p78"/>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Bonferroni for strict family-wise control; Benjamini–Hochberg to control the false discovery rate when tests are many.</a:t>
            </a:r>
            <a:endParaRPr sz="1250"/>
          </a:p>
        </p:txBody>
      </p:sp>
      <p:sp>
        <p:nvSpPr>
          <p:cNvPr id="1682" name="Google Shape;1682;p78"/>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78"/>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One primary metric</a:t>
            </a:r>
            <a:endParaRPr sz="1500"/>
          </a:p>
        </p:txBody>
      </p:sp>
      <p:sp>
        <p:nvSpPr>
          <p:cNvPr id="1684" name="Google Shape;1684;p78"/>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Pre-designate a single decision metric; everything else is secondary or guardrail, not a second bite at the apple.</a:t>
            </a:r>
            <a:endParaRPr sz="1250"/>
          </a:p>
        </p:txBody>
      </p:sp>
      <p:sp>
        <p:nvSpPr>
          <p:cNvPr id="1685" name="Google Shape;1685;p78"/>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78"/>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Guardrail metrics</a:t>
            </a:r>
            <a:endParaRPr sz="1500"/>
          </a:p>
        </p:txBody>
      </p:sp>
      <p:sp>
        <p:nvSpPr>
          <p:cNvPr id="1687" name="Google Shape;1687;p78"/>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Latency, revenue, error rate, complaints — a winning primary metric does not ship if a guardrail degrades.</a:t>
            </a:r>
            <a:endParaRPr sz="1250"/>
          </a:p>
        </p:txBody>
      </p:sp>
      <p:sp>
        <p:nvSpPr>
          <p:cNvPr id="1688" name="Google Shape;1688;p7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1689" name="Google Shape;1689;p7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93  /  268</a:t>
            </a:r>
            <a:endParaRPr sz="900"/>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Choosing the Correction Family</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Bonferroni or Benjamini–Hochberg is not a preference. It follows from what kind of question the test belongs to.</a:t>
            </a:r>
            <a:endParaRPr sz="1450"/>
          </a:p>
        </p:txBody>
      </p:sp>
      <p:sp>
        <p:nvSpPr>
          <p:cNvPr id="276" name="Google Shape;276;p11"/>
          <p:cNvSpPr/>
          <p:nvPr/>
        </p:nvSpPr>
        <p:spPr>
          <a:xfrm>
            <a:off x="566928" y="5797296"/>
            <a:ext cx="11055096" cy="4023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100">
                <a:solidFill>
                  <a:srgbClr val="16233F"/>
                </a:solidFill>
                <a:latin typeface="Calibri"/>
                <a:ea typeface="Calibri"/>
                <a:cs typeface="Calibri"/>
                <a:sym typeface="Calibri"/>
              </a:rPr>
              <a:t>DECIDE FIRST — The family is part of the frozen analysis plan.</a:t>
            </a:r>
            <a:endParaRPr sz="1350"/>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94  /  268</a:t>
            </a:r>
            <a:endParaRPr sz="900"/>
          </a:p>
        </p:txBody>
      </p:sp>
      <p:pic>
        <p:nvPicPr>
          <p:cNvPr id="279" name="Picture 278" descr="m4_correction_family.png"/>
          <p:cNvPicPr>
            <a:picLocks noChangeAspect="1"/>
          </p:cNvPicPr>
          <p:nvPr/>
        </p:nvPicPr>
        <p:blipFill>
          <a:blip r:embed="rId2"/>
          <a:stretch>
            <a:fillRect/>
          </a:stretch>
        </p:blipFill>
        <p:spPr>
          <a:xfrm>
            <a:off x="879647" y="2212848"/>
            <a:ext cx="10429657" cy="347472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4" name="Shape 1694"/>
        <p:cNvGrpSpPr/>
        <p:nvPr/>
      </p:nvGrpSpPr>
      <p:grpSpPr>
        <a:xfrm>
          <a:off x="0" y="0"/>
          <a:ext cx="0" cy="0"/>
          <a:chOff x="0" y="0"/>
          <a:chExt cx="0" cy="0"/>
        </a:xfrm>
      </p:grpSpPr>
      <p:sp>
        <p:nvSpPr>
          <p:cNvPr id="1695" name="Google Shape;1695;p7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1696" name="Google Shape;1696;p7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 Field Guide to A/B Test Failure Modes</a:t>
            </a:r>
            <a:endParaRPr sz="3400"/>
          </a:p>
        </p:txBody>
      </p:sp>
      <p:sp>
        <p:nvSpPr>
          <p:cNvPr id="1697" name="Google Shape;1697;p79"/>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defects that turn confident ‘wins’ into losses in production.</a:t>
            </a:r>
            <a:endParaRPr sz="1450"/>
          </a:p>
        </p:txBody>
      </p:sp>
      <p:sp>
        <p:nvSpPr>
          <p:cNvPr id="1698" name="Google Shape;1698;p79"/>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79"/>
          <p:cNvSpPr/>
          <p:nvPr/>
        </p:nvSpPr>
        <p:spPr>
          <a:xfrm>
            <a:off x="841248" y="251460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Sample-ratio mismatch — the arms are not split as intended, signalling a broken assignment or logging pipeline.</a:t>
            </a:r>
            <a:endParaRPr sz="1400"/>
          </a:p>
        </p:txBody>
      </p:sp>
      <p:sp>
        <p:nvSpPr>
          <p:cNvPr id="1700" name="Google Shape;1700;p79"/>
          <p:cNvSpPr/>
          <p:nvPr/>
        </p:nvSpPr>
        <p:spPr>
          <a:xfrm>
            <a:off x="566928" y="3180588"/>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79"/>
          <p:cNvSpPr/>
          <p:nvPr/>
        </p:nvSpPr>
        <p:spPr>
          <a:xfrm>
            <a:off x="841248" y="311658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Peeking / early stopping — monitoring a fixed-horizon test and stopping on the first green.</a:t>
            </a:r>
            <a:endParaRPr sz="1400"/>
          </a:p>
        </p:txBody>
      </p:sp>
      <p:sp>
        <p:nvSpPr>
          <p:cNvPr id="1702" name="Google Shape;1702;p79"/>
          <p:cNvSpPr/>
          <p:nvPr/>
        </p:nvSpPr>
        <p:spPr>
          <a:xfrm>
            <a:off x="566928" y="3782568"/>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79"/>
          <p:cNvSpPr/>
          <p:nvPr/>
        </p:nvSpPr>
        <p:spPr>
          <a:xfrm>
            <a:off x="841248" y="371856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Interference — treated units affect control units (marketplaces, social graphs), biasing the contrast.</a:t>
            </a:r>
            <a:endParaRPr sz="1400"/>
          </a:p>
        </p:txBody>
      </p:sp>
      <p:sp>
        <p:nvSpPr>
          <p:cNvPr id="1704" name="Google Shape;1704;p79"/>
          <p:cNvSpPr/>
          <p:nvPr/>
        </p:nvSpPr>
        <p:spPr>
          <a:xfrm>
            <a:off x="566928" y="4384548"/>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79"/>
          <p:cNvSpPr/>
          <p:nvPr/>
        </p:nvSpPr>
        <p:spPr>
          <a:xfrm>
            <a:off x="841248" y="432054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Novelty &amp; primacy effects — short-term reactions that fade, so a two-day lift misrepresents the steady state.</a:t>
            </a:r>
            <a:endParaRPr sz="1400"/>
          </a:p>
        </p:txBody>
      </p:sp>
      <p:sp>
        <p:nvSpPr>
          <p:cNvPr id="1706" name="Google Shape;1706;p79"/>
          <p:cNvSpPr/>
          <p:nvPr/>
        </p:nvSpPr>
        <p:spPr>
          <a:xfrm>
            <a:off x="566928" y="4986528"/>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79"/>
          <p:cNvSpPr/>
          <p:nvPr/>
        </p:nvSpPr>
        <p:spPr>
          <a:xfrm>
            <a:off x="841248" y="492252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Simpson's paradox — an aggregate result reverses within every segment because of shifting mix.</a:t>
            </a:r>
            <a:endParaRPr sz="1400"/>
          </a:p>
        </p:txBody>
      </p:sp>
      <p:sp>
        <p:nvSpPr>
          <p:cNvPr id="1708" name="Google Shape;1708;p79"/>
          <p:cNvSpPr/>
          <p:nvPr/>
        </p:nvSpPr>
        <p:spPr>
          <a:xfrm>
            <a:off x="566928" y="55885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79"/>
          <p:cNvSpPr/>
          <p:nvPr/>
        </p:nvSpPr>
        <p:spPr>
          <a:xfrm>
            <a:off x="841248" y="552450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Winner's curse — the shipped variant's true effect is smaller than the estimate that got it shipped.</a:t>
            </a:r>
            <a:endParaRPr sz="1400"/>
          </a:p>
        </p:txBody>
      </p:sp>
      <p:sp>
        <p:nvSpPr>
          <p:cNvPr id="1710" name="Google Shape;1710;p7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1711" name="Google Shape;1711;p7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95  /  268</a:t>
            </a:r>
            <a:endParaRPr sz="900"/>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Sample-Ratio Mismatch: the Go / No-Go Gate</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same Injaz experiment, before and after 3% of one arm is silently lost to a logging bug.</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NOT A ROUNDING ERROR</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A 1.5% drift produces p ≈ 3 × 10⁻⁵. Units did not go missing at random, so the comparison is no longer a randomised one.</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The correct response is never 'adjust and continue'. It is: find the bug, fix it, rerun. An experiment that fails SRM must be reported as invalid, not as a result.</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96  /  268</a:t>
            </a:r>
            <a:endParaRPr sz="900"/>
          </a:p>
        </p:txBody>
      </p:sp>
      <p:pic>
        <p:nvPicPr>
          <p:cNvPr id="279" name="Picture 278" descr="m2_srm_diagnostic.png"/>
          <p:cNvPicPr>
            <a:picLocks noChangeAspect="1"/>
          </p:cNvPicPr>
          <p:nvPr/>
        </p:nvPicPr>
        <p:blipFill>
          <a:blip r:embed="rId2"/>
          <a:stretch>
            <a:fillRect/>
          </a:stretch>
        </p:blipFill>
        <p:spPr>
          <a:xfrm>
            <a:off x="1117184" y="2249424"/>
            <a:ext cx="6690175" cy="3877056"/>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6" name="Shape 1716"/>
        <p:cNvGrpSpPr/>
        <p:nvPr/>
      </p:nvGrpSpPr>
      <p:grpSpPr>
        <a:xfrm>
          <a:off x="0" y="0"/>
          <a:ext cx="0" cy="0"/>
          <a:chOff x="0" y="0"/>
          <a:chExt cx="0" cy="0"/>
        </a:xfrm>
      </p:grpSpPr>
      <p:sp>
        <p:nvSpPr>
          <p:cNvPr id="1717" name="Google Shape;1717;p8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4</a:t>
            </a:r>
            <a:endParaRPr sz="1200"/>
          </a:p>
        </p:txBody>
      </p:sp>
      <p:sp>
        <p:nvSpPr>
          <p:cNvPr id="1718" name="Google Shape;1718;p8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Knowledge Check: Production A/B</a:t>
            </a:r>
            <a:endParaRPr sz="3400"/>
          </a:p>
        </p:txBody>
      </p:sp>
      <p:sp>
        <p:nvSpPr>
          <p:cNvPr id="1719" name="Google Shape;1719;p80"/>
          <p:cNvSpPr/>
          <p:nvPr/>
        </p:nvSpPr>
        <p:spPr>
          <a:xfrm>
            <a:off x="566928" y="178308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80"/>
          <p:cNvSpPr/>
          <p:nvPr/>
        </p:nvSpPr>
        <p:spPr>
          <a:xfrm>
            <a:off x="768096" y="196596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80"/>
          <p:cNvSpPr/>
          <p:nvPr/>
        </p:nvSpPr>
        <p:spPr>
          <a:xfrm>
            <a:off x="768096"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1722" name="Google Shape;1722;p80"/>
          <p:cNvSpPr/>
          <p:nvPr/>
        </p:nvSpPr>
        <p:spPr>
          <a:xfrm>
            <a:off x="1344168" y="19293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Halving the minimum detectable effect changes required sample size by roughly:</a:t>
            </a:r>
            <a:endParaRPr sz="1400"/>
          </a:p>
        </p:txBody>
      </p:sp>
      <p:sp>
        <p:nvSpPr>
          <p:cNvPr id="1723" name="Google Shape;1723;p80"/>
          <p:cNvSpPr/>
          <p:nvPr/>
        </p:nvSpPr>
        <p:spPr>
          <a:xfrm>
            <a:off x="1344168" y="23865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×2      B) ×4      C) ÷2      D) no change</a:t>
            </a:r>
            <a:endParaRPr sz="1200"/>
          </a:p>
        </p:txBody>
      </p:sp>
      <p:sp>
        <p:nvSpPr>
          <p:cNvPr id="1724" name="Google Shape;1724;p80"/>
          <p:cNvSpPr/>
          <p:nvPr/>
        </p:nvSpPr>
        <p:spPr>
          <a:xfrm>
            <a:off x="566928" y="306324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80"/>
          <p:cNvSpPr/>
          <p:nvPr/>
        </p:nvSpPr>
        <p:spPr>
          <a:xfrm>
            <a:off x="768096" y="32461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80"/>
          <p:cNvSpPr/>
          <p:nvPr/>
        </p:nvSpPr>
        <p:spPr>
          <a:xfrm>
            <a:off x="768096"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1727" name="Google Shape;1727;p80"/>
          <p:cNvSpPr/>
          <p:nvPr/>
        </p:nvSpPr>
        <p:spPr>
          <a:xfrm>
            <a:off x="1344168" y="32095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You want to monitor continuously and stop early when justified. Use:</a:t>
            </a:r>
            <a:endParaRPr sz="1400"/>
          </a:p>
        </p:txBody>
      </p:sp>
      <p:sp>
        <p:nvSpPr>
          <p:cNvPr id="1728" name="Google Shape;1728;p80"/>
          <p:cNvSpPr/>
          <p:nvPr/>
        </p:nvSpPr>
        <p:spPr>
          <a:xfrm>
            <a:off x="1344168" y="36667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Fixed-horizon p      B) Always-valid / sequential      C) Larger α      D) Peeking</a:t>
            </a:r>
            <a:endParaRPr sz="1200"/>
          </a:p>
        </p:txBody>
      </p:sp>
      <p:sp>
        <p:nvSpPr>
          <p:cNvPr id="1729" name="Google Shape;1729;p80"/>
          <p:cNvSpPr/>
          <p:nvPr/>
        </p:nvSpPr>
        <p:spPr>
          <a:xfrm>
            <a:off x="566928" y="434340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80"/>
          <p:cNvSpPr/>
          <p:nvPr/>
        </p:nvSpPr>
        <p:spPr>
          <a:xfrm>
            <a:off x="768096" y="452628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80"/>
          <p:cNvSpPr/>
          <p:nvPr/>
        </p:nvSpPr>
        <p:spPr>
          <a:xfrm>
            <a:off x="768096" y="4526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1732" name="Google Shape;1732;p80"/>
          <p:cNvSpPr/>
          <p:nvPr/>
        </p:nvSpPr>
        <p:spPr>
          <a:xfrm>
            <a:off x="1344168" y="44897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The arms come out 55/45 instead of 50/50. This is a:</a:t>
            </a:r>
            <a:endParaRPr sz="1400"/>
          </a:p>
        </p:txBody>
      </p:sp>
      <p:sp>
        <p:nvSpPr>
          <p:cNvPr id="1733" name="Google Shape;1733;p80"/>
          <p:cNvSpPr/>
          <p:nvPr/>
        </p:nvSpPr>
        <p:spPr>
          <a:xfrm>
            <a:off x="1344168" y="49469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Guardrail win      B) Sample-ratio mismatch      C) Novelty effect      D) Power gain</a:t>
            </a:r>
            <a:endParaRPr sz="1200"/>
          </a:p>
        </p:txBody>
      </p:sp>
      <p:sp>
        <p:nvSpPr>
          <p:cNvPr id="1734" name="Google Shape;1734;p8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A/B TESTING</a:t>
            </a:r>
            <a:endParaRPr sz="900"/>
          </a:p>
        </p:txBody>
      </p:sp>
      <p:sp>
        <p:nvSpPr>
          <p:cNvPr id="1735" name="Google Shape;1735;p8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97  /  268</a:t>
            </a:r>
            <a:endParaRPr sz="900"/>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1740" name="Shape 1740"/>
        <p:cNvGrpSpPr/>
        <p:nvPr/>
      </p:nvGrpSpPr>
      <p:grpSpPr>
        <a:xfrm>
          <a:off x="0" y="0"/>
          <a:ext cx="0" cy="0"/>
          <a:chOff x="0" y="0"/>
          <a:chExt cx="0" cy="0"/>
        </a:xfrm>
      </p:grpSpPr>
      <p:sp>
        <p:nvSpPr>
          <p:cNvPr id="1741" name="Google Shape;1741;p81"/>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2 · HOUR 5</a:t>
            </a:r>
            <a:endParaRPr sz="1300"/>
          </a:p>
        </p:txBody>
      </p:sp>
      <p:sp>
        <p:nvSpPr>
          <p:cNvPr id="1742" name="Google Shape;1742;p81"/>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Lab 2 &amp; Discussion</a:t>
            </a:r>
            <a:endParaRPr sz="4000"/>
          </a:p>
        </p:txBody>
      </p:sp>
      <p:sp>
        <p:nvSpPr>
          <p:cNvPr id="1743" name="Google Shape;1743;p81"/>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Design, run on simulated traffic, and analyse a complete A/B test — including the failure modes that catch practitioners out.</a:t>
            </a:r>
            <a:endParaRPr sz="1500"/>
          </a:p>
        </p:txBody>
      </p:sp>
      <p:cxnSp>
        <p:nvCxnSpPr>
          <p:cNvPr id="1744" name="Google Shape;1744;p81"/>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1745" name="Google Shape;1745;p8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2</a:t>
            </a:r>
            <a:endParaRPr sz="900"/>
          </a:p>
        </p:txBody>
      </p:sp>
      <p:sp>
        <p:nvSpPr>
          <p:cNvPr id="1746" name="Google Shape;1746;p8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98  /  268</a:t>
            </a:r>
            <a:endParaRPr sz="900"/>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1751" name="Shape 1751"/>
        <p:cNvGrpSpPr/>
        <p:nvPr/>
      </p:nvGrpSpPr>
      <p:grpSpPr>
        <a:xfrm>
          <a:off x="0" y="0"/>
          <a:ext cx="0" cy="0"/>
          <a:chOff x="0" y="0"/>
          <a:chExt cx="0" cy="0"/>
        </a:xfrm>
      </p:grpSpPr>
      <p:sp>
        <p:nvSpPr>
          <p:cNvPr id="1752" name="Google Shape;1752;p82"/>
          <p:cNvSpPr/>
          <p:nvPr/>
        </p:nvSpPr>
        <p:spPr>
          <a:xfrm>
            <a:off x="566928" y="50292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DAY 2 · HANDS-ON LAB 2</a:t>
            </a:r>
            <a:endParaRPr sz="1200"/>
          </a:p>
        </p:txBody>
      </p:sp>
      <p:sp>
        <p:nvSpPr>
          <p:cNvPr id="1753" name="Google Shape;1753;p82"/>
          <p:cNvSpPr/>
          <p:nvPr/>
        </p:nvSpPr>
        <p:spPr>
          <a:xfrm>
            <a:off x="566928" y="868680"/>
            <a:ext cx="11057839"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An A/B Test, End to End</a:t>
            </a:r>
            <a:endParaRPr sz="3000"/>
          </a:p>
        </p:txBody>
      </p:sp>
      <p:sp>
        <p:nvSpPr>
          <p:cNvPr id="1754" name="Google Shape;1754;p82"/>
          <p:cNvSpPr/>
          <p:nvPr/>
        </p:nvSpPr>
        <p:spPr>
          <a:xfrm>
            <a:off x="566928" y="2011680"/>
            <a:ext cx="3931920" cy="3931920"/>
          </a:xfrm>
          <a:prstGeom prst="roundRect">
            <a:avLst>
              <a:gd fmla="val 2326" name="adj"/>
            </a:avLst>
          </a:prstGeom>
          <a:solidFill>
            <a:srgbClr val="1C2E4E"/>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82"/>
          <p:cNvSpPr/>
          <p:nvPr/>
        </p:nvSpPr>
        <p:spPr>
          <a:xfrm>
            <a:off x="841248" y="22402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OBJECTIVE</a:t>
            </a:r>
            <a:endParaRPr sz="1100"/>
          </a:p>
        </p:txBody>
      </p:sp>
      <p:sp>
        <p:nvSpPr>
          <p:cNvPr id="1756" name="Google Shape;1756;p82"/>
          <p:cNvSpPr/>
          <p:nvPr/>
        </p:nvSpPr>
        <p:spPr>
          <a:xfrm>
            <a:off x="841248" y="2542032"/>
            <a:ext cx="3383280" cy="128016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300"/>
              <a:buFont typeface="Calibri"/>
              <a:buNone/>
            </a:pPr>
            <a:r>
              <a:rPr lang="en-US" sz="1300">
                <a:solidFill>
                  <a:srgbClr val="C9DAF0"/>
                </a:solidFill>
                <a:latin typeface="Calibri"/>
                <a:ea typeface="Calibri"/>
                <a:cs typeface="Calibri"/>
                <a:sym typeface="Calibri"/>
              </a:rPr>
              <a:t>Plan an experiment with a real power calculation, simulate its traffic, estimate the effect with valid inference, and demonstrate why peeking and CUPED matter.</a:t>
            </a:r>
            <a:endParaRPr sz="1300"/>
          </a:p>
        </p:txBody>
      </p:sp>
      <p:sp>
        <p:nvSpPr>
          <p:cNvPr id="1757" name="Google Shape;1757;p82"/>
          <p:cNvSpPr/>
          <p:nvPr/>
        </p:nvSpPr>
        <p:spPr>
          <a:xfrm>
            <a:off x="841248" y="420624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DELIVERABLE</a:t>
            </a:r>
            <a:endParaRPr sz="1100"/>
          </a:p>
        </p:txBody>
      </p:sp>
      <p:sp>
        <p:nvSpPr>
          <p:cNvPr id="1758" name="Google Shape;1758;p82"/>
          <p:cNvSpPr/>
          <p:nvPr/>
        </p:nvSpPr>
        <p:spPr>
          <a:xfrm>
            <a:off x="841248" y="4498848"/>
            <a:ext cx="3383280"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 notebook containing a power/MDE plan, an A/A sanity check, a CUPED-adjusted effect with a robust SE, and a peeking simulation quantifying inflated error.</a:t>
            </a:r>
            <a:endParaRPr sz="1250"/>
          </a:p>
        </p:txBody>
      </p:sp>
      <p:sp>
        <p:nvSpPr>
          <p:cNvPr id="1759" name="Google Shape;1759;p82"/>
          <p:cNvSpPr/>
          <p:nvPr/>
        </p:nvSpPr>
        <p:spPr>
          <a:xfrm>
            <a:off x="4864608" y="2029968"/>
            <a:ext cx="676015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STEPS</a:t>
            </a:r>
            <a:endParaRPr sz="1100"/>
          </a:p>
        </p:txBody>
      </p:sp>
      <p:sp>
        <p:nvSpPr>
          <p:cNvPr id="1760" name="Google Shape;1760;p82"/>
          <p:cNvSpPr/>
          <p:nvPr/>
        </p:nvSpPr>
        <p:spPr>
          <a:xfrm>
            <a:off x="4864608" y="23957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82"/>
          <p:cNvSpPr/>
          <p:nvPr/>
        </p:nvSpPr>
        <p:spPr>
          <a:xfrm>
            <a:off x="4864608" y="23957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1</a:t>
            </a:r>
            <a:endParaRPr sz="1300"/>
          </a:p>
        </p:txBody>
      </p:sp>
      <p:sp>
        <p:nvSpPr>
          <p:cNvPr id="1762" name="Google Shape;1762;p82"/>
          <p:cNvSpPr/>
          <p:nvPr/>
        </p:nvSpPr>
        <p:spPr>
          <a:xfrm>
            <a:off x="5413248" y="23774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Set α, power, and MDE; compute required n and expected runtime for a conversion metric.</a:t>
            </a:r>
            <a:endParaRPr sz="1250"/>
          </a:p>
        </p:txBody>
      </p:sp>
      <p:sp>
        <p:nvSpPr>
          <p:cNvPr id="1763" name="Google Shape;1763;p82"/>
          <p:cNvSpPr/>
          <p:nvPr/>
        </p:nvSpPr>
        <p:spPr>
          <a:xfrm>
            <a:off x="4864608" y="2982468"/>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82"/>
          <p:cNvSpPr/>
          <p:nvPr/>
        </p:nvSpPr>
        <p:spPr>
          <a:xfrm>
            <a:off x="4864608" y="29824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2</a:t>
            </a:r>
            <a:endParaRPr sz="1300"/>
          </a:p>
        </p:txBody>
      </p:sp>
      <p:sp>
        <p:nvSpPr>
          <p:cNvPr id="1765" name="Google Shape;1765;p82"/>
          <p:cNvSpPr/>
          <p:nvPr/>
        </p:nvSpPr>
        <p:spPr>
          <a:xfrm>
            <a:off x="5413248" y="296418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Simulate a data-generating process with a pre-period covariate correlated with the outcome.</a:t>
            </a:r>
            <a:endParaRPr sz="1250"/>
          </a:p>
        </p:txBody>
      </p:sp>
      <p:sp>
        <p:nvSpPr>
          <p:cNvPr id="1766" name="Google Shape;1766;p82"/>
          <p:cNvSpPr/>
          <p:nvPr/>
        </p:nvSpPr>
        <p:spPr>
          <a:xfrm>
            <a:off x="4864608" y="3569208"/>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82"/>
          <p:cNvSpPr/>
          <p:nvPr/>
        </p:nvSpPr>
        <p:spPr>
          <a:xfrm>
            <a:off x="4864608" y="35692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3</a:t>
            </a:r>
            <a:endParaRPr sz="1300"/>
          </a:p>
        </p:txBody>
      </p:sp>
      <p:sp>
        <p:nvSpPr>
          <p:cNvPr id="1768" name="Google Shape;1768;p82"/>
          <p:cNvSpPr/>
          <p:nvPr/>
        </p:nvSpPr>
        <p:spPr>
          <a:xfrm>
            <a:off x="5413248" y="355092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Run an A/A test to confirm the pipeline and check sample-ratio balance.</a:t>
            </a:r>
            <a:endParaRPr sz="1250"/>
          </a:p>
        </p:txBody>
      </p:sp>
      <p:sp>
        <p:nvSpPr>
          <p:cNvPr id="1769" name="Google Shape;1769;p82"/>
          <p:cNvSpPr/>
          <p:nvPr/>
        </p:nvSpPr>
        <p:spPr>
          <a:xfrm>
            <a:off x="4864608" y="4155948"/>
            <a:ext cx="384048" cy="384048"/>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82"/>
          <p:cNvSpPr/>
          <p:nvPr/>
        </p:nvSpPr>
        <p:spPr>
          <a:xfrm>
            <a:off x="4864608" y="41559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4</a:t>
            </a:r>
            <a:endParaRPr sz="1300"/>
          </a:p>
        </p:txBody>
      </p:sp>
      <p:sp>
        <p:nvSpPr>
          <p:cNvPr id="1771" name="Google Shape;1771;p82"/>
          <p:cNvSpPr/>
          <p:nvPr/>
        </p:nvSpPr>
        <p:spPr>
          <a:xfrm>
            <a:off x="5413248" y="413766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 the effect two ways: simple difference and CUPED-adjusted; compare the SEs.</a:t>
            </a:r>
            <a:endParaRPr sz="1250"/>
          </a:p>
        </p:txBody>
      </p:sp>
      <p:sp>
        <p:nvSpPr>
          <p:cNvPr id="1772" name="Google Shape;1772;p82"/>
          <p:cNvSpPr/>
          <p:nvPr/>
        </p:nvSpPr>
        <p:spPr>
          <a:xfrm>
            <a:off x="4864608" y="4742688"/>
            <a:ext cx="384048" cy="384048"/>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82"/>
          <p:cNvSpPr/>
          <p:nvPr/>
        </p:nvSpPr>
        <p:spPr>
          <a:xfrm>
            <a:off x="4864608" y="47426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5</a:t>
            </a:r>
            <a:endParaRPr sz="1300"/>
          </a:p>
        </p:txBody>
      </p:sp>
      <p:sp>
        <p:nvSpPr>
          <p:cNvPr id="1774" name="Google Shape;1774;p82"/>
          <p:cNvSpPr/>
          <p:nvPr/>
        </p:nvSpPr>
        <p:spPr>
          <a:xfrm>
            <a:off x="5413248" y="472440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Simulate 1,000 experiments with daily peeking; measure the realised false-positive rate.</a:t>
            </a:r>
            <a:endParaRPr sz="1250"/>
          </a:p>
        </p:txBody>
      </p:sp>
      <p:sp>
        <p:nvSpPr>
          <p:cNvPr id="1775" name="Google Shape;1775;p82"/>
          <p:cNvSpPr/>
          <p:nvPr/>
        </p:nvSpPr>
        <p:spPr>
          <a:xfrm>
            <a:off x="4864608" y="53294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82"/>
          <p:cNvSpPr/>
          <p:nvPr/>
        </p:nvSpPr>
        <p:spPr>
          <a:xfrm>
            <a:off x="4864608" y="53294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6</a:t>
            </a:r>
            <a:endParaRPr sz="1300"/>
          </a:p>
        </p:txBody>
      </p:sp>
      <p:sp>
        <p:nvSpPr>
          <p:cNvPr id="1777" name="Google Shape;1777;p82"/>
          <p:cNvSpPr/>
          <p:nvPr/>
        </p:nvSpPr>
        <p:spPr>
          <a:xfrm>
            <a:off x="5413248" y="53111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Repeat under an always-valid boundary; show the error rate return to nominal.</a:t>
            </a:r>
            <a:endParaRPr sz="1250"/>
          </a:p>
        </p:txBody>
      </p:sp>
      <p:sp>
        <p:nvSpPr>
          <p:cNvPr id="1778" name="Google Shape;1778;p8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2 · LAB</a:t>
            </a:r>
            <a:endParaRPr sz="900"/>
          </a:p>
        </p:txBody>
      </p:sp>
      <p:sp>
        <p:nvSpPr>
          <p:cNvPr id="1779" name="Google Shape;1779;p8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99  /  268</a:t>
            </a:r>
            <a:endParaRPr sz="900"/>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4" name="Shape 1784"/>
        <p:cNvGrpSpPr/>
        <p:nvPr/>
      </p:nvGrpSpPr>
      <p:grpSpPr>
        <a:xfrm>
          <a:off x="0" y="0"/>
          <a:ext cx="0" cy="0"/>
          <a:chOff x="0" y="0"/>
          <a:chExt cx="0" cy="0"/>
        </a:xfrm>
      </p:grpSpPr>
      <p:sp>
        <p:nvSpPr>
          <p:cNvPr id="1785" name="Google Shape;1785;p8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5</a:t>
            </a:r>
            <a:endParaRPr sz="1200"/>
          </a:p>
        </p:txBody>
      </p:sp>
      <p:sp>
        <p:nvSpPr>
          <p:cNvPr id="1786" name="Google Shape;1786;p8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Lab 2 Debrief</a:t>
            </a:r>
            <a:endParaRPr sz="3400"/>
          </a:p>
        </p:txBody>
      </p:sp>
      <p:sp>
        <p:nvSpPr>
          <p:cNvPr id="1787" name="Google Shape;1787;p83"/>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Three quantitative takeaways you will carry into every experiment.</a:t>
            </a:r>
            <a:endParaRPr sz="1450"/>
          </a:p>
        </p:txBody>
      </p:sp>
      <p:sp>
        <p:nvSpPr>
          <p:cNvPr id="1788" name="Google Shape;1788;p83"/>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83"/>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CUPED is a free lunch</a:t>
            </a:r>
            <a:endParaRPr sz="1500"/>
          </a:p>
        </p:txBody>
      </p:sp>
      <p:sp>
        <p:nvSpPr>
          <p:cNvPr id="1790" name="Google Shape;1790;p83"/>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adjusted SE is visibly smaller for the same data — real power gained from data you already had.</a:t>
            </a:r>
            <a:endParaRPr sz="1250"/>
          </a:p>
        </p:txBody>
      </p:sp>
      <p:sp>
        <p:nvSpPr>
          <p:cNvPr id="1791" name="Google Shape;1791;p83"/>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83"/>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Peeking is not benign</a:t>
            </a:r>
            <a:endParaRPr sz="1500"/>
          </a:p>
        </p:txBody>
      </p:sp>
      <p:sp>
        <p:nvSpPr>
          <p:cNvPr id="1793" name="Google Shape;1793;p83"/>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naive daily-peek procedure shows a false-positive rate several times the nominal 5%.</a:t>
            </a:r>
            <a:endParaRPr sz="1250"/>
          </a:p>
        </p:txBody>
      </p:sp>
      <p:sp>
        <p:nvSpPr>
          <p:cNvPr id="1794" name="Google Shape;1794;p83"/>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83"/>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Always-valid restores trust</a:t>
            </a:r>
            <a:endParaRPr sz="1500"/>
          </a:p>
        </p:txBody>
      </p:sp>
      <p:sp>
        <p:nvSpPr>
          <p:cNvPr id="1796" name="Google Shape;1796;p83"/>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Under the sequential boundary, you keep the ability to stop early without paying in false positives.</a:t>
            </a:r>
            <a:endParaRPr sz="1250"/>
          </a:p>
        </p:txBody>
      </p:sp>
      <p:sp>
        <p:nvSpPr>
          <p:cNvPr id="1797" name="Google Shape;1797;p8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LAB</a:t>
            </a:r>
            <a:endParaRPr sz="900"/>
          </a:p>
        </p:txBody>
      </p:sp>
      <p:sp>
        <p:nvSpPr>
          <p:cNvPr id="1798" name="Google Shape;1798;p8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100  /  268</a:t>
            </a:r>
            <a:endParaRPr sz="900"/>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3" name="Shape 1803"/>
        <p:cNvGrpSpPr/>
        <p:nvPr/>
      </p:nvGrpSpPr>
      <p:grpSpPr>
        <a:xfrm>
          <a:off x="0" y="0"/>
          <a:ext cx="0" cy="0"/>
          <a:chOff x="0" y="0"/>
          <a:chExt cx="0" cy="0"/>
        </a:xfrm>
      </p:grpSpPr>
      <p:sp>
        <p:nvSpPr>
          <p:cNvPr id="1804" name="Google Shape;1804;p8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HOUR 5</a:t>
            </a:r>
            <a:endParaRPr sz="1200"/>
          </a:p>
        </p:txBody>
      </p:sp>
      <p:sp>
        <p:nvSpPr>
          <p:cNvPr id="1805" name="Google Shape;1805;p8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Discussion: Auditing an Experiment</a:t>
            </a:r>
            <a:endParaRPr sz="3400"/>
          </a:p>
        </p:txBody>
      </p:sp>
      <p:sp>
        <p:nvSpPr>
          <p:cNvPr id="1806" name="Google Shape;1806;p84"/>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In groups, you receive a one-page ‘experiment report’ and must find the flaws.</a:t>
            </a:r>
            <a:endParaRPr sz="1450"/>
          </a:p>
        </p:txBody>
      </p:sp>
      <p:sp>
        <p:nvSpPr>
          <p:cNvPr id="1807" name="Google Shape;1807;p84"/>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84"/>
          <p:cNvSpPr/>
          <p:nvPr/>
        </p:nvSpPr>
        <p:spPr>
          <a:xfrm>
            <a:off x="841248" y="2514600"/>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Is the randomization unit right for the interference structure?</a:t>
            </a:r>
            <a:endParaRPr sz="1400"/>
          </a:p>
        </p:txBody>
      </p:sp>
      <p:sp>
        <p:nvSpPr>
          <p:cNvPr id="1809" name="Google Shape;1809;p84"/>
          <p:cNvSpPr/>
          <p:nvPr/>
        </p:nvSpPr>
        <p:spPr>
          <a:xfrm>
            <a:off x="566928" y="3300984"/>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84"/>
          <p:cNvSpPr/>
          <p:nvPr/>
        </p:nvSpPr>
        <p:spPr>
          <a:xfrm>
            <a:off x="841248" y="3236976"/>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Was the horizon pre-set, or does the analysis smell of peeking?</a:t>
            </a:r>
            <a:endParaRPr sz="1400"/>
          </a:p>
        </p:txBody>
      </p:sp>
      <p:sp>
        <p:nvSpPr>
          <p:cNvPr id="1811" name="Google Shape;1811;p84"/>
          <p:cNvSpPr/>
          <p:nvPr/>
        </p:nvSpPr>
        <p:spPr>
          <a:xfrm>
            <a:off x="566928" y="4023360"/>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84"/>
          <p:cNvSpPr/>
          <p:nvPr/>
        </p:nvSpPr>
        <p:spPr>
          <a:xfrm>
            <a:off x="841248" y="3959352"/>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Is the primary metric singular, and are guardrails reported?</a:t>
            </a:r>
            <a:endParaRPr sz="1400"/>
          </a:p>
        </p:txBody>
      </p:sp>
      <p:sp>
        <p:nvSpPr>
          <p:cNvPr id="1813" name="Google Shape;1813;p84"/>
          <p:cNvSpPr/>
          <p:nvPr/>
        </p:nvSpPr>
        <p:spPr>
          <a:xfrm>
            <a:off x="566928" y="4745736"/>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84"/>
          <p:cNvSpPr/>
          <p:nvPr/>
        </p:nvSpPr>
        <p:spPr>
          <a:xfrm>
            <a:off x="841248" y="4681728"/>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Do the standard errors match the design (robust / clustered)?</a:t>
            </a:r>
            <a:endParaRPr sz="1400"/>
          </a:p>
        </p:txBody>
      </p:sp>
      <p:sp>
        <p:nvSpPr>
          <p:cNvPr id="1815" name="Google Shape;1815;p84"/>
          <p:cNvSpPr/>
          <p:nvPr/>
        </p:nvSpPr>
        <p:spPr>
          <a:xfrm>
            <a:off x="566928" y="5468112"/>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84"/>
          <p:cNvSpPr/>
          <p:nvPr/>
        </p:nvSpPr>
        <p:spPr>
          <a:xfrm>
            <a:off x="841248" y="5404104"/>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Are subgroup claims pre-registered or fished?</a:t>
            </a:r>
            <a:endParaRPr sz="1400"/>
          </a:p>
        </p:txBody>
      </p:sp>
      <p:sp>
        <p:nvSpPr>
          <p:cNvPr id="1817" name="Google Shape;1817;p8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DISCUSSION</a:t>
            </a:r>
            <a:endParaRPr sz="900"/>
          </a:p>
        </p:txBody>
      </p:sp>
      <p:sp>
        <p:nvSpPr>
          <p:cNvPr id="1818" name="Google Shape;1818;p8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101  /  268</a:t>
            </a:r>
            <a:endParaRPr sz="900"/>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3" name="Shape 1823"/>
        <p:cNvGrpSpPr/>
        <p:nvPr/>
      </p:nvGrpSpPr>
      <p:grpSpPr>
        <a:xfrm>
          <a:off x="0" y="0"/>
          <a:ext cx="0" cy="0"/>
          <a:chOff x="0" y="0"/>
          <a:chExt cx="0" cy="0"/>
        </a:xfrm>
      </p:grpSpPr>
      <p:sp>
        <p:nvSpPr>
          <p:cNvPr id="1824" name="Google Shape;1824;p8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2 · WRAP</a:t>
            </a:r>
            <a:endParaRPr sz="1200"/>
          </a:p>
        </p:txBody>
      </p:sp>
      <p:sp>
        <p:nvSpPr>
          <p:cNvPr id="1825" name="Google Shape;1825;p8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Day 2 in One Slide</a:t>
            </a:r>
            <a:endParaRPr sz="3400"/>
          </a:p>
        </p:txBody>
      </p:sp>
      <p:sp>
        <p:nvSpPr>
          <p:cNvPr id="1826" name="Google Shape;1826;p85"/>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You can now run a defensible experiment from design to decision.</a:t>
            </a:r>
            <a:endParaRPr sz="1450"/>
          </a:p>
        </p:txBody>
      </p:sp>
      <p:sp>
        <p:nvSpPr>
          <p:cNvPr id="1827" name="Google Shape;1827;p85"/>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85"/>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Design decides validity</a:t>
            </a:r>
            <a:endParaRPr sz="1500"/>
          </a:p>
        </p:txBody>
      </p:sp>
      <p:sp>
        <p:nvSpPr>
          <p:cNvPr id="1829" name="Google Shape;1829;p85"/>
          <p:cNvSpPr/>
          <p:nvPr/>
        </p:nvSpPr>
        <p:spPr>
          <a:xfrm>
            <a:off x="859536" y="283464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Randomization unit, scheme, and blocking set the credibility and precision before any data arrive.</a:t>
            </a:r>
            <a:endParaRPr sz="1250"/>
          </a:p>
        </p:txBody>
      </p:sp>
      <p:sp>
        <p:nvSpPr>
          <p:cNvPr id="1830" name="Google Shape;1830;p85"/>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85"/>
          <p:cNvSpPr/>
          <p:nvPr/>
        </p:nvSpPr>
        <p:spPr>
          <a:xfrm>
            <a:off x="859536" y="345186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Inference must match design</a:t>
            </a:r>
            <a:endParaRPr sz="1500"/>
          </a:p>
        </p:txBody>
      </p:sp>
      <p:sp>
        <p:nvSpPr>
          <p:cNvPr id="1832" name="Google Shape;1832;p85"/>
          <p:cNvSpPr/>
          <p:nvPr/>
        </p:nvSpPr>
        <p:spPr>
          <a:xfrm>
            <a:off x="859536" y="372618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Randomization and design-based methods give honest uncertainty; robust/clustered SEs are the default.</a:t>
            </a:r>
            <a:endParaRPr sz="1250"/>
          </a:p>
        </p:txBody>
      </p:sp>
      <p:sp>
        <p:nvSpPr>
          <p:cNvPr id="1833" name="Google Shape;1833;p85"/>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85"/>
          <p:cNvSpPr/>
          <p:nvPr/>
        </p:nvSpPr>
        <p:spPr>
          <a:xfrm>
            <a:off x="859536" y="434340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Adjust and reduce variance</a:t>
            </a:r>
            <a:endParaRPr sz="1500"/>
          </a:p>
        </p:txBody>
      </p:sp>
      <p:sp>
        <p:nvSpPr>
          <p:cNvPr id="1835" name="Google Shape;1835;p85"/>
          <p:cNvSpPr/>
          <p:nvPr/>
        </p:nvSpPr>
        <p:spPr>
          <a:xfrm>
            <a:off x="859536" y="461772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Pre-treatment covariates and CUPED sharpen estimates without bias; CATE reveals for-whom effects.</a:t>
            </a:r>
            <a:endParaRPr sz="1250"/>
          </a:p>
        </p:txBody>
      </p:sp>
      <p:sp>
        <p:nvSpPr>
          <p:cNvPr id="1836" name="Google Shape;1836;p85"/>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85"/>
          <p:cNvSpPr/>
          <p:nvPr/>
        </p:nvSpPr>
        <p:spPr>
          <a:xfrm>
            <a:off x="859536" y="523494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Production discipline</a:t>
            </a:r>
            <a:endParaRPr sz="1500"/>
          </a:p>
        </p:txBody>
      </p:sp>
      <p:sp>
        <p:nvSpPr>
          <p:cNvPr id="1838" name="Google Shape;1838;p85"/>
          <p:cNvSpPr/>
          <p:nvPr/>
        </p:nvSpPr>
        <p:spPr>
          <a:xfrm>
            <a:off x="859536" y="550926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Power/MDE up front, no peeking without valid methods, control multiplicity, protect guardrails.</a:t>
            </a:r>
            <a:endParaRPr sz="1250"/>
          </a:p>
        </p:txBody>
      </p:sp>
      <p:sp>
        <p:nvSpPr>
          <p:cNvPr id="1839" name="Google Shape;1839;p85"/>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85"/>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TOMORROW</a:t>
            </a:r>
            <a:endParaRPr sz="1100"/>
          </a:p>
        </p:txBody>
      </p:sp>
      <p:sp>
        <p:nvSpPr>
          <p:cNvPr id="1841" name="Google Shape;1841;p85"/>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350">
                <a:solidFill>
                  <a:srgbClr val="16233F"/>
                </a:solidFill>
                <a:latin typeface="Calibri"/>
                <a:ea typeface="Calibri"/>
                <a:cs typeface="Calibri"/>
                <a:sym typeface="Calibri"/>
              </a:rPr>
              <a:t>Day 3: when you cannot randomize — confounding, DAGs, matching/propensity/IPW, and quasi-experiments (DiD, synthetic control, IV, RDD).</a:t>
            </a:r>
            <a:endParaRPr sz="1350"/>
          </a:p>
        </p:txBody>
      </p:sp>
      <p:sp>
        <p:nvSpPr>
          <p:cNvPr id="1842" name="Google Shape;1842;p8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2 · SUMMARY</a:t>
            </a:r>
            <a:endParaRPr sz="900"/>
          </a:p>
        </p:txBody>
      </p:sp>
      <p:sp>
        <p:nvSpPr>
          <p:cNvPr id="1843" name="Google Shape;1843;p8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102  /  268</a:t>
            </a:r>
            <a:endParaRPr sz="900"/>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1848" name="Shape 1848"/>
        <p:cNvGrpSpPr/>
        <p:nvPr/>
      </p:nvGrpSpPr>
      <p:grpSpPr>
        <a:xfrm>
          <a:off x="0" y="0"/>
          <a:ext cx="0" cy="0"/>
          <a:chOff x="0" y="0"/>
          <a:chExt cx="0" cy="0"/>
        </a:xfrm>
      </p:grpSpPr>
      <p:sp>
        <p:nvSpPr>
          <p:cNvPr id="1849" name="Google Shape;1849;p86"/>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3</a:t>
            </a:r>
            <a:endParaRPr sz="1300"/>
          </a:p>
        </p:txBody>
      </p:sp>
      <p:sp>
        <p:nvSpPr>
          <p:cNvPr id="1850" name="Google Shape;1850;p86"/>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Observational Data &amp; Quasi-Experiments</a:t>
            </a:r>
            <a:endParaRPr sz="4000"/>
          </a:p>
        </p:txBody>
      </p:sp>
      <p:sp>
        <p:nvSpPr>
          <p:cNvPr id="1851" name="Google Shape;1851;p86"/>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Confounding and DAGs, adjustment via matching / propensity / IPW / doubly-robust, and the four workhorse quasi-experimental designs.</a:t>
            </a:r>
            <a:endParaRPr sz="1500"/>
          </a:p>
        </p:txBody>
      </p:sp>
      <p:cxnSp>
        <p:nvCxnSpPr>
          <p:cNvPr id="1852" name="Google Shape;1852;p86"/>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1853" name="Google Shape;1853;p8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3</a:t>
            </a:r>
            <a:endParaRPr sz="900"/>
          </a:p>
        </p:txBody>
      </p:sp>
      <p:sp>
        <p:nvSpPr>
          <p:cNvPr id="1854" name="Google Shape;1854;p8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103  /  268</a:t>
            </a:r>
            <a:endParaRPr sz="900"/>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9" name="Shape 1859"/>
        <p:cNvGrpSpPr/>
        <p:nvPr/>
      </p:nvGrpSpPr>
      <p:grpSpPr>
        <a:xfrm>
          <a:off x="0" y="0"/>
          <a:ext cx="0" cy="0"/>
          <a:chOff x="0" y="0"/>
          <a:chExt cx="0" cy="0"/>
        </a:xfrm>
      </p:grpSpPr>
      <p:sp>
        <p:nvSpPr>
          <p:cNvPr id="1860" name="Google Shape;1860;p8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OVERVIEW</a:t>
            </a:r>
            <a:endParaRPr sz="1200"/>
          </a:p>
        </p:txBody>
      </p:sp>
      <p:sp>
        <p:nvSpPr>
          <p:cNvPr id="1861" name="Google Shape;1861;p8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Today's Five Hours</a:t>
            </a:r>
            <a:endParaRPr sz="3400"/>
          </a:p>
        </p:txBody>
      </p:sp>
      <p:sp>
        <p:nvSpPr>
          <p:cNvPr id="1862" name="Google Shape;1862;p87"/>
          <p:cNvSpPr/>
          <p:nvPr/>
        </p:nvSpPr>
        <p:spPr>
          <a:xfrm>
            <a:off x="566928" y="178308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A9E0"/>
              </a:buClr>
              <a:buSzPts val="3000"/>
              <a:buFont typeface="Cambria"/>
              <a:buNone/>
            </a:pPr>
            <a:r>
              <a:rPr b="1" lang="en-US" sz="3000">
                <a:solidFill>
                  <a:srgbClr val="3FA9E0"/>
                </a:solidFill>
                <a:latin typeface="Cambria"/>
                <a:ea typeface="Cambria"/>
                <a:cs typeface="Cambria"/>
                <a:sym typeface="Cambria"/>
              </a:rPr>
              <a:t>01</a:t>
            </a:r>
            <a:endParaRPr sz="3000"/>
          </a:p>
        </p:txBody>
      </p:sp>
      <p:sp>
        <p:nvSpPr>
          <p:cNvPr id="1863" name="Google Shape;1863;p87"/>
          <p:cNvSpPr/>
          <p:nvPr/>
        </p:nvSpPr>
        <p:spPr>
          <a:xfrm>
            <a:off x="1435608" y="178308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1 — Confounding &amp; DAGs</a:t>
            </a:r>
            <a:endParaRPr sz="1600"/>
          </a:p>
        </p:txBody>
      </p:sp>
      <p:sp>
        <p:nvSpPr>
          <p:cNvPr id="1864" name="Google Shape;1864;p87"/>
          <p:cNvSpPr/>
          <p:nvPr/>
        </p:nvSpPr>
        <p:spPr>
          <a:xfrm>
            <a:off x="1435608" y="209397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Backdoor criterion, colliders, and choosing an adjustment set that identifies the effect.</a:t>
            </a:r>
            <a:endParaRPr sz="1150"/>
          </a:p>
        </p:txBody>
      </p:sp>
      <p:sp>
        <p:nvSpPr>
          <p:cNvPr id="1865" name="Google Shape;1865;p87"/>
          <p:cNvSpPr/>
          <p:nvPr/>
        </p:nvSpPr>
        <p:spPr>
          <a:xfrm>
            <a:off x="6324448" y="178308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BA6"/>
              </a:buClr>
              <a:buSzPts val="3000"/>
              <a:buFont typeface="Cambria"/>
              <a:buNone/>
            </a:pPr>
            <a:r>
              <a:rPr b="1" lang="en-US" sz="3000">
                <a:solidFill>
                  <a:srgbClr val="5A5BA6"/>
                </a:solidFill>
                <a:latin typeface="Cambria"/>
                <a:ea typeface="Cambria"/>
                <a:cs typeface="Cambria"/>
                <a:sym typeface="Cambria"/>
              </a:rPr>
              <a:t>02</a:t>
            </a:r>
            <a:endParaRPr sz="3000"/>
          </a:p>
        </p:txBody>
      </p:sp>
      <p:sp>
        <p:nvSpPr>
          <p:cNvPr id="1866" name="Google Shape;1866;p87"/>
          <p:cNvSpPr/>
          <p:nvPr/>
        </p:nvSpPr>
        <p:spPr>
          <a:xfrm>
            <a:off x="7193128" y="178308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2 — Adjustment Estimators</a:t>
            </a:r>
            <a:endParaRPr sz="1600"/>
          </a:p>
        </p:txBody>
      </p:sp>
      <p:sp>
        <p:nvSpPr>
          <p:cNvPr id="1867" name="Google Shape;1867;p87"/>
          <p:cNvSpPr/>
          <p:nvPr/>
        </p:nvSpPr>
        <p:spPr>
          <a:xfrm>
            <a:off x="7193128" y="209397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Regression, matching, propensity scores, IPW, and doubly-robust estimation.</a:t>
            </a:r>
            <a:endParaRPr sz="1150"/>
          </a:p>
        </p:txBody>
      </p:sp>
      <p:sp>
        <p:nvSpPr>
          <p:cNvPr id="1868" name="Google Shape;1868;p87"/>
          <p:cNvSpPr/>
          <p:nvPr/>
        </p:nvSpPr>
        <p:spPr>
          <a:xfrm>
            <a:off x="566928" y="288036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7B38"/>
              </a:buClr>
              <a:buSzPts val="3000"/>
              <a:buFont typeface="Cambria"/>
              <a:buNone/>
            </a:pPr>
            <a:r>
              <a:rPr b="1" lang="en-US" sz="3000">
                <a:solidFill>
                  <a:srgbClr val="EA7B38"/>
                </a:solidFill>
                <a:latin typeface="Cambria"/>
                <a:ea typeface="Cambria"/>
                <a:cs typeface="Cambria"/>
                <a:sym typeface="Cambria"/>
              </a:rPr>
              <a:t>03</a:t>
            </a:r>
            <a:endParaRPr sz="3000"/>
          </a:p>
        </p:txBody>
      </p:sp>
      <p:sp>
        <p:nvSpPr>
          <p:cNvPr id="1869" name="Google Shape;1869;p87"/>
          <p:cNvSpPr/>
          <p:nvPr/>
        </p:nvSpPr>
        <p:spPr>
          <a:xfrm>
            <a:off x="1435608" y="288036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3 — Difference-in-Differences</a:t>
            </a:r>
            <a:endParaRPr sz="1600"/>
          </a:p>
        </p:txBody>
      </p:sp>
      <p:sp>
        <p:nvSpPr>
          <p:cNvPr id="1870" name="Google Shape;1870;p87"/>
          <p:cNvSpPr/>
          <p:nvPr/>
        </p:nvSpPr>
        <p:spPr>
          <a:xfrm>
            <a:off x="1435608" y="319125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Parallel trends, two-way fixed effects, event studies, and synthetic control.</a:t>
            </a:r>
            <a:endParaRPr sz="1150"/>
          </a:p>
        </p:txBody>
      </p:sp>
      <p:sp>
        <p:nvSpPr>
          <p:cNvPr id="1871" name="Google Shape;1871;p87"/>
          <p:cNvSpPr/>
          <p:nvPr/>
        </p:nvSpPr>
        <p:spPr>
          <a:xfrm>
            <a:off x="6324448" y="288036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E9B90"/>
              </a:buClr>
              <a:buSzPts val="3000"/>
              <a:buFont typeface="Cambria"/>
              <a:buNone/>
            </a:pPr>
            <a:r>
              <a:rPr b="1" lang="en-US" sz="3000">
                <a:solidFill>
                  <a:srgbClr val="3E9B90"/>
                </a:solidFill>
                <a:latin typeface="Cambria"/>
                <a:ea typeface="Cambria"/>
                <a:cs typeface="Cambria"/>
                <a:sym typeface="Cambria"/>
              </a:rPr>
              <a:t>04</a:t>
            </a:r>
            <a:endParaRPr sz="3000"/>
          </a:p>
        </p:txBody>
      </p:sp>
      <p:sp>
        <p:nvSpPr>
          <p:cNvPr id="1872" name="Google Shape;1872;p87"/>
          <p:cNvSpPr/>
          <p:nvPr/>
        </p:nvSpPr>
        <p:spPr>
          <a:xfrm>
            <a:off x="7193128" y="288036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4 — IV &amp; RDD</a:t>
            </a:r>
            <a:endParaRPr sz="1600"/>
          </a:p>
        </p:txBody>
      </p:sp>
      <p:sp>
        <p:nvSpPr>
          <p:cNvPr id="1873" name="Google Shape;1873;p87"/>
          <p:cNvSpPr/>
          <p:nvPr/>
        </p:nvSpPr>
        <p:spPr>
          <a:xfrm>
            <a:off x="7193128" y="319125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Instrumental variables, LATE, and sharp/fuzzy regression discontinuity.</a:t>
            </a:r>
            <a:endParaRPr sz="1150"/>
          </a:p>
        </p:txBody>
      </p:sp>
      <p:sp>
        <p:nvSpPr>
          <p:cNvPr id="1874" name="Google Shape;1874;p87"/>
          <p:cNvSpPr/>
          <p:nvPr/>
        </p:nvSpPr>
        <p:spPr>
          <a:xfrm>
            <a:off x="566928" y="397764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3BB59"/>
              </a:buClr>
              <a:buSzPts val="3000"/>
              <a:buFont typeface="Cambria"/>
              <a:buNone/>
            </a:pPr>
            <a:r>
              <a:rPr b="1" lang="en-US" sz="3000">
                <a:solidFill>
                  <a:srgbClr val="73BB59"/>
                </a:solidFill>
                <a:latin typeface="Cambria"/>
                <a:ea typeface="Cambria"/>
                <a:cs typeface="Cambria"/>
                <a:sym typeface="Cambria"/>
              </a:rPr>
              <a:t>05</a:t>
            </a:r>
            <a:endParaRPr sz="3000"/>
          </a:p>
        </p:txBody>
      </p:sp>
      <p:sp>
        <p:nvSpPr>
          <p:cNvPr id="1875" name="Google Shape;1875;p87"/>
          <p:cNvSpPr/>
          <p:nvPr/>
        </p:nvSpPr>
        <p:spPr>
          <a:xfrm>
            <a:off x="1435608" y="397764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5 — Lab 3 &amp; Discussion</a:t>
            </a:r>
            <a:endParaRPr sz="1600"/>
          </a:p>
        </p:txBody>
      </p:sp>
      <p:sp>
        <p:nvSpPr>
          <p:cNvPr id="1876" name="Google Shape;1876;p87"/>
          <p:cNvSpPr/>
          <p:nvPr/>
        </p:nvSpPr>
        <p:spPr>
          <a:xfrm>
            <a:off x="1435608" y="428853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Estimate an effect four ways on the same observational dataset and reconcile them.</a:t>
            </a:r>
            <a:endParaRPr sz="1150"/>
          </a:p>
        </p:txBody>
      </p:sp>
      <p:sp>
        <p:nvSpPr>
          <p:cNvPr id="1877" name="Google Shape;1877;p8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a:t>
            </a:r>
            <a:endParaRPr sz="900"/>
          </a:p>
        </p:txBody>
      </p:sp>
      <p:sp>
        <p:nvSpPr>
          <p:cNvPr id="1878" name="Google Shape;1878;p8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104  /  268</a:t>
            </a:r>
            <a:endParaRPr sz="900"/>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3" name="Shape 1883"/>
        <p:cNvGrpSpPr/>
        <p:nvPr/>
      </p:nvGrpSpPr>
      <p:grpSpPr>
        <a:xfrm>
          <a:off x="0" y="0"/>
          <a:ext cx="0" cy="0"/>
          <a:chOff x="0" y="0"/>
          <a:chExt cx="0" cy="0"/>
        </a:xfrm>
      </p:grpSpPr>
      <p:sp>
        <p:nvSpPr>
          <p:cNvPr id="1884" name="Google Shape;1884;p8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1</a:t>
            </a:r>
            <a:endParaRPr sz="1200"/>
          </a:p>
        </p:txBody>
      </p:sp>
      <p:sp>
        <p:nvSpPr>
          <p:cNvPr id="1885" name="Google Shape;1885;p8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Observational Challenge</a:t>
            </a:r>
            <a:endParaRPr sz="3400"/>
          </a:p>
        </p:txBody>
      </p:sp>
      <p:sp>
        <p:nvSpPr>
          <p:cNvPr id="1886" name="Google Shape;1886;p88"/>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Without randomization, treatment and control differ for reasons other than treatment. Our whole task is to reconstruct the missing balance.</a:t>
            </a:r>
            <a:endParaRPr sz="1450"/>
          </a:p>
        </p:txBody>
      </p:sp>
      <p:sp>
        <p:nvSpPr>
          <p:cNvPr id="1887" name="Google Shape;1887;p88"/>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88"/>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core threat</a:t>
            </a:r>
            <a:endParaRPr sz="1500"/>
          </a:p>
        </p:txBody>
      </p:sp>
      <p:sp>
        <p:nvSpPr>
          <p:cNvPr id="1889" name="Google Shape;1889;p88"/>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Confounding — common causes of treatment and outcome — makes the naive comparison a biased estimate of the effect.</a:t>
            </a:r>
            <a:endParaRPr sz="1250"/>
          </a:p>
        </p:txBody>
      </p:sp>
      <p:sp>
        <p:nvSpPr>
          <p:cNvPr id="1890" name="Google Shape;1890;p88"/>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88"/>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identification bet</a:t>
            </a:r>
            <a:endParaRPr sz="1500"/>
          </a:p>
        </p:txBody>
      </p:sp>
      <p:sp>
        <p:nvSpPr>
          <p:cNvPr id="1892" name="Google Shape;1892;p88"/>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We assume unconfoundedness given a covariate set X, then adjust. The bet is that X blocks every backdoor.</a:t>
            </a:r>
            <a:endParaRPr sz="1250"/>
          </a:p>
        </p:txBody>
      </p:sp>
      <p:sp>
        <p:nvSpPr>
          <p:cNvPr id="1893" name="Google Shape;1893;p88"/>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88"/>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honesty tax</a:t>
            </a:r>
            <a:endParaRPr sz="1500"/>
          </a:p>
        </p:txBody>
      </p:sp>
      <p:sp>
        <p:nvSpPr>
          <p:cNvPr id="1895" name="Google Shape;1895;p88"/>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Because unconfoundedness is untestable, every observational estimate must be paired with a sensitivity analysis (Day 4).</a:t>
            </a:r>
            <a:endParaRPr sz="1250"/>
          </a:p>
        </p:txBody>
      </p:sp>
      <p:sp>
        <p:nvSpPr>
          <p:cNvPr id="1896" name="Google Shape;1896;p88"/>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88"/>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FRAMING</a:t>
            </a:r>
            <a:endParaRPr sz="1100"/>
          </a:p>
        </p:txBody>
      </p:sp>
      <p:sp>
        <p:nvSpPr>
          <p:cNvPr id="1898" name="Google Shape;1898;p88"/>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350">
                <a:solidFill>
                  <a:srgbClr val="16233F"/>
                </a:solidFill>
                <a:latin typeface="Calibri"/>
                <a:ea typeface="Calibri"/>
                <a:cs typeface="Calibri"/>
                <a:sym typeface="Calibri"/>
              </a:rPr>
              <a:t>An observational study is an experiment you did not run. The methods below are attempts to recover, from data, the balance that randomization would have given for free.</a:t>
            </a:r>
            <a:endParaRPr sz="1350"/>
          </a:p>
        </p:txBody>
      </p:sp>
      <p:sp>
        <p:nvSpPr>
          <p:cNvPr id="1899" name="Google Shape;1899;p8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CONFOUNDING</a:t>
            </a:r>
            <a:endParaRPr sz="900"/>
          </a:p>
        </p:txBody>
      </p:sp>
      <p:sp>
        <p:nvSpPr>
          <p:cNvPr id="1900" name="Google Shape;1900;p8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105  /  268</a:t>
            </a:r>
            <a:endParaRPr sz="900"/>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5" name="Shape 1905"/>
        <p:cNvGrpSpPr/>
        <p:nvPr/>
      </p:nvGrpSpPr>
      <p:grpSpPr>
        <a:xfrm>
          <a:off x="0" y="0"/>
          <a:ext cx="0" cy="0"/>
          <a:chOff x="0" y="0"/>
          <a:chExt cx="0" cy="0"/>
        </a:xfrm>
      </p:grpSpPr>
      <p:sp>
        <p:nvSpPr>
          <p:cNvPr id="1906" name="Google Shape;1906;p8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1</a:t>
            </a:r>
            <a:endParaRPr sz="1200"/>
          </a:p>
        </p:txBody>
      </p:sp>
      <p:sp>
        <p:nvSpPr>
          <p:cNvPr id="1907" name="Google Shape;1907;p8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DAGs: Drawing Your Assumptions</a:t>
            </a:r>
            <a:endParaRPr sz="3400"/>
          </a:p>
        </p:txBody>
      </p:sp>
      <p:sp>
        <p:nvSpPr>
          <p:cNvPr id="1908" name="Google Shape;1908;p89"/>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causal diagram makes your beliefs about the data-generating process explicit — and tells you exactly what to adjust for.</a:t>
            </a:r>
            <a:endParaRPr sz="1450"/>
          </a:p>
        </p:txBody>
      </p:sp>
      <p:sp>
        <p:nvSpPr>
          <p:cNvPr id="1909" name="Google Shape;1909;p89"/>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89"/>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Nodes and arrows</a:t>
            </a:r>
            <a:endParaRPr sz="1500"/>
          </a:p>
        </p:txBody>
      </p:sp>
      <p:sp>
        <p:nvSpPr>
          <p:cNvPr id="1911" name="Google Shape;1911;p89"/>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Variables are nodes; a directed arrow X→Y encodes ‘X can directly cause Y’. Absence of an arrow is also an assumption.</a:t>
            </a:r>
            <a:endParaRPr sz="1250"/>
          </a:p>
        </p:txBody>
      </p:sp>
      <p:sp>
        <p:nvSpPr>
          <p:cNvPr id="1912" name="Google Shape;1912;p89"/>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89"/>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Paths carry association</a:t>
            </a:r>
            <a:endParaRPr sz="1500"/>
          </a:p>
        </p:txBody>
      </p:sp>
      <p:sp>
        <p:nvSpPr>
          <p:cNvPr id="1914" name="Google Shape;1914;p89"/>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Association flows along paths; causal paths (T→…→Y) are what we want, backdoor paths are what we must block.</a:t>
            </a:r>
            <a:endParaRPr sz="1250"/>
          </a:p>
        </p:txBody>
      </p:sp>
      <p:sp>
        <p:nvSpPr>
          <p:cNvPr id="1915" name="Google Shape;1915;p89"/>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89"/>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payoff</a:t>
            </a:r>
            <a:endParaRPr sz="1500"/>
          </a:p>
        </p:txBody>
      </p:sp>
      <p:sp>
        <p:nvSpPr>
          <p:cNvPr id="1917" name="Google Shape;1917;p89"/>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graph turns ‘which controls?’ from guesswork into a rule you can check.</a:t>
            </a:r>
            <a:endParaRPr sz="1250"/>
          </a:p>
        </p:txBody>
      </p:sp>
      <p:sp>
        <p:nvSpPr>
          <p:cNvPr id="1918" name="Google Shape;1918;p8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CONFOUNDING</a:t>
            </a:r>
            <a:endParaRPr sz="900"/>
          </a:p>
        </p:txBody>
      </p:sp>
      <p:sp>
        <p:nvSpPr>
          <p:cNvPr id="1919" name="Google Shape;1919;p8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106  /  268</a:t>
            </a:r>
            <a:endParaRPr sz="900"/>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4" name="Shape 1924"/>
        <p:cNvGrpSpPr/>
        <p:nvPr/>
      </p:nvGrpSpPr>
      <p:grpSpPr>
        <a:xfrm>
          <a:off x="0" y="0"/>
          <a:ext cx="0" cy="0"/>
          <a:chOff x="0" y="0"/>
          <a:chExt cx="0" cy="0"/>
        </a:xfrm>
      </p:grpSpPr>
      <p:sp>
        <p:nvSpPr>
          <p:cNvPr id="1925" name="Google Shape;1925;p9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1</a:t>
            </a:r>
            <a:endParaRPr sz="1200"/>
          </a:p>
        </p:txBody>
      </p:sp>
      <p:sp>
        <p:nvSpPr>
          <p:cNvPr id="1926" name="Google Shape;1926;p9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Three Elementary Structures</a:t>
            </a:r>
            <a:endParaRPr sz="3400"/>
          </a:p>
        </p:txBody>
      </p:sp>
      <p:sp>
        <p:nvSpPr>
          <p:cNvPr id="1927" name="Google Shape;1927;p90"/>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Every DAG is built from three junction types, each behaving differently under conditioning.</a:t>
            </a:r>
            <a:endParaRPr sz="1400"/>
          </a:p>
        </p:txBody>
      </p:sp>
      <p:sp>
        <p:nvSpPr>
          <p:cNvPr id="1928" name="Google Shape;1928;p90"/>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90"/>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a:t>
            </a:r>
            <a:endParaRPr sz="1300"/>
          </a:p>
        </p:txBody>
      </p:sp>
      <p:sp>
        <p:nvSpPr>
          <p:cNvPr id="1930" name="Google Shape;1930;p90"/>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Chain (mediator): T → M → Y</a:t>
            </a:r>
            <a:endParaRPr sz="1600"/>
          </a:p>
        </p:txBody>
      </p:sp>
      <p:sp>
        <p:nvSpPr>
          <p:cNvPr id="1931" name="Google Shape;1931;p90"/>
          <p:cNvSpPr/>
          <p:nvPr/>
        </p:nvSpPr>
        <p:spPr>
          <a:xfrm>
            <a:off x="1298448" y="2734056"/>
            <a:ext cx="10234879" cy="685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 transmits the effect. Conditioning on M blocks part of the causal effect — usually do not adjust.</a:t>
            </a:r>
            <a:endParaRPr sz="1250"/>
          </a:p>
        </p:txBody>
      </p:sp>
      <p:sp>
        <p:nvSpPr>
          <p:cNvPr id="1932" name="Google Shape;1932;p90"/>
          <p:cNvSpPr/>
          <p:nvPr/>
        </p:nvSpPr>
        <p:spPr>
          <a:xfrm>
            <a:off x="566928" y="352044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90"/>
          <p:cNvSpPr/>
          <p:nvPr/>
        </p:nvSpPr>
        <p:spPr>
          <a:xfrm>
            <a:off x="566928" y="35204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a:t>
            </a:r>
            <a:endParaRPr sz="1300"/>
          </a:p>
        </p:txBody>
      </p:sp>
      <p:sp>
        <p:nvSpPr>
          <p:cNvPr id="1934" name="Google Shape;1934;p90"/>
          <p:cNvSpPr/>
          <p:nvPr/>
        </p:nvSpPr>
        <p:spPr>
          <a:xfrm>
            <a:off x="1298448" y="34747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Fork (confounder): T ← X → Y</a:t>
            </a:r>
            <a:endParaRPr sz="1600"/>
          </a:p>
        </p:txBody>
      </p:sp>
      <p:sp>
        <p:nvSpPr>
          <p:cNvPr id="1935" name="Google Shape;1935;p90"/>
          <p:cNvSpPr/>
          <p:nvPr/>
        </p:nvSpPr>
        <p:spPr>
          <a:xfrm>
            <a:off x="1298448" y="3785616"/>
            <a:ext cx="10234879" cy="685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X is a common cause and opens a backdoor. Conditioning on X blocks the bias — adjust.</a:t>
            </a:r>
            <a:endParaRPr sz="1250"/>
          </a:p>
        </p:txBody>
      </p:sp>
      <p:sp>
        <p:nvSpPr>
          <p:cNvPr id="1936" name="Google Shape;1936;p90"/>
          <p:cNvSpPr/>
          <p:nvPr/>
        </p:nvSpPr>
        <p:spPr>
          <a:xfrm>
            <a:off x="566928" y="457200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90"/>
          <p:cNvSpPr/>
          <p:nvPr/>
        </p:nvSpPr>
        <p:spPr>
          <a:xfrm>
            <a:off x="566928" y="45720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a:t>
            </a:r>
            <a:endParaRPr sz="1300"/>
          </a:p>
        </p:txBody>
      </p:sp>
      <p:sp>
        <p:nvSpPr>
          <p:cNvPr id="1938" name="Google Shape;1938;p90"/>
          <p:cNvSpPr/>
          <p:nvPr/>
        </p:nvSpPr>
        <p:spPr>
          <a:xfrm>
            <a:off x="1298448" y="452628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Collider: T → C ← Y</a:t>
            </a:r>
            <a:endParaRPr sz="1600"/>
          </a:p>
        </p:txBody>
      </p:sp>
      <p:sp>
        <p:nvSpPr>
          <p:cNvPr id="1939" name="Google Shape;1939;p90"/>
          <p:cNvSpPr/>
          <p:nvPr/>
        </p:nvSpPr>
        <p:spPr>
          <a:xfrm>
            <a:off x="1298448" y="4837176"/>
            <a:ext cx="10234879" cy="685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 is a common effect; the path is blocked by default. Conditioning on C opens spurious association — do not adjust.</a:t>
            </a:r>
            <a:endParaRPr sz="1250"/>
          </a:p>
        </p:txBody>
      </p:sp>
      <p:sp>
        <p:nvSpPr>
          <p:cNvPr id="1940" name="Google Shape;1940;p9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CONFOUNDING</a:t>
            </a:r>
            <a:endParaRPr sz="900"/>
          </a:p>
        </p:txBody>
      </p:sp>
      <p:sp>
        <p:nvSpPr>
          <p:cNvPr id="1941" name="Google Shape;1941;p9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107  /  268</a:t>
            </a:r>
            <a:endParaRPr sz="900"/>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1</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Three Junctions</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Every path in every DAG is built from these three shapes. Learn the conditioning rule for each and d-separation becomes bookkeeping.</a:t>
            </a:r>
            <a:endParaRPr sz="1450"/>
          </a:p>
        </p:txBody>
      </p:sp>
      <p:sp>
        <p:nvSpPr>
          <p:cNvPr id="276" name="Google Shape;276;p11"/>
          <p:cNvSpPr/>
          <p:nvPr/>
        </p:nvSpPr>
        <p:spPr>
          <a:xfrm>
            <a:off x="566928" y="5797296"/>
            <a:ext cx="11055096" cy="4023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100">
                <a:solidFill>
                  <a:srgbClr val="16233F"/>
                </a:solidFill>
                <a:latin typeface="Calibri"/>
                <a:ea typeface="Calibri"/>
                <a:cs typeface="Calibri"/>
                <a:sym typeface="Calibri"/>
              </a:rPr>
              <a:t>THE INVERSION — Chains and forks are OPEN until you condition; colliders are BLOCKED until you condition.</a:t>
            </a:r>
            <a:endParaRPr sz="1350"/>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CONFOUNDING</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108  /  268</a:t>
            </a:r>
            <a:endParaRPr sz="900"/>
          </a:p>
        </p:txBody>
      </p:sp>
      <p:pic>
        <p:nvPicPr>
          <p:cNvPr id="279" name="Picture 278" descr="m6_three_junctions.png"/>
          <p:cNvPicPr>
            <a:picLocks noChangeAspect="1"/>
          </p:cNvPicPr>
          <p:nvPr/>
        </p:nvPicPr>
        <p:blipFill>
          <a:blip r:embed="rId2"/>
          <a:stretch>
            <a:fillRect/>
          </a:stretch>
        </p:blipFill>
        <p:spPr>
          <a:xfrm>
            <a:off x="1652734" y="2212848"/>
            <a:ext cx="8883482" cy="347472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6" name="Shape 1946"/>
        <p:cNvGrpSpPr/>
        <p:nvPr/>
      </p:nvGrpSpPr>
      <p:grpSpPr>
        <a:xfrm>
          <a:off x="0" y="0"/>
          <a:ext cx="0" cy="0"/>
          <a:chOff x="0" y="0"/>
          <a:chExt cx="0" cy="0"/>
        </a:xfrm>
      </p:grpSpPr>
      <p:sp>
        <p:nvSpPr>
          <p:cNvPr id="1947" name="Google Shape;1947;p9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1</a:t>
            </a:r>
            <a:endParaRPr sz="1200"/>
          </a:p>
        </p:txBody>
      </p:sp>
      <p:sp>
        <p:nvSpPr>
          <p:cNvPr id="1948" name="Google Shape;1948;p9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Backdoor Criterion</a:t>
            </a:r>
            <a:endParaRPr sz="3400"/>
          </a:p>
        </p:txBody>
      </p:sp>
      <p:sp>
        <p:nvSpPr>
          <p:cNvPr id="1949" name="Google Shape;1949;p91"/>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precise rule for choosing an adjustment set that identifies the causal effect of T on Y.</a:t>
            </a:r>
            <a:endParaRPr sz="1450"/>
          </a:p>
        </p:txBody>
      </p:sp>
      <p:sp>
        <p:nvSpPr>
          <p:cNvPr id="1950" name="Google Shape;1950;p91"/>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91"/>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Block all backdoor paths</a:t>
            </a:r>
            <a:endParaRPr sz="1500"/>
          </a:p>
        </p:txBody>
      </p:sp>
      <p:sp>
        <p:nvSpPr>
          <p:cNvPr id="1952" name="Google Shape;1952;p91"/>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backdoor path starts with an arrow into T. A valid adjustment set blocks every such path.</a:t>
            </a:r>
            <a:endParaRPr sz="1250"/>
          </a:p>
        </p:txBody>
      </p:sp>
      <p:sp>
        <p:nvSpPr>
          <p:cNvPr id="1953" name="Google Shape;1953;p91"/>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91"/>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Open no colliders</a:t>
            </a:r>
            <a:endParaRPr sz="1500"/>
          </a:p>
        </p:txBody>
      </p:sp>
      <p:sp>
        <p:nvSpPr>
          <p:cNvPr id="1955" name="Google Shape;1955;p91"/>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set must not condition on a collider (or its descendant) that would open a new spurious path.</a:t>
            </a:r>
            <a:endParaRPr sz="1250"/>
          </a:p>
        </p:txBody>
      </p:sp>
      <p:sp>
        <p:nvSpPr>
          <p:cNvPr id="1956" name="Google Shape;1956;p91"/>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91"/>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Include no descendants of T</a:t>
            </a:r>
            <a:endParaRPr sz="1500"/>
          </a:p>
        </p:txBody>
      </p:sp>
      <p:sp>
        <p:nvSpPr>
          <p:cNvPr id="1958" name="Google Shape;1958;p91"/>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Never adjust for anything caused by treatment — that risks mediator or collider bias.</a:t>
            </a:r>
            <a:endParaRPr sz="1250"/>
          </a:p>
        </p:txBody>
      </p:sp>
      <p:sp>
        <p:nvSpPr>
          <p:cNvPr id="1959" name="Google Shape;1959;p91"/>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91"/>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RULE</a:t>
            </a:r>
            <a:endParaRPr sz="1100"/>
          </a:p>
        </p:txBody>
      </p:sp>
      <p:sp>
        <p:nvSpPr>
          <p:cNvPr id="1961" name="Google Shape;1961;p91"/>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Backdoor</a:t>
            </a:r>
            <a:endParaRPr sz="5400"/>
          </a:p>
        </p:txBody>
      </p:sp>
      <p:sp>
        <p:nvSpPr>
          <p:cNvPr id="1962" name="Google Shape;1962;p91"/>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Find a set Z that (1) blocks every backdoor path from T to Y and (2) contains no descendant of T. Then adjusting for Z identifies the effect.</a:t>
            </a:r>
            <a:endParaRPr sz="1300"/>
          </a:p>
        </p:txBody>
      </p:sp>
      <p:sp>
        <p:nvSpPr>
          <p:cNvPr id="1963" name="Google Shape;1963;p9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CONFOUNDING</a:t>
            </a:r>
            <a:endParaRPr sz="900"/>
          </a:p>
        </p:txBody>
      </p:sp>
      <p:sp>
        <p:nvSpPr>
          <p:cNvPr id="1964" name="Google Shape;1964;p9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109  /  268</a:t>
            </a:r>
            <a:endParaRPr sz="900"/>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1</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Deriving the Adjustment Set</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defended graph for the Injaz uploader question, with every backdoor path traced and the adjustment set derived rather than argued about.</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TWO IN, ONE OUT</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Digital literacy and device age block every backdoor path — that is the whole adjustment set.</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Support calls is a MEDIATOR: it sits on the causal path. Controlling for it removes part of the very effect being measured, and it is the single most common bad control in practice.</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CONFOUNDING</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110  /  268</a:t>
            </a:r>
            <a:endParaRPr sz="900"/>
          </a:p>
        </p:txBody>
      </p:sp>
      <p:pic>
        <p:nvPicPr>
          <p:cNvPr id="279" name="Picture 278" descr="m6_backdoor_dag.png"/>
          <p:cNvPicPr>
            <a:picLocks noChangeAspect="1"/>
          </p:cNvPicPr>
          <p:nvPr/>
        </p:nvPicPr>
        <p:blipFill>
          <a:blip r:embed="rId2"/>
          <a:stretch>
            <a:fillRect/>
          </a:stretch>
        </p:blipFill>
        <p:spPr>
          <a:xfrm>
            <a:off x="858734" y="2249424"/>
            <a:ext cx="7207075" cy="3877056"/>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9" name="Shape 1969"/>
        <p:cNvGrpSpPr/>
        <p:nvPr/>
      </p:nvGrpSpPr>
      <p:grpSpPr>
        <a:xfrm>
          <a:off x="0" y="0"/>
          <a:ext cx="0" cy="0"/>
          <a:chOff x="0" y="0"/>
          <a:chExt cx="0" cy="0"/>
        </a:xfrm>
      </p:grpSpPr>
      <p:sp>
        <p:nvSpPr>
          <p:cNvPr id="1970" name="Google Shape;1970;p9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1</a:t>
            </a:r>
            <a:endParaRPr sz="1200"/>
          </a:p>
        </p:txBody>
      </p:sp>
      <p:sp>
        <p:nvSpPr>
          <p:cNvPr id="1971" name="Google Shape;1971;p9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Collider Bias in the Wild</a:t>
            </a:r>
            <a:endParaRPr sz="3400"/>
          </a:p>
        </p:txBody>
      </p:sp>
      <p:sp>
        <p:nvSpPr>
          <p:cNvPr id="1972" name="Google Shape;1972;p92"/>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most counter-intuitive error: adding a ‘sensible’ control that manufactures a correlation from nothing.</a:t>
            </a:r>
            <a:endParaRPr sz="1450"/>
          </a:p>
        </p:txBody>
      </p:sp>
      <p:sp>
        <p:nvSpPr>
          <p:cNvPr id="1973" name="Google Shape;1973;p92"/>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92"/>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Selection is conditioning</a:t>
            </a:r>
            <a:endParaRPr sz="1500"/>
          </a:p>
        </p:txBody>
      </p:sp>
      <p:sp>
        <p:nvSpPr>
          <p:cNvPr id="1975" name="Google Shape;1975;p92"/>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Studying only hospitalised patients, or only funded startups, conditions on a collider — and can invent associations.</a:t>
            </a:r>
            <a:endParaRPr sz="1250"/>
          </a:p>
        </p:txBody>
      </p:sp>
      <p:sp>
        <p:nvSpPr>
          <p:cNvPr id="1976" name="Google Shape;1976;p92"/>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92"/>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classic example</a:t>
            </a:r>
            <a:endParaRPr sz="1500"/>
          </a:p>
        </p:txBody>
      </p:sp>
      <p:sp>
        <p:nvSpPr>
          <p:cNvPr id="1978" name="Google Shape;1978;p92"/>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Among the hospitalised, two independent diseases can appear negatively correlated purely from the selection.</a:t>
            </a:r>
            <a:endParaRPr sz="1250"/>
          </a:p>
        </p:txBody>
      </p:sp>
      <p:sp>
        <p:nvSpPr>
          <p:cNvPr id="1979" name="Google Shape;1979;p92"/>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92"/>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lesson</a:t>
            </a:r>
            <a:endParaRPr sz="1500"/>
          </a:p>
        </p:txBody>
      </p:sp>
      <p:sp>
        <p:nvSpPr>
          <p:cNvPr id="1981" name="Google Shape;1981;p92"/>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‘Control for everything’ is dangerous advice. Structure, not statistical fit, decides the adjustment set.</a:t>
            </a:r>
            <a:endParaRPr sz="1250"/>
          </a:p>
        </p:txBody>
      </p:sp>
      <p:sp>
        <p:nvSpPr>
          <p:cNvPr id="1982" name="Google Shape;1982;p9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CONFOUNDING</a:t>
            </a:r>
            <a:endParaRPr sz="900"/>
          </a:p>
        </p:txBody>
      </p:sp>
      <p:sp>
        <p:nvSpPr>
          <p:cNvPr id="1983" name="Google Shape;1983;p9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111  /  268</a:t>
            </a:r>
            <a:endParaRPr sz="900"/>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1</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Collider Bias, Made Visible</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Two genuinely independent variables, plotted twice. Nothing about the world changed between the panels — only which rows were included.</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SELECTION IS CONDITIONING</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Restricting to completed sessions IS conditioning on a collider, whether or not anyone wrote a regression.</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Every filtered dataset, every 'we only analysed active users', every survivorship-shaped sample is this picture. Ask what the filter is a descendant of.</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CONFOUNDING</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112  /  268</a:t>
            </a:r>
            <a:endParaRPr sz="900"/>
          </a:p>
        </p:txBody>
      </p:sp>
      <p:pic>
        <p:nvPicPr>
          <p:cNvPr id="279" name="Picture 278" descr="m6_collider_scatter.png"/>
          <p:cNvPicPr>
            <a:picLocks noChangeAspect="1"/>
          </p:cNvPicPr>
          <p:nvPr/>
        </p:nvPicPr>
        <p:blipFill>
          <a:blip r:embed="rId2"/>
          <a:stretch>
            <a:fillRect/>
          </a:stretch>
        </p:blipFill>
        <p:spPr>
          <a:xfrm>
            <a:off x="1328642" y="2249424"/>
            <a:ext cx="6267258" cy="3877056"/>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8" name="Shape 1988"/>
        <p:cNvGrpSpPr/>
        <p:nvPr/>
      </p:nvGrpSpPr>
      <p:grpSpPr>
        <a:xfrm>
          <a:off x="0" y="0"/>
          <a:ext cx="0" cy="0"/>
          <a:chOff x="0" y="0"/>
          <a:chExt cx="0" cy="0"/>
        </a:xfrm>
      </p:grpSpPr>
      <p:sp>
        <p:nvSpPr>
          <p:cNvPr id="1989" name="Google Shape;1989;p9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1</a:t>
            </a:r>
            <a:endParaRPr sz="1200"/>
          </a:p>
        </p:txBody>
      </p:sp>
      <p:sp>
        <p:nvSpPr>
          <p:cNvPr id="1990" name="Google Shape;1990;p9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Building a Defensible Adjustment Set</a:t>
            </a:r>
            <a:endParaRPr sz="3400"/>
          </a:p>
        </p:txBody>
      </p:sp>
      <p:sp>
        <p:nvSpPr>
          <p:cNvPr id="1991" name="Google Shape;1991;p93"/>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practical procedure you can run on any observational question.</a:t>
            </a:r>
            <a:endParaRPr sz="1450"/>
          </a:p>
        </p:txBody>
      </p:sp>
      <p:sp>
        <p:nvSpPr>
          <p:cNvPr id="1992" name="Google Shape;1992;p93"/>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93"/>
          <p:cNvSpPr/>
          <p:nvPr/>
        </p:nvSpPr>
        <p:spPr>
          <a:xfrm>
            <a:off x="841248" y="2514600"/>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Draw the DAG from domain knowledge before looking at correlations.</a:t>
            </a:r>
            <a:endParaRPr sz="1400"/>
          </a:p>
        </p:txBody>
      </p:sp>
      <p:sp>
        <p:nvSpPr>
          <p:cNvPr id="1994" name="Google Shape;1994;p93"/>
          <p:cNvSpPr/>
          <p:nvPr/>
        </p:nvSpPr>
        <p:spPr>
          <a:xfrm>
            <a:off x="566928" y="3300984"/>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93"/>
          <p:cNvSpPr/>
          <p:nvPr/>
        </p:nvSpPr>
        <p:spPr>
          <a:xfrm>
            <a:off x="841248" y="3236976"/>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List backdoor paths from T to Y; find a set that blocks them all.</a:t>
            </a:r>
            <a:endParaRPr sz="1400"/>
          </a:p>
        </p:txBody>
      </p:sp>
      <p:sp>
        <p:nvSpPr>
          <p:cNvPr id="1996" name="Google Shape;1996;p93"/>
          <p:cNvSpPr/>
          <p:nvPr/>
        </p:nvSpPr>
        <p:spPr>
          <a:xfrm>
            <a:off x="566928" y="4023360"/>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93"/>
          <p:cNvSpPr/>
          <p:nvPr/>
        </p:nvSpPr>
        <p:spPr>
          <a:xfrm>
            <a:off x="841248" y="3959352"/>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Exclude mediators, colliders, and any post-treatment variable.</a:t>
            </a:r>
            <a:endParaRPr sz="1400"/>
          </a:p>
        </p:txBody>
      </p:sp>
      <p:sp>
        <p:nvSpPr>
          <p:cNvPr id="1998" name="Google Shape;1998;p93"/>
          <p:cNvSpPr/>
          <p:nvPr/>
        </p:nvSpPr>
        <p:spPr>
          <a:xfrm>
            <a:off x="566928" y="4745736"/>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93"/>
          <p:cNvSpPr/>
          <p:nvPr/>
        </p:nvSpPr>
        <p:spPr>
          <a:xfrm>
            <a:off x="841248" y="4681728"/>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Confirm the chosen covariates are all measured — unmeasured confounders break identification.</a:t>
            </a:r>
            <a:endParaRPr sz="1400"/>
          </a:p>
        </p:txBody>
      </p:sp>
      <p:sp>
        <p:nvSpPr>
          <p:cNvPr id="2000" name="Google Shape;2000;p93"/>
          <p:cNvSpPr/>
          <p:nvPr/>
        </p:nvSpPr>
        <p:spPr>
          <a:xfrm>
            <a:off x="566928" y="5468112"/>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93"/>
          <p:cNvSpPr/>
          <p:nvPr/>
        </p:nvSpPr>
        <p:spPr>
          <a:xfrm>
            <a:off x="841248" y="5404104"/>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Record the graph with the analysis; it is the assumption your estimate rests on.</a:t>
            </a:r>
            <a:endParaRPr sz="1400"/>
          </a:p>
        </p:txBody>
      </p:sp>
      <p:sp>
        <p:nvSpPr>
          <p:cNvPr id="2002" name="Google Shape;2002;p9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CONFOUNDING</a:t>
            </a:r>
            <a:endParaRPr sz="900"/>
          </a:p>
        </p:txBody>
      </p:sp>
      <p:sp>
        <p:nvSpPr>
          <p:cNvPr id="2003" name="Google Shape;2003;p9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113  /  268</a:t>
            </a:r>
            <a:endParaRPr sz="900"/>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1</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Identification Verdict</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Four possible professional answers to 'can we estimate this?' — and the fourth one is the mark of a specialist, not a failure.</a:t>
            </a:r>
            <a:endParaRPr sz="1450"/>
          </a:p>
        </p:txBody>
      </p:sp>
      <p:sp>
        <p:nvSpPr>
          <p:cNvPr id="276" name="Google Shape;276;p11"/>
          <p:cNvSpPr/>
          <p:nvPr/>
        </p:nvSpPr>
        <p:spPr>
          <a:xfrm>
            <a:off x="566928" y="5797296"/>
            <a:ext cx="11055096" cy="4023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100">
                <a:solidFill>
                  <a:srgbClr val="16233F"/>
                </a:solidFill>
                <a:latin typeface="Calibri"/>
                <a:ea typeface="Calibri"/>
                <a:cs typeface="Calibri"/>
                <a:sym typeface="Calibri"/>
              </a:rPr>
              <a:t>SAY THE FOURTH — 'Not identifiable from these variables' is a complete, defensible, senior answer — provided you name the variable you would need and propose the design that would get it.</a:t>
            </a:r>
            <a:endParaRPr sz="1350"/>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CONFOUNDING</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114  /  268</a:t>
            </a:r>
            <a:endParaRPr sz="900"/>
          </a:p>
        </p:txBody>
      </p:sp>
      <p:pic>
        <p:nvPicPr>
          <p:cNvPr id="279" name="Picture 278" descr="m6_identification_flow.png"/>
          <p:cNvPicPr>
            <a:picLocks noChangeAspect="1"/>
          </p:cNvPicPr>
          <p:nvPr/>
        </p:nvPicPr>
        <p:blipFill>
          <a:blip r:embed="rId2"/>
          <a:stretch>
            <a:fillRect/>
          </a:stretch>
        </p:blipFill>
        <p:spPr>
          <a:xfrm>
            <a:off x="879647" y="2212848"/>
            <a:ext cx="10429657" cy="347472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8" name="Shape 2008"/>
        <p:cNvGrpSpPr/>
        <p:nvPr/>
      </p:nvGrpSpPr>
      <p:grpSpPr>
        <a:xfrm>
          <a:off x="0" y="0"/>
          <a:ext cx="0" cy="0"/>
          <a:chOff x="0" y="0"/>
          <a:chExt cx="0" cy="0"/>
        </a:xfrm>
      </p:grpSpPr>
      <p:sp>
        <p:nvSpPr>
          <p:cNvPr id="2009" name="Google Shape;2009;p9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1</a:t>
            </a:r>
            <a:endParaRPr sz="1200"/>
          </a:p>
        </p:txBody>
      </p:sp>
      <p:sp>
        <p:nvSpPr>
          <p:cNvPr id="2010" name="Google Shape;2010;p9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Knowledge Check: DAGs</a:t>
            </a:r>
            <a:endParaRPr sz="3400"/>
          </a:p>
        </p:txBody>
      </p:sp>
      <p:sp>
        <p:nvSpPr>
          <p:cNvPr id="2011" name="Google Shape;2011;p94"/>
          <p:cNvSpPr/>
          <p:nvPr/>
        </p:nvSpPr>
        <p:spPr>
          <a:xfrm>
            <a:off x="566928" y="178308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94"/>
          <p:cNvSpPr/>
          <p:nvPr/>
        </p:nvSpPr>
        <p:spPr>
          <a:xfrm>
            <a:off x="768096" y="196596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94"/>
          <p:cNvSpPr/>
          <p:nvPr/>
        </p:nvSpPr>
        <p:spPr>
          <a:xfrm>
            <a:off x="768096"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2014" name="Google Shape;2014;p94"/>
          <p:cNvSpPr/>
          <p:nvPr/>
        </p:nvSpPr>
        <p:spPr>
          <a:xfrm>
            <a:off x="1344168" y="19293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In T ← X → Y, the variable X is a:</a:t>
            </a:r>
            <a:endParaRPr sz="1400"/>
          </a:p>
        </p:txBody>
      </p:sp>
      <p:sp>
        <p:nvSpPr>
          <p:cNvPr id="2015" name="Google Shape;2015;p94"/>
          <p:cNvSpPr/>
          <p:nvPr/>
        </p:nvSpPr>
        <p:spPr>
          <a:xfrm>
            <a:off x="1344168" y="23865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Mediator      B) Confounder      C) Collider      D) Instrument</a:t>
            </a:r>
            <a:endParaRPr sz="1200"/>
          </a:p>
        </p:txBody>
      </p:sp>
      <p:sp>
        <p:nvSpPr>
          <p:cNvPr id="2016" name="Google Shape;2016;p94"/>
          <p:cNvSpPr/>
          <p:nvPr/>
        </p:nvSpPr>
        <p:spPr>
          <a:xfrm>
            <a:off x="566928" y="306324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94"/>
          <p:cNvSpPr/>
          <p:nvPr/>
        </p:nvSpPr>
        <p:spPr>
          <a:xfrm>
            <a:off x="768096" y="32461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94"/>
          <p:cNvSpPr/>
          <p:nvPr/>
        </p:nvSpPr>
        <p:spPr>
          <a:xfrm>
            <a:off x="768096"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2019" name="Google Shape;2019;p94"/>
          <p:cNvSpPr/>
          <p:nvPr/>
        </p:nvSpPr>
        <p:spPr>
          <a:xfrm>
            <a:off x="1344168" y="32095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Conditioning on a collider tends to:</a:t>
            </a:r>
            <a:endParaRPr sz="1400"/>
          </a:p>
        </p:txBody>
      </p:sp>
      <p:sp>
        <p:nvSpPr>
          <p:cNvPr id="2020" name="Google Shape;2020;p94"/>
          <p:cNvSpPr/>
          <p:nvPr/>
        </p:nvSpPr>
        <p:spPr>
          <a:xfrm>
            <a:off x="1344168" y="36667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Remove bias      B) Open a spurious path      C) Have no effect      D) Improve overlap</a:t>
            </a:r>
            <a:endParaRPr sz="1200"/>
          </a:p>
        </p:txBody>
      </p:sp>
      <p:sp>
        <p:nvSpPr>
          <p:cNvPr id="2021" name="Google Shape;2021;p94"/>
          <p:cNvSpPr/>
          <p:nvPr/>
        </p:nvSpPr>
        <p:spPr>
          <a:xfrm>
            <a:off x="566928" y="434340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94"/>
          <p:cNvSpPr/>
          <p:nvPr/>
        </p:nvSpPr>
        <p:spPr>
          <a:xfrm>
            <a:off x="768096" y="452628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94"/>
          <p:cNvSpPr/>
          <p:nvPr/>
        </p:nvSpPr>
        <p:spPr>
          <a:xfrm>
            <a:off x="768096" y="4526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2024" name="Google Shape;2024;p94"/>
          <p:cNvSpPr/>
          <p:nvPr/>
        </p:nvSpPr>
        <p:spPr>
          <a:xfrm>
            <a:off x="1344168" y="44897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A valid backdoor adjustment set must never contain:</a:t>
            </a:r>
            <a:endParaRPr sz="1400"/>
          </a:p>
        </p:txBody>
      </p:sp>
      <p:sp>
        <p:nvSpPr>
          <p:cNvPr id="2025" name="Google Shape;2025;p94"/>
          <p:cNvSpPr/>
          <p:nvPr/>
        </p:nvSpPr>
        <p:spPr>
          <a:xfrm>
            <a:off x="1344168" y="49469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A confounder      B) A pre-treatment covariate      C) A descendant of T      D) A blocking variable</a:t>
            </a:r>
            <a:endParaRPr sz="1200"/>
          </a:p>
        </p:txBody>
      </p:sp>
      <p:sp>
        <p:nvSpPr>
          <p:cNvPr id="2026" name="Google Shape;2026;p9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CONFOUNDING</a:t>
            </a:r>
            <a:endParaRPr sz="900"/>
          </a:p>
        </p:txBody>
      </p:sp>
      <p:sp>
        <p:nvSpPr>
          <p:cNvPr id="2027" name="Google Shape;2027;p9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115  /  268</a:t>
            </a:r>
            <a:endParaRPr sz="900"/>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2032" name="Shape 2032"/>
        <p:cNvGrpSpPr/>
        <p:nvPr/>
      </p:nvGrpSpPr>
      <p:grpSpPr>
        <a:xfrm>
          <a:off x="0" y="0"/>
          <a:ext cx="0" cy="0"/>
          <a:chOff x="0" y="0"/>
          <a:chExt cx="0" cy="0"/>
        </a:xfrm>
      </p:grpSpPr>
      <p:sp>
        <p:nvSpPr>
          <p:cNvPr id="2033" name="Google Shape;2033;p95"/>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3 · HOUR 2</a:t>
            </a:r>
            <a:endParaRPr sz="1300"/>
          </a:p>
        </p:txBody>
      </p:sp>
      <p:sp>
        <p:nvSpPr>
          <p:cNvPr id="2034" name="Google Shape;2034;p95"/>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Adjustment Estimators</a:t>
            </a:r>
            <a:endParaRPr sz="4000"/>
          </a:p>
        </p:txBody>
      </p:sp>
      <p:sp>
        <p:nvSpPr>
          <p:cNvPr id="2035" name="Google Shape;2035;p95"/>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Turning an identifying assumption into a number: regression, matching, propensity scores, inverse-probability weighting, and doubly-robust estimation.</a:t>
            </a:r>
            <a:endParaRPr sz="1500"/>
          </a:p>
        </p:txBody>
      </p:sp>
      <p:cxnSp>
        <p:nvCxnSpPr>
          <p:cNvPr id="2036" name="Google Shape;2036;p95"/>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2037" name="Google Shape;2037;p9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3</a:t>
            </a:r>
            <a:endParaRPr sz="900"/>
          </a:p>
        </p:txBody>
      </p:sp>
      <p:sp>
        <p:nvSpPr>
          <p:cNvPr id="2038" name="Google Shape;2038;p9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116  /  268</a:t>
            </a:r>
            <a:endParaRPr sz="900"/>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3" name="Shape 2043"/>
        <p:cNvGrpSpPr/>
        <p:nvPr/>
      </p:nvGrpSpPr>
      <p:grpSpPr>
        <a:xfrm>
          <a:off x="0" y="0"/>
          <a:ext cx="0" cy="0"/>
          <a:chOff x="0" y="0"/>
          <a:chExt cx="0" cy="0"/>
        </a:xfrm>
      </p:grpSpPr>
      <p:sp>
        <p:nvSpPr>
          <p:cNvPr id="2044" name="Google Shape;2044;p9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2</a:t>
            </a:r>
            <a:endParaRPr sz="1200"/>
          </a:p>
        </p:txBody>
      </p:sp>
      <p:sp>
        <p:nvSpPr>
          <p:cNvPr id="2045" name="Google Shape;2045;p9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Four Ways to Adjust</a:t>
            </a:r>
            <a:endParaRPr sz="3400"/>
          </a:p>
        </p:txBody>
      </p:sp>
      <p:sp>
        <p:nvSpPr>
          <p:cNvPr id="2046" name="Google Shape;2046;p96"/>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All target the same estimand under unconfoundedness; they differ in what they model and how they fail.</a:t>
            </a:r>
            <a:endParaRPr sz="1400"/>
          </a:p>
        </p:txBody>
      </p:sp>
      <p:sp>
        <p:nvSpPr>
          <p:cNvPr id="2047" name="Google Shape;2047;p96"/>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96"/>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01</a:t>
            </a:r>
            <a:endParaRPr sz="1300"/>
          </a:p>
        </p:txBody>
      </p:sp>
      <p:sp>
        <p:nvSpPr>
          <p:cNvPr id="2049" name="Google Shape;2049;p96"/>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Outcome regression (g-formula)</a:t>
            </a:r>
            <a:endParaRPr sz="1600"/>
          </a:p>
        </p:txBody>
      </p:sp>
      <p:sp>
        <p:nvSpPr>
          <p:cNvPr id="2050" name="Google Shape;2050;p96"/>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Model E[Y|T,X]; predict both potential outcomes and average their difference. Fails if the outcome model is misspecified.</a:t>
            </a:r>
            <a:endParaRPr sz="1250"/>
          </a:p>
        </p:txBody>
      </p:sp>
      <p:sp>
        <p:nvSpPr>
          <p:cNvPr id="2051" name="Google Shape;2051;p96"/>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96"/>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02</a:t>
            </a:r>
            <a:endParaRPr sz="1300"/>
          </a:p>
        </p:txBody>
      </p:sp>
      <p:sp>
        <p:nvSpPr>
          <p:cNvPr id="2053" name="Google Shape;2053;p96"/>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Matching</a:t>
            </a:r>
            <a:endParaRPr sz="1600"/>
          </a:p>
        </p:txBody>
      </p:sp>
      <p:sp>
        <p:nvSpPr>
          <p:cNvPr id="2054" name="Google Shape;2054;p96"/>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Pair treated and control units with similar X; compare within pairs. Transparent but sensitive to the distance metric and overlap.</a:t>
            </a:r>
            <a:endParaRPr sz="1250"/>
          </a:p>
        </p:txBody>
      </p:sp>
      <p:sp>
        <p:nvSpPr>
          <p:cNvPr id="2055" name="Google Shape;2055;p96"/>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96"/>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03</a:t>
            </a:r>
            <a:endParaRPr sz="1300"/>
          </a:p>
        </p:txBody>
      </p:sp>
      <p:sp>
        <p:nvSpPr>
          <p:cNvPr id="2057" name="Google Shape;2057;p96"/>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Propensity-score methods</a:t>
            </a:r>
            <a:endParaRPr sz="1600"/>
          </a:p>
        </p:txBody>
      </p:sp>
      <p:sp>
        <p:nvSpPr>
          <p:cNvPr id="2058" name="Google Shape;2058;p96"/>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Model e(x)=P(T=1|X); match, stratify, or weight on it to collapse many covariates into one balancing score.</a:t>
            </a:r>
            <a:endParaRPr sz="1250"/>
          </a:p>
        </p:txBody>
      </p:sp>
      <p:sp>
        <p:nvSpPr>
          <p:cNvPr id="2059" name="Google Shape;2059;p96"/>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96"/>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04</a:t>
            </a:r>
            <a:endParaRPr sz="1300"/>
          </a:p>
        </p:txBody>
      </p:sp>
      <p:sp>
        <p:nvSpPr>
          <p:cNvPr id="2061" name="Google Shape;2061;p96"/>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IPW</a:t>
            </a:r>
            <a:endParaRPr sz="1600"/>
          </a:p>
        </p:txBody>
      </p:sp>
      <p:sp>
        <p:nvSpPr>
          <p:cNvPr id="2062" name="Google Shape;2062;p96"/>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Weight units by 1/e(x) or 1/(1−e(x)) to rebuild a pseudo-population where T ⊥ X. Fails if the treatment model is wrong.</a:t>
            </a:r>
            <a:endParaRPr sz="1250"/>
          </a:p>
        </p:txBody>
      </p:sp>
      <p:sp>
        <p:nvSpPr>
          <p:cNvPr id="2063" name="Google Shape;2063;p9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ADJUSTMENT</a:t>
            </a:r>
            <a:endParaRPr sz="900"/>
          </a:p>
        </p:txBody>
      </p:sp>
      <p:sp>
        <p:nvSpPr>
          <p:cNvPr id="2064" name="Google Shape;2064;p9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117  /  268</a:t>
            </a:r>
            <a:endParaRPr sz="900"/>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9" name="Shape 2069"/>
        <p:cNvGrpSpPr/>
        <p:nvPr/>
      </p:nvGrpSpPr>
      <p:grpSpPr>
        <a:xfrm>
          <a:off x="0" y="0"/>
          <a:ext cx="0" cy="0"/>
          <a:chOff x="0" y="0"/>
          <a:chExt cx="0" cy="0"/>
        </a:xfrm>
      </p:grpSpPr>
      <p:sp>
        <p:nvSpPr>
          <p:cNvPr id="2070" name="Google Shape;2070;p9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2</a:t>
            </a:r>
            <a:endParaRPr sz="1200"/>
          </a:p>
        </p:txBody>
      </p:sp>
      <p:sp>
        <p:nvSpPr>
          <p:cNvPr id="2071" name="Google Shape;2071;p9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Propensity Score</a:t>
            </a:r>
            <a:endParaRPr sz="3400"/>
          </a:p>
        </p:txBody>
      </p:sp>
      <p:sp>
        <p:nvSpPr>
          <p:cNvPr id="2072" name="Google Shape;2072;p97"/>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Rosenbaum &amp; Rubin's key result: if adjusting for X suffices, adjusting for the scalar e(x) suffices too.</a:t>
            </a:r>
            <a:endParaRPr sz="1450"/>
          </a:p>
        </p:txBody>
      </p:sp>
      <p:sp>
        <p:nvSpPr>
          <p:cNvPr id="2073" name="Google Shape;2073;p97"/>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97"/>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Balancing property</a:t>
            </a:r>
            <a:endParaRPr sz="1500"/>
          </a:p>
        </p:txBody>
      </p:sp>
      <p:sp>
        <p:nvSpPr>
          <p:cNvPr id="2075" name="Google Shape;2075;p97"/>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Within a level of the propensity score, treated and control units have the same distribution of X — mimicking a mini-experiment.</a:t>
            </a:r>
            <a:endParaRPr sz="1250"/>
          </a:p>
        </p:txBody>
      </p:sp>
      <p:sp>
        <p:nvSpPr>
          <p:cNvPr id="2076" name="Google Shape;2076;p97"/>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97"/>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Dimension reduction</a:t>
            </a:r>
            <a:endParaRPr sz="1500"/>
          </a:p>
        </p:txBody>
      </p:sp>
      <p:sp>
        <p:nvSpPr>
          <p:cNvPr id="2078" name="Google Shape;2078;p97"/>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It replaces a high-dimensional matching problem with a one-dimensional one — easier to diagnose and visualise.</a:t>
            </a:r>
            <a:endParaRPr sz="1250"/>
          </a:p>
        </p:txBody>
      </p:sp>
      <p:sp>
        <p:nvSpPr>
          <p:cNvPr id="2079" name="Google Shape;2079;p97"/>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97"/>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It is a means, not an end</a:t>
            </a:r>
            <a:endParaRPr sz="1500"/>
          </a:p>
        </p:txBody>
      </p:sp>
      <p:sp>
        <p:nvSpPr>
          <p:cNvPr id="2081" name="Google Shape;2081;p97"/>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Judge it by covariate balance achieved, not by how well it predicts treatment. A perfect classifier destroys overlap.</a:t>
            </a:r>
            <a:endParaRPr sz="1250"/>
          </a:p>
        </p:txBody>
      </p:sp>
      <p:sp>
        <p:nvSpPr>
          <p:cNvPr id="2082" name="Google Shape;2082;p97"/>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97"/>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DIAGNOSTIC FIRST</a:t>
            </a:r>
            <a:endParaRPr sz="1100"/>
          </a:p>
        </p:txBody>
      </p:sp>
      <p:sp>
        <p:nvSpPr>
          <p:cNvPr id="2084" name="Google Shape;2084;p97"/>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Always plot the propensity distributions by arm and check standardized mean differences after adjustment — balance, not the model's AUC, is the goal.</a:t>
            </a:r>
            <a:endParaRPr sz="1350"/>
          </a:p>
        </p:txBody>
      </p:sp>
      <p:sp>
        <p:nvSpPr>
          <p:cNvPr id="2085" name="Google Shape;2085;p9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ADJUSTMENT</a:t>
            </a:r>
            <a:endParaRPr sz="900"/>
          </a:p>
        </p:txBody>
      </p:sp>
      <p:sp>
        <p:nvSpPr>
          <p:cNvPr id="2086" name="Google Shape;2086;p9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118  /  268</a:t>
            </a:r>
            <a:endParaRPr sz="900"/>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2</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Overlap Is the Go / No-Go for Matching</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Estimated propensity to enrol in the training programme, for enrolled and non-enrolled Injaz users.</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BEFORE YOU MATCH</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Read this chart before any estimate. Where the distributions do not overlap, no comparable control exists and no estimator can invent one.</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A propensity model with a very high AUC is bad news, not good: it means treatment is predictable, which is exactly the absence of overlap.</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ADJUSTMENT</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119  /  268</a:t>
            </a:r>
            <a:endParaRPr sz="900"/>
          </a:p>
        </p:txBody>
      </p:sp>
      <p:pic>
        <p:nvPicPr>
          <p:cNvPr id="279" name="Picture 278" descr="m5_propensity_overlap.png"/>
          <p:cNvPicPr>
            <a:picLocks noChangeAspect="1"/>
          </p:cNvPicPr>
          <p:nvPr/>
        </p:nvPicPr>
        <p:blipFill>
          <a:blip r:embed="rId2"/>
          <a:stretch>
            <a:fillRect/>
          </a:stretch>
        </p:blipFill>
        <p:spPr>
          <a:xfrm>
            <a:off x="1039115" y="2249424"/>
            <a:ext cx="6846313" cy="3877056"/>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1" name="Shape 2091"/>
        <p:cNvGrpSpPr/>
        <p:nvPr/>
      </p:nvGrpSpPr>
      <p:grpSpPr>
        <a:xfrm>
          <a:off x="0" y="0"/>
          <a:ext cx="0" cy="0"/>
          <a:chOff x="0" y="0"/>
          <a:chExt cx="0" cy="0"/>
        </a:xfrm>
      </p:grpSpPr>
      <p:sp>
        <p:nvSpPr>
          <p:cNvPr id="2092" name="Google Shape;2092;p9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2</a:t>
            </a:r>
            <a:endParaRPr sz="1200"/>
          </a:p>
        </p:txBody>
      </p:sp>
      <p:sp>
        <p:nvSpPr>
          <p:cNvPr id="2093" name="Google Shape;2093;p9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Inverse-Probability Weighting</a:t>
            </a:r>
            <a:endParaRPr sz="3400"/>
          </a:p>
        </p:txBody>
      </p:sp>
      <p:sp>
        <p:nvSpPr>
          <p:cNvPr id="2094" name="Google Shape;2094;p98"/>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Re-weight the sample so that, in the weighted world, treatment looks randomly assigned.</a:t>
            </a:r>
            <a:endParaRPr sz="1450"/>
          </a:p>
        </p:txBody>
      </p:sp>
      <p:sp>
        <p:nvSpPr>
          <p:cNvPr id="2095" name="Google Shape;2095;p98"/>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98"/>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weights</a:t>
            </a:r>
            <a:endParaRPr sz="1500"/>
          </a:p>
        </p:txBody>
      </p:sp>
      <p:sp>
        <p:nvSpPr>
          <p:cNvPr id="2097" name="Google Shape;2097;p98"/>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Treated units get weight 1/e(x); controls get 1/(1−e(x)). Rare-in-arm units count for more.</a:t>
            </a:r>
            <a:endParaRPr sz="1250"/>
          </a:p>
        </p:txBody>
      </p:sp>
      <p:sp>
        <p:nvSpPr>
          <p:cNvPr id="2098" name="Google Shape;2098;p98"/>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98"/>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danger</a:t>
            </a:r>
            <a:endParaRPr sz="1500"/>
          </a:p>
        </p:txBody>
      </p:sp>
      <p:sp>
        <p:nvSpPr>
          <p:cNvPr id="2100" name="Google Shape;2100;p98"/>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Propensities near 0 or 1 create enormous weights and unstable, high-variance estimates.</a:t>
            </a:r>
            <a:endParaRPr sz="1250"/>
          </a:p>
        </p:txBody>
      </p:sp>
      <p:sp>
        <p:nvSpPr>
          <p:cNvPr id="2101" name="Google Shape;2101;p98"/>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98"/>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Stabilise</a:t>
            </a:r>
            <a:endParaRPr sz="1500"/>
          </a:p>
        </p:txBody>
      </p:sp>
      <p:sp>
        <p:nvSpPr>
          <p:cNvPr id="2103" name="Google Shape;2103;p98"/>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Use stabilised or trimmed weights, or switch to overlap weights, which downweight the extremes gracefully.</a:t>
            </a:r>
            <a:endParaRPr sz="1250"/>
          </a:p>
        </p:txBody>
      </p:sp>
      <p:sp>
        <p:nvSpPr>
          <p:cNvPr id="2104" name="Google Shape;2104;p9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ADJUSTMENT</a:t>
            </a:r>
            <a:endParaRPr sz="900"/>
          </a:p>
        </p:txBody>
      </p:sp>
      <p:sp>
        <p:nvSpPr>
          <p:cNvPr id="2105" name="Google Shape;2105;p9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120  /  268</a:t>
            </a:r>
            <a:endParaRPr sz="900"/>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0" name="Shape 2110"/>
        <p:cNvGrpSpPr/>
        <p:nvPr/>
      </p:nvGrpSpPr>
      <p:grpSpPr>
        <a:xfrm>
          <a:off x="0" y="0"/>
          <a:ext cx="0" cy="0"/>
          <a:chOff x="0" y="0"/>
          <a:chExt cx="0" cy="0"/>
        </a:xfrm>
      </p:grpSpPr>
      <p:sp>
        <p:nvSpPr>
          <p:cNvPr id="2111" name="Google Shape;2111;p9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2</a:t>
            </a:r>
            <a:endParaRPr sz="1200"/>
          </a:p>
        </p:txBody>
      </p:sp>
      <p:sp>
        <p:nvSpPr>
          <p:cNvPr id="2112" name="Google Shape;2112;p9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Doubly-Robust Estimation</a:t>
            </a:r>
            <a:endParaRPr sz="3400"/>
          </a:p>
        </p:txBody>
      </p:sp>
      <p:sp>
        <p:nvSpPr>
          <p:cNvPr id="2113" name="Google Shape;2113;p99"/>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Combine an outcome model and a treatment model so that getting either one right yields a consistent estimate.</a:t>
            </a:r>
            <a:endParaRPr sz="1450"/>
          </a:p>
        </p:txBody>
      </p:sp>
      <p:sp>
        <p:nvSpPr>
          <p:cNvPr id="2114" name="Google Shape;2114;p99"/>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99"/>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Two chances to be right</a:t>
            </a:r>
            <a:endParaRPr sz="1500"/>
          </a:p>
        </p:txBody>
      </p:sp>
      <p:sp>
        <p:nvSpPr>
          <p:cNvPr id="2116" name="Google Shape;2116;p99"/>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AIPW / TMLE stay consistent if the outcome model or the propensity model is correctly specified — not necessarily both.</a:t>
            </a:r>
            <a:endParaRPr sz="1250"/>
          </a:p>
        </p:txBody>
      </p:sp>
      <p:sp>
        <p:nvSpPr>
          <p:cNvPr id="2117" name="Google Shape;2117;p99"/>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99"/>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ML-friendly</a:t>
            </a:r>
            <a:endParaRPr sz="1500"/>
          </a:p>
        </p:txBody>
      </p:sp>
      <p:sp>
        <p:nvSpPr>
          <p:cNvPr id="2119" name="Google Shape;2119;p99"/>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With cross-fitting, flexible machine-learning nuisance models plug in while preserving valid confidence intervals (double/debiased ML).</a:t>
            </a:r>
            <a:endParaRPr sz="1250"/>
          </a:p>
        </p:txBody>
      </p:sp>
      <p:sp>
        <p:nvSpPr>
          <p:cNvPr id="2120" name="Google Shape;2120;p99"/>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99"/>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Why it is the default</a:t>
            </a:r>
            <a:endParaRPr sz="1500"/>
          </a:p>
        </p:txBody>
      </p:sp>
      <p:sp>
        <p:nvSpPr>
          <p:cNvPr id="2122" name="Google Shape;2122;p99"/>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It relaxes the modelling burden and delivers efficient estimates — the modern workhorse for observational effects.</a:t>
            </a:r>
            <a:endParaRPr sz="1250"/>
          </a:p>
        </p:txBody>
      </p:sp>
      <p:sp>
        <p:nvSpPr>
          <p:cNvPr id="2123" name="Google Shape;2123;p99"/>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99"/>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ROBUSTNESS</a:t>
            </a:r>
            <a:endParaRPr sz="1100"/>
          </a:p>
        </p:txBody>
      </p:sp>
      <p:sp>
        <p:nvSpPr>
          <p:cNvPr id="2125" name="Google Shape;2125;p99"/>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1 of 2</a:t>
            </a:r>
            <a:endParaRPr sz="5400"/>
          </a:p>
        </p:txBody>
      </p:sp>
      <p:sp>
        <p:nvSpPr>
          <p:cNvPr id="2126" name="Google Shape;2126;p99"/>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A doubly-robust estimator needs only one of its two models to be right. Cross-fitting then lets you use powerful ML without breaking inference.</a:t>
            </a:r>
            <a:endParaRPr sz="1300"/>
          </a:p>
        </p:txBody>
      </p:sp>
      <p:sp>
        <p:nvSpPr>
          <p:cNvPr id="2127" name="Google Shape;2127;p9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ADJUSTMENT</a:t>
            </a:r>
            <a:endParaRPr sz="900"/>
          </a:p>
        </p:txBody>
      </p:sp>
      <p:sp>
        <p:nvSpPr>
          <p:cNvPr id="2128" name="Google Shape;2128;p9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121  /  268</a:t>
            </a:r>
            <a:endParaRPr sz="900"/>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3" name="Shape 2133"/>
        <p:cNvGrpSpPr/>
        <p:nvPr/>
      </p:nvGrpSpPr>
      <p:grpSpPr>
        <a:xfrm>
          <a:off x="0" y="0"/>
          <a:ext cx="0" cy="0"/>
          <a:chOff x="0" y="0"/>
          <a:chExt cx="0" cy="0"/>
        </a:xfrm>
      </p:grpSpPr>
      <p:sp>
        <p:nvSpPr>
          <p:cNvPr id="2134" name="Google Shape;2134;p10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2</a:t>
            </a:r>
            <a:endParaRPr sz="1200"/>
          </a:p>
        </p:txBody>
      </p:sp>
      <p:sp>
        <p:nvSpPr>
          <p:cNvPr id="2135" name="Google Shape;2135;p10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Matching vs. Weighting</a:t>
            </a:r>
            <a:endParaRPr sz="3400"/>
          </a:p>
        </p:txBody>
      </p:sp>
      <p:sp>
        <p:nvSpPr>
          <p:cNvPr id="2136" name="Google Shape;2136;p100"/>
          <p:cNvSpPr/>
          <p:nvPr/>
        </p:nvSpPr>
        <p:spPr>
          <a:xfrm>
            <a:off x="566928" y="1828800"/>
            <a:ext cx="5117440" cy="4160520"/>
          </a:xfrm>
          <a:prstGeom prst="roundRect">
            <a:avLst>
              <a:gd fmla="val 2198"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100"/>
          <p:cNvSpPr/>
          <p:nvPr/>
        </p:nvSpPr>
        <p:spPr>
          <a:xfrm>
            <a:off x="859536" y="2084832"/>
            <a:ext cx="45322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MATCHING</a:t>
            </a:r>
            <a:endParaRPr sz="1100"/>
          </a:p>
        </p:txBody>
      </p:sp>
      <p:sp>
        <p:nvSpPr>
          <p:cNvPr id="2138" name="Google Shape;2138;p100"/>
          <p:cNvSpPr/>
          <p:nvPr/>
        </p:nvSpPr>
        <p:spPr>
          <a:xfrm>
            <a:off x="859536" y="2377440"/>
            <a:ext cx="45322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Construct Comparable Pairs</a:t>
            </a:r>
            <a:endParaRPr sz="2000"/>
          </a:p>
        </p:txBody>
      </p:sp>
      <p:sp>
        <p:nvSpPr>
          <p:cNvPr id="2139" name="Google Shape;2139;p100"/>
          <p:cNvSpPr/>
          <p:nvPr/>
        </p:nvSpPr>
        <p:spPr>
          <a:xfrm>
            <a:off x="877824" y="3072384"/>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100"/>
          <p:cNvSpPr/>
          <p:nvPr/>
        </p:nvSpPr>
        <p:spPr>
          <a:xfrm>
            <a:off x="1115568" y="3017520"/>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Intuitive, transparent, easy to explain.</a:t>
            </a:r>
            <a:endParaRPr sz="1250"/>
          </a:p>
        </p:txBody>
      </p:sp>
      <p:sp>
        <p:nvSpPr>
          <p:cNvPr id="2141" name="Google Shape;2141;p100"/>
          <p:cNvSpPr/>
          <p:nvPr/>
        </p:nvSpPr>
        <p:spPr>
          <a:xfrm>
            <a:off x="877824" y="3694176"/>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100"/>
          <p:cNvSpPr/>
          <p:nvPr/>
        </p:nvSpPr>
        <p:spPr>
          <a:xfrm>
            <a:off x="1115568" y="3639312"/>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Discards unmatched units — changes the estimand.</a:t>
            </a:r>
            <a:endParaRPr sz="1250"/>
          </a:p>
        </p:txBody>
      </p:sp>
      <p:sp>
        <p:nvSpPr>
          <p:cNvPr id="2143" name="Google Shape;2143;p100"/>
          <p:cNvSpPr/>
          <p:nvPr/>
        </p:nvSpPr>
        <p:spPr>
          <a:xfrm>
            <a:off x="877824" y="4315968"/>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100"/>
          <p:cNvSpPr/>
          <p:nvPr/>
        </p:nvSpPr>
        <p:spPr>
          <a:xfrm>
            <a:off x="1115568" y="4261104"/>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Sensitive to distance metric and caliper.</a:t>
            </a:r>
            <a:endParaRPr sz="1250"/>
          </a:p>
        </p:txBody>
      </p:sp>
      <p:sp>
        <p:nvSpPr>
          <p:cNvPr id="2145" name="Google Shape;2145;p100"/>
          <p:cNvSpPr/>
          <p:nvPr/>
        </p:nvSpPr>
        <p:spPr>
          <a:xfrm>
            <a:off x="877824" y="4937760"/>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100"/>
          <p:cNvSpPr/>
          <p:nvPr/>
        </p:nvSpPr>
        <p:spPr>
          <a:xfrm>
            <a:off x="1115568" y="4882896"/>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Great for communicating to non-technical stakeholders.</a:t>
            </a:r>
            <a:endParaRPr sz="1250"/>
          </a:p>
        </p:txBody>
      </p:sp>
      <p:sp>
        <p:nvSpPr>
          <p:cNvPr id="2147" name="Google Shape;2147;p100"/>
          <p:cNvSpPr/>
          <p:nvPr/>
        </p:nvSpPr>
        <p:spPr>
          <a:xfrm>
            <a:off x="6507328" y="1828800"/>
            <a:ext cx="5117440" cy="4160520"/>
          </a:xfrm>
          <a:prstGeom prst="roundRect">
            <a:avLst>
              <a:gd fmla="val 2198" name="adj"/>
            </a:avLst>
          </a:prstGeom>
          <a:solidFill>
            <a:srgbClr val="16233F"/>
          </a:solidFill>
          <a:ln cap="flat" cmpd="sng" w="12700">
            <a:solidFill>
              <a:srgbClr val="1623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100"/>
          <p:cNvSpPr/>
          <p:nvPr/>
        </p:nvSpPr>
        <p:spPr>
          <a:xfrm>
            <a:off x="6799936" y="2084832"/>
            <a:ext cx="45322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WEIGHTING</a:t>
            </a:r>
            <a:endParaRPr sz="1100"/>
          </a:p>
        </p:txBody>
      </p:sp>
      <p:sp>
        <p:nvSpPr>
          <p:cNvPr id="2149" name="Google Shape;2149;p100"/>
          <p:cNvSpPr/>
          <p:nvPr/>
        </p:nvSpPr>
        <p:spPr>
          <a:xfrm>
            <a:off x="6799936" y="2377440"/>
            <a:ext cx="45322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Re-weight the Whole Sample</a:t>
            </a:r>
            <a:endParaRPr sz="2000"/>
          </a:p>
        </p:txBody>
      </p:sp>
      <p:sp>
        <p:nvSpPr>
          <p:cNvPr id="2150" name="Google Shape;2150;p100"/>
          <p:cNvSpPr/>
          <p:nvPr/>
        </p:nvSpPr>
        <p:spPr>
          <a:xfrm>
            <a:off x="6818224" y="3072384"/>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100"/>
          <p:cNvSpPr/>
          <p:nvPr/>
        </p:nvSpPr>
        <p:spPr>
          <a:xfrm>
            <a:off x="7055968" y="3017520"/>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Uses all units; targets ATE or ATT cleanly.</a:t>
            </a:r>
            <a:endParaRPr sz="1250"/>
          </a:p>
        </p:txBody>
      </p:sp>
      <p:sp>
        <p:nvSpPr>
          <p:cNvPr id="2152" name="Google Shape;2152;p100"/>
          <p:cNvSpPr/>
          <p:nvPr/>
        </p:nvSpPr>
        <p:spPr>
          <a:xfrm>
            <a:off x="6818224" y="3694176"/>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100"/>
          <p:cNvSpPr/>
          <p:nvPr/>
        </p:nvSpPr>
        <p:spPr>
          <a:xfrm>
            <a:off x="7055968" y="3639312"/>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Extreme weights inflate variance.</a:t>
            </a:r>
            <a:endParaRPr sz="1250"/>
          </a:p>
        </p:txBody>
      </p:sp>
      <p:sp>
        <p:nvSpPr>
          <p:cNvPr id="2154" name="Google Shape;2154;p100"/>
          <p:cNvSpPr/>
          <p:nvPr/>
        </p:nvSpPr>
        <p:spPr>
          <a:xfrm>
            <a:off x="6818224" y="4315968"/>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100"/>
          <p:cNvSpPr/>
          <p:nvPr/>
        </p:nvSpPr>
        <p:spPr>
          <a:xfrm>
            <a:off x="7055968" y="4261104"/>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Pairs naturally with doubly-robust methods.</a:t>
            </a:r>
            <a:endParaRPr sz="1250"/>
          </a:p>
        </p:txBody>
      </p:sp>
      <p:sp>
        <p:nvSpPr>
          <p:cNvPr id="2156" name="Google Shape;2156;p100"/>
          <p:cNvSpPr/>
          <p:nvPr/>
        </p:nvSpPr>
        <p:spPr>
          <a:xfrm>
            <a:off x="6818224" y="4937760"/>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100"/>
          <p:cNvSpPr/>
          <p:nvPr/>
        </p:nvSpPr>
        <p:spPr>
          <a:xfrm>
            <a:off x="7055968" y="4882896"/>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Needs careful weight diagnostics and trimming.</a:t>
            </a:r>
            <a:endParaRPr sz="1250"/>
          </a:p>
        </p:txBody>
      </p:sp>
      <p:sp>
        <p:nvSpPr>
          <p:cNvPr id="2158" name="Google Shape;2158;p100"/>
          <p:cNvSpPr/>
          <p:nvPr/>
        </p:nvSpPr>
        <p:spPr>
          <a:xfrm>
            <a:off x="5803240" y="3616452"/>
            <a:ext cx="585216" cy="585216"/>
          </a:xfrm>
          <a:prstGeom prst="ellipse">
            <a:avLst/>
          </a:prstGeom>
          <a:solidFill>
            <a:srgbClr val="3FA9E0"/>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100"/>
          <p:cNvSpPr/>
          <p:nvPr/>
        </p:nvSpPr>
        <p:spPr>
          <a:xfrm>
            <a:off x="5803240" y="361645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lang="en-US" sz="1500">
                <a:solidFill>
                  <a:srgbClr val="FFFFFF"/>
                </a:solidFill>
                <a:latin typeface="Cambria"/>
                <a:ea typeface="Cambria"/>
                <a:cs typeface="Cambria"/>
                <a:sym typeface="Cambria"/>
              </a:rPr>
              <a:t>VS</a:t>
            </a:r>
            <a:endParaRPr sz="1500"/>
          </a:p>
        </p:txBody>
      </p:sp>
      <p:sp>
        <p:nvSpPr>
          <p:cNvPr id="2160" name="Google Shape;2160;p10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ADJUSTMENT</a:t>
            </a:r>
            <a:endParaRPr sz="900"/>
          </a:p>
        </p:txBody>
      </p:sp>
      <p:sp>
        <p:nvSpPr>
          <p:cNvPr id="2161" name="Google Shape;2161;p10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122  /  268</a:t>
            </a:r>
            <a:endParaRPr sz="900"/>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6" name="Shape 2166"/>
        <p:cNvGrpSpPr/>
        <p:nvPr/>
      </p:nvGrpSpPr>
      <p:grpSpPr>
        <a:xfrm>
          <a:off x="0" y="0"/>
          <a:ext cx="0" cy="0"/>
          <a:chOff x="0" y="0"/>
          <a:chExt cx="0" cy="0"/>
        </a:xfrm>
      </p:grpSpPr>
      <p:sp>
        <p:nvSpPr>
          <p:cNvPr id="2167" name="Google Shape;2167;p10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2</a:t>
            </a:r>
            <a:endParaRPr sz="1200"/>
          </a:p>
        </p:txBody>
      </p:sp>
      <p:sp>
        <p:nvSpPr>
          <p:cNvPr id="2168" name="Google Shape;2168;p10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An Observational Estimation Checklist</a:t>
            </a:r>
            <a:endParaRPr sz="3400"/>
          </a:p>
        </p:txBody>
      </p:sp>
      <p:sp>
        <p:nvSpPr>
          <p:cNvPr id="2169" name="Google Shape;2169;p101"/>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Run this sequence every time, in this order.</a:t>
            </a:r>
            <a:endParaRPr sz="1450"/>
          </a:p>
        </p:txBody>
      </p:sp>
      <p:sp>
        <p:nvSpPr>
          <p:cNvPr id="2170" name="Google Shape;2170;p101"/>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101"/>
          <p:cNvSpPr/>
          <p:nvPr/>
        </p:nvSpPr>
        <p:spPr>
          <a:xfrm>
            <a:off x="841248" y="251460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Define the estimand (ATE vs. ATT) and the target population first.</a:t>
            </a:r>
            <a:endParaRPr sz="1400"/>
          </a:p>
        </p:txBody>
      </p:sp>
      <p:sp>
        <p:nvSpPr>
          <p:cNvPr id="2172" name="Google Shape;2172;p101"/>
          <p:cNvSpPr/>
          <p:nvPr/>
        </p:nvSpPr>
        <p:spPr>
          <a:xfrm>
            <a:off x="566928" y="3180588"/>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101"/>
          <p:cNvSpPr/>
          <p:nvPr/>
        </p:nvSpPr>
        <p:spPr>
          <a:xfrm>
            <a:off x="841248" y="311658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Specify the adjustment set from the DAG — not from what improves fit.</a:t>
            </a:r>
            <a:endParaRPr sz="1400"/>
          </a:p>
        </p:txBody>
      </p:sp>
      <p:sp>
        <p:nvSpPr>
          <p:cNvPr id="2174" name="Google Shape;2174;p101"/>
          <p:cNvSpPr/>
          <p:nvPr/>
        </p:nvSpPr>
        <p:spPr>
          <a:xfrm>
            <a:off x="566928" y="3782568"/>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101"/>
          <p:cNvSpPr/>
          <p:nvPr/>
        </p:nvSpPr>
        <p:spPr>
          <a:xfrm>
            <a:off x="841248" y="371856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Check overlap; trim or restrict to common support before estimating.</a:t>
            </a:r>
            <a:endParaRPr sz="1400"/>
          </a:p>
        </p:txBody>
      </p:sp>
      <p:sp>
        <p:nvSpPr>
          <p:cNvPr id="2176" name="Google Shape;2176;p101"/>
          <p:cNvSpPr/>
          <p:nvPr/>
        </p:nvSpPr>
        <p:spPr>
          <a:xfrm>
            <a:off x="566928" y="4384548"/>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101"/>
          <p:cNvSpPr/>
          <p:nvPr/>
        </p:nvSpPr>
        <p:spPr>
          <a:xfrm>
            <a:off x="841248" y="432054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Verify covariate balance after adjustment (standardized mean differences &lt; 0.1).</a:t>
            </a:r>
            <a:endParaRPr sz="1400"/>
          </a:p>
        </p:txBody>
      </p:sp>
      <p:sp>
        <p:nvSpPr>
          <p:cNvPr id="2178" name="Google Shape;2178;p101"/>
          <p:cNvSpPr/>
          <p:nvPr/>
        </p:nvSpPr>
        <p:spPr>
          <a:xfrm>
            <a:off x="566928" y="4986528"/>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101"/>
          <p:cNvSpPr/>
          <p:nvPr/>
        </p:nvSpPr>
        <p:spPr>
          <a:xfrm>
            <a:off x="841248" y="492252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Prefer a doubly-robust estimator with cross-fitting; report a proper interval.</a:t>
            </a:r>
            <a:endParaRPr sz="1400"/>
          </a:p>
        </p:txBody>
      </p:sp>
      <p:sp>
        <p:nvSpPr>
          <p:cNvPr id="2180" name="Google Shape;2180;p101"/>
          <p:cNvSpPr/>
          <p:nvPr/>
        </p:nvSpPr>
        <p:spPr>
          <a:xfrm>
            <a:off x="566928" y="55885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101"/>
          <p:cNvSpPr/>
          <p:nvPr/>
        </p:nvSpPr>
        <p:spPr>
          <a:xfrm>
            <a:off x="841248" y="552450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Follow with a sensitivity analysis for unmeasured confounding.</a:t>
            </a:r>
            <a:endParaRPr sz="1400"/>
          </a:p>
        </p:txBody>
      </p:sp>
      <p:sp>
        <p:nvSpPr>
          <p:cNvPr id="2182" name="Google Shape;2182;p10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ADJUSTMENT</a:t>
            </a:r>
            <a:endParaRPr sz="900"/>
          </a:p>
        </p:txBody>
      </p:sp>
      <p:sp>
        <p:nvSpPr>
          <p:cNvPr id="2183" name="Google Shape;2183;p10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123  /  268</a:t>
            </a:r>
            <a:endParaRPr sz="900"/>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8" name="Shape 2188"/>
        <p:cNvGrpSpPr/>
        <p:nvPr/>
      </p:nvGrpSpPr>
      <p:grpSpPr>
        <a:xfrm>
          <a:off x="0" y="0"/>
          <a:ext cx="0" cy="0"/>
          <a:chOff x="0" y="0"/>
          <a:chExt cx="0" cy="0"/>
        </a:xfrm>
      </p:grpSpPr>
      <p:sp>
        <p:nvSpPr>
          <p:cNvPr id="2189" name="Google Shape;2189;p10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2</a:t>
            </a:r>
            <a:endParaRPr sz="1200"/>
          </a:p>
        </p:txBody>
      </p:sp>
      <p:sp>
        <p:nvSpPr>
          <p:cNvPr id="2190" name="Google Shape;2190;p10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Knowledge Check: Adjustment</a:t>
            </a:r>
            <a:endParaRPr sz="3400"/>
          </a:p>
        </p:txBody>
      </p:sp>
      <p:sp>
        <p:nvSpPr>
          <p:cNvPr id="2191" name="Google Shape;2191;p102"/>
          <p:cNvSpPr/>
          <p:nvPr/>
        </p:nvSpPr>
        <p:spPr>
          <a:xfrm>
            <a:off x="566928" y="178308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102"/>
          <p:cNvSpPr/>
          <p:nvPr/>
        </p:nvSpPr>
        <p:spPr>
          <a:xfrm>
            <a:off x="768096" y="196596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102"/>
          <p:cNvSpPr/>
          <p:nvPr/>
        </p:nvSpPr>
        <p:spPr>
          <a:xfrm>
            <a:off x="768096"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2194" name="Google Shape;2194;p102"/>
          <p:cNvSpPr/>
          <p:nvPr/>
        </p:nvSpPr>
        <p:spPr>
          <a:xfrm>
            <a:off x="1344168" y="19293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A doubly-robust estimator is consistent if:</a:t>
            </a:r>
            <a:endParaRPr sz="1400"/>
          </a:p>
        </p:txBody>
      </p:sp>
      <p:sp>
        <p:nvSpPr>
          <p:cNvPr id="2195" name="Google Shape;2195;p102"/>
          <p:cNvSpPr/>
          <p:nvPr/>
        </p:nvSpPr>
        <p:spPr>
          <a:xfrm>
            <a:off x="1344168" y="23865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Both models are correct      B) Either model is correct      C) Neither model is needed      D) The sample is large</a:t>
            </a:r>
            <a:endParaRPr sz="1200"/>
          </a:p>
        </p:txBody>
      </p:sp>
      <p:sp>
        <p:nvSpPr>
          <p:cNvPr id="2196" name="Google Shape;2196;p102"/>
          <p:cNvSpPr/>
          <p:nvPr/>
        </p:nvSpPr>
        <p:spPr>
          <a:xfrm>
            <a:off x="566928" y="306324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102"/>
          <p:cNvSpPr/>
          <p:nvPr/>
        </p:nvSpPr>
        <p:spPr>
          <a:xfrm>
            <a:off x="768096" y="32461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102"/>
          <p:cNvSpPr/>
          <p:nvPr/>
        </p:nvSpPr>
        <p:spPr>
          <a:xfrm>
            <a:off x="768096"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2199" name="Google Shape;2199;p102"/>
          <p:cNvSpPr/>
          <p:nvPr/>
        </p:nvSpPr>
        <p:spPr>
          <a:xfrm>
            <a:off x="1344168" y="32095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You should judge a propensity model primarily by its:</a:t>
            </a:r>
            <a:endParaRPr sz="1400"/>
          </a:p>
        </p:txBody>
      </p:sp>
      <p:sp>
        <p:nvSpPr>
          <p:cNvPr id="2200" name="Google Shape;2200;p102"/>
          <p:cNvSpPr/>
          <p:nvPr/>
        </p:nvSpPr>
        <p:spPr>
          <a:xfrm>
            <a:off x="1344168" y="36667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AUC      B) Covariate balance achieved      C) Number of features      D) R-squared</a:t>
            </a:r>
            <a:endParaRPr sz="1200"/>
          </a:p>
        </p:txBody>
      </p:sp>
      <p:sp>
        <p:nvSpPr>
          <p:cNvPr id="2201" name="Google Shape;2201;p102"/>
          <p:cNvSpPr/>
          <p:nvPr/>
        </p:nvSpPr>
        <p:spPr>
          <a:xfrm>
            <a:off x="566928" y="434340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102"/>
          <p:cNvSpPr/>
          <p:nvPr/>
        </p:nvSpPr>
        <p:spPr>
          <a:xfrm>
            <a:off x="768096" y="452628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102"/>
          <p:cNvSpPr/>
          <p:nvPr/>
        </p:nvSpPr>
        <p:spPr>
          <a:xfrm>
            <a:off x="768096" y="4526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2204" name="Google Shape;2204;p102"/>
          <p:cNvSpPr/>
          <p:nvPr/>
        </p:nvSpPr>
        <p:spPr>
          <a:xfrm>
            <a:off x="1344168" y="44897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Propensity scores near 0 or 1 in IPW cause:</a:t>
            </a:r>
            <a:endParaRPr sz="1400"/>
          </a:p>
        </p:txBody>
      </p:sp>
      <p:sp>
        <p:nvSpPr>
          <p:cNvPr id="2205" name="Google Shape;2205;p102"/>
          <p:cNvSpPr/>
          <p:nvPr/>
        </p:nvSpPr>
        <p:spPr>
          <a:xfrm>
            <a:off x="1344168" y="49469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Bias only      B) Extreme weights and high variance      C) Better overlap      D) No issue</a:t>
            </a:r>
            <a:endParaRPr sz="1200"/>
          </a:p>
        </p:txBody>
      </p:sp>
      <p:sp>
        <p:nvSpPr>
          <p:cNvPr id="2206" name="Google Shape;2206;p10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ADJUSTMENT</a:t>
            </a:r>
            <a:endParaRPr sz="900"/>
          </a:p>
        </p:txBody>
      </p:sp>
      <p:sp>
        <p:nvSpPr>
          <p:cNvPr id="2207" name="Google Shape;2207;p10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124  /  268</a:t>
            </a:r>
            <a:endParaRPr sz="900"/>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2212" name="Shape 2212"/>
        <p:cNvGrpSpPr/>
        <p:nvPr/>
      </p:nvGrpSpPr>
      <p:grpSpPr>
        <a:xfrm>
          <a:off x="0" y="0"/>
          <a:ext cx="0" cy="0"/>
          <a:chOff x="0" y="0"/>
          <a:chExt cx="0" cy="0"/>
        </a:xfrm>
      </p:grpSpPr>
      <p:sp>
        <p:nvSpPr>
          <p:cNvPr id="2213" name="Google Shape;2213;p103"/>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3 · HOUR 3</a:t>
            </a:r>
            <a:endParaRPr sz="1300"/>
          </a:p>
        </p:txBody>
      </p:sp>
      <p:sp>
        <p:nvSpPr>
          <p:cNvPr id="2214" name="Google Shape;2214;p103"/>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Difference-in-Differences &amp; Synthetic Control</a:t>
            </a:r>
            <a:endParaRPr sz="4000"/>
          </a:p>
        </p:txBody>
      </p:sp>
      <p:sp>
        <p:nvSpPr>
          <p:cNvPr id="2215" name="Google Shape;2215;p103"/>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Exploiting timing: parallel trends, two-way fixed effects, event-study diagnostics, and building a synthetic counterfactual.</a:t>
            </a:r>
            <a:endParaRPr sz="1500"/>
          </a:p>
        </p:txBody>
      </p:sp>
      <p:cxnSp>
        <p:nvCxnSpPr>
          <p:cNvPr id="2216" name="Google Shape;2216;p103"/>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2217" name="Google Shape;2217;p10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3</a:t>
            </a:r>
            <a:endParaRPr sz="900"/>
          </a:p>
        </p:txBody>
      </p:sp>
      <p:sp>
        <p:nvSpPr>
          <p:cNvPr id="2218" name="Google Shape;2218;p10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125  /  268</a:t>
            </a:r>
            <a:endParaRPr sz="900"/>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3" name="Shape 2223"/>
        <p:cNvGrpSpPr/>
        <p:nvPr/>
      </p:nvGrpSpPr>
      <p:grpSpPr>
        <a:xfrm>
          <a:off x="0" y="0"/>
          <a:ext cx="0" cy="0"/>
          <a:chOff x="0" y="0"/>
          <a:chExt cx="0" cy="0"/>
        </a:xfrm>
      </p:grpSpPr>
      <p:sp>
        <p:nvSpPr>
          <p:cNvPr id="2224" name="Google Shape;2224;p10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3</a:t>
            </a:r>
            <a:endParaRPr sz="1200"/>
          </a:p>
        </p:txBody>
      </p:sp>
      <p:sp>
        <p:nvSpPr>
          <p:cNvPr id="2225" name="Google Shape;2225;p10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Difference-in-Differences: The Idea</a:t>
            </a:r>
            <a:endParaRPr sz="3400"/>
          </a:p>
        </p:txBody>
      </p:sp>
      <p:sp>
        <p:nvSpPr>
          <p:cNvPr id="2226" name="Google Shape;2226;p104"/>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When a treatment switches on at a known time for some units, compare their before/after change to the change in never-treated units.</a:t>
            </a:r>
            <a:endParaRPr sz="1450"/>
          </a:p>
        </p:txBody>
      </p:sp>
      <p:sp>
        <p:nvSpPr>
          <p:cNvPr id="2227" name="Google Shape;2227;p104"/>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104"/>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double difference</a:t>
            </a:r>
            <a:endParaRPr sz="1500"/>
          </a:p>
        </p:txBody>
      </p:sp>
      <p:sp>
        <p:nvSpPr>
          <p:cNvPr id="2229" name="Google Shape;2229;p104"/>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τ = (Y₁ᵖᵒˢᵗ − Y₁ᵖʳᵉ) − (Y₀ᵖᵒˢᵗ − Y₀ᵖʳᵉ). Differencing removes fixed group and time effects.</a:t>
            </a:r>
            <a:endParaRPr sz="1250"/>
          </a:p>
        </p:txBody>
      </p:sp>
      <p:sp>
        <p:nvSpPr>
          <p:cNvPr id="2230" name="Google Shape;2230;p104"/>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104"/>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What it controls for</a:t>
            </a:r>
            <a:endParaRPr sz="1500"/>
          </a:p>
        </p:txBody>
      </p:sp>
      <p:sp>
        <p:nvSpPr>
          <p:cNvPr id="2232" name="Google Shape;2232;p104"/>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Any time-invariant difference between groups, and any common shock hitting both groups equally.</a:t>
            </a:r>
            <a:endParaRPr sz="1250"/>
          </a:p>
        </p:txBody>
      </p:sp>
      <p:sp>
        <p:nvSpPr>
          <p:cNvPr id="2233" name="Google Shape;2233;p104"/>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104"/>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What it cannot fix</a:t>
            </a:r>
            <a:endParaRPr sz="1500"/>
          </a:p>
        </p:txBody>
      </p:sp>
      <p:sp>
        <p:nvSpPr>
          <p:cNvPr id="2235" name="Google Shape;2235;p104"/>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Differential trends or shocks that hit the groups unequally — the identifying assumption's Achilles heel.</a:t>
            </a:r>
            <a:endParaRPr sz="1250"/>
          </a:p>
        </p:txBody>
      </p:sp>
      <p:sp>
        <p:nvSpPr>
          <p:cNvPr id="2236" name="Google Shape;2236;p104"/>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104"/>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ESTIMATOR</a:t>
            </a:r>
            <a:endParaRPr sz="1100"/>
          </a:p>
        </p:txBody>
      </p:sp>
      <p:sp>
        <p:nvSpPr>
          <p:cNvPr id="2238" name="Google Shape;2238;p104"/>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2×2</a:t>
            </a:r>
            <a:endParaRPr sz="5400"/>
          </a:p>
        </p:txBody>
      </p:sp>
      <p:sp>
        <p:nvSpPr>
          <p:cNvPr id="2239" name="Google Shape;2239;p104"/>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In its simplest form DiD is a table with two groups and two periods. A regression with group and time fixed effects plus an interaction generalises it.</a:t>
            </a:r>
            <a:endParaRPr sz="1300"/>
          </a:p>
        </p:txBody>
      </p:sp>
      <p:sp>
        <p:nvSpPr>
          <p:cNvPr id="2240" name="Google Shape;2240;p10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DID</a:t>
            </a:r>
            <a:endParaRPr sz="900"/>
          </a:p>
        </p:txBody>
      </p:sp>
      <p:sp>
        <p:nvSpPr>
          <p:cNvPr id="2241" name="Google Shape;2241;p10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126  /  268</a:t>
            </a:r>
            <a:endParaRPr sz="900"/>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3</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Difference-in-Differences on the Reminder Rollout</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Treated regions against never-treated regions, with the counterfactual the method assumes.</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TREND, NOT LEVEL</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DiD does not require the two groups to be at the same level — regions differ, and the region fixed effect absorbs that.</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It requires them to have MOVED THE SAME WAY absent the programme. The dashed orange line is that assumption drawn out, and the next slide is how you interrogate it.</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DID</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127  /  268</a:t>
            </a:r>
            <a:endParaRPr sz="900"/>
          </a:p>
        </p:txBody>
      </p:sp>
      <p:pic>
        <p:nvPicPr>
          <p:cNvPr id="279" name="Picture 278" descr="m5_did_two_lines.png"/>
          <p:cNvPicPr>
            <a:picLocks noChangeAspect="1"/>
          </p:cNvPicPr>
          <p:nvPr/>
        </p:nvPicPr>
        <p:blipFill>
          <a:blip r:embed="rId2"/>
          <a:stretch>
            <a:fillRect/>
          </a:stretch>
        </p:blipFill>
        <p:spPr>
          <a:xfrm>
            <a:off x="1032568" y="2249424"/>
            <a:ext cx="6859406" cy="3877056"/>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6" name="Shape 2246"/>
        <p:cNvGrpSpPr/>
        <p:nvPr/>
      </p:nvGrpSpPr>
      <p:grpSpPr>
        <a:xfrm>
          <a:off x="0" y="0"/>
          <a:ext cx="0" cy="0"/>
          <a:chOff x="0" y="0"/>
          <a:chExt cx="0" cy="0"/>
        </a:xfrm>
      </p:grpSpPr>
      <p:sp>
        <p:nvSpPr>
          <p:cNvPr id="2247" name="Google Shape;2247;p10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3</a:t>
            </a:r>
            <a:endParaRPr sz="1200"/>
          </a:p>
        </p:txBody>
      </p:sp>
      <p:sp>
        <p:nvSpPr>
          <p:cNvPr id="2248" name="Google Shape;2248;p10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Parallel Trends: The Load-Bearing Assumption</a:t>
            </a:r>
            <a:endParaRPr sz="3400"/>
          </a:p>
        </p:txBody>
      </p:sp>
      <p:sp>
        <p:nvSpPr>
          <p:cNvPr id="2249" name="Google Shape;2249;p105"/>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DiD is credible only if, absent treatment, the treated group's outcome would have moved parallel to the control group's.</a:t>
            </a:r>
            <a:endParaRPr sz="1450"/>
          </a:p>
        </p:txBody>
      </p:sp>
      <p:sp>
        <p:nvSpPr>
          <p:cNvPr id="2250" name="Google Shape;2250;p105"/>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105"/>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It is counterfactual</a:t>
            </a:r>
            <a:endParaRPr sz="1500"/>
          </a:p>
        </p:txBody>
      </p:sp>
      <p:sp>
        <p:nvSpPr>
          <p:cNvPr id="2252" name="Google Shape;2252;p105"/>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assumption is about the untreated potential outcome — unobservable after treatment, so never fully testable.</a:t>
            </a:r>
            <a:endParaRPr sz="1250"/>
          </a:p>
        </p:txBody>
      </p:sp>
      <p:sp>
        <p:nvSpPr>
          <p:cNvPr id="2253" name="Google Shape;2253;p105"/>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105"/>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Probe with pre-trends</a:t>
            </a:r>
            <a:endParaRPr sz="1500"/>
          </a:p>
        </p:txBody>
      </p:sp>
      <p:sp>
        <p:nvSpPr>
          <p:cNvPr id="2255" name="Google Shape;2255;p105"/>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Plot both groups before treatment; visibly parallel pre-periods make the assumption more plausible (not proven).</a:t>
            </a:r>
            <a:endParaRPr sz="1250"/>
          </a:p>
        </p:txBody>
      </p:sp>
      <p:sp>
        <p:nvSpPr>
          <p:cNvPr id="2256" name="Google Shape;2256;p105"/>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105"/>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Strengthen it</a:t>
            </a:r>
            <a:endParaRPr sz="1500"/>
          </a:p>
        </p:txBody>
      </p:sp>
      <p:sp>
        <p:nvSpPr>
          <p:cNvPr id="2258" name="Google Shape;2258;p105"/>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Add covariate-adjusted or conditional parallel trends, or use a comparison group chosen to match pre-trends.</a:t>
            </a:r>
            <a:endParaRPr sz="1250"/>
          </a:p>
        </p:txBody>
      </p:sp>
      <p:sp>
        <p:nvSpPr>
          <p:cNvPr id="2259" name="Google Shape;2259;p105"/>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105"/>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CAUTION</a:t>
            </a:r>
            <a:endParaRPr sz="1100"/>
          </a:p>
        </p:txBody>
      </p:sp>
      <p:sp>
        <p:nvSpPr>
          <p:cNvPr id="2261" name="Google Shape;2261;p105"/>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Parallel pre-trends support but do not guarantee parallel counterfactual trends — a shock that coincides with treatment can still break identification.</a:t>
            </a:r>
            <a:endParaRPr sz="1350"/>
          </a:p>
        </p:txBody>
      </p:sp>
      <p:sp>
        <p:nvSpPr>
          <p:cNvPr id="2262" name="Google Shape;2262;p10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DID</a:t>
            </a:r>
            <a:endParaRPr sz="900"/>
          </a:p>
        </p:txBody>
      </p:sp>
      <p:sp>
        <p:nvSpPr>
          <p:cNvPr id="2263" name="Google Shape;2263;p10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128  /  268</a:t>
            </a:r>
            <a:endParaRPr sz="900"/>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8" name="Shape 2268"/>
        <p:cNvGrpSpPr/>
        <p:nvPr/>
      </p:nvGrpSpPr>
      <p:grpSpPr>
        <a:xfrm>
          <a:off x="0" y="0"/>
          <a:ext cx="0" cy="0"/>
          <a:chOff x="0" y="0"/>
          <a:chExt cx="0" cy="0"/>
        </a:xfrm>
      </p:grpSpPr>
      <p:sp>
        <p:nvSpPr>
          <p:cNvPr id="2269" name="Google Shape;2269;p10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3</a:t>
            </a:r>
            <a:endParaRPr sz="1200"/>
          </a:p>
        </p:txBody>
      </p:sp>
      <p:sp>
        <p:nvSpPr>
          <p:cNvPr id="2270" name="Google Shape;2270;p10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Event Studies &amp; Dynamic Effects</a:t>
            </a:r>
            <a:endParaRPr sz="3400"/>
          </a:p>
        </p:txBody>
      </p:sp>
      <p:sp>
        <p:nvSpPr>
          <p:cNvPr id="2271" name="Google Shape;2271;p106"/>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Replace the single before/after contrast with an effect estimated at each period relative to treatment.</a:t>
            </a:r>
            <a:endParaRPr sz="1450"/>
          </a:p>
        </p:txBody>
      </p:sp>
      <p:sp>
        <p:nvSpPr>
          <p:cNvPr id="2272" name="Google Shape;2272;p106"/>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106"/>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Leads and lags</a:t>
            </a:r>
            <a:endParaRPr sz="1500"/>
          </a:p>
        </p:txBody>
      </p:sp>
      <p:sp>
        <p:nvSpPr>
          <p:cNvPr id="2274" name="Google Shape;2274;p106"/>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Estimate coefficients for periods before and after adoption; pre-period coefficients near zero support parallel trends.</a:t>
            </a:r>
            <a:endParaRPr sz="1250"/>
          </a:p>
        </p:txBody>
      </p:sp>
      <p:sp>
        <p:nvSpPr>
          <p:cNvPr id="2275" name="Google Shape;2275;p106"/>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106"/>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Reading the plot</a:t>
            </a:r>
            <a:endParaRPr sz="1500"/>
          </a:p>
        </p:txBody>
      </p:sp>
      <p:sp>
        <p:nvSpPr>
          <p:cNvPr id="2277" name="Google Shape;2277;p106"/>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Flat pre-trends then a clear post-jump is the signature of a credible dynamic effect.</a:t>
            </a:r>
            <a:endParaRPr sz="1250"/>
          </a:p>
        </p:txBody>
      </p:sp>
      <p:sp>
        <p:nvSpPr>
          <p:cNvPr id="2278" name="Google Shape;2278;p106"/>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106"/>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Staggered adoption warning</a:t>
            </a:r>
            <a:endParaRPr sz="1500"/>
          </a:p>
        </p:txBody>
      </p:sp>
      <p:sp>
        <p:nvSpPr>
          <p:cNvPr id="2280" name="Google Shape;2280;p106"/>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When units adopt at different times, naive two-way fixed effects can be badly biased by ‘forbidden’ comparisons.</a:t>
            </a:r>
            <a:endParaRPr sz="1250"/>
          </a:p>
        </p:txBody>
      </p:sp>
      <p:sp>
        <p:nvSpPr>
          <p:cNvPr id="2281" name="Google Shape;2281;p10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DID</a:t>
            </a:r>
            <a:endParaRPr sz="900"/>
          </a:p>
        </p:txBody>
      </p:sp>
      <p:sp>
        <p:nvSpPr>
          <p:cNvPr id="2282" name="Google Shape;2282;p10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129  /  268</a:t>
            </a:r>
            <a:endParaRPr sz="900"/>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3</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Event Study Is Where DiD Earns the Room</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same estimator on two panels: one where parallel trends hold, one where treated regions were already pulling away before activation.</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READ LEFT FIRST</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Always read the pre-period before the post-period. On the right, the effect starts before the cause — which is not a small problem, it is a disqualifying one.</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A flat, zero-centred pre-period does not prove parallel trends. It is simply the only check you have, and skipping it is indefensible.</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DID</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130  /  268</a:t>
            </a:r>
            <a:endParaRPr sz="900"/>
          </a:p>
        </p:txBody>
      </p:sp>
      <p:pic>
        <p:nvPicPr>
          <p:cNvPr id="279" name="Picture 278" descr="m5_event_study.png"/>
          <p:cNvPicPr>
            <a:picLocks noChangeAspect="1"/>
          </p:cNvPicPr>
          <p:nvPr/>
        </p:nvPicPr>
        <p:blipFill>
          <a:blip r:embed="rId2"/>
          <a:stretch>
            <a:fillRect/>
          </a:stretch>
        </p:blipFill>
        <p:spPr>
          <a:xfrm>
            <a:off x="566928" y="2554420"/>
            <a:ext cx="7790688" cy="3267062"/>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7" name="Shape 2287"/>
        <p:cNvGrpSpPr/>
        <p:nvPr/>
      </p:nvGrpSpPr>
      <p:grpSpPr>
        <a:xfrm>
          <a:off x="0" y="0"/>
          <a:ext cx="0" cy="0"/>
          <a:chOff x="0" y="0"/>
          <a:chExt cx="0" cy="0"/>
        </a:xfrm>
      </p:grpSpPr>
      <p:sp>
        <p:nvSpPr>
          <p:cNvPr id="2288" name="Google Shape;2288;p10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3</a:t>
            </a:r>
            <a:endParaRPr sz="1200"/>
          </a:p>
        </p:txBody>
      </p:sp>
      <p:sp>
        <p:nvSpPr>
          <p:cNvPr id="2289" name="Google Shape;2289;p10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Modern DiD: Staggered Adoption</a:t>
            </a:r>
            <a:endParaRPr sz="3400"/>
          </a:p>
        </p:txBody>
      </p:sp>
      <p:sp>
        <p:nvSpPr>
          <p:cNvPr id="2290" name="Google Shape;2290;p107"/>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wave of recent work shows the classic two-way fixed-effects estimator can mislead when treatment timing varies.</a:t>
            </a:r>
            <a:endParaRPr sz="1450"/>
          </a:p>
        </p:txBody>
      </p:sp>
      <p:sp>
        <p:nvSpPr>
          <p:cNvPr id="2291" name="Google Shape;2291;p107"/>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107"/>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problem</a:t>
            </a:r>
            <a:endParaRPr sz="1500"/>
          </a:p>
        </p:txBody>
      </p:sp>
      <p:sp>
        <p:nvSpPr>
          <p:cNvPr id="2293" name="Google Shape;2293;p107"/>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TWFE implicitly uses already-treated units as controls for later adopters, which can flip the sign of the estimate.</a:t>
            </a:r>
            <a:endParaRPr sz="1250"/>
          </a:p>
        </p:txBody>
      </p:sp>
      <p:sp>
        <p:nvSpPr>
          <p:cNvPr id="2294" name="Google Shape;2294;p107"/>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107"/>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diagnosis</a:t>
            </a:r>
            <a:endParaRPr sz="1500"/>
          </a:p>
        </p:txBody>
      </p:sp>
      <p:sp>
        <p:nvSpPr>
          <p:cNvPr id="2296" name="Google Shape;2296;p107"/>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Decompositions reveal how much weight comes from these problematic comparisons.</a:t>
            </a:r>
            <a:endParaRPr sz="1250"/>
          </a:p>
        </p:txBody>
      </p:sp>
      <p:sp>
        <p:nvSpPr>
          <p:cNvPr id="2297" name="Google Shape;2297;p107"/>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107"/>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fixes</a:t>
            </a:r>
            <a:endParaRPr sz="1500"/>
          </a:p>
        </p:txBody>
      </p:sp>
      <p:sp>
        <p:nvSpPr>
          <p:cNvPr id="2299" name="Google Shape;2299;p107"/>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Use heterogeneity-robust estimators (Callaway–Sant'Anna, Sun–Abraham, de Chaisemartin–D'Haultfœuille) that avoid bad contrasts.</a:t>
            </a:r>
            <a:endParaRPr sz="1250"/>
          </a:p>
        </p:txBody>
      </p:sp>
      <p:sp>
        <p:nvSpPr>
          <p:cNvPr id="2300" name="Google Shape;2300;p10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DID</a:t>
            </a:r>
            <a:endParaRPr sz="900"/>
          </a:p>
        </p:txBody>
      </p:sp>
      <p:sp>
        <p:nvSpPr>
          <p:cNvPr id="2301" name="Google Shape;2301;p10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131  /  268</a:t>
            </a:r>
            <a:endParaRPr sz="900"/>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6" name="Shape 2306"/>
        <p:cNvGrpSpPr/>
        <p:nvPr/>
      </p:nvGrpSpPr>
      <p:grpSpPr>
        <a:xfrm>
          <a:off x="0" y="0"/>
          <a:ext cx="0" cy="0"/>
          <a:chOff x="0" y="0"/>
          <a:chExt cx="0" cy="0"/>
        </a:xfrm>
      </p:grpSpPr>
      <p:sp>
        <p:nvSpPr>
          <p:cNvPr id="2307" name="Google Shape;2307;p10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3</a:t>
            </a:r>
            <a:endParaRPr sz="1200"/>
          </a:p>
        </p:txBody>
      </p:sp>
      <p:sp>
        <p:nvSpPr>
          <p:cNvPr id="2308" name="Google Shape;2308;p10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Synthetic Control</a:t>
            </a:r>
            <a:endParaRPr sz="3400"/>
          </a:p>
        </p:txBody>
      </p:sp>
      <p:sp>
        <p:nvSpPr>
          <p:cNvPr id="2309" name="Google Shape;2309;p108"/>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When there is one treated unit and many candidate controls, build a weighted blend of controls that tracks the treated unit before treatment.</a:t>
            </a:r>
            <a:endParaRPr sz="1450"/>
          </a:p>
        </p:txBody>
      </p:sp>
      <p:sp>
        <p:nvSpPr>
          <p:cNvPr id="2310" name="Google Shape;2310;p108"/>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108"/>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construction</a:t>
            </a:r>
            <a:endParaRPr sz="1500"/>
          </a:p>
        </p:txBody>
      </p:sp>
      <p:sp>
        <p:nvSpPr>
          <p:cNvPr id="2312" name="Google Shape;2312;p108"/>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Choose non-negative weights on control units so the synthetic unit matches the treated unit's pre-treatment path.</a:t>
            </a:r>
            <a:endParaRPr sz="1250"/>
          </a:p>
        </p:txBody>
      </p:sp>
      <p:sp>
        <p:nvSpPr>
          <p:cNvPr id="2313" name="Google Shape;2313;p108"/>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108"/>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estimate</a:t>
            </a:r>
            <a:endParaRPr sz="1500"/>
          </a:p>
        </p:txBody>
      </p:sp>
      <p:sp>
        <p:nvSpPr>
          <p:cNvPr id="2315" name="Google Shape;2315;p108"/>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post-treatment gap between the real and synthetic unit is the estimated effect.</a:t>
            </a:r>
            <a:endParaRPr sz="1250"/>
          </a:p>
        </p:txBody>
      </p:sp>
      <p:sp>
        <p:nvSpPr>
          <p:cNvPr id="2316" name="Google Shape;2316;p108"/>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108"/>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Inference</a:t>
            </a:r>
            <a:endParaRPr sz="1500"/>
          </a:p>
        </p:txBody>
      </p:sp>
      <p:sp>
        <p:nvSpPr>
          <p:cNvPr id="2318" name="Google Shape;2318;p108"/>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Use placebo tests — apply the method to untreated units — to judge whether the observed gap is unusual.</a:t>
            </a:r>
            <a:endParaRPr sz="1250"/>
          </a:p>
        </p:txBody>
      </p:sp>
      <p:sp>
        <p:nvSpPr>
          <p:cNvPr id="2319" name="Google Shape;2319;p108"/>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108"/>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USE CASE</a:t>
            </a:r>
            <a:endParaRPr sz="1100"/>
          </a:p>
        </p:txBody>
      </p:sp>
      <p:sp>
        <p:nvSpPr>
          <p:cNvPr id="2321" name="Google Shape;2321;p108"/>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1 vs many</a:t>
            </a:r>
            <a:endParaRPr sz="5400"/>
          </a:p>
        </p:txBody>
      </p:sp>
      <p:sp>
        <p:nvSpPr>
          <p:cNvPr id="2322" name="Google Shape;2322;p108"/>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Ideal for policy evaluation with a single treated region or firm and a donor pool of comparators — e.g. one province adopts a rule, others do not.</a:t>
            </a:r>
            <a:endParaRPr sz="1300"/>
          </a:p>
        </p:txBody>
      </p:sp>
      <p:sp>
        <p:nvSpPr>
          <p:cNvPr id="2323" name="Google Shape;2323;p10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DID</a:t>
            </a:r>
            <a:endParaRPr sz="900"/>
          </a:p>
        </p:txBody>
      </p:sp>
      <p:sp>
        <p:nvSpPr>
          <p:cNvPr id="2324" name="Google Shape;2324;p10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132  /  268</a:t>
            </a:r>
            <a:endParaRPr sz="900"/>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9" name="Shape 2329"/>
        <p:cNvGrpSpPr/>
        <p:nvPr/>
      </p:nvGrpSpPr>
      <p:grpSpPr>
        <a:xfrm>
          <a:off x="0" y="0"/>
          <a:ext cx="0" cy="0"/>
          <a:chOff x="0" y="0"/>
          <a:chExt cx="0" cy="0"/>
        </a:xfrm>
      </p:grpSpPr>
      <p:sp>
        <p:nvSpPr>
          <p:cNvPr id="2330" name="Google Shape;2330;p10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3</a:t>
            </a:r>
            <a:endParaRPr sz="1200"/>
          </a:p>
        </p:txBody>
      </p:sp>
      <p:sp>
        <p:nvSpPr>
          <p:cNvPr id="2331" name="Google Shape;2331;p10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Knowledge Check: DiD</a:t>
            </a:r>
            <a:endParaRPr sz="3400"/>
          </a:p>
        </p:txBody>
      </p:sp>
      <p:sp>
        <p:nvSpPr>
          <p:cNvPr id="2332" name="Google Shape;2332;p109"/>
          <p:cNvSpPr/>
          <p:nvPr/>
        </p:nvSpPr>
        <p:spPr>
          <a:xfrm>
            <a:off x="566928" y="178308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109"/>
          <p:cNvSpPr/>
          <p:nvPr/>
        </p:nvSpPr>
        <p:spPr>
          <a:xfrm>
            <a:off x="768096" y="196596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109"/>
          <p:cNvSpPr/>
          <p:nvPr/>
        </p:nvSpPr>
        <p:spPr>
          <a:xfrm>
            <a:off x="768096"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2335" name="Google Shape;2335;p109"/>
          <p:cNvSpPr/>
          <p:nvPr/>
        </p:nvSpPr>
        <p:spPr>
          <a:xfrm>
            <a:off x="1344168" y="19293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The key identifying assumption of DiD is:</a:t>
            </a:r>
            <a:endParaRPr sz="1400"/>
          </a:p>
        </p:txBody>
      </p:sp>
      <p:sp>
        <p:nvSpPr>
          <p:cNvPr id="2336" name="Google Shape;2336;p109"/>
          <p:cNvSpPr/>
          <p:nvPr/>
        </p:nvSpPr>
        <p:spPr>
          <a:xfrm>
            <a:off x="1344168" y="23865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No confounders      B) Parallel trends      C) Perfect overlap      D) A valid instrument</a:t>
            </a:r>
            <a:endParaRPr sz="1200"/>
          </a:p>
        </p:txBody>
      </p:sp>
      <p:sp>
        <p:nvSpPr>
          <p:cNvPr id="2337" name="Google Shape;2337;p109"/>
          <p:cNvSpPr/>
          <p:nvPr/>
        </p:nvSpPr>
        <p:spPr>
          <a:xfrm>
            <a:off x="566928" y="306324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109"/>
          <p:cNvSpPr/>
          <p:nvPr/>
        </p:nvSpPr>
        <p:spPr>
          <a:xfrm>
            <a:off x="768096" y="32461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109"/>
          <p:cNvSpPr/>
          <p:nvPr/>
        </p:nvSpPr>
        <p:spPr>
          <a:xfrm>
            <a:off x="768096"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2340" name="Google Shape;2340;p109"/>
          <p:cNvSpPr/>
          <p:nvPr/>
        </p:nvSpPr>
        <p:spPr>
          <a:xfrm>
            <a:off x="1344168" y="32095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Near-zero pre-period event-study coefficients provide evidence for:</a:t>
            </a:r>
            <a:endParaRPr sz="1400"/>
          </a:p>
        </p:txBody>
      </p:sp>
      <p:sp>
        <p:nvSpPr>
          <p:cNvPr id="2341" name="Google Shape;2341;p109"/>
          <p:cNvSpPr/>
          <p:nvPr/>
        </p:nvSpPr>
        <p:spPr>
          <a:xfrm>
            <a:off x="1344168" y="36667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A strong instrument      B) Parallel trends      C) No effect      D) Collider bias</a:t>
            </a:r>
            <a:endParaRPr sz="1200"/>
          </a:p>
        </p:txBody>
      </p:sp>
      <p:sp>
        <p:nvSpPr>
          <p:cNvPr id="2342" name="Google Shape;2342;p109"/>
          <p:cNvSpPr/>
          <p:nvPr/>
        </p:nvSpPr>
        <p:spPr>
          <a:xfrm>
            <a:off x="566928" y="434340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109"/>
          <p:cNvSpPr/>
          <p:nvPr/>
        </p:nvSpPr>
        <p:spPr>
          <a:xfrm>
            <a:off x="768096" y="452628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109"/>
          <p:cNvSpPr/>
          <p:nvPr/>
        </p:nvSpPr>
        <p:spPr>
          <a:xfrm>
            <a:off x="768096" y="4526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2345" name="Google Shape;2345;p109"/>
          <p:cNvSpPr/>
          <p:nvPr/>
        </p:nvSpPr>
        <p:spPr>
          <a:xfrm>
            <a:off x="1344168" y="44897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With staggered adoption, classic two-way fixed effects can be biased because it uses:</a:t>
            </a:r>
            <a:endParaRPr sz="1400"/>
          </a:p>
        </p:txBody>
      </p:sp>
      <p:sp>
        <p:nvSpPr>
          <p:cNvPr id="2346" name="Google Shape;2346;p109"/>
          <p:cNvSpPr/>
          <p:nvPr/>
        </p:nvSpPr>
        <p:spPr>
          <a:xfrm>
            <a:off x="1344168" y="49469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Too few controls      B) Already-treated units as controls      C) Only pre-periods      D) Random weights</a:t>
            </a:r>
            <a:endParaRPr sz="1200"/>
          </a:p>
        </p:txBody>
      </p:sp>
      <p:sp>
        <p:nvSpPr>
          <p:cNvPr id="2347" name="Google Shape;2347;p10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DID</a:t>
            </a:r>
            <a:endParaRPr sz="900"/>
          </a:p>
        </p:txBody>
      </p:sp>
      <p:sp>
        <p:nvSpPr>
          <p:cNvPr id="2348" name="Google Shape;2348;p10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133  /  268</a:t>
            </a:r>
            <a:endParaRPr sz="900"/>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2353" name="Shape 2353"/>
        <p:cNvGrpSpPr/>
        <p:nvPr/>
      </p:nvGrpSpPr>
      <p:grpSpPr>
        <a:xfrm>
          <a:off x="0" y="0"/>
          <a:ext cx="0" cy="0"/>
          <a:chOff x="0" y="0"/>
          <a:chExt cx="0" cy="0"/>
        </a:xfrm>
      </p:grpSpPr>
      <p:sp>
        <p:nvSpPr>
          <p:cNvPr id="2354" name="Google Shape;2354;p110"/>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3 · HOUR 4</a:t>
            </a:r>
            <a:endParaRPr sz="1300"/>
          </a:p>
        </p:txBody>
      </p:sp>
      <p:sp>
        <p:nvSpPr>
          <p:cNvPr id="2355" name="Google Shape;2355;p110"/>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Instrumental Variables &amp; Regression Discontinuity</a:t>
            </a:r>
            <a:endParaRPr sz="4000"/>
          </a:p>
        </p:txBody>
      </p:sp>
      <p:sp>
        <p:nvSpPr>
          <p:cNvPr id="2356" name="Google Shape;2356;p110"/>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Two designs that recover causal effects from as-if-random variation: an instrument that shifts treatment, and a threshold that assigns it.</a:t>
            </a:r>
            <a:endParaRPr sz="1500"/>
          </a:p>
        </p:txBody>
      </p:sp>
      <p:cxnSp>
        <p:nvCxnSpPr>
          <p:cNvPr id="2357" name="Google Shape;2357;p110"/>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2358" name="Google Shape;2358;p11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3</a:t>
            </a:r>
            <a:endParaRPr sz="900"/>
          </a:p>
        </p:txBody>
      </p:sp>
      <p:sp>
        <p:nvSpPr>
          <p:cNvPr id="2359" name="Google Shape;2359;p11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134  /  268</a:t>
            </a:r>
            <a:endParaRPr sz="900"/>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4" name="Shape 2364"/>
        <p:cNvGrpSpPr/>
        <p:nvPr/>
      </p:nvGrpSpPr>
      <p:grpSpPr>
        <a:xfrm>
          <a:off x="0" y="0"/>
          <a:ext cx="0" cy="0"/>
          <a:chOff x="0" y="0"/>
          <a:chExt cx="0" cy="0"/>
        </a:xfrm>
      </p:grpSpPr>
      <p:sp>
        <p:nvSpPr>
          <p:cNvPr id="2365" name="Google Shape;2365;p1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4</a:t>
            </a:r>
            <a:endParaRPr sz="1200"/>
          </a:p>
        </p:txBody>
      </p:sp>
      <p:sp>
        <p:nvSpPr>
          <p:cNvPr id="2366" name="Google Shape;2366;p1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Instrumental Variables: The Logic</a:t>
            </a:r>
            <a:endParaRPr sz="3400"/>
          </a:p>
        </p:txBody>
      </p:sp>
      <p:sp>
        <p:nvSpPr>
          <p:cNvPr id="2367" name="Google Shape;2367;p111"/>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When treatment is confounded, an instrument Z that affects Y only through T lets you isolate the causal effect.</a:t>
            </a:r>
            <a:endParaRPr sz="1450"/>
          </a:p>
        </p:txBody>
      </p:sp>
      <p:sp>
        <p:nvSpPr>
          <p:cNvPr id="2368" name="Google Shape;2368;p111"/>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111"/>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Relevance</a:t>
            </a:r>
            <a:endParaRPr sz="1500"/>
          </a:p>
        </p:txBody>
      </p:sp>
      <p:sp>
        <p:nvSpPr>
          <p:cNvPr id="2370" name="Google Shape;2370;p111"/>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Z must actually shift treatment: Cov(Z, T) ≠ 0. Weak instruments give unstable, biased estimates.</a:t>
            </a:r>
            <a:endParaRPr sz="1250"/>
          </a:p>
        </p:txBody>
      </p:sp>
      <p:sp>
        <p:nvSpPr>
          <p:cNvPr id="2371" name="Google Shape;2371;p111"/>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111"/>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Exclusion</a:t>
            </a:r>
            <a:endParaRPr sz="1500"/>
          </a:p>
        </p:txBody>
      </p:sp>
      <p:sp>
        <p:nvSpPr>
          <p:cNvPr id="2373" name="Google Shape;2373;p111"/>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Z affects Y only through T — no direct path and no back-channel. This is an assumption, not a testable fact.</a:t>
            </a:r>
            <a:endParaRPr sz="1250"/>
          </a:p>
        </p:txBody>
      </p:sp>
      <p:sp>
        <p:nvSpPr>
          <p:cNvPr id="2374" name="Google Shape;2374;p111"/>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111"/>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Independence</a:t>
            </a:r>
            <a:endParaRPr sz="1500"/>
          </a:p>
        </p:txBody>
      </p:sp>
      <p:sp>
        <p:nvSpPr>
          <p:cNvPr id="2376" name="Google Shape;2376;p111"/>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Z is as-good-as-randomly assigned with respect to the potential outcomes (no confounding of Z itself).</a:t>
            </a:r>
            <a:endParaRPr sz="1250"/>
          </a:p>
        </p:txBody>
      </p:sp>
      <p:sp>
        <p:nvSpPr>
          <p:cNvPr id="2377" name="Google Shape;2377;p111"/>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111"/>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ESTIMATOR</a:t>
            </a:r>
            <a:endParaRPr sz="1100"/>
          </a:p>
        </p:txBody>
      </p:sp>
      <p:sp>
        <p:nvSpPr>
          <p:cNvPr id="2379" name="Google Shape;2379;p111"/>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2SLS</a:t>
            </a:r>
            <a:endParaRPr sz="5400"/>
          </a:p>
        </p:txBody>
      </p:sp>
      <p:sp>
        <p:nvSpPr>
          <p:cNvPr id="2380" name="Google Shape;2380;p111"/>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Two-stage least squares: regress T on Z (first stage), then Y on the predicted T. The Wald ratio Cov(Z,Y)/Cov(Z,T) is its simplest form.</a:t>
            </a:r>
            <a:endParaRPr sz="1300"/>
          </a:p>
        </p:txBody>
      </p:sp>
      <p:sp>
        <p:nvSpPr>
          <p:cNvPr id="2381" name="Google Shape;2381;p1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IV</a:t>
            </a:r>
            <a:endParaRPr sz="900"/>
          </a:p>
        </p:txBody>
      </p:sp>
      <p:sp>
        <p:nvSpPr>
          <p:cNvPr id="2382" name="Google Shape;2382;p1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135  /  268</a:t>
            </a:r>
            <a:endParaRPr sz="900"/>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4</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An Instrument Is a Valve the Confounder Cannot Reach</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Distance to the nearest service centre shifts whether a citizen files online, but has no other route to completion.</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TWO OF THREE ARE FREE</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Relevance is testable — the first-stage F here is about 2,100.</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Exclusion is NOT testable, ever. It is defended with domain knowledge and attacked by reviewers, and it is where most instruments die. And what you recover is the LATE: the effect among compliers, not the population.</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IV</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136  /  268</a:t>
            </a:r>
            <a:endParaRPr sz="900"/>
          </a:p>
        </p:txBody>
      </p:sp>
      <p:pic>
        <p:nvPicPr>
          <p:cNvPr id="279" name="Picture 278" descr="m5_iv_valve.png"/>
          <p:cNvPicPr>
            <a:picLocks noChangeAspect="1"/>
          </p:cNvPicPr>
          <p:nvPr/>
        </p:nvPicPr>
        <p:blipFill>
          <a:blip r:embed="rId2"/>
          <a:stretch>
            <a:fillRect/>
          </a:stretch>
        </p:blipFill>
        <p:spPr>
          <a:xfrm>
            <a:off x="666337" y="2249424"/>
            <a:ext cx="7591868" cy="3877056"/>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7" name="Shape 2387"/>
        <p:cNvGrpSpPr/>
        <p:nvPr/>
      </p:nvGrpSpPr>
      <p:grpSpPr>
        <a:xfrm>
          <a:off x="0" y="0"/>
          <a:ext cx="0" cy="0"/>
          <a:chOff x="0" y="0"/>
          <a:chExt cx="0" cy="0"/>
        </a:xfrm>
      </p:grpSpPr>
      <p:sp>
        <p:nvSpPr>
          <p:cNvPr id="2388" name="Google Shape;2388;p11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4</a:t>
            </a:r>
            <a:endParaRPr sz="1200"/>
          </a:p>
        </p:txBody>
      </p:sp>
      <p:sp>
        <p:nvSpPr>
          <p:cNvPr id="2389" name="Google Shape;2389;p11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What IV Actually Estimates: LATE</a:t>
            </a:r>
            <a:endParaRPr sz="3400"/>
          </a:p>
        </p:txBody>
      </p:sp>
      <p:sp>
        <p:nvSpPr>
          <p:cNvPr id="2390" name="Google Shape;2390;p112"/>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With imperfect compliance, IV recovers the effect for a specific, often invisible, subpopulation.</a:t>
            </a:r>
            <a:endParaRPr sz="1450"/>
          </a:p>
        </p:txBody>
      </p:sp>
      <p:sp>
        <p:nvSpPr>
          <p:cNvPr id="2391" name="Google Shape;2391;p112"/>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112"/>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Compliers only</a:t>
            </a:r>
            <a:endParaRPr sz="1500"/>
          </a:p>
        </p:txBody>
      </p:sp>
      <p:sp>
        <p:nvSpPr>
          <p:cNvPr id="2393" name="Google Shape;2393;p112"/>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Under monotonicity, IV identifies the Local Average Treatment Effect — the effect for units whose treatment the instrument moves.</a:t>
            </a:r>
            <a:endParaRPr sz="1250"/>
          </a:p>
        </p:txBody>
      </p:sp>
      <p:sp>
        <p:nvSpPr>
          <p:cNvPr id="2394" name="Google Shape;2394;p112"/>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112"/>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Not the ATE</a:t>
            </a:r>
            <a:endParaRPr sz="1500"/>
          </a:p>
        </p:txBody>
      </p:sp>
      <p:sp>
        <p:nvSpPr>
          <p:cNvPr id="2396" name="Google Shape;2396;p112"/>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It says nothing about always-takers or never-takers; generalise with care.</a:t>
            </a:r>
            <a:endParaRPr sz="1250"/>
          </a:p>
        </p:txBody>
      </p:sp>
      <p:sp>
        <p:nvSpPr>
          <p:cNvPr id="2397" name="Google Shape;2397;p112"/>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112"/>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four types</a:t>
            </a:r>
            <a:endParaRPr sz="1500"/>
          </a:p>
        </p:txBody>
      </p:sp>
      <p:sp>
        <p:nvSpPr>
          <p:cNvPr id="2399" name="Google Shape;2399;p112"/>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Compliers, always-takers, never-takers, and (ruled out by monotonicity) defiers.</a:t>
            </a:r>
            <a:endParaRPr sz="1250"/>
          </a:p>
        </p:txBody>
      </p:sp>
      <p:sp>
        <p:nvSpPr>
          <p:cNvPr id="2400" name="Google Shape;2400;p112"/>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112"/>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INTERPRETATION</a:t>
            </a:r>
            <a:endParaRPr sz="1100"/>
          </a:p>
        </p:txBody>
      </p:sp>
      <p:sp>
        <p:nvSpPr>
          <p:cNvPr id="2402" name="Google Shape;2402;p112"/>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‘The effect’ from IV is the effect on those the instrument nudges. A different instrument can yield a different, equally valid, LATE.</a:t>
            </a:r>
            <a:endParaRPr sz="1350"/>
          </a:p>
        </p:txBody>
      </p:sp>
      <p:sp>
        <p:nvSpPr>
          <p:cNvPr id="2403" name="Google Shape;2403;p11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IV</a:t>
            </a:r>
            <a:endParaRPr sz="900"/>
          </a:p>
        </p:txBody>
      </p:sp>
      <p:sp>
        <p:nvSpPr>
          <p:cNvPr id="2404" name="Google Shape;2404;p11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137  /  268</a:t>
            </a:r>
            <a:endParaRPr sz="900"/>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9" name="Shape 2409"/>
        <p:cNvGrpSpPr/>
        <p:nvPr/>
      </p:nvGrpSpPr>
      <p:grpSpPr>
        <a:xfrm>
          <a:off x="0" y="0"/>
          <a:ext cx="0" cy="0"/>
          <a:chOff x="0" y="0"/>
          <a:chExt cx="0" cy="0"/>
        </a:xfrm>
      </p:grpSpPr>
      <p:sp>
        <p:nvSpPr>
          <p:cNvPr id="2410" name="Google Shape;2410;p11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4</a:t>
            </a:r>
            <a:endParaRPr sz="1200"/>
          </a:p>
        </p:txBody>
      </p:sp>
      <p:sp>
        <p:nvSpPr>
          <p:cNvPr id="2411" name="Google Shape;2411;p11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Weak Instruments &amp; IV Pitfalls</a:t>
            </a:r>
            <a:endParaRPr sz="3400"/>
          </a:p>
        </p:txBody>
      </p:sp>
      <p:sp>
        <p:nvSpPr>
          <p:cNvPr id="2412" name="Google Shape;2412;p113"/>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IV is powerful and fragile in equal measure; the failure modes are specific and diagnosable.</a:t>
            </a:r>
            <a:endParaRPr sz="1450"/>
          </a:p>
        </p:txBody>
      </p:sp>
      <p:sp>
        <p:nvSpPr>
          <p:cNvPr id="2413" name="Google Shape;2413;p113"/>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113"/>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Weak-instrument bias</a:t>
            </a:r>
            <a:endParaRPr sz="1500"/>
          </a:p>
        </p:txBody>
      </p:sp>
      <p:sp>
        <p:nvSpPr>
          <p:cNvPr id="2415" name="Google Shape;2415;p113"/>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low first-stage F-statistic (rule of thumb: below ~10) signals bias toward OLS and unreliable inference.</a:t>
            </a:r>
            <a:endParaRPr sz="1250"/>
          </a:p>
        </p:txBody>
      </p:sp>
      <p:sp>
        <p:nvSpPr>
          <p:cNvPr id="2416" name="Google Shape;2416;p113"/>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113"/>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Exclusion violations</a:t>
            </a:r>
            <a:endParaRPr sz="1500"/>
          </a:p>
        </p:txBody>
      </p:sp>
      <p:sp>
        <p:nvSpPr>
          <p:cNvPr id="2418" name="Google Shape;2418;p113"/>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Any direct Z→Y path, however small, contaminates the estimate — and cannot be tested from the data alone.</a:t>
            </a:r>
            <a:endParaRPr sz="1250"/>
          </a:p>
        </p:txBody>
      </p:sp>
      <p:sp>
        <p:nvSpPr>
          <p:cNvPr id="2419" name="Google Shape;2419;p113"/>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113"/>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Defend the design</a:t>
            </a:r>
            <a:endParaRPr sz="1500"/>
          </a:p>
        </p:txBody>
      </p:sp>
      <p:sp>
        <p:nvSpPr>
          <p:cNvPr id="2421" name="Google Shape;2421;p113"/>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Report the first-stage strength, argue exclusion from domain knowledge, and probe robustness.</a:t>
            </a:r>
            <a:endParaRPr sz="1250"/>
          </a:p>
        </p:txBody>
      </p:sp>
      <p:sp>
        <p:nvSpPr>
          <p:cNvPr id="2422" name="Google Shape;2422;p11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IV</a:t>
            </a:r>
            <a:endParaRPr sz="900"/>
          </a:p>
        </p:txBody>
      </p:sp>
      <p:sp>
        <p:nvSpPr>
          <p:cNvPr id="2423" name="Google Shape;2423;p11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138  /  268</a:t>
            </a:r>
            <a:endParaRPr sz="900"/>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28" name="Shape 2428"/>
        <p:cNvGrpSpPr/>
        <p:nvPr/>
      </p:nvGrpSpPr>
      <p:grpSpPr>
        <a:xfrm>
          <a:off x="0" y="0"/>
          <a:ext cx="0" cy="0"/>
          <a:chOff x="0" y="0"/>
          <a:chExt cx="0" cy="0"/>
        </a:xfrm>
      </p:grpSpPr>
      <p:sp>
        <p:nvSpPr>
          <p:cNvPr id="2429" name="Google Shape;2429;p11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4</a:t>
            </a:r>
            <a:endParaRPr sz="1200"/>
          </a:p>
        </p:txBody>
      </p:sp>
      <p:sp>
        <p:nvSpPr>
          <p:cNvPr id="2430" name="Google Shape;2430;p11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Regression Discontinuity: The Idea</a:t>
            </a:r>
            <a:endParaRPr sz="3400"/>
          </a:p>
        </p:txBody>
      </p:sp>
      <p:sp>
        <p:nvSpPr>
          <p:cNvPr id="2431" name="Google Shape;2431;p114"/>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When treatment is assigned by whether a running variable crosses a threshold, units just above and just below are comparable — a local experiment.</a:t>
            </a:r>
            <a:endParaRPr sz="1450"/>
          </a:p>
        </p:txBody>
      </p:sp>
      <p:sp>
        <p:nvSpPr>
          <p:cNvPr id="2432" name="Google Shape;2432;p114"/>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114"/>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As-if random at the cutoff</a:t>
            </a:r>
            <a:endParaRPr sz="1500"/>
          </a:p>
        </p:txBody>
      </p:sp>
      <p:sp>
        <p:nvSpPr>
          <p:cNvPr id="2434" name="Google Shape;2434;p114"/>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Just around the threshold, which side a unit lands on is essentially chance, so the two sides are comparable.</a:t>
            </a:r>
            <a:endParaRPr sz="1250"/>
          </a:p>
        </p:txBody>
      </p:sp>
      <p:sp>
        <p:nvSpPr>
          <p:cNvPr id="2435" name="Google Shape;2435;p114"/>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114"/>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Sharp vs. fuzzy</a:t>
            </a:r>
            <a:endParaRPr sz="1500"/>
          </a:p>
        </p:txBody>
      </p:sp>
      <p:sp>
        <p:nvSpPr>
          <p:cNvPr id="2437" name="Google Shape;2437;p114"/>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Sharp: crossing the cutoff perfectly determines treatment. Fuzzy: it only changes the probability (IV at the boundary).</a:t>
            </a:r>
            <a:endParaRPr sz="1250"/>
          </a:p>
        </p:txBody>
      </p:sp>
      <p:sp>
        <p:nvSpPr>
          <p:cNvPr id="2438" name="Google Shape;2438;p114"/>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114"/>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estimate</a:t>
            </a:r>
            <a:endParaRPr sz="1500"/>
          </a:p>
        </p:txBody>
      </p:sp>
      <p:sp>
        <p:nvSpPr>
          <p:cNvPr id="2440" name="Google Shape;2440;p114"/>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jump in the outcome at the cutoff is the local effect for units near the threshold.</a:t>
            </a:r>
            <a:endParaRPr sz="1250"/>
          </a:p>
        </p:txBody>
      </p:sp>
      <p:sp>
        <p:nvSpPr>
          <p:cNvPr id="2441" name="Google Shape;2441;p114"/>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114"/>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ESTIMAND</a:t>
            </a:r>
            <a:endParaRPr sz="1100"/>
          </a:p>
        </p:txBody>
      </p:sp>
      <p:sp>
        <p:nvSpPr>
          <p:cNvPr id="2443" name="Google Shape;2443;p114"/>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Local</a:t>
            </a:r>
            <a:endParaRPr sz="5400"/>
          </a:p>
        </p:txBody>
      </p:sp>
      <p:sp>
        <p:nvSpPr>
          <p:cNvPr id="2444" name="Google Shape;2444;p114"/>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RDD identifies the effect at the cutoff. Bandwidth choice trades bias (wide) against variance (narrow); report robustness to it.</a:t>
            </a:r>
            <a:endParaRPr sz="1300"/>
          </a:p>
        </p:txBody>
      </p:sp>
      <p:sp>
        <p:nvSpPr>
          <p:cNvPr id="2445" name="Google Shape;2445;p11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RDD</a:t>
            </a:r>
            <a:endParaRPr sz="900"/>
          </a:p>
        </p:txBody>
      </p:sp>
      <p:sp>
        <p:nvSpPr>
          <p:cNvPr id="2446" name="Google Shape;2446;p11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139  /  268</a:t>
            </a:r>
            <a:endParaRPr sz="900"/>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1" name="Shape 2451"/>
        <p:cNvGrpSpPr/>
        <p:nvPr/>
      </p:nvGrpSpPr>
      <p:grpSpPr>
        <a:xfrm>
          <a:off x="0" y="0"/>
          <a:ext cx="0" cy="0"/>
          <a:chOff x="0" y="0"/>
          <a:chExt cx="0" cy="0"/>
        </a:xfrm>
      </p:grpSpPr>
      <p:sp>
        <p:nvSpPr>
          <p:cNvPr id="2452" name="Google Shape;2452;p11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4</a:t>
            </a:r>
            <a:endParaRPr sz="1200"/>
          </a:p>
        </p:txBody>
      </p:sp>
      <p:sp>
        <p:nvSpPr>
          <p:cNvPr id="2453" name="Google Shape;2453;p11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RDD Validity Checks</a:t>
            </a:r>
            <a:endParaRPr sz="3400"/>
          </a:p>
        </p:txBody>
      </p:sp>
      <p:sp>
        <p:nvSpPr>
          <p:cNvPr id="2454" name="Google Shape;2454;p115"/>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design is credible only if units cannot precisely control which side of the cutoff they land on.</a:t>
            </a:r>
            <a:endParaRPr sz="1450"/>
          </a:p>
        </p:txBody>
      </p:sp>
      <p:sp>
        <p:nvSpPr>
          <p:cNvPr id="2455" name="Google Shape;2455;p115"/>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115"/>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No manipulation</a:t>
            </a:r>
            <a:endParaRPr sz="1500"/>
          </a:p>
        </p:txBody>
      </p:sp>
      <p:sp>
        <p:nvSpPr>
          <p:cNvPr id="2457" name="Google Shape;2457;p115"/>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Test for bunching of the running variable at the threshold (a density test); a spike suggests gaming.</a:t>
            </a:r>
            <a:endParaRPr sz="1250"/>
          </a:p>
        </p:txBody>
      </p:sp>
      <p:sp>
        <p:nvSpPr>
          <p:cNvPr id="2458" name="Google Shape;2458;p115"/>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115"/>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Covariate continuity</a:t>
            </a:r>
            <a:endParaRPr sz="1500"/>
          </a:p>
        </p:txBody>
      </p:sp>
      <p:sp>
        <p:nvSpPr>
          <p:cNvPr id="2460" name="Google Shape;2460;p115"/>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Pre-treatment covariates should be smooth through the cutoff — a jump signals a confounded discontinuity.</a:t>
            </a:r>
            <a:endParaRPr sz="1250"/>
          </a:p>
        </p:txBody>
      </p:sp>
      <p:sp>
        <p:nvSpPr>
          <p:cNvPr id="2461" name="Google Shape;2461;p115"/>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115"/>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Bandwidth &amp; functional form</a:t>
            </a:r>
            <a:endParaRPr sz="1500"/>
          </a:p>
        </p:txBody>
      </p:sp>
      <p:sp>
        <p:nvSpPr>
          <p:cNvPr id="2463" name="Google Shape;2463;p115"/>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Show the estimate is stable across sensible bandwidths and local polynomial orders.</a:t>
            </a:r>
            <a:endParaRPr sz="1250"/>
          </a:p>
        </p:txBody>
      </p:sp>
      <p:sp>
        <p:nvSpPr>
          <p:cNvPr id="2464" name="Google Shape;2464;p11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RDD</a:t>
            </a:r>
            <a:endParaRPr sz="900"/>
          </a:p>
        </p:txBody>
      </p:sp>
      <p:sp>
        <p:nvSpPr>
          <p:cNvPr id="2465" name="Google Shape;2465;p11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140  /  268</a:t>
            </a:r>
            <a:endParaRPr sz="900"/>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0" name="Shape 2470"/>
        <p:cNvGrpSpPr/>
        <p:nvPr/>
      </p:nvGrpSpPr>
      <p:grpSpPr>
        <a:xfrm>
          <a:off x="0" y="0"/>
          <a:ext cx="0" cy="0"/>
          <a:chOff x="0" y="0"/>
          <a:chExt cx="0" cy="0"/>
        </a:xfrm>
      </p:grpSpPr>
      <p:sp>
        <p:nvSpPr>
          <p:cNvPr id="2471" name="Google Shape;2471;p11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4</a:t>
            </a:r>
            <a:endParaRPr sz="1200"/>
          </a:p>
        </p:txBody>
      </p:sp>
      <p:sp>
        <p:nvSpPr>
          <p:cNvPr id="2472" name="Google Shape;2472;p11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IV vs. RDD</a:t>
            </a:r>
            <a:endParaRPr sz="3400"/>
          </a:p>
        </p:txBody>
      </p:sp>
      <p:sp>
        <p:nvSpPr>
          <p:cNvPr id="2473" name="Google Shape;2473;p116"/>
          <p:cNvSpPr/>
          <p:nvPr/>
        </p:nvSpPr>
        <p:spPr>
          <a:xfrm>
            <a:off x="566928" y="1828800"/>
            <a:ext cx="5117440" cy="4160520"/>
          </a:xfrm>
          <a:prstGeom prst="roundRect">
            <a:avLst>
              <a:gd fmla="val 2198"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116"/>
          <p:cNvSpPr/>
          <p:nvPr/>
        </p:nvSpPr>
        <p:spPr>
          <a:xfrm>
            <a:off x="859536" y="2084832"/>
            <a:ext cx="45322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INSTRUMENTAL VARIABLES</a:t>
            </a:r>
            <a:endParaRPr sz="1100"/>
          </a:p>
        </p:txBody>
      </p:sp>
      <p:sp>
        <p:nvSpPr>
          <p:cNvPr id="2475" name="Google Shape;2475;p116"/>
          <p:cNvSpPr/>
          <p:nvPr/>
        </p:nvSpPr>
        <p:spPr>
          <a:xfrm>
            <a:off x="859536" y="2377440"/>
            <a:ext cx="45322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Exploit a Nudge</a:t>
            </a:r>
            <a:endParaRPr sz="2000"/>
          </a:p>
        </p:txBody>
      </p:sp>
      <p:sp>
        <p:nvSpPr>
          <p:cNvPr id="2476" name="Google Shape;2476;p116"/>
          <p:cNvSpPr/>
          <p:nvPr/>
        </p:nvSpPr>
        <p:spPr>
          <a:xfrm>
            <a:off x="877824" y="3072384"/>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116"/>
          <p:cNvSpPr/>
          <p:nvPr/>
        </p:nvSpPr>
        <p:spPr>
          <a:xfrm>
            <a:off x="1115568" y="3017520"/>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Needs a variable that shifts treatment only.</a:t>
            </a:r>
            <a:endParaRPr sz="1250"/>
          </a:p>
        </p:txBody>
      </p:sp>
      <p:sp>
        <p:nvSpPr>
          <p:cNvPr id="2478" name="Google Shape;2478;p116"/>
          <p:cNvSpPr/>
          <p:nvPr/>
        </p:nvSpPr>
        <p:spPr>
          <a:xfrm>
            <a:off x="877824" y="3694176"/>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116"/>
          <p:cNvSpPr/>
          <p:nvPr/>
        </p:nvSpPr>
        <p:spPr>
          <a:xfrm>
            <a:off x="1115568" y="3639312"/>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Estimates LATE for compliers.</a:t>
            </a:r>
            <a:endParaRPr sz="1250"/>
          </a:p>
        </p:txBody>
      </p:sp>
      <p:sp>
        <p:nvSpPr>
          <p:cNvPr id="2480" name="Google Shape;2480;p116"/>
          <p:cNvSpPr/>
          <p:nvPr/>
        </p:nvSpPr>
        <p:spPr>
          <a:xfrm>
            <a:off x="877824" y="4315968"/>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116"/>
          <p:cNvSpPr/>
          <p:nvPr/>
        </p:nvSpPr>
        <p:spPr>
          <a:xfrm>
            <a:off x="1115568" y="4261104"/>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Fragile to weak instruments and exclusion.</a:t>
            </a:r>
            <a:endParaRPr sz="1250"/>
          </a:p>
        </p:txBody>
      </p:sp>
      <p:sp>
        <p:nvSpPr>
          <p:cNvPr id="2482" name="Google Shape;2482;p116"/>
          <p:cNvSpPr/>
          <p:nvPr/>
        </p:nvSpPr>
        <p:spPr>
          <a:xfrm>
            <a:off x="877824" y="4937760"/>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116"/>
          <p:cNvSpPr/>
          <p:nvPr/>
        </p:nvSpPr>
        <p:spPr>
          <a:xfrm>
            <a:off x="1115568" y="4882896"/>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Powerful when a credible instrument exists.</a:t>
            </a:r>
            <a:endParaRPr sz="1250"/>
          </a:p>
        </p:txBody>
      </p:sp>
      <p:sp>
        <p:nvSpPr>
          <p:cNvPr id="2484" name="Google Shape;2484;p116"/>
          <p:cNvSpPr/>
          <p:nvPr/>
        </p:nvSpPr>
        <p:spPr>
          <a:xfrm>
            <a:off x="6507328" y="1828800"/>
            <a:ext cx="5117440" cy="4160520"/>
          </a:xfrm>
          <a:prstGeom prst="roundRect">
            <a:avLst>
              <a:gd fmla="val 2198" name="adj"/>
            </a:avLst>
          </a:prstGeom>
          <a:solidFill>
            <a:srgbClr val="16233F"/>
          </a:solidFill>
          <a:ln cap="flat" cmpd="sng" w="12700">
            <a:solidFill>
              <a:srgbClr val="1623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116"/>
          <p:cNvSpPr/>
          <p:nvPr/>
        </p:nvSpPr>
        <p:spPr>
          <a:xfrm>
            <a:off x="6799936" y="2084832"/>
            <a:ext cx="45322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REGRESSION DISCONTINUITY</a:t>
            </a:r>
            <a:endParaRPr sz="1100"/>
          </a:p>
        </p:txBody>
      </p:sp>
      <p:sp>
        <p:nvSpPr>
          <p:cNvPr id="2486" name="Google Shape;2486;p116"/>
          <p:cNvSpPr/>
          <p:nvPr/>
        </p:nvSpPr>
        <p:spPr>
          <a:xfrm>
            <a:off x="6799936" y="2377440"/>
            <a:ext cx="45322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Exploit a Threshold</a:t>
            </a:r>
            <a:endParaRPr sz="2000"/>
          </a:p>
        </p:txBody>
      </p:sp>
      <p:sp>
        <p:nvSpPr>
          <p:cNvPr id="2487" name="Google Shape;2487;p116"/>
          <p:cNvSpPr/>
          <p:nvPr/>
        </p:nvSpPr>
        <p:spPr>
          <a:xfrm>
            <a:off x="6818224" y="3072384"/>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116"/>
          <p:cNvSpPr/>
          <p:nvPr/>
        </p:nvSpPr>
        <p:spPr>
          <a:xfrm>
            <a:off x="7055968" y="3017520"/>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Needs a cutoff rule on a running variable.</a:t>
            </a:r>
            <a:endParaRPr sz="1250"/>
          </a:p>
        </p:txBody>
      </p:sp>
      <p:sp>
        <p:nvSpPr>
          <p:cNvPr id="2489" name="Google Shape;2489;p116"/>
          <p:cNvSpPr/>
          <p:nvPr/>
        </p:nvSpPr>
        <p:spPr>
          <a:xfrm>
            <a:off x="6818224" y="3694176"/>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116"/>
          <p:cNvSpPr/>
          <p:nvPr/>
        </p:nvSpPr>
        <p:spPr>
          <a:xfrm>
            <a:off x="7055968" y="3639312"/>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Estimates a local effect at the cutoff.</a:t>
            </a:r>
            <a:endParaRPr sz="1250"/>
          </a:p>
        </p:txBody>
      </p:sp>
      <p:sp>
        <p:nvSpPr>
          <p:cNvPr id="2491" name="Google Shape;2491;p116"/>
          <p:cNvSpPr/>
          <p:nvPr/>
        </p:nvSpPr>
        <p:spPr>
          <a:xfrm>
            <a:off x="6818224" y="4315968"/>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116"/>
          <p:cNvSpPr/>
          <p:nvPr/>
        </p:nvSpPr>
        <p:spPr>
          <a:xfrm>
            <a:off x="7055968" y="4261104"/>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Fragile to manipulation and bandwidth choice.</a:t>
            </a:r>
            <a:endParaRPr sz="1250"/>
          </a:p>
        </p:txBody>
      </p:sp>
      <p:sp>
        <p:nvSpPr>
          <p:cNvPr id="2493" name="Google Shape;2493;p116"/>
          <p:cNvSpPr/>
          <p:nvPr/>
        </p:nvSpPr>
        <p:spPr>
          <a:xfrm>
            <a:off x="6818224" y="4937760"/>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116"/>
          <p:cNvSpPr/>
          <p:nvPr/>
        </p:nvSpPr>
        <p:spPr>
          <a:xfrm>
            <a:off x="7055968" y="4882896"/>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Highly credible when the cutoff is real and unforeseeable.</a:t>
            </a:r>
            <a:endParaRPr sz="1250"/>
          </a:p>
        </p:txBody>
      </p:sp>
      <p:sp>
        <p:nvSpPr>
          <p:cNvPr id="2495" name="Google Shape;2495;p116"/>
          <p:cNvSpPr/>
          <p:nvPr/>
        </p:nvSpPr>
        <p:spPr>
          <a:xfrm>
            <a:off x="5803240" y="3616452"/>
            <a:ext cx="585216" cy="585216"/>
          </a:xfrm>
          <a:prstGeom prst="ellipse">
            <a:avLst/>
          </a:prstGeom>
          <a:solidFill>
            <a:srgbClr val="3FA9E0"/>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116"/>
          <p:cNvSpPr/>
          <p:nvPr/>
        </p:nvSpPr>
        <p:spPr>
          <a:xfrm>
            <a:off x="5803240" y="361645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lang="en-US" sz="1500">
                <a:solidFill>
                  <a:srgbClr val="FFFFFF"/>
                </a:solidFill>
                <a:latin typeface="Cambria"/>
                <a:ea typeface="Cambria"/>
                <a:cs typeface="Cambria"/>
                <a:sym typeface="Cambria"/>
              </a:rPr>
              <a:t>VS</a:t>
            </a:r>
            <a:endParaRPr sz="1500"/>
          </a:p>
        </p:txBody>
      </p:sp>
      <p:sp>
        <p:nvSpPr>
          <p:cNvPr id="2497" name="Google Shape;2497;p11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QUASI-EXPERIMENTS</a:t>
            </a:r>
            <a:endParaRPr sz="900"/>
          </a:p>
        </p:txBody>
      </p:sp>
      <p:sp>
        <p:nvSpPr>
          <p:cNvPr id="2498" name="Google Shape;2498;p11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141  /  268</a:t>
            </a:r>
            <a:endParaRPr sz="900"/>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3" name="Shape 2503"/>
        <p:cNvGrpSpPr/>
        <p:nvPr/>
      </p:nvGrpSpPr>
      <p:grpSpPr>
        <a:xfrm>
          <a:off x="0" y="0"/>
          <a:ext cx="0" cy="0"/>
          <a:chOff x="0" y="0"/>
          <a:chExt cx="0" cy="0"/>
        </a:xfrm>
      </p:grpSpPr>
      <p:sp>
        <p:nvSpPr>
          <p:cNvPr id="2504" name="Google Shape;2504;p11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4</a:t>
            </a:r>
            <a:endParaRPr sz="1200"/>
          </a:p>
        </p:txBody>
      </p:sp>
      <p:sp>
        <p:nvSpPr>
          <p:cNvPr id="2505" name="Google Shape;2505;p11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Knowledge Check: IV &amp; RDD</a:t>
            </a:r>
            <a:endParaRPr sz="3400"/>
          </a:p>
        </p:txBody>
      </p:sp>
      <p:sp>
        <p:nvSpPr>
          <p:cNvPr id="2506" name="Google Shape;2506;p117"/>
          <p:cNvSpPr/>
          <p:nvPr/>
        </p:nvSpPr>
        <p:spPr>
          <a:xfrm>
            <a:off x="566928" y="178308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117"/>
          <p:cNvSpPr/>
          <p:nvPr/>
        </p:nvSpPr>
        <p:spPr>
          <a:xfrm>
            <a:off x="768096" y="196596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117"/>
          <p:cNvSpPr/>
          <p:nvPr/>
        </p:nvSpPr>
        <p:spPr>
          <a:xfrm>
            <a:off x="768096"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2509" name="Google Shape;2509;p117"/>
          <p:cNvSpPr/>
          <p:nvPr/>
        </p:nvSpPr>
        <p:spPr>
          <a:xfrm>
            <a:off x="1344168" y="19293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A first-stage F-statistic of 3 indicates:</a:t>
            </a:r>
            <a:endParaRPr sz="1400"/>
          </a:p>
        </p:txBody>
      </p:sp>
      <p:sp>
        <p:nvSpPr>
          <p:cNvPr id="2510" name="Google Shape;2510;p117"/>
          <p:cNvSpPr/>
          <p:nvPr/>
        </p:nvSpPr>
        <p:spPr>
          <a:xfrm>
            <a:off x="1344168" y="23865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A strong instrument      B) A weak instrument      C) A valid exclusion      D) A sharp design</a:t>
            </a:r>
            <a:endParaRPr sz="1200"/>
          </a:p>
        </p:txBody>
      </p:sp>
      <p:sp>
        <p:nvSpPr>
          <p:cNvPr id="2511" name="Google Shape;2511;p117"/>
          <p:cNvSpPr/>
          <p:nvPr/>
        </p:nvSpPr>
        <p:spPr>
          <a:xfrm>
            <a:off x="566928" y="306324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117"/>
          <p:cNvSpPr/>
          <p:nvPr/>
        </p:nvSpPr>
        <p:spPr>
          <a:xfrm>
            <a:off x="768096" y="32461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117"/>
          <p:cNvSpPr/>
          <p:nvPr/>
        </p:nvSpPr>
        <p:spPr>
          <a:xfrm>
            <a:off x="768096"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2514" name="Google Shape;2514;p117"/>
          <p:cNvSpPr/>
          <p:nvPr/>
        </p:nvSpPr>
        <p:spPr>
          <a:xfrm>
            <a:off x="1344168" y="32095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IV with imperfect compliance and monotonicity identifies the:</a:t>
            </a:r>
            <a:endParaRPr sz="1400"/>
          </a:p>
        </p:txBody>
      </p:sp>
      <p:sp>
        <p:nvSpPr>
          <p:cNvPr id="2515" name="Google Shape;2515;p117"/>
          <p:cNvSpPr/>
          <p:nvPr/>
        </p:nvSpPr>
        <p:spPr>
          <a:xfrm>
            <a:off x="1344168" y="36667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ATE      B) ATT      C) LATE      D) ITT</a:t>
            </a:r>
            <a:endParaRPr sz="1200"/>
          </a:p>
        </p:txBody>
      </p:sp>
      <p:sp>
        <p:nvSpPr>
          <p:cNvPr id="2516" name="Google Shape;2516;p117"/>
          <p:cNvSpPr/>
          <p:nvPr/>
        </p:nvSpPr>
        <p:spPr>
          <a:xfrm>
            <a:off x="566928" y="434340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117"/>
          <p:cNvSpPr/>
          <p:nvPr/>
        </p:nvSpPr>
        <p:spPr>
          <a:xfrm>
            <a:off x="768096" y="452628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117"/>
          <p:cNvSpPr/>
          <p:nvPr/>
        </p:nvSpPr>
        <p:spPr>
          <a:xfrm>
            <a:off x="768096" y="4526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2519" name="Google Shape;2519;p117"/>
          <p:cNvSpPr/>
          <p:nvPr/>
        </p:nvSpPr>
        <p:spPr>
          <a:xfrm>
            <a:off x="1344168" y="44897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A spike in the running-variable density at the cutoff suggests:</a:t>
            </a:r>
            <a:endParaRPr sz="1400"/>
          </a:p>
        </p:txBody>
      </p:sp>
      <p:sp>
        <p:nvSpPr>
          <p:cNvPr id="2520" name="Google Shape;2520;p117"/>
          <p:cNvSpPr/>
          <p:nvPr/>
        </p:nvSpPr>
        <p:spPr>
          <a:xfrm>
            <a:off x="1344168" y="49469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Valid RDD      B) Manipulation / sorting      C) Strong instrument      D) Parallel trends</a:t>
            </a:r>
            <a:endParaRPr sz="1200"/>
          </a:p>
        </p:txBody>
      </p:sp>
      <p:sp>
        <p:nvSpPr>
          <p:cNvPr id="2521" name="Google Shape;2521;p11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QUASI-EXPERIMENTS</a:t>
            </a:r>
            <a:endParaRPr sz="900"/>
          </a:p>
        </p:txBody>
      </p:sp>
      <p:sp>
        <p:nvSpPr>
          <p:cNvPr id="2522" name="Google Shape;2522;p11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142  /  268</a:t>
            </a:r>
            <a:endParaRPr sz="900"/>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2527" name="Shape 2527"/>
        <p:cNvGrpSpPr/>
        <p:nvPr/>
      </p:nvGrpSpPr>
      <p:grpSpPr>
        <a:xfrm>
          <a:off x="0" y="0"/>
          <a:ext cx="0" cy="0"/>
          <a:chOff x="0" y="0"/>
          <a:chExt cx="0" cy="0"/>
        </a:xfrm>
      </p:grpSpPr>
      <p:sp>
        <p:nvSpPr>
          <p:cNvPr id="2528" name="Google Shape;2528;p118"/>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3 · HOUR 5</a:t>
            </a:r>
            <a:endParaRPr sz="1300"/>
          </a:p>
        </p:txBody>
      </p:sp>
      <p:sp>
        <p:nvSpPr>
          <p:cNvPr id="2529" name="Google Shape;2529;p118"/>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Lab 3 &amp; Discussion</a:t>
            </a:r>
            <a:endParaRPr sz="4000"/>
          </a:p>
        </p:txBody>
      </p:sp>
      <p:sp>
        <p:nvSpPr>
          <p:cNvPr id="2530" name="Google Shape;2530;p118"/>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Estimate the same treatment effect four ways on one observational dataset — and reconcile what the disagreements reveal.</a:t>
            </a:r>
            <a:endParaRPr sz="1500"/>
          </a:p>
        </p:txBody>
      </p:sp>
      <p:cxnSp>
        <p:nvCxnSpPr>
          <p:cNvPr id="2531" name="Google Shape;2531;p118"/>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2532" name="Google Shape;2532;p11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3</a:t>
            </a:r>
            <a:endParaRPr sz="900"/>
          </a:p>
        </p:txBody>
      </p:sp>
      <p:sp>
        <p:nvSpPr>
          <p:cNvPr id="2533" name="Google Shape;2533;p11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143  /  268</a:t>
            </a:r>
            <a:endParaRPr sz="900"/>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2538" name="Shape 2538"/>
        <p:cNvGrpSpPr/>
        <p:nvPr/>
      </p:nvGrpSpPr>
      <p:grpSpPr>
        <a:xfrm>
          <a:off x="0" y="0"/>
          <a:ext cx="0" cy="0"/>
          <a:chOff x="0" y="0"/>
          <a:chExt cx="0" cy="0"/>
        </a:xfrm>
      </p:grpSpPr>
      <p:sp>
        <p:nvSpPr>
          <p:cNvPr id="2539" name="Google Shape;2539;p119"/>
          <p:cNvSpPr/>
          <p:nvPr/>
        </p:nvSpPr>
        <p:spPr>
          <a:xfrm>
            <a:off x="566928" y="50292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DAY 3 · HANDS-ON LAB 3</a:t>
            </a:r>
            <a:endParaRPr sz="1200"/>
          </a:p>
        </p:txBody>
      </p:sp>
      <p:sp>
        <p:nvSpPr>
          <p:cNvPr id="2540" name="Google Shape;2540;p119"/>
          <p:cNvSpPr/>
          <p:nvPr/>
        </p:nvSpPr>
        <p:spPr>
          <a:xfrm>
            <a:off x="566928" y="868680"/>
            <a:ext cx="11057839"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Four Estimators, One Question</a:t>
            </a:r>
            <a:endParaRPr sz="3000"/>
          </a:p>
        </p:txBody>
      </p:sp>
      <p:sp>
        <p:nvSpPr>
          <p:cNvPr id="2541" name="Google Shape;2541;p119"/>
          <p:cNvSpPr/>
          <p:nvPr/>
        </p:nvSpPr>
        <p:spPr>
          <a:xfrm>
            <a:off x="566928" y="2011680"/>
            <a:ext cx="3931920" cy="3931920"/>
          </a:xfrm>
          <a:prstGeom prst="roundRect">
            <a:avLst>
              <a:gd fmla="val 2326" name="adj"/>
            </a:avLst>
          </a:prstGeom>
          <a:solidFill>
            <a:srgbClr val="1C2E4E"/>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119"/>
          <p:cNvSpPr/>
          <p:nvPr/>
        </p:nvSpPr>
        <p:spPr>
          <a:xfrm>
            <a:off x="841248" y="22402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OBJECTIVE</a:t>
            </a:r>
            <a:endParaRPr sz="1100"/>
          </a:p>
        </p:txBody>
      </p:sp>
      <p:sp>
        <p:nvSpPr>
          <p:cNvPr id="2543" name="Google Shape;2543;p119"/>
          <p:cNvSpPr/>
          <p:nvPr/>
        </p:nvSpPr>
        <p:spPr>
          <a:xfrm>
            <a:off x="841248" y="2542032"/>
            <a:ext cx="3383280" cy="128016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300"/>
              <a:buFont typeface="Calibri"/>
              <a:buNone/>
            </a:pPr>
            <a:r>
              <a:rPr lang="en-US" sz="1300">
                <a:solidFill>
                  <a:srgbClr val="C9DAF0"/>
                </a:solidFill>
                <a:latin typeface="Calibri"/>
                <a:ea typeface="Calibri"/>
                <a:cs typeface="Calibri"/>
                <a:sym typeface="Calibri"/>
              </a:rPr>
              <a:t>On a realistic observational dataset with known ground truth, estimate the effect with regression, propensity weighting, a doubly-robust learner, and a quasi-experimental design — then explain the spread.</a:t>
            </a:r>
            <a:endParaRPr sz="1300"/>
          </a:p>
        </p:txBody>
      </p:sp>
      <p:sp>
        <p:nvSpPr>
          <p:cNvPr id="2544" name="Google Shape;2544;p119"/>
          <p:cNvSpPr/>
          <p:nvPr/>
        </p:nvSpPr>
        <p:spPr>
          <a:xfrm>
            <a:off x="841248" y="420624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DELIVERABLE</a:t>
            </a:r>
            <a:endParaRPr sz="1100"/>
          </a:p>
        </p:txBody>
      </p:sp>
      <p:sp>
        <p:nvSpPr>
          <p:cNvPr id="2545" name="Google Shape;2545;p119"/>
          <p:cNvSpPr/>
          <p:nvPr/>
        </p:nvSpPr>
        <p:spPr>
          <a:xfrm>
            <a:off x="841248" y="4498848"/>
            <a:ext cx="3383280"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 notebook comparing four estimates with intervals, overlap and balance diagnostics, and a written reconciliation naming the assumption each relies on.</a:t>
            </a:r>
            <a:endParaRPr sz="1250"/>
          </a:p>
        </p:txBody>
      </p:sp>
      <p:sp>
        <p:nvSpPr>
          <p:cNvPr id="2546" name="Google Shape;2546;p119"/>
          <p:cNvSpPr/>
          <p:nvPr/>
        </p:nvSpPr>
        <p:spPr>
          <a:xfrm>
            <a:off x="4864608" y="2029968"/>
            <a:ext cx="676015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STEPS</a:t>
            </a:r>
            <a:endParaRPr sz="1100"/>
          </a:p>
        </p:txBody>
      </p:sp>
      <p:sp>
        <p:nvSpPr>
          <p:cNvPr id="2547" name="Google Shape;2547;p119"/>
          <p:cNvSpPr/>
          <p:nvPr/>
        </p:nvSpPr>
        <p:spPr>
          <a:xfrm>
            <a:off x="4864608" y="23957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119"/>
          <p:cNvSpPr/>
          <p:nvPr/>
        </p:nvSpPr>
        <p:spPr>
          <a:xfrm>
            <a:off x="4864608" y="23957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1</a:t>
            </a:r>
            <a:endParaRPr sz="1300"/>
          </a:p>
        </p:txBody>
      </p:sp>
      <p:sp>
        <p:nvSpPr>
          <p:cNvPr id="2549" name="Google Shape;2549;p119"/>
          <p:cNvSpPr/>
          <p:nvPr/>
        </p:nvSpPr>
        <p:spPr>
          <a:xfrm>
            <a:off x="5413248" y="23774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Draw a DAG for the dataset and select the adjustment set from it.</a:t>
            </a:r>
            <a:endParaRPr sz="1250"/>
          </a:p>
        </p:txBody>
      </p:sp>
      <p:sp>
        <p:nvSpPr>
          <p:cNvPr id="2550" name="Google Shape;2550;p119"/>
          <p:cNvSpPr/>
          <p:nvPr/>
        </p:nvSpPr>
        <p:spPr>
          <a:xfrm>
            <a:off x="4864608" y="2982468"/>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119"/>
          <p:cNvSpPr/>
          <p:nvPr/>
        </p:nvSpPr>
        <p:spPr>
          <a:xfrm>
            <a:off x="4864608" y="29824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2</a:t>
            </a:r>
            <a:endParaRPr sz="1300"/>
          </a:p>
        </p:txBody>
      </p:sp>
      <p:sp>
        <p:nvSpPr>
          <p:cNvPr id="2552" name="Google Shape;2552;p119"/>
          <p:cNvSpPr/>
          <p:nvPr/>
        </p:nvSpPr>
        <p:spPr>
          <a:xfrm>
            <a:off x="5413248" y="296418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 the effect by outcome regression (g-formula).</a:t>
            </a:r>
            <a:endParaRPr sz="1250"/>
          </a:p>
        </p:txBody>
      </p:sp>
      <p:sp>
        <p:nvSpPr>
          <p:cNvPr id="2553" name="Google Shape;2553;p119"/>
          <p:cNvSpPr/>
          <p:nvPr/>
        </p:nvSpPr>
        <p:spPr>
          <a:xfrm>
            <a:off x="4864608" y="3569208"/>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119"/>
          <p:cNvSpPr/>
          <p:nvPr/>
        </p:nvSpPr>
        <p:spPr>
          <a:xfrm>
            <a:off x="4864608" y="35692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3</a:t>
            </a:r>
            <a:endParaRPr sz="1300"/>
          </a:p>
        </p:txBody>
      </p:sp>
      <p:sp>
        <p:nvSpPr>
          <p:cNvPr id="2555" name="Google Shape;2555;p119"/>
          <p:cNvSpPr/>
          <p:nvPr/>
        </p:nvSpPr>
        <p:spPr>
          <a:xfrm>
            <a:off x="5413248" y="355092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 by stabilised IPW; inspect the weight distribution and trim.</a:t>
            </a:r>
            <a:endParaRPr sz="1250"/>
          </a:p>
        </p:txBody>
      </p:sp>
      <p:sp>
        <p:nvSpPr>
          <p:cNvPr id="2556" name="Google Shape;2556;p119"/>
          <p:cNvSpPr/>
          <p:nvPr/>
        </p:nvSpPr>
        <p:spPr>
          <a:xfrm>
            <a:off x="4864608" y="4155948"/>
            <a:ext cx="384048" cy="384048"/>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119"/>
          <p:cNvSpPr/>
          <p:nvPr/>
        </p:nvSpPr>
        <p:spPr>
          <a:xfrm>
            <a:off x="4864608" y="41559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4</a:t>
            </a:r>
            <a:endParaRPr sz="1300"/>
          </a:p>
        </p:txBody>
      </p:sp>
      <p:sp>
        <p:nvSpPr>
          <p:cNvPr id="2558" name="Google Shape;2558;p119"/>
          <p:cNvSpPr/>
          <p:nvPr/>
        </p:nvSpPr>
        <p:spPr>
          <a:xfrm>
            <a:off x="5413248" y="413766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 by a doubly-robust learner with cross-fitting; report the interval.</a:t>
            </a:r>
            <a:endParaRPr sz="1250"/>
          </a:p>
        </p:txBody>
      </p:sp>
      <p:sp>
        <p:nvSpPr>
          <p:cNvPr id="2559" name="Google Shape;2559;p119"/>
          <p:cNvSpPr/>
          <p:nvPr/>
        </p:nvSpPr>
        <p:spPr>
          <a:xfrm>
            <a:off x="4864608" y="4742688"/>
            <a:ext cx="384048" cy="384048"/>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119"/>
          <p:cNvSpPr/>
          <p:nvPr/>
        </p:nvSpPr>
        <p:spPr>
          <a:xfrm>
            <a:off x="4864608" y="47426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5</a:t>
            </a:r>
            <a:endParaRPr sz="1300"/>
          </a:p>
        </p:txBody>
      </p:sp>
      <p:sp>
        <p:nvSpPr>
          <p:cNvPr id="2561" name="Google Shape;2561;p119"/>
          <p:cNvSpPr/>
          <p:nvPr/>
        </p:nvSpPr>
        <p:spPr>
          <a:xfrm>
            <a:off x="5413248" y="472440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Apply one quasi-experimental design (DiD or RDD) to the same question.</a:t>
            </a:r>
            <a:endParaRPr sz="1250"/>
          </a:p>
        </p:txBody>
      </p:sp>
      <p:sp>
        <p:nvSpPr>
          <p:cNvPr id="2562" name="Google Shape;2562;p119"/>
          <p:cNvSpPr/>
          <p:nvPr/>
        </p:nvSpPr>
        <p:spPr>
          <a:xfrm>
            <a:off x="4864608" y="53294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119"/>
          <p:cNvSpPr/>
          <p:nvPr/>
        </p:nvSpPr>
        <p:spPr>
          <a:xfrm>
            <a:off x="4864608" y="53294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6</a:t>
            </a:r>
            <a:endParaRPr sz="1300"/>
          </a:p>
        </p:txBody>
      </p:sp>
      <p:sp>
        <p:nvSpPr>
          <p:cNvPr id="2564" name="Google Shape;2564;p119"/>
          <p:cNvSpPr/>
          <p:nvPr/>
        </p:nvSpPr>
        <p:spPr>
          <a:xfrm>
            <a:off x="5413248" y="53111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Tabulate all estimates against ground truth; explain each gap by its assumptions.</a:t>
            </a:r>
            <a:endParaRPr sz="1250"/>
          </a:p>
        </p:txBody>
      </p:sp>
      <p:sp>
        <p:nvSpPr>
          <p:cNvPr id="2565" name="Google Shape;2565;p11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3 · LAB</a:t>
            </a:r>
            <a:endParaRPr sz="900"/>
          </a:p>
        </p:txBody>
      </p:sp>
      <p:sp>
        <p:nvSpPr>
          <p:cNvPr id="2566" name="Google Shape;2566;p11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144  /  268</a:t>
            </a:r>
            <a:endParaRPr sz="900"/>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1" name="Shape 2571"/>
        <p:cNvGrpSpPr/>
        <p:nvPr/>
      </p:nvGrpSpPr>
      <p:grpSpPr>
        <a:xfrm>
          <a:off x="0" y="0"/>
          <a:ext cx="0" cy="0"/>
          <a:chOff x="0" y="0"/>
          <a:chExt cx="0" cy="0"/>
        </a:xfrm>
      </p:grpSpPr>
      <p:sp>
        <p:nvSpPr>
          <p:cNvPr id="2572" name="Google Shape;2572;p12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5</a:t>
            </a:r>
            <a:endParaRPr sz="1200"/>
          </a:p>
        </p:txBody>
      </p:sp>
      <p:sp>
        <p:nvSpPr>
          <p:cNvPr id="2573" name="Google Shape;2573;p12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Lab 3 Debrief</a:t>
            </a:r>
            <a:endParaRPr sz="3400"/>
          </a:p>
        </p:txBody>
      </p:sp>
      <p:sp>
        <p:nvSpPr>
          <p:cNvPr id="2574" name="Google Shape;2574;p120"/>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Disagreement between methods is information, not noise.</a:t>
            </a:r>
            <a:endParaRPr sz="1450"/>
          </a:p>
        </p:txBody>
      </p:sp>
      <p:sp>
        <p:nvSpPr>
          <p:cNvPr id="2575" name="Google Shape;2575;p120"/>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120"/>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Overlap drives it</a:t>
            </a:r>
            <a:endParaRPr sz="1500"/>
          </a:p>
        </p:txBody>
      </p:sp>
      <p:sp>
        <p:nvSpPr>
          <p:cNvPr id="2577" name="Google Shape;2577;p120"/>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Where overlap is thin, weighting and matching diverge; the doubly-robust estimate is usually the most stable.</a:t>
            </a:r>
            <a:endParaRPr sz="1250"/>
          </a:p>
        </p:txBody>
      </p:sp>
      <p:sp>
        <p:nvSpPr>
          <p:cNvPr id="2578" name="Google Shape;2578;p120"/>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120"/>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Assumptions differ</a:t>
            </a:r>
            <a:endParaRPr sz="1500"/>
          </a:p>
        </p:txBody>
      </p:sp>
      <p:sp>
        <p:nvSpPr>
          <p:cNvPr id="2580" name="Google Shape;2580;p120"/>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Each method leans on a different premise — so agreement across methods is real evidence of robustness.</a:t>
            </a:r>
            <a:endParaRPr sz="1250"/>
          </a:p>
        </p:txBody>
      </p:sp>
      <p:sp>
        <p:nvSpPr>
          <p:cNvPr id="2581" name="Google Shape;2581;p120"/>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120"/>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Report the ensemble</a:t>
            </a:r>
            <a:endParaRPr sz="1500"/>
          </a:p>
        </p:txBody>
      </p:sp>
      <p:sp>
        <p:nvSpPr>
          <p:cNvPr id="2583" name="Google Shape;2583;p120"/>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Presenting several estimates with their assumptions is more honest than a single confident number.</a:t>
            </a:r>
            <a:endParaRPr sz="1250"/>
          </a:p>
        </p:txBody>
      </p:sp>
      <p:sp>
        <p:nvSpPr>
          <p:cNvPr id="2584" name="Google Shape;2584;p12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LAB</a:t>
            </a:r>
            <a:endParaRPr sz="900"/>
          </a:p>
        </p:txBody>
      </p:sp>
      <p:sp>
        <p:nvSpPr>
          <p:cNvPr id="2585" name="Google Shape;2585;p12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145  /  268</a:t>
            </a:r>
            <a:endParaRPr sz="900"/>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0" name="Shape 2590"/>
        <p:cNvGrpSpPr/>
        <p:nvPr/>
      </p:nvGrpSpPr>
      <p:grpSpPr>
        <a:xfrm>
          <a:off x="0" y="0"/>
          <a:ext cx="0" cy="0"/>
          <a:chOff x="0" y="0"/>
          <a:chExt cx="0" cy="0"/>
        </a:xfrm>
      </p:grpSpPr>
      <p:sp>
        <p:nvSpPr>
          <p:cNvPr id="2591" name="Google Shape;2591;p12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HOUR 5</a:t>
            </a:r>
            <a:endParaRPr sz="1200"/>
          </a:p>
        </p:txBody>
      </p:sp>
      <p:sp>
        <p:nvSpPr>
          <p:cNvPr id="2592" name="Google Shape;2592;p12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Discussion: Choosing a Design</a:t>
            </a:r>
            <a:endParaRPr sz="3400"/>
          </a:p>
        </p:txBody>
      </p:sp>
      <p:sp>
        <p:nvSpPr>
          <p:cNvPr id="2593" name="Google Shape;2593;p121"/>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Given a scenario, groups argue for the most credible identification strategy.</a:t>
            </a:r>
            <a:endParaRPr sz="1450"/>
          </a:p>
        </p:txBody>
      </p:sp>
      <p:sp>
        <p:nvSpPr>
          <p:cNvPr id="2594" name="Google Shape;2594;p121"/>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121"/>
          <p:cNvSpPr/>
          <p:nvPr/>
        </p:nvSpPr>
        <p:spPr>
          <a:xfrm>
            <a:off x="841248" y="2514600"/>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Is there a threshold rule that assigns the treatment? → consider RDD.</a:t>
            </a:r>
            <a:endParaRPr sz="1400"/>
          </a:p>
        </p:txBody>
      </p:sp>
      <p:sp>
        <p:nvSpPr>
          <p:cNvPr id="2596" name="Google Shape;2596;p121"/>
          <p:cNvSpPr/>
          <p:nvPr/>
        </p:nvSpPr>
        <p:spPr>
          <a:xfrm>
            <a:off x="566928" y="3300984"/>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121"/>
          <p:cNvSpPr/>
          <p:nvPr/>
        </p:nvSpPr>
        <p:spPr>
          <a:xfrm>
            <a:off x="841248" y="3236976"/>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Is there a variable that shifts uptake but not the outcome directly? → consider IV.</a:t>
            </a:r>
            <a:endParaRPr sz="1400"/>
          </a:p>
        </p:txBody>
      </p:sp>
      <p:sp>
        <p:nvSpPr>
          <p:cNvPr id="2598" name="Google Shape;2598;p121"/>
          <p:cNvSpPr/>
          <p:nvPr/>
        </p:nvSpPr>
        <p:spPr>
          <a:xfrm>
            <a:off x="566928" y="4023360"/>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121"/>
          <p:cNvSpPr/>
          <p:nvPr/>
        </p:nvSpPr>
        <p:spPr>
          <a:xfrm>
            <a:off x="841248" y="3959352"/>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Did treatment switch on at a known time for some units? → consider DiD / synthetic control.</a:t>
            </a:r>
            <a:endParaRPr sz="1400"/>
          </a:p>
        </p:txBody>
      </p:sp>
      <p:sp>
        <p:nvSpPr>
          <p:cNvPr id="2600" name="Google Shape;2600;p121"/>
          <p:cNvSpPr/>
          <p:nvPr/>
        </p:nvSpPr>
        <p:spPr>
          <a:xfrm>
            <a:off x="566928" y="4745736"/>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121"/>
          <p:cNvSpPr/>
          <p:nvPr/>
        </p:nvSpPr>
        <p:spPr>
          <a:xfrm>
            <a:off x="841248" y="4681728"/>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Is unconfoundedness plausible given rich covariates? → consider doubly-robust adjustment.</a:t>
            </a:r>
            <a:endParaRPr sz="1400"/>
          </a:p>
        </p:txBody>
      </p:sp>
      <p:sp>
        <p:nvSpPr>
          <p:cNvPr id="2602" name="Google Shape;2602;p121"/>
          <p:cNvSpPr/>
          <p:nvPr/>
        </p:nvSpPr>
        <p:spPr>
          <a:xfrm>
            <a:off x="566928" y="5468112"/>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121"/>
          <p:cNvSpPr/>
          <p:nvPr/>
        </p:nvSpPr>
        <p:spPr>
          <a:xfrm>
            <a:off x="841248" y="5404104"/>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Always ask: which assumption is least implausible here, and how would I probe it?</a:t>
            </a:r>
            <a:endParaRPr sz="1400"/>
          </a:p>
        </p:txBody>
      </p:sp>
      <p:sp>
        <p:nvSpPr>
          <p:cNvPr id="2604" name="Google Shape;2604;p12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DISCUSSION</a:t>
            </a:r>
            <a:endParaRPr sz="900"/>
          </a:p>
        </p:txBody>
      </p:sp>
      <p:sp>
        <p:nvSpPr>
          <p:cNvPr id="2605" name="Google Shape;2605;p12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146  /  268</a:t>
            </a:r>
            <a:endParaRPr sz="900"/>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0" name="Shape 2610"/>
        <p:cNvGrpSpPr/>
        <p:nvPr/>
      </p:nvGrpSpPr>
      <p:grpSpPr>
        <a:xfrm>
          <a:off x="0" y="0"/>
          <a:ext cx="0" cy="0"/>
          <a:chOff x="0" y="0"/>
          <a:chExt cx="0" cy="0"/>
        </a:xfrm>
      </p:grpSpPr>
      <p:sp>
        <p:nvSpPr>
          <p:cNvPr id="2611" name="Google Shape;2611;p12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3 · WRAP</a:t>
            </a:r>
            <a:endParaRPr sz="1200"/>
          </a:p>
        </p:txBody>
      </p:sp>
      <p:sp>
        <p:nvSpPr>
          <p:cNvPr id="2612" name="Google Shape;2612;p12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Day 3 in One Slide</a:t>
            </a:r>
            <a:endParaRPr sz="3400"/>
          </a:p>
        </p:txBody>
      </p:sp>
      <p:sp>
        <p:nvSpPr>
          <p:cNvPr id="2613" name="Google Shape;2613;p122"/>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You now have a toolbox for causal questions when experiments are impossible.</a:t>
            </a:r>
            <a:endParaRPr sz="1450"/>
          </a:p>
        </p:txBody>
      </p:sp>
      <p:sp>
        <p:nvSpPr>
          <p:cNvPr id="2614" name="Google Shape;2614;p122"/>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122"/>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Structure before statistics</a:t>
            </a:r>
            <a:endParaRPr sz="1500"/>
          </a:p>
        </p:txBody>
      </p:sp>
      <p:sp>
        <p:nvSpPr>
          <p:cNvPr id="2616" name="Google Shape;2616;p122"/>
          <p:cNvSpPr/>
          <p:nvPr/>
        </p:nvSpPr>
        <p:spPr>
          <a:xfrm>
            <a:off x="859536" y="283464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DAG and the backdoor criterion decide the adjustment set; fit does not.</a:t>
            </a:r>
            <a:endParaRPr sz="1250"/>
          </a:p>
        </p:txBody>
      </p:sp>
      <p:sp>
        <p:nvSpPr>
          <p:cNvPr id="2617" name="Google Shape;2617;p122"/>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122"/>
          <p:cNvSpPr/>
          <p:nvPr/>
        </p:nvSpPr>
        <p:spPr>
          <a:xfrm>
            <a:off x="859536" y="345186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Adjust robustly</a:t>
            </a:r>
            <a:endParaRPr sz="1500"/>
          </a:p>
        </p:txBody>
      </p:sp>
      <p:sp>
        <p:nvSpPr>
          <p:cNvPr id="2619" name="Google Shape;2619;p122"/>
          <p:cNvSpPr/>
          <p:nvPr/>
        </p:nvSpPr>
        <p:spPr>
          <a:xfrm>
            <a:off x="859536" y="372618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Propensity, IPW, and especially doubly-robust methods with cross-fitting are the modern default.</a:t>
            </a:r>
            <a:endParaRPr sz="1250"/>
          </a:p>
        </p:txBody>
      </p:sp>
      <p:sp>
        <p:nvSpPr>
          <p:cNvPr id="2620" name="Google Shape;2620;p122"/>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122"/>
          <p:cNvSpPr/>
          <p:nvPr/>
        </p:nvSpPr>
        <p:spPr>
          <a:xfrm>
            <a:off x="859536" y="434340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Borrow randomization's logic</a:t>
            </a:r>
            <a:endParaRPr sz="1500"/>
          </a:p>
        </p:txBody>
      </p:sp>
      <p:sp>
        <p:nvSpPr>
          <p:cNvPr id="2622" name="Google Shape;2622;p122"/>
          <p:cNvSpPr/>
          <p:nvPr/>
        </p:nvSpPr>
        <p:spPr>
          <a:xfrm>
            <a:off x="859536" y="461772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DiD, synthetic control, IV, and RDD each exploit a source of as-if-random variation.</a:t>
            </a:r>
            <a:endParaRPr sz="1250"/>
          </a:p>
        </p:txBody>
      </p:sp>
      <p:sp>
        <p:nvSpPr>
          <p:cNvPr id="2623" name="Google Shape;2623;p122"/>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122"/>
          <p:cNvSpPr/>
          <p:nvPr/>
        </p:nvSpPr>
        <p:spPr>
          <a:xfrm>
            <a:off x="859536" y="523494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Every design has one weak point</a:t>
            </a:r>
            <a:endParaRPr sz="1500"/>
          </a:p>
        </p:txBody>
      </p:sp>
      <p:sp>
        <p:nvSpPr>
          <p:cNvPr id="2625" name="Google Shape;2625;p122"/>
          <p:cNvSpPr/>
          <p:nvPr/>
        </p:nvSpPr>
        <p:spPr>
          <a:xfrm>
            <a:off x="859536" y="550926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Parallel trends, exclusion, or no-manipulation — name it, probe it, report it.</a:t>
            </a:r>
            <a:endParaRPr sz="1250"/>
          </a:p>
        </p:txBody>
      </p:sp>
      <p:sp>
        <p:nvSpPr>
          <p:cNvPr id="2626" name="Google Shape;2626;p122"/>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122"/>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TOMORROW</a:t>
            </a:r>
            <a:endParaRPr sz="1100"/>
          </a:p>
        </p:txBody>
      </p:sp>
      <p:sp>
        <p:nvSpPr>
          <p:cNvPr id="2628" name="Google Shape;2628;p122"/>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350">
                <a:solidFill>
                  <a:srgbClr val="16233F"/>
                </a:solidFill>
                <a:latin typeface="Calibri"/>
                <a:ea typeface="Calibri"/>
                <a:cs typeface="Calibri"/>
                <a:sym typeface="Calibri"/>
              </a:rPr>
              <a:t>Day 4: uncertainty done right, the bias taxonomy, sensitivity and external validity, real-world cases, and your capstone.</a:t>
            </a:r>
            <a:endParaRPr sz="1350"/>
          </a:p>
        </p:txBody>
      </p:sp>
      <p:sp>
        <p:nvSpPr>
          <p:cNvPr id="2629" name="Google Shape;2629;p12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3 · SUMMARY</a:t>
            </a:r>
            <a:endParaRPr sz="900"/>
          </a:p>
        </p:txBody>
      </p:sp>
      <p:sp>
        <p:nvSpPr>
          <p:cNvPr id="2630" name="Google Shape;2630;p12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147  /  268</a:t>
            </a:r>
            <a:endParaRPr sz="900"/>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2635" name="Shape 2635"/>
        <p:cNvGrpSpPr/>
        <p:nvPr/>
      </p:nvGrpSpPr>
      <p:grpSpPr>
        <a:xfrm>
          <a:off x="0" y="0"/>
          <a:ext cx="0" cy="0"/>
          <a:chOff x="0" y="0"/>
          <a:chExt cx="0" cy="0"/>
        </a:xfrm>
      </p:grpSpPr>
      <p:sp>
        <p:nvSpPr>
          <p:cNvPr id="2636" name="Google Shape;2636;p123"/>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4</a:t>
            </a:r>
            <a:endParaRPr sz="1300"/>
          </a:p>
        </p:txBody>
      </p:sp>
      <p:sp>
        <p:nvSpPr>
          <p:cNvPr id="2637" name="Google Shape;2637;p123"/>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Uncertainty, Bias, Limitations &amp; Capstone</a:t>
            </a:r>
            <a:endParaRPr sz="4000"/>
          </a:p>
        </p:txBody>
      </p:sp>
      <p:sp>
        <p:nvSpPr>
          <p:cNvPr id="2638" name="Google Shape;2638;p123"/>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Quantifying uncertainty honestly, the taxonomy of bias and threats to validity, sensitivity and generalisation, real-world cases, and the capstone.</a:t>
            </a:r>
            <a:endParaRPr sz="1500"/>
          </a:p>
        </p:txBody>
      </p:sp>
      <p:cxnSp>
        <p:nvCxnSpPr>
          <p:cNvPr id="2639" name="Google Shape;2639;p123"/>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2640" name="Google Shape;2640;p12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4</a:t>
            </a:r>
            <a:endParaRPr sz="900"/>
          </a:p>
        </p:txBody>
      </p:sp>
      <p:sp>
        <p:nvSpPr>
          <p:cNvPr id="2641" name="Google Shape;2641;p12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148  /  268</a:t>
            </a:r>
            <a:endParaRPr sz="900"/>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6" name="Shape 2646"/>
        <p:cNvGrpSpPr/>
        <p:nvPr/>
      </p:nvGrpSpPr>
      <p:grpSpPr>
        <a:xfrm>
          <a:off x="0" y="0"/>
          <a:ext cx="0" cy="0"/>
          <a:chOff x="0" y="0"/>
          <a:chExt cx="0" cy="0"/>
        </a:xfrm>
      </p:grpSpPr>
      <p:sp>
        <p:nvSpPr>
          <p:cNvPr id="2647" name="Google Shape;2647;p12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OVERVIEW</a:t>
            </a:r>
            <a:endParaRPr sz="1200"/>
          </a:p>
        </p:txBody>
      </p:sp>
      <p:sp>
        <p:nvSpPr>
          <p:cNvPr id="2648" name="Google Shape;2648;p12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Today's Five Hours</a:t>
            </a:r>
            <a:endParaRPr sz="3400"/>
          </a:p>
        </p:txBody>
      </p:sp>
      <p:sp>
        <p:nvSpPr>
          <p:cNvPr id="2649" name="Google Shape;2649;p124"/>
          <p:cNvSpPr/>
          <p:nvPr/>
        </p:nvSpPr>
        <p:spPr>
          <a:xfrm>
            <a:off x="566928" y="178308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A9E0"/>
              </a:buClr>
              <a:buSzPts val="3000"/>
              <a:buFont typeface="Cambria"/>
              <a:buNone/>
            </a:pPr>
            <a:r>
              <a:rPr b="1" lang="en-US" sz="3000">
                <a:solidFill>
                  <a:srgbClr val="3FA9E0"/>
                </a:solidFill>
                <a:latin typeface="Cambria"/>
                <a:ea typeface="Cambria"/>
                <a:cs typeface="Cambria"/>
                <a:sym typeface="Cambria"/>
              </a:rPr>
              <a:t>01</a:t>
            </a:r>
            <a:endParaRPr sz="3000"/>
          </a:p>
        </p:txBody>
      </p:sp>
      <p:sp>
        <p:nvSpPr>
          <p:cNvPr id="2650" name="Google Shape;2650;p124"/>
          <p:cNvSpPr/>
          <p:nvPr/>
        </p:nvSpPr>
        <p:spPr>
          <a:xfrm>
            <a:off x="1435608" y="178308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1 — Uncertainty Quantification</a:t>
            </a:r>
            <a:endParaRPr sz="1600"/>
          </a:p>
        </p:txBody>
      </p:sp>
      <p:sp>
        <p:nvSpPr>
          <p:cNvPr id="2651" name="Google Shape;2651;p124"/>
          <p:cNvSpPr/>
          <p:nvPr/>
        </p:nvSpPr>
        <p:spPr>
          <a:xfrm>
            <a:off x="1435608" y="209397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Standard errors done right: analytic, robust, clustered, bootstrap, and design-based.</a:t>
            </a:r>
            <a:endParaRPr sz="1150"/>
          </a:p>
        </p:txBody>
      </p:sp>
      <p:sp>
        <p:nvSpPr>
          <p:cNvPr id="2652" name="Google Shape;2652;p124"/>
          <p:cNvSpPr/>
          <p:nvPr/>
        </p:nvSpPr>
        <p:spPr>
          <a:xfrm>
            <a:off x="6324448" y="178308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BA6"/>
              </a:buClr>
              <a:buSzPts val="3000"/>
              <a:buFont typeface="Cambria"/>
              <a:buNone/>
            </a:pPr>
            <a:r>
              <a:rPr b="1" lang="en-US" sz="3000">
                <a:solidFill>
                  <a:srgbClr val="5A5BA6"/>
                </a:solidFill>
                <a:latin typeface="Cambria"/>
                <a:ea typeface="Cambria"/>
                <a:cs typeface="Cambria"/>
                <a:sym typeface="Cambria"/>
              </a:rPr>
              <a:t>02</a:t>
            </a:r>
            <a:endParaRPr sz="3000"/>
          </a:p>
        </p:txBody>
      </p:sp>
      <p:sp>
        <p:nvSpPr>
          <p:cNvPr id="2653" name="Google Shape;2653;p124"/>
          <p:cNvSpPr/>
          <p:nvPr/>
        </p:nvSpPr>
        <p:spPr>
          <a:xfrm>
            <a:off x="7193128" y="178308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2 — Bias &amp; Threats to Validity</a:t>
            </a:r>
            <a:endParaRPr sz="1600"/>
          </a:p>
        </p:txBody>
      </p:sp>
      <p:sp>
        <p:nvSpPr>
          <p:cNvPr id="2654" name="Google Shape;2654;p124"/>
          <p:cNvSpPr/>
          <p:nvPr/>
        </p:nvSpPr>
        <p:spPr>
          <a:xfrm>
            <a:off x="7193128" y="209397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A taxonomy of bias, internal vs. external validity, and sensitivity analysis.</a:t>
            </a:r>
            <a:endParaRPr sz="1150"/>
          </a:p>
        </p:txBody>
      </p:sp>
      <p:sp>
        <p:nvSpPr>
          <p:cNvPr id="2655" name="Google Shape;2655;p124"/>
          <p:cNvSpPr/>
          <p:nvPr/>
        </p:nvSpPr>
        <p:spPr>
          <a:xfrm>
            <a:off x="566928" y="288036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A7B38"/>
              </a:buClr>
              <a:buSzPts val="3000"/>
              <a:buFont typeface="Cambria"/>
              <a:buNone/>
            </a:pPr>
            <a:r>
              <a:rPr b="1" lang="en-US" sz="3000">
                <a:solidFill>
                  <a:srgbClr val="EA7B38"/>
                </a:solidFill>
                <a:latin typeface="Cambria"/>
                <a:ea typeface="Cambria"/>
                <a:cs typeface="Cambria"/>
                <a:sym typeface="Cambria"/>
              </a:rPr>
              <a:t>03</a:t>
            </a:r>
            <a:endParaRPr sz="3000"/>
          </a:p>
        </p:txBody>
      </p:sp>
      <p:sp>
        <p:nvSpPr>
          <p:cNvPr id="2656" name="Google Shape;2656;p124"/>
          <p:cNvSpPr/>
          <p:nvPr/>
        </p:nvSpPr>
        <p:spPr>
          <a:xfrm>
            <a:off x="1435608" y="288036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3 — Real-World Case Studies</a:t>
            </a:r>
            <a:endParaRPr sz="1600"/>
          </a:p>
        </p:txBody>
      </p:sp>
      <p:sp>
        <p:nvSpPr>
          <p:cNvPr id="2657" name="Google Shape;2657;p124"/>
          <p:cNvSpPr/>
          <p:nvPr/>
        </p:nvSpPr>
        <p:spPr>
          <a:xfrm>
            <a:off x="1435608" y="319125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Tech experimentation, policy evaluation, and health — decisions under uncertainty.</a:t>
            </a:r>
            <a:endParaRPr sz="1150"/>
          </a:p>
        </p:txBody>
      </p:sp>
      <p:sp>
        <p:nvSpPr>
          <p:cNvPr id="2658" name="Google Shape;2658;p124"/>
          <p:cNvSpPr/>
          <p:nvPr/>
        </p:nvSpPr>
        <p:spPr>
          <a:xfrm>
            <a:off x="6324448" y="288036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E9B90"/>
              </a:buClr>
              <a:buSzPts val="3000"/>
              <a:buFont typeface="Cambria"/>
              <a:buNone/>
            </a:pPr>
            <a:r>
              <a:rPr b="1" lang="en-US" sz="3000">
                <a:solidFill>
                  <a:srgbClr val="3E9B90"/>
                </a:solidFill>
                <a:latin typeface="Cambria"/>
                <a:ea typeface="Cambria"/>
                <a:cs typeface="Cambria"/>
                <a:sym typeface="Cambria"/>
              </a:rPr>
              <a:t>04</a:t>
            </a:r>
            <a:endParaRPr sz="3000"/>
          </a:p>
        </p:txBody>
      </p:sp>
      <p:sp>
        <p:nvSpPr>
          <p:cNvPr id="2659" name="Google Shape;2659;p124"/>
          <p:cNvSpPr/>
          <p:nvPr/>
        </p:nvSpPr>
        <p:spPr>
          <a:xfrm>
            <a:off x="7193128" y="288036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4 — Capstone Lab</a:t>
            </a:r>
            <a:endParaRPr sz="1600"/>
          </a:p>
        </p:txBody>
      </p:sp>
      <p:sp>
        <p:nvSpPr>
          <p:cNvPr id="2660" name="Google Shape;2660;p124"/>
          <p:cNvSpPr/>
          <p:nvPr/>
        </p:nvSpPr>
        <p:spPr>
          <a:xfrm>
            <a:off x="7193128" y="319125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Design, estimate, and report a defensible causal analysis on a provided dataset.</a:t>
            </a:r>
            <a:endParaRPr sz="1150"/>
          </a:p>
        </p:txBody>
      </p:sp>
      <p:sp>
        <p:nvSpPr>
          <p:cNvPr id="2661" name="Google Shape;2661;p124"/>
          <p:cNvSpPr/>
          <p:nvPr/>
        </p:nvSpPr>
        <p:spPr>
          <a:xfrm>
            <a:off x="566928" y="3977640"/>
            <a:ext cx="822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3BB59"/>
              </a:buClr>
              <a:buSzPts val="3000"/>
              <a:buFont typeface="Cambria"/>
              <a:buNone/>
            </a:pPr>
            <a:r>
              <a:rPr b="1" lang="en-US" sz="3000">
                <a:solidFill>
                  <a:srgbClr val="73BB59"/>
                </a:solidFill>
                <a:latin typeface="Cambria"/>
                <a:ea typeface="Cambria"/>
                <a:cs typeface="Cambria"/>
                <a:sym typeface="Cambria"/>
              </a:rPr>
              <a:t>05</a:t>
            </a:r>
            <a:endParaRPr sz="3000"/>
          </a:p>
        </p:txBody>
      </p:sp>
      <p:sp>
        <p:nvSpPr>
          <p:cNvPr id="2662" name="Google Shape;2662;p124"/>
          <p:cNvSpPr/>
          <p:nvPr/>
        </p:nvSpPr>
        <p:spPr>
          <a:xfrm>
            <a:off x="1435608" y="3977640"/>
            <a:ext cx="4385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Hour 5 — Defense, Post-Test &amp; Close</a:t>
            </a:r>
            <a:endParaRPr sz="1600"/>
          </a:p>
        </p:txBody>
      </p:sp>
      <p:sp>
        <p:nvSpPr>
          <p:cNvPr id="2663" name="Google Shape;2663;p124"/>
          <p:cNvSpPr/>
          <p:nvPr/>
        </p:nvSpPr>
        <p:spPr>
          <a:xfrm>
            <a:off x="1435608" y="4288536"/>
            <a:ext cx="4385920"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150"/>
              <a:buFont typeface="Calibri"/>
              <a:buNone/>
            </a:pPr>
            <a:r>
              <a:rPr lang="en-US" sz="1150">
                <a:solidFill>
                  <a:srgbClr val="566581"/>
                </a:solidFill>
                <a:latin typeface="Calibri"/>
                <a:ea typeface="Calibri"/>
                <a:cs typeface="Calibri"/>
                <a:sym typeface="Calibri"/>
              </a:rPr>
              <a:t>Present your capstone, take the summative assessment, and consolidate.</a:t>
            </a:r>
            <a:endParaRPr sz="1150"/>
          </a:p>
        </p:txBody>
      </p:sp>
      <p:sp>
        <p:nvSpPr>
          <p:cNvPr id="2664" name="Google Shape;2664;p12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a:t>
            </a:r>
            <a:endParaRPr sz="900"/>
          </a:p>
        </p:txBody>
      </p:sp>
      <p:sp>
        <p:nvSpPr>
          <p:cNvPr id="2665" name="Google Shape;2665;p12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149  /  268</a:t>
            </a:r>
            <a:endParaRPr sz="900"/>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0" name="Shape 2670"/>
        <p:cNvGrpSpPr/>
        <p:nvPr/>
      </p:nvGrpSpPr>
      <p:grpSpPr>
        <a:xfrm>
          <a:off x="0" y="0"/>
          <a:ext cx="0" cy="0"/>
          <a:chOff x="0" y="0"/>
          <a:chExt cx="0" cy="0"/>
        </a:xfrm>
      </p:grpSpPr>
      <p:sp>
        <p:nvSpPr>
          <p:cNvPr id="2671" name="Google Shape;2671;p12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1</a:t>
            </a:r>
            <a:endParaRPr sz="1200"/>
          </a:p>
        </p:txBody>
      </p:sp>
      <p:sp>
        <p:nvSpPr>
          <p:cNvPr id="2672" name="Google Shape;2672;p12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Two Kinds of Uncertainty</a:t>
            </a:r>
            <a:endParaRPr sz="3400"/>
          </a:p>
        </p:txBody>
      </p:sp>
      <p:sp>
        <p:nvSpPr>
          <p:cNvPr id="2673" name="Google Shape;2673;p125"/>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causal estimate has more sources of doubt than a single p-value admits.</a:t>
            </a:r>
            <a:endParaRPr sz="1450"/>
          </a:p>
        </p:txBody>
      </p:sp>
      <p:sp>
        <p:nvSpPr>
          <p:cNvPr id="2674" name="Google Shape;2674;p125"/>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125"/>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Statistical (sampling) uncertainty</a:t>
            </a:r>
            <a:endParaRPr sz="1500"/>
          </a:p>
        </p:txBody>
      </p:sp>
      <p:sp>
        <p:nvSpPr>
          <p:cNvPr id="2676" name="Google Shape;2676;p125"/>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Would the estimate change under a different random sample or re-randomization? This is what standard errors capture.</a:t>
            </a:r>
            <a:endParaRPr sz="1250"/>
          </a:p>
        </p:txBody>
      </p:sp>
      <p:sp>
        <p:nvSpPr>
          <p:cNvPr id="2677" name="Google Shape;2677;p125"/>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125"/>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Identification uncertainty</a:t>
            </a:r>
            <a:endParaRPr sz="1500"/>
          </a:p>
        </p:txBody>
      </p:sp>
      <p:sp>
        <p:nvSpPr>
          <p:cNvPr id="2679" name="Google Shape;2679;p125"/>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Would it change if the assumptions were slightly wrong? This is what sensitivity analysis captures — and it is usually larger.</a:t>
            </a:r>
            <a:endParaRPr sz="1250"/>
          </a:p>
        </p:txBody>
      </p:sp>
      <p:sp>
        <p:nvSpPr>
          <p:cNvPr id="2680" name="Google Shape;2680;p125"/>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125"/>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Report both</a:t>
            </a:r>
            <a:endParaRPr sz="1500"/>
          </a:p>
        </p:txBody>
      </p:sp>
      <p:sp>
        <p:nvSpPr>
          <p:cNvPr id="2682" name="Google Shape;2682;p125"/>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tight confidence interval around a poorly-identified estimate is false precision. Communicate both layers.</a:t>
            </a:r>
            <a:endParaRPr sz="1250"/>
          </a:p>
        </p:txBody>
      </p:sp>
      <p:sp>
        <p:nvSpPr>
          <p:cNvPr id="2683" name="Google Shape;2683;p125"/>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125"/>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TRAP</a:t>
            </a:r>
            <a:endParaRPr sz="1100"/>
          </a:p>
        </p:txBody>
      </p:sp>
      <p:sp>
        <p:nvSpPr>
          <p:cNvPr id="2685" name="Google Shape;2685;p125"/>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350">
                <a:solidFill>
                  <a:srgbClr val="16233F"/>
                </a:solidFill>
                <a:latin typeface="Calibri"/>
                <a:ea typeface="Calibri"/>
                <a:cs typeface="Calibri"/>
                <a:sym typeface="Calibri"/>
              </a:rPr>
              <a:t>Most reported ‘uncertainty’ is only sampling error. For observational work, the uncertainty about whether the design is valid usually dominates.</a:t>
            </a:r>
            <a:endParaRPr sz="1350"/>
          </a:p>
        </p:txBody>
      </p:sp>
      <p:sp>
        <p:nvSpPr>
          <p:cNvPr id="2686" name="Google Shape;2686;p12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UNCERTAINTY</a:t>
            </a:r>
            <a:endParaRPr sz="900"/>
          </a:p>
        </p:txBody>
      </p:sp>
      <p:sp>
        <p:nvSpPr>
          <p:cNvPr id="2687" name="Google Shape;2687;p12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150  /  268</a:t>
            </a:r>
            <a:endParaRPr sz="900"/>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2" name="Shape 2692"/>
        <p:cNvGrpSpPr/>
        <p:nvPr/>
      </p:nvGrpSpPr>
      <p:grpSpPr>
        <a:xfrm>
          <a:off x="0" y="0"/>
          <a:ext cx="0" cy="0"/>
          <a:chOff x="0" y="0"/>
          <a:chExt cx="0" cy="0"/>
        </a:xfrm>
      </p:grpSpPr>
      <p:sp>
        <p:nvSpPr>
          <p:cNvPr id="2693" name="Google Shape;2693;p12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1</a:t>
            </a:r>
            <a:endParaRPr sz="1200"/>
          </a:p>
        </p:txBody>
      </p:sp>
      <p:sp>
        <p:nvSpPr>
          <p:cNvPr id="2694" name="Google Shape;2694;p12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Choosing the Right Standard Error</a:t>
            </a:r>
            <a:endParaRPr sz="3400"/>
          </a:p>
        </p:txBody>
      </p:sp>
      <p:sp>
        <p:nvSpPr>
          <p:cNvPr id="2695" name="Google Shape;2695;p126"/>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The standard error must match how the data were generated and assigned.</a:t>
            </a:r>
            <a:endParaRPr sz="1400"/>
          </a:p>
        </p:txBody>
      </p:sp>
      <p:sp>
        <p:nvSpPr>
          <p:cNvPr id="2696" name="Google Shape;2696;p126"/>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126"/>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01</a:t>
            </a:r>
            <a:endParaRPr sz="1300"/>
          </a:p>
        </p:txBody>
      </p:sp>
      <p:sp>
        <p:nvSpPr>
          <p:cNvPr id="2698" name="Google Shape;2698;p126"/>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Classical / homoskedastic</a:t>
            </a:r>
            <a:endParaRPr sz="1600"/>
          </a:p>
        </p:txBody>
      </p:sp>
      <p:sp>
        <p:nvSpPr>
          <p:cNvPr id="2699" name="Google Shape;2699;p126"/>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Assumes constant error variance. Rarely defensible for real data; usually too optimistic.</a:t>
            </a:r>
            <a:endParaRPr sz="1250"/>
          </a:p>
        </p:txBody>
      </p:sp>
      <p:sp>
        <p:nvSpPr>
          <p:cNvPr id="2700" name="Google Shape;2700;p126"/>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126"/>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02</a:t>
            </a:r>
            <a:endParaRPr sz="1300"/>
          </a:p>
        </p:txBody>
      </p:sp>
      <p:sp>
        <p:nvSpPr>
          <p:cNvPr id="2702" name="Google Shape;2702;p126"/>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Robust (Huber–White, HC2/HC3)</a:t>
            </a:r>
            <a:endParaRPr sz="1600"/>
          </a:p>
        </p:txBody>
      </p:sp>
      <p:sp>
        <p:nvSpPr>
          <p:cNvPr id="2703" name="Google Shape;2703;p126"/>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Allows heteroskedasticity. The sensible default for cross-sectional regression estimates.</a:t>
            </a:r>
            <a:endParaRPr sz="1250"/>
          </a:p>
        </p:txBody>
      </p:sp>
      <p:sp>
        <p:nvSpPr>
          <p:cNvPr id="2704" name="Google Shape;2704;p126"/>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126"/>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03</a:t>
            </a:r>
            <a:endParaRPr sz="1300"/>
          </a:p>
        </p:txBody>
      </p:sp>
      <p:sp>
        <p:nvSpPr>
          <p:cNvPr id="2706" name="Google Shape;2706;p126"/>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Clustered</a:t>
            </a:r>
            <a:endParaRPr sz="1600"/>
          </a:p>
        </p:txBody>
      </p:sp>
      <p:sp>
        <p:nvSpPr>
          <p:cNvPr id="2707" name="Google Shape;2707;p126"/>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For grouped assignment or correlated units — cluster at the level of randomization or the treatment shock.</a:t>
            </a:r>
            <a:endParaRPr sz="1250"/>
          </a:p>
        </p:txBody>
      </p:sp>
      <p:sp>
        <p:nvSpPr>
          <p:cNvPr id="2708" name="Google Shape;2708;p126"/>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126"/>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04</a:t>
            </a:r>
            <a:endParaRPr sz="1300"/>
          </a:p>
        </p:txBody>
      </p:sp>
      <p:sp>
        <p:nvSpPr>
          <p:cNvPr id="2710" name="Google Shape;2710;p126"/>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Design-based</a:t>
            </a:r>
            <a:endParaRPr sz="1600"/>
          </a:p>
        </p:txBody>
      </p:sp>
      <p:sp>
        <p:nvSpPr>
          <p:cNvPr id="2711" name="Google Shape;2711;p126"/>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Derived from the assignment mechanism itself; the natural choice for experiments.</a:t>
            </a:r>
            <a:endParaRPr sz="1250"/>
          </a:p>
        </p:txBody>
      </p:sp>
      <p:sp>
        <p:nvSpPr>
          <p:cNvPr id="2712" name="Google Shape;2712;p12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UNCERTAINTY</a:t>
            </a:r>
            <a:endParaRPr sz="900"/>
          </a:p>
        </p:txBody>
      </p:sp>
      <p:sp>
        <p:nvSpPr>
          <p:cNvPr id="2713" name="Google Shape;2713;p12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151  /  268</a:t>
            </a:r>
            <a:endParaRPr sz="900"/>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8" name="Shape 2718"/>
        <p:cNvGrpSpPr/>
        <p:nvPr/>
      </p:nvGrpSpPr>
      <p:grpSpPr>
        <a:xfrm>
          <a:off x="0" y="0"/>
          <a:ext cx="0" cy="0"/>
          <a:chOff x="0" y="0"/>
          <a:chExt cx="0" cy="0"/>
        </a:xfrm>
      </p:grpSpPr>
      <p:sp>
        <p:nvSpPr>
          <p:cNvPr id="2719" name="Google Shape;2719;p12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1</a:t>
            </a:r>
            <a:endParaRPr sz="1200"/>
          </a:p>
        </p:txBody>
      </p:sp>
      <p:sp>
        <p:nvSpPr>
          <p:cNvPr id="2720" name="Google Shape;2720;p12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Clustering: Get the Level Right</a:t>
            </a:r>
            <a:endParaRPr sz="3400"/>
          </a:p>
        </p:txBody>
      </p:sp>
      <p:sp>
        <p:nvSpPr>
          <p:cNvPr id="2721" name="Google Shape;2721;p127"/>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single most common uncertainty error in applied causal work is clustering at the wrong level — or not at all.</a:t>
            </a:r>
            <a:endParaRPr sz="1450"/>
          </a:p>
        </p:txBody>
      </p:sp>
      <p:sp>
        <p:nvSpPr>
          <p:cNvPr id="2722" name="Google Shape;2722;p127"/>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127"/>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rule</a:t>
            </a:r>
            <a:endParaRPr sz="1500"/>
          </a:p>
        </p:txBody>
      </p:sp>
      <p:sp>
        <p:nvSpPr>
          <p:cNvPr id="2724" name="Google Shape;2724;p127"/>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Cluster standard errors at the level at which treatment is assigned or the shock occurs — not finer.</a:t>
            </a:r>
            <a:endParaRPr sz="1250"/>
          </a:p>
        </p:txBody>
      </p:sp>
      <p:sp>
        <p:nvSpPr>
          <p:cNvPr id="2725" name="Google Shape;2725;p127"/>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127"/>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Too few clusters</a:t>
            </a:r>
            <a:endParaRPr sz="1500"/>
          </a:p>
        </p:txBody>
      </p:sp>
      <p:sp>
        <p:nvSpPr>
          <p:cNvPr id="2727" name="Google Shape;2727;p127"/>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With a small number of clusters, standard asymptotics fail; use wild-cluster bootstrap or exact methods.</a:t>
            </a:r>
            <a:endParaRPr sz="1250"/>
          </a:p>
        </p:txBody>
      </p:sp>
      <p:sp>
        <p:nvSpPr>
          <p:cNvPr id="2728" name="Google Shape;2728;p127"/>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127"/>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consequence of ignoring it</a:t>
            </a:r>
            <a:endParaRPr sz="1500"/>
          </a:p>
        </p:txBody>
      </p:sp>
      <p:sp>
        <p:nvSpPr>
          <p:cNvPr id="2730" name="Google Shape;2730;p127"/>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Treating correlated observations as independent can shrink standard errors several-fold, manufacturing false significance.</a:t>
            </a:r>
            <a:endParaRPr sz="1250"/>
          </a:p>
        </p:txBody>
      </p:sp>
      <p:sp>
        <p:nvSpPr>
          <p:cNvPr id="2731" name="Google Shape;2731;p127"/>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127"/>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FAILURE MODE</a:t>
            </a:r>
            <a:endParaRPr sz="1100"/>
          </a:p>
        </p:txBody>
      </p:sp>
      <p:sp>
        <p:nvSpPr>
          <p:cNvPr id="2733" name="Google Shape;2733;p127"/>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√n</a:t>
            </a:r>
            <a:endParaRPr sz="5400"/>
          </a:p>
        </p:txBody>
      </p:sp>
      <p:sp>
        <p:nvSpPr>
          <p:cNvPr id="2734" name="Google Shape;2734;p127"/>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Ignoring within-cluster correlation makes you count correlated observations as if independent — the classic route to spuriously narrow intervals.</a:t>
            </a:r>
            <a:endParaRPr sz="1300"/>
          </a:p>
        </p:txBody>
      </p:sp>
      <p:sp>
        <p:nvSpPr>
          <p:cNvPr id="2735" name="Google Shape;2735;p12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UNCERTAINTY</a:t>
            </a:r>
            <a:endParaRPr sz="900"/>
          </a:p>
        </p:txBody>
      </p:sp>
      <p:sp>
        <p:nvSpPr>
          <p:cNvPr id="2736" name="Google Shape;2736;p12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152  /  268</a:t>
            </a:r>
            <a:endParaRPr sz="900"/>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1</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Randomise Users, Analyse Sessions, Get a Lie</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Three users, twelve sessions — but only three independent draws of the treatment.</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COUNT THE DRAWS</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The sample size that governs your standard error is the number of times the coin was flipped, not the number of rows in the table.</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On the real Injaz session data, clustering widens the interval by a factor of 1.6. The point estimate does not move; your entitlement to be confident does.</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UNCERTAINTY</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153  /  268</a:t>
            </a:r>
            <a:endParaRPr sz="900"/>
          </a:p>
        </p:txBody>
      </p:sp>
      <p:pic>
        <p:nvPicPr>
          <p:cNvPr id="279" name="Picture 278" descr="m4_unit_of_analysis.png"/>
          <p:cNvPicPr>
            <a:picLocks noChangeAspect="1"/>
          </p:cNvPicPr>
          <p:nvPr/>
        </p:nvPicPr>
        <p:blipFill>
          <a:blip r:embed="rId2"/>
          <a:stretch>
            <a:fillRect/>
          </a:stretch>
        </p:blipFill>
        <p:spPr>
          <a:xfrm>
            <a:off x="666337" y="2249424"/>
            <a:ext cx="7591868" cy="3877056"/>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1" name="Shape 2741"/>
        <p:cNvGrpSpPr/>
        <p:nvPr/>
      </p:nvGrpSpPr>
      <p:grpSpPr>
        <a:xfrm>
          <a:off x="0" y="0"/>
          <a:ext cx="0" cy="0"/>
          <a:chOff x="0" y="0"/>
          <a:chExt cx="0" cy="0"/>
        </a:xfrm>
      </p:grpSpPr>
      <p:sp>
        <p:nvSpPr>
          <p:cNvPr id="2742" name="Google Shape;2742;p12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1</a:t>
            </a:r>
            <a:endParaRPr sz="1200"/>
          </a:p>
        </p:txBody>
      </p:sp>
      <p:sp>
        <p:nvSpPr>
          <p:cNvPr id="2743" name="Google Shape;2743;p12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Bootstrap</a:t>
            </a:r>
            <a:endParaRPr sz="3400"/>
          </a:p>
        </p:txBody>
      </p:sp>
      <p:sp>
        <p:nvSpPr>
          <p:cNvPr id="2744" name="Google Shape;2744;p128"/>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When an analytic standard error is hard to derive, resample the data to approximate the estimator's sampling distribution.</a:t>
            </a:r>
            <a:endParaRPr sz="1450"/>
          </a:p>
        </p:txBody>
      </p:sp>
      <p:sp>
        <p:nvSpPr>
          <p:cNvPr id="2745" name="Google Shape;2745;p128"/>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128"/>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How it works</a:t>
            </a:r>
            <a:endParaRPr sz="1500"/>
          </a:p>
        </p:txBody>
      </p:sp>
      <p:sp>
        <p:nvSpPr>
          <p:cNvPr id="2747" name="Google Shape;2747;p128"/>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Resample units with replacement many times, recompute the estimate each time, and read uncertainty from the spread.</a:t>
            </a:r>
            <a:endParaRPr sz="1250"/>
          </a:p>
        </p:txBody>
      </p:sp>
      <p:sp>
        <p:nvSpPr>
          <p:cNvPr id="2748" name="Google Shape;2748;p128"/>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128"/>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Respect the design</a:t>
            </a:r>
            <a:endParaRPr sz="1500"/>
          </a:p>
        </p:txBody>
      </p:sp>
      <p:sp>
        <p:nvSpPr>
          <p:cNvPr id="2750" name="Google Shape;2750;p128"/>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Resample at the unit of independence — the block bootstrap for time series, the cluster bootstrap for grouped data.</a:t>
            </a:r>
            <a:endParaRPr sz="1250"/>
          </a:p>
        </p:txBody>
      </p:sp>
      <p:sp>
        <p:nvSpPr>
          <p:cNvPr id="2751" name="Google Shape;2751;p128"/>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128"/>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Know its limits</a:t>
            </a:r>
            <a:endParaRPr sz="1500"/>
          </a:p>
        </p:txBody>
      </p:sp>
      <p:sp>
        <p:nvSpPr>
          <p:cNvPr id="2753" name="Google Shape;2753;p128"/>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naive bootstrap can fail for matching estimators and extreme quantiles; use the method matched to the estimator.</a:t>
            </a:r>
            <a:endParaRPr sz="1250"/>
          </a:p>
        </p:txBody>
      </p:sp>
      <p:sp>
        <p:nvSpPr>
          <p:cNvPr id="2754" name="Google Shape;2754;p12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UNCERTAINTY</a:t>
            </a:r>
            <a:endParaRPr sz="900"/>
          </a:p>
        </p:txBody>
      </p:sp>
      <p:sp>
        <p:nvSpPr>
          <p:cNvPr id="2755" name="Google Shape;2755;p12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154  /  268</a:t>
            </a:r>
            <a:endParaRPr sz="900"/>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0" name="Shape 2760"/>
        <p:cNvGrpSpPr/>
        <p:nvPr/>
      </p:nvGrpSpPr>
      <p:grpSpPr>
        <a:xfrm>
          <a:off x="0" y="0"/>
          <a:ext cx="0" cy="0"/>
          <a:chOff x="0" y="0"/>
          <a:chExt cx="0" cy="0"/>
        </a:xfrm>
      </p:grpSpPr>
      <p:sp>
        <p:nvSpPr>
          <p:cNvPr id="2761" name="Google Shape;2761;p12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1</a:t>
            </a:r>
            <a:endParaRPr sz="1200"/>
          </a:p>
        </p:txBody>
      </p:sp>
      <p:sp>
        <p:nvSpPr>
          <p:cNvPr id="2762" name="Google Shape;2762;p12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Confidence Intervals, Interpreted Correctly</a:t>
            </a:r>
            <a:endParaRPr sz="3400"/>
          </a:p>
        </p:txBody>
      </p:sp>
      <p:sp>
        <p:nvSpPr>
          <p:cNvPr id="2763" name="Google Shape;2763;p129"/>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Intervals communicate more than tests — if read precisely.</a:t>
            </a:r>
            <a:endParaRPr sz="1450"/>
          </a:p>
        </p:txBody>
      </p:sp>
      <p:sp>
        <p:nvSpPr>
          <p:cNvPr id="2764" name="Google Shape;2764;p129"/>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129"/>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frequentist meaning</a:t>
            </a:r>
            <a:endParaRPr sz="1500"/>
          </a:p>
        </p:txBody>
      </p:sp>
      <p:sp>
        <p:nvSpPr>
          <p:cNvPr id="2766" name="Google Shape;2766;p129"/>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Across many repetitions, 95% of such intervals would contain the true effect — a property of the procedure, not this one interval.</a:t>
            </a:r>
            <a:endParaRPr sz="1250"/>
          </a:p>
        </p:txBody>
      </p:sp>
      <p:sp>
        <p:nvSpPr>
          <p:cNvPr id="2767" name="Google Shape;2767;p129"/>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129"/>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Width is the message</a:t>
            </a:r>
            <a:endParaRPr sz="1500"/>
          </a:p>
        </p:txBody>
      </p:sp>
      <p:sp>
        <p:nvSpPr>
          <p:cNvPr id="2769" name="Google Shape;2769;p129"/>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wide interval spanning zero says ‘underpowered / uncertain’, not ‘no effect’.</a:t>
            </a:r>
            <a:endParaRPr sz="1250"/>
          </a:p>
        </p:txBody>
      </p:sp>
      <p:sp>
        <p:nvSpPr>
          <p:cNvPr id="2770" name="Google Shape;2770;p129"/>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129"/>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Compatibility framing</a:t>
            </a:r>
            <a:endParaRPr sz="1500"/>
          </a:p>
        </p:txBody>
      </p:sp>
      <p:sp>
        <p:nvSpPr>
          <p:cNvPr id="2772" name="Google Shape;2772;p129"/>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Read the interval as the range of effect sizes reasonably compatible with the data and model.</a:t>
            </a:r>
            <a:endParaRPr sz="1250"/>
          </a:p>
        </p:txBody>
      </p:sp>
      <p:sp>
        <p:nvSpPr>
          <p:cNvPr id="2773" name="Google Shape;2773;p12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UNCERTAINTY</a:t>
            </a:r>
            <a:endParaRPr sz="900"/>
          </a:p>
        </p:txBody>
      </p:sp>
      <p:sp>
        <p:nvSpPr>
          <p:cNvPr id="2774" name="Google Shape;2774;p12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155  /  268</a:t>
            </a:r>
            <a:endParaRPr sz="900"/>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1</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Reading an Interval as a Decision</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confidence interval maps onto four decisions. A p-value cannot distinguish the middle two, which is why leadership never receives one.</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HARD CASE</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'Positive, significant, and straddling the threshold' is the case that separates a specialist from an analyst.</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The honest sentence is: the effect is real, and the data cannot yet tell us whether it is large enough to justify the build. That is a HOLD, not a ship.</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UNCERTAINTY</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156  /  268</a:t>
            </a:r>
            <a:endParaRPr sz="900"/>
          </a:p>
        </p:txBody>
      </p:sp>
      <p:pic>
        <p:nvPicPr>
          <p:cNvPr id="279" name="Picture 278" descr="m7_uncertainty_to_decision.png"/>
          <p:cNvPicPr>
            <a:picLocks noChangeAspect="1"/>
          </p:cNvPicPr>
          <p:nvPr/>
        </p:nvPicPr>
        <p:blipFill>
          <a:blip r:embed="rId2"/>
          <a:stretch>
            <a:fillRect/>
          </a:stretch>
        </p:blipFill>
        <p:spPr>
          <a:xfrm>
            <a:off x="666337" y="2249424"/>
            <a:ext cx="7591868" cy="3877056"/>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9" name="Shape 2779"/>
        <p:cNvGrpSpPr/>
        <p:nvPr/>
      </p:nvGrpSpPr>
      <p:grpSpPr>
        <a:xfrm>
          <a:off x="0" y="0"/>
          <a:ext cx="0" cy="0"/>
          <a:chOff x="0" y="0"/>
          <a:chExt cx="0" cy="0"/>
        </a:xfrm>
      </p:grpSpPr>
      <p:sp>
        <p:nvSpPr>
          <p:cNvPr id="2780" name="Google Shape;2780;p13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1</a:t>
            </a:r>
            <a:endParaRPr sz="1200"/>
          </a:p>
        </p:txBody>
      </p:sp>
      <p:sp>
        <p:nvSpPr>
          <p:cNvPr id="2781" name="Google Shape;2781;p13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Uncertainty: A Practitioner's Checklist</a:t>
            </a:r>
            <a:endParaRPr sz="3400"/>
          </a:p>
        </p:txBody>
      </p:sp>
      <p:sp>
        <p:nvSpPr>
          <p:cNvPr id="2782" name="Google Shape;2782;p130"/>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Before reporting any effect, run down this list.</a:t>
            </a:r>
            <a:endParaRPr sz="1450"/>
          </a:p>
        </p:txBody>
      </p:sp>
      <p:sp>
        <p:nvSpPr>
          <p:cNvPr id="2783" name="Google Shape;2783;p130"/>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130"/>
          <p:cNvSpPr/>
          <p:nvPr/>
        </p:nvSpPr>
        <p:spPr>
          <a:xfrm>
            <a:off x="841248" y="2514600"/>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Does the standard error match the assignment mechanism (robust / clustered / design-based)?</a:t>
            </a:r>
            <a:endParaRPr sz="1400"/>
          </a:p>
        </p:txBody>
      </p:sp>
      <p:sp>
        <p:nvSpPr>
          <p:cNvPr id="2785" name="Google Shape;2785;p130"/>
          <p:cNvSpPr/>
          <p:nvPr/>
        </p:nvSpPr>
        <p:spPr>
          <a:xfrm>
            <a:off x="566928" y="3300984"/>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130"/>
          <p:cNvSpPr/>
          <p:nvPr/>
        </p:nvSpPr>
        <p:spPr>
          <a:xfrm>
            <a:off x="841248" y="3236976"/>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Is clustering at the correct level, with enough clusters for the method used?</a:t>
            </a:r>
            <a:endParaRPr sz="1400"/>
          </a:p>
        </p:txBody>
      </p:sp>
      <p:sp>
        <p:nvSpPr>
          <p:cNvPr id="2787" name="Google Shape;2787;p130"/>
          <p:cNvSpPr/>
          <p:nvPr/>
        </p:nvSpPr>
        <p:spPr>
          <a:xfrm>
            <a:off x="566928" y="4023360"/>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130"/>
          <p:cNvSpPr/>
          <p:nvPr/>
        </p:nvSpPr>
        <p:spPr>
          <a:xfrm>
            <a:off x="841248" y="3959352"/>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Have you reported an interval, not just a point and a p-value?</a:t>
            </a:r>
            <a:endParaRPr sz="1400"/>
          </a:p>
        </p:txBody>
      </p:sp>
      <p:sp>
        <p:nvSpPr>
          <p:cNvPr id="2789" name="Google Shape;2789;p130"/>
          <p:cNvSpPr/>
          <p:nvPr/>
        </p:nvSpPr>
        <p:spPr>
          <a:xfrm>
            <a:off x="566928" y="4745736"/>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130"/>
          <p:cNvSpPr/>
          <p:nvPr/>
        </p:nvSpPr>
        <p:spPr>
          <a:xfrm>
            <a:off x="841248" y="4681728"/>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Have you separated sampling uncertainty from identification uncertainty?</a:t>
            </a:r>
            <a:endParaRPr sz="1400"/>
          </a:p>
        </p:txBody>
      </p:sp>
      <p:sp>
        <p:nvSpPr>
          <p:cNvPr id="2791" name="Google Shape;2791;p130"/>
          <p:cNvSpPr/>
          <p:nvPr/>
        </p:nvSpPr>
        <p:spPr>
          <a:xfrm>
            <a:off x="566928" y="5468112"/>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130"/>
          <p:cNvSpPr/>
          <p:nvPr/>
        </p:nvSpPr>
        <p:spPr>
          <a:xfrm>
            <a:off x="841248" y="5404104"/>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For a decision, have you translated the interval into expected value and downside risk?</a:t>
            </a:r>
            <a:endParaRPr sz="1400"/>
          </a:p>
        </p:txBody>
      </p:sp>
      <p:sp>
        <p:nvSpPr>
          <p:cNvPr id="2793" name="Google Shape;2793;p13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UNCERTAINTY</a:t>
            </a:r>
            <a:endParaRPr sz="900"/>
          </a:p>
        </p:txBody>
      </p:sp>
      <p:sp>
        <p:nvSpPr>
          <p:cNvPr id="2794" name="Google Shape;2794;p13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157  /  268</a:t>
            </a:r>
            <a:endParaRPr sz="900"/>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9" name="Shape 2799"/>
        <p:cNvGrpSpPr/>
        <p:nvPr/>
      </p:nvGrpSpPr>
      <p:grpSpPr>
        <a:xfrm>
          <a:off x="0" y="0"/>
          <a:ext cx="0" cy="0"/>
          <a:chOff x="0" y="0"/>
          <a:chExt cx="0" cy="0"/>
        </a:xfrm>
      </p:grpSpPr>
      <p:sp>
        <p:nvSpPr>
          <p:cNvPr id="2800" name="Google Shape;2800;p13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1</a:t>
            </a:r>
            <a:endParaRPr sz="1200"/>
          </a:p>
        </p:txBody>
      </p:sp>
      <p:sp>
        <p:nvSpPr>
          <p:cNvPr id="2801" name="Google Shape;2801;p13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Knowledge Check: Uncertainty</a:t>
            </a:r>
            <a:endParaRPr sz="3400"/>
          </a:p>
        </p:txBody>
      </p:sp>
      <p:sp>
        <p:nvSpPr>
          <p:cNvPr id="2802" name="Google Shape;2802;p131"/>
          <p:cNvSpPr/>
          <p:nvPr/>
        </p:nvSpPr>
        <p:spPr>
          <a:xfrm>
            <a:off x="566928" y="178308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131"/>
          <p:cNvSpPr/>
          <p:nvPr/>
        </p:nvSpPr>
        <p:spPr>
          <a:xfrm>
            <a:off x="768096" y="196596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131"/>
          <p:cNvSpPr/>
          <p:nvPr/>
        </p:nvSpPr>
        <p:spPr>
          <a:xfrm>
            <a:off x="768096"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2805" name="Google Shape;2805;p131"/>
          <p:cNvSpPr/>
          <p:nvPr/>
        </p:nvSpPr>
        <p:spPr>
          <a:xfrm>
            <a:off x="1344168" y="19293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A regional policy is assigned per region, but you have person-level data. Cluster SEs at the level of:</a:t>
            </a:r>
            <a:endParaRPr sz="1400"/>
          </a:p>
        </p:txBody>
      </p:sp>
      <p:sp>
        <p:nvSpPr>
          <p:cNvPr id="2806" name="Google Shape;2806;p131"/>
          <p:cNvSpPr/>
          <p:nvPr/>
        </p:nvSpPr>
        <p:spPr>
          <a:xfrm>
            <a:off x="1344168" y="23865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Person      B) Region      C) Household      D) Do not cluster</a:t>
            </a:r>
            <a:endParaRPr sz="1200"/>
          </a:p>
        </p:txBody>
      </p:sp>
      <p:sp>
        <p:nvSpPr>
          <p:cNvPr id="2807" name="Google Shape;2807;p131"/>
          <p:cNvSpPr/>
          <p:nvPr/>
        </p:nvSpPr>
        <p:spPr>
          <a:xfrm>
            <a:off x="566928" y="306324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131"/>
          <p:cNvSpPr/>
          <p:nvPr/>
        </p:nvSpPr>
        <p:spPr>
          <a:xfrm>
            <a:off x="768096" y="32461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131"/>
          <p:cNvSpPr/>
          <p:nvPr/>
        </p:nvSpPr>
        <p:spPr>
          <a:xfrm>
            <a:off x="768096"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2810" name="Google Shape;2810;p131"/>
          <p:cNvSpPr/>
          <p:nvPr/>
        </p:nvSpPr>
        <p:spPr>
          <a:xfrm>
            <a:off x="1344168" y="32095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A 95% CI of [−0.2, 3.4] on a lift means:</a:t>
            </a:r>
            <a:endParaRPr sz="1400"/>
          </a:p>
        </p:txBody>
      </p:sp>
      <p:sp>
        <p:nvSpPr>
          <p:cNvPr id="2811" name="Google Shape;2811;p131"/>
          <p:cNvSpPr/>
          <p:nvPr/>
        </p:nvSpPr>
        <p:spPr>
          <a:xfrm>
            <a:off x="1344168" y="36667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No effect      B) Effect is exactly 1.6      C) Data can't rule out a wide range      D) The null is true</a:t>
            </a:r>
            <a:endParaRPr sz="1200"/>
          </a:p>
        </p:txBody>
      </p:sp>
      <p:sp>
        <p:nvSpPr>
          <p:cNvPr id="2812" name="Google Shape;2812;p131"/>
          <p:cNvSpPr/>
          <p:nvPr/>
        </p:nvSpPr>
        <p:spPr>
          <a:xfrm>
            <a:off x="566928" y="434340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131"/>
          <p:cNvSpPr/>
          <p:nvPr/>
        </p:nvSpPr>
        <p:spPr>
          <a:xfrm>
            <a:off x="768096" y="452628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131"/>
          <p:cNvSpPr/>
          <p:nvPr/>
        </p:nvSpPr>
        <p:spPr>
          <a:xfrm>
            <a:off x="768096" y="4526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2815" name="Google Shape;2815;p131"/>
          <p:cNvSpPr/>
          <p:nvPr/>
        </p:nvSpPr>
        <p:spPr>
          <a:xfrm>
            <a:off x="1344168" y="44897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For a matching estimator, the naive bootstrap is:</a:t>
            </a:r>
            <a:endParaRPr sz="1400"/>
          </a:p>
        </p:txBody>
      </p:sp>
      <p:sp>
        <p:nvSpPr>
          <p:cNvPr id="2816" name="Google Shape;2816;p131"/>
          <p:cNvSpPr/>
          <p:nvPr/>
        </p:nvSpPr>
        <p:spPr>
          <a:xfrm>
            <a:off x="1344168" y="49469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Always valid      B) Potentially invalid      C) The only option      D) Design-based</a:t>
            </a:r>
            <a:endParaRPr sz="1200"/>
          </a:p>
        </p:txBody>
      </p:sp>
      <p:sp>
        <p:nvSpPr>
          <p:cNvPr id="2817" name="Google Shape;2817;p13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UNCERTAINTY</a:t>
            </a:r>
            <a:endParaRPr sz="900"/>
          </a:p>
        </p:txBody>
      </p:sp>
      <p:sp>
        <p:nvSpPr>
          <p:cNvPr id="2818" name="Google Shape;2818;p13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158  /  268</a:t>
            </a:r>
            <a:endParaRPr sz="900"/>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2823" name="Shape 2823"/>
        <p:cNvGrpSpPr/>
        <p:nvPr/>
      </p:nvGrpSpPr>
      <p:grpSpPr>
        <a:xfrm>
          <a:off x="0" y="0"/>
          <a:ext cx="0" cy="0"/>
          <a:chOff x="0" y="0"/>
          <a:chExt cx="0" cy="0"/>
        </a:xfrm>
      </p:grpSpPr>
      <p:sp>
        <p:nvSpPr>
          <p:cNvPr id="2824" name="Google Shape;2824;p132"/>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4 · HOUR 2</a:t>
            </a:r>
            <a:endParaRPr sz="1300"/>
          </a:p>
        </p:txBody>
      </p:sp>
      <p:sp>
        <p:nvSpPr>
          <p:cNvPr id="2825" name="Google Shape;2825;p132"/>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Bias, Validity &amp; Sensitivity</a:t>
            </a:r>
            <a:endParaRPr sz="4000"/>
          </a:p>
        </p:txBody>
      </p:sp>
      <p:sp>
        <p:nvSpPr>
          <p:cNvPr id="2826" name="Google Shape;2826;p132"/>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A working taxonomy of bias, internal vs. external validity, sampling limitations, and how to stress-test a causal claim.</a:t>
            </a:r>
            <a:endParaRPr sz="1500"/>
          </a:p>
        </p:txBody>
      </p:sp>
      <p:cxnSp>
        <p:nvCxnSpPr>
          <p:cNvPr id="2827" name="Google Shape;2827;p132"/>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2828" name="Google Shape;2828;p13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4</a:t>
            </a:r>
            <a:endParaRPr sz="900"/>
          </a:p>
        </p:txBody>
      </p:sp>
      <p:sp>
        <p:nvSpPr>
          <p:cNvPr id="2829" name="Google Shape;2829;p13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159  /  268</a:t>
            </a:r>
            <a:endParaRPr sz="900"/>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4" name="Shape 2834"/>
        <p:cNvGrpSpPr/>
        <p:nvPr/>
      </p:nvGrpSpPr>
      <p:grpSpPr>
        <a:xfrm>
          <a:off x="0" y="0"/>
          <a:ext cx="0" cy="0"/>
          <a:chOff x="0" y="0"/>
          <a:chExt cx="0" cy="0"/>
        </a:xfrm>
      </p:grpSpPr>
      <p:sp>
        <p:nvSpPr>
          <p:cNvPr id="2835" name="Google Shape;2835;p13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2</a:t>
            </a:r>
            <a:endParaRPr sz="1200"/>
          </a:p>
        </p:txBody>
      </p:sp>
      <p:sp>
        <p:nvSpPr>
          <p:cNvPr id="2836" name="Google Shape;2836;p13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 Taxonomy of Bias</a:t>
            </a:r>
            <a:endParaRPr sz="3400"/>
          </a:p>
        </p:txBody>
      </p:sp>
      <p:sp>
        <p:nvSpPr>
          <p:cNvPr id="2837" name="Google Shape;2837;p133"/>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Name the bias precisely and you know where in the pipeline to fix it.</a:t>
            </a:r>
            <a:endParaRPr sz="1400"/>
          </a:p>
        </p:txBody>
      </p:sp>
      <p:sp>
        <p:nvSpPr>
          <p:cNvPr id="2838" name="Google Shape;2838;p133"/>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133"/>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01</a:t>
            </a:r>
            <a:endParaRPr sz="1300"/>
          </a:p>
        </p:txBody>
      </p:sp>
      <p:sp>
        <p:nvSpPr>
          <p:cNvPr id="2840" name="Google Shape;2840;p133"/>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Confounding bias</a:t>
            </a:r>
            <a:endParaRPr sz="1600"/>
          </a:p>
        </p:txBody>
      </p:sp>
      <p:sp>
        <p:nvSpPr>
          <p:cNvPr id="2841" name="Google Shape;2841;p133"/>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common cause of treatment and outcome distorts the association. Fixed by design or valid adjustment.</a:t>
            </a:r>
            <a:endParaRPr sz="1250"/>
          </a:p>
        </p:txBody>
      </p:sp>
      <p:sp>
        <p:nvSpPr>
          <p:cNvPr id="2842" name="Google Shape;2842;p133"/>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133"/>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02</a:t>
            </a:r>
            <a:endParaRPr sz="1300"/>
          </a:p>
        </p:txBody>
      </p:sp>
      <p:sp>
        <p:nvSpPr>
          <p:cNvPr id="2844" name="Google Shape;2844;p133"/>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Selection bias</a:t>
            </a:r>
            <a:endParaRPr sz="1600"/>
          </a:p>
        </p:txBody>
      </p:sp>
      <p:sp>
        <p:nvSpPr>
          <p:cNvPr id="2845" name="Google Shape;2845;p133"/>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How units enter (or stay in) the sample is related to treatment and outcome — including collider conditioning and attrition.</a:t>
            </a:r>
            <a:endParaRPr sz="1250"/>
          </a:p>
        </p:txBody>
      </p:sp>
      <p:sp>
        <p:nvSpPr>
          <p:cNvPr id="2846" name="Google Shape;2846;p133"/>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133"/>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03</a:t>
            </a:r>
            <a:endParaRPr sz="1300"/>
          </a:p>
        </p:txBody>
      </p:sp>
      <p:sp>
        <p:nvSpPr>
          <p:cNvPr id="2848" name="Google Shape;2848;p133"/>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Measurement bias</a:t>
            </a:r>
            <a:endParaRPr sz="1600"/>
          </a:p>
        </p:txBody>
      </p:sp>
      <p:sp>
        <p:nvSpPr>
          <p:cNvPr id="2849" name="Google Shape;2849;p133"/>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Systematic error in T, Y, or X — misclassification, proxy metrics, and differential measurement across arms.</a:t>
            </a:r>
            <a:endParaRPr sz="1250"/>
          </a:p>
        </p:txBody>
      </p:sp>
      <p:sp>
        <p:nvSpPr>
          <p:cNvPr id="2850" name="Google Shape;2850;p133"/>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133"/>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04</a:t>
            </a:r>
            <a:endParaRPr sz="1300"/>
          </a:p>
        </p:txBody>
      </p:sp>
      <p:sp>
        <p:nvSpPr>
          <p:cNvPr id="2852" name="Google Shape;2852;p133"/>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Interference / spillover</a:t>
            </a:r>
            <a:endParaRPr sz="1600"/>
          </a:p>
        </p:txBody>
      </p:sp>
      <p:sp>
        <p:nvSpPr>
          <p:cNvPr id="2853" name="Google Shape;2853;p133"/>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One unit's treatment changes another's outcome, breaking SUTVA and biasing the contrast.</a:t>
            </a:r>
            <a:endParaRPr sz="1250"/>
          </a:p>
        </p:txBody>
      </p:sp>
      <p:sp>
        <p:nvSpPr>
          <p:cNvPr id="2854" name="Google Shape;2854;p13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BIAS</a:t>
            </a:r>
            <a:endParaRPr sz="900"/>
          </a:p>
        </p:txBody>
      </p:sp>
      <p:sp>
        <p:nvSpPr>
          <p:cNvPr id="2855" name="Google Shape;2855;p13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160  /  268</a:t>
            </a:r>
            <a:endParaRPr sz="900"/>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0" name="Shape 2860"/>
        <p:cNvGrpSpPr/>
        <p:nvPr/>
      </p:nvGrpSpPr>
      <p:grpSpPr>
        <a:xfrm>
          <a:off x="0" y="0"/>
          <a:ext cx="0" cy="0"/>
          <a:chOff x="0" y="0"/>
          <a:chExt cx="0" cy="0"/>
        </a:xfrm>
      </p:grpSpPr>
      <p:sp>
        <p:nvSpPr>
          <p:cNvPr id="2861" name="Google Shape;2861;p13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2</a:t>
            </a:r>
            <a:endParaRPr sz="1200"/>
          </a:p>
        </p:txBody>
      </p:sp>
      <p:sp>
        <p:nvSpPr>
          <p:cNvPr id="2862" name="Google Shape;2862;p13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Internal vs. External Validity</a:t>
            </a:r>
            <a:endParaRPr sz="3400"/>
          </a:p>
        </p:txBody>
      </p:sp>
      <p:sp>
        <p:nvSpPr>
          <p:cNvPr id="2863" name="Google Shape;2863;p134"/>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Two separate questions: is the estimate right for this sample, and does it transfer beyond it?</a:t>
            </a:r>
            <a:endParaRPr sz="1450"/>
          </a:p>
        </p:txBody>
      </p:sp>
      <p:sp>
        <p:nvSpPr>
          <p:cNvPr id="2864" name="Google Shape;2864;p134"/>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134"/>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Internal validity</a:t>
            </a:r>
            <a:endParaRPr sz="1500"/>
          </a:p>
        </p:txBody>
      </p:sp>
      <p:sp>
        <p:nvSpPr>
          <p:cNvPr id="2866" name="Google Shape;2866;p134"/>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Does the estimate correctly reflect the causal effect within the study? Threatened by confounding, attrition, and non-compliance.</a:t>
            </a:r>
            <a:endParaRPr sz="1250"/>
          </a:p>
        </p:txBody>
      </p:sp>
      <p:sp>
        <p:nvSpPr>
          <p:cNvPr id="2867" name="Google Shape;2867;p134"/>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134"/>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External validity</a:t>
            </a:r>
            <a:endParaRPr sz="1500"/>
          </a:p>
        </p:txBody>
      </p:sp>
      <p:sp>
        <p:nvSpPr>
          <p:cNvPr id="2869" name="Google Shape;2869;p134"/>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Does the effect generalise to other populations, settings, times, or treatment versions? A separate, often harder, claim.</a:t>
            </a:r>
            <a:endParaRPr sz="1250"/>
          </a:p>
        </p:txBody>
      </p:sp>
      <p:sp>
        <p:nvSpPr>
          <p:cNvPr id="2870" name="Google Shape;2870;p134"/>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134"/>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tension</a:t>
            </a:r>
            <a:endParaRPr sz="1500"/>
          </a:p>
        </p:txBody>
      </p:sp>
      <p:sp>
        <p:nvSpPr>
          <p:cNvPr id="2872" name="Google Shape;2872;p134"/>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Tightly controlled designs (RCTs, RDD) buy internal validity but can narrow external validity — the local effect may not travel.</a:t>
            </a:r>
            <a:endParaRPr sz="1250"/>
          </a:p>
        </p:txBody>
      </p:sp>
      <p:sp>
        <p:nvSpPr>
          <p:cNvPr id="2873" name="Google Shape;2873;p134"/>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134"/>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DO NOT CONFLATE THEM</a:t>
            </a:r>
            <a:endParaRPr sz="1100"/>
          </a:p>
        </p:txBody>
      </p:sp>
      <p:sp>
        <p:nvSpPr>
          <p:cNvPr id="2875" name="Google Shape;2875;p134"/>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A perfectly identified effect at a threshold (RDD) or for compliers (IV) can be exactly right internally and still not answer the population question you care about.</a:t>
            </a:r>
            <a:endParaRPr sz="1350"/>
          </a:p>
        </p:txBody>
      </p:sp>
      <p:sp>
        <p:nvSpPr>
          <p:cNvPr id="2876" name="Google Shape;2876;p13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VALIDITY</a:t>
            </a:r>
            <a:endParaRPr sz="900"/>
          </a:p>
        </p:txBody>
      </p:sp>
      <p:sp>
        <p:nvSpPr>
          <p:cNvPr id="2877" name="Google Shape;2877;p13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161  /  268</a:t>
            </a:r>
            <a:endParaRPr sz="900"/>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2" name="Shape 2882"/>
        <p:cNvGrpSpPr/>
        <p:nvPr/>
      </p:nvGrpSpPr>
      <p:grpSpPr>
        <a:xfrm>
          <a:off x="0" y="0"/>
          <a:ext cx="0" cy="0"/>
          <a:chOff x="0" y="0"/>
          <a:chExt cx="0" cy="0"/>
        </a:xfrm>
      </p:grpSpPr>
      <p:sp>
        <p:nvSpPr>
          <p:cNvPr id="2883" name="Google Shape;2883;p13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2</a:t>
            </a:r>
            <a:endParaRPr sz="1200"/>
          </a:p>
        </p:txBody>
      </p:sp>
      <p:sp>
        <p:nvSpPr>
          <p:cNvPr id="2884" name="Google Shape;2884;p13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Sampling Limitations &amp; Generalisation</a:t>
            </a:r>
            <a:endParaRPr sz="3400"/>
          </a:p>
        </p:txBody>
      </p:sp>
      <p:sp>
        <p:nvSpPr>
          <p:cNvPr id="2885" name="Google Shape;2885;p135"/>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Who is in your data determines who your conclusion is about.</a:t>
            </a:r>
            <a:endParaRPr sz="1450"/>
          </a:p>
        </p:txBody>
      </p:sp>
      <p:sp>
        <p:nvSpPr>
          <p:cNvPr id="2886" name="Google Shape;2886;p135"/>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135"/>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Coverage</a:t>
            </a:r>
            <a:endParaRPr sz="1500"/>
          </a:p>
        </p:txBody>
      </p:sp>
      <p:sp>
        <p:nvSpPr>
          <p:cNvPr id="2888" name="Google Shape;2888;p135"/>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Convenience samples, opt-in panels, and platform data can systematically exclude the populations a decision must serve.</a:t>
            </a:r>
            <a:endParaRPr sz="1250"/>
          </a:p>
        </p:txBody>
      </p:sp>
      <p:sp>
        <p:nvSpPr>
          <p:cNvPr id="2889" name="Google Shape;2889;p135"/>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135"/>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Effect transport</a:t>
            </a:r>
            <a:endParaRPr sz="1500"/>
          </a:p>
        </p:txBody>
      </p:sp>
      <p:sp>
        <p:nvSpPr>
          <p:cNvPr id="2891" name="Google Shape;2891;p135"/>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If the effect varies with covariates (CATE) and the target population's mix differs, the sample ATE will not transport.</a:t>
            </a:r>
            <a:endParaRPr sz="1250"/>
          </a:p>
        </p:txBody>
      </p:sp>
      <p:sp>
        <p:nvSpPr>
          <p:cNvPr id="2892" name="Google Shape;2892;p135"/>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135"/>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Reweighting to target</a:t>
            </a:r>
            <a:endParaRPr sz="1500"/>
          </a:p>
        </p:txBody>
      </p:sp>
      <p:sp>
        <p:nvSpPr>
          <p:cNvPr id="2894" name="Google Shape;2894;p135"/>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Post-stratify or reweight the estimate to the target population's covariate distribution — and state the assumptions that licenses it.</a:t>
            </a:r>
            <a:endParaRPr sz="1250"/>
          </a:p>
        </p:txBody>
      </p:sp>
      <p:sp>
        <p:nvSpPr>
          <p:cNvPr id="2895" name="Google Shape;2895;p13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VALIDITY</a:t>
            </a:r>
            <a:endParaRPr sz="900"/>
          </a:p>
        </p:txBody>
      </p:sp>
      <p:sp>
        <p:nvSpPr>
          <p:cNvPr id="2896" name="Google Shape;2896;p13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162  /  268</a:t>
            </a:r>
            <a:endParaRPr sz="900"/>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1" name="Shape 2901"/>
        <p:cNvGrpSpPr/>
        <p:nvPr/>
      </p:nvGrpSpPr>
      <p:grpSpPr>
        <a:xfrm>
          <a:off x="0" y="0"/>
          <a:ext cx="0" cy="0"/>
          <a:chOff x="0" y="0"/>
          <a:chExt cx="0" cy="0"/>
        </a:xfrm>
      </p:grpSpPr>
      <p:sp>
        <p:nvSpPr>
          <p:cNvPr id="2902" name="Google Shape;2902;p13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2</a:t>
            </a:r>
            <a:endParaRPr sz="1200"/>
          </a:p>
        </p:txBody>
      </p:sp>
      <p:sp>
        <p:nvSpPr>
          <p:cNvPr id="2903" name="Google Shape;2903;p13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Sensitivity Analysis for Unmeasured Confounding</a:t>
            </a:r>
            <a:endParaRPr sz="3400"/>
          </a:p>
        </p:txBody>
      </p:sp>
      <p:sp>
        <p:nvSpPr>
          <p:cNvPr id="2904" name="Google Shape;2904;p136"/>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Since unconfoundedness is untestable, quantify how strong a hidden confounder would need to be to overturn your result.</a:t>
            </a:r>
            <a:endParaRPr sz="1450"/>
          </a:p>
        </p:txBody>
      </p:sp>
      <p:sp>
        <p:nvSpPr>
          <p:cNvPr id="2905" name="Google Shape;2905;p136"/>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136"/>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question it answers</a:t>
            </a:r>
            <a:endParaRPr sz="1500"/>
          </a:p>
        </p:txBody>
      </p:sp>
      <p:sp>
        <p:nvSpPr>
          <p:cNvPr id="2907" name="Google Shape;2907;p136"/>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‘How much unmeasured confounding would explain away the effect?’ — a bound, not a point.</a:t>
            </a:r>
            <a:endParaRPr sz="1250"/>
          </a:p>
        </p:txBody>
      </p:sp>
      <p:sp>
        <p:nvSpPr>
          <p:cNvPr id="2908" name="Google Shape;2908;p136"/>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136"/>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Tools</a:t>
            </a:r>
            <a:endParaRPr sz="1500"/>
          </a:p>
        </p:txBody>
      </p:sp>
      <p:sp>
        <p:nvSpPr>
          <p:cNvPr id="2910" name="Google Shape;2910;p136"/>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E-values, Rosenbaum bounds, and partial-R² / Cinelli–Hazlett benchmarks against observed covariates.</a:t>
            </a:r>
            <a:endParaRPr sz="1250"/>
          </a:p>
        </p:txBody>
      </p:sp>
      <p:sp>
        <p:nvSpPr>
          <p:cNvPr id="2911" name="Google Shape;2911;p136"/>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136"/>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Reporting</a:t>
            </a:r>
            <a:endParaRPr sz="1500"/>
          </a:p>
        </p:txBody>
      </p:sp>
      <p:sp>
        <p:nvSpPr>
          <p:cNvPr id="2913" name="Google Shape;2913;p136"/>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State the tipping point and benchmark it: ‘a confounder as strong as X would be needed — and none such is plausible.’</a:t>
            </a:r>
            <a:endParaRPr sz="1250"/>
          </a:p>
        </p:txBody>
      </p:sp>
      <p:sp>
        <p:nvSpPr>
          <p:cNvPr id="2914" name="Google Shape;2914;p136"/>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136"/>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E-VALUE</a:t>
            </a:r>
            <a:endParaRPr sz="1100"/>
          </a:p>
        </p:txBody>
      </p:sp>
      <p:sp>
        <p:nvSpPr>
          <p:cNvPr id="2916" name="Google Shape;2916;p136"/>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 ?</a:t>
            </a:r>
            <a:endParaRPr sz="5400"/>
          </a:p>
        </p:txBody>
      </p:sp>
      <p:sp>
        <p:nvSpPr>
          <p:cNvPr id="2917" name="Google Shape;2917;p136"/>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The minimum strength of association an unmeasured confounder would need with both treatment and outcome to nullify the estimate. Bigger E-values mean more robust claims.</a:t>
            </a:r>
            <a:endParaRPr sz="1300"/>
          </a:p>
        </p:txBody>
      </p:sp>
      <p:sp>
        <p:nvSpPr>
          <p:cNvPr id="2918" name="Google Shape;2918;p13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SENSITIVITY</a:t>
            </a:r>
            <a:endParaRPr sz="900"/>
          </a:p>
        </p:txBody>
      </p:sp>
      <p:sp>
        <p:nvSpPr>
          <p:cNvPr id="2919" name="Google Shape;2919;p13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163  /  268</a:t>
            </a:r>
            <a:endParaRPr sz="900"/>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4" name="Shape 2924"/>
        <p:cNvGrpSpPr/>
        <p:nvPr/>
      </p:nvGrpSpPr>
      <p:grpSpPr>
        <a:xfrm>
          <a:off x="0" y="0"/>
          <a:ext cx="0" cy="0"/>
          <a:chOff x="0" y="0"/>
          <a:chExt cx="0" cy="0"/>
        </a:xfrm>
      </p:grpSpPr>
      <p:sp>
        <p:nvSpPr>
          <p:cNvPr id="2925" name="Google Shape;2925;p13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2</a:t>
            </a:r>
            <a:endParaRPr sz="1200"/>
          </a:p>
        </p:txBody>
      </p:sp>
      <p:sp>
        <p:nvSpPr>
          <p:cNvPr id="2926" name="Google Shape;2926;p13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Placebo Tests &amp; Negative Controls</a:t>
            </a:r>
            <a:endParaRPr sz="3400"/>
          </a:p>
        </p:txBody>
      </p:sp>
      <p:sp>
        <p:nvSpPr>
          <p:cNvPr id="2927" name="Google Shape;2927;p137"/>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Falsification checks that would fail if your design were invalid.</a:t>
            </a:r>
            <a:endParaRPr sz="1450"/>
          </a:p>
        </p:txBody>
      </p:sp>
      <p:sp>
        <p:nvSpPr>
          <p:cNvPr id="2928" name="Google Shape;2928;p137"/>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137"/>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Negative-control outcome</a:t>
            </a:r>
            <a:endParaRPr sz="1500"/>
          </a:p>
        </p:txBody>
      </p:sp>
      <p:sp>
        <p:nvSpPr>
          <p:cNvPr id="2930" name="Google Shape;2930;p137"/>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An outcome the treatment cannot plausibly affect; a ‘detected effect’ there reveals residual confounding.</a:t>
            </a:r>
            <a:endParaRPr sz="1250"/>
          </a:p>
        </p:txBody>
      </p:sp>
      <p:sp>
        <p:nvSpPr>
          <p:cNvPr id="2931" name="Google Shape;2931;p137"/>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137"/>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Negative-control exposure</a:t>
            </a:r>
            <a:endParaRPr sz="1500"/>
          </a:p>
        </p:txBody>
      </p:sp>
      <p:sp>
        <p:nvSpPr>
          <p:cNvPr id="2933" name="Google Shape;2933;p137"/>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pseudo-treatment that should show no effect; if it does, the design is suspect.</a:t>
            </a:r>
            <a:endParaRPr sz="1250"/>
          </a:p>
        </p:txBody>
      </p:sp>
      <p:sp>
        <p:nvSpPr>
          <p:cNvPr id="2934" name="Google Shape;2934;p137"/>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137"/>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Placebo timing / units</a:t>
            </a:r>
            <a:endParaRPr sz="1500"/>
          </a:p>
        </p:txBody>
      </p:sp>
      <p:sp>
        <p:nvSpPr>
          <p:cNvPr id="2936" name="Google Shape;2936;p137"/>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Apply the method where no effect can exist (pre-period, untreated units); a null there supports validity.</a:t>
            </a:r>
            <a:endParaRPr sz="1250"/>
          </a:p>
        </p:txBody>
      </p:sp>
      <p:sp>
        <p:nvSpPr>
          <p:cNvPr id="2937" name="Google Shape;2937;p13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SENSITIVITY</a:t>
            </a:r>
            <a:endParaRPr sz="900"/>
          </a:p>
        </p:txBody>
      </p:sp>
      <p:sp>
        <p:nvSpPr>
          <p:cNvPr id="2938" name="Google Shape;2938;p13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164  /  268</a:t>
            </a:r>
            <a:endParaRPr sz="900"/>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43" name="Shape 2943"/>
        <p:cNvGrpSpPr/>
        <p:nvPr/>
      </p:nvGrpSpPr>
      <p:grpSpPr>
        <a:xfrm>
          <a:off x="0" y="0"/>
          <a:ext cx="0" cy="0"/>
          <a:chOff x="0" y="0"/>
          <a:chExt cx="0" cy="0"/>
        </a:xfrm>
      </p:grpSpPr>
      <p:sp>
        <p:nvSpPr>
          <p:cNvPr id="2944" name="Google Shape;2944;p13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2</a:t>
            </a:r>
            <a:endParaRPr sz="1200"/>
          </a:p>
        </p:txBody>
      </p:sp>
      <p:sp>
        <p:nvSpPr>
          <p:cNvPr id="2945" name="Google Shape;2945;p13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 Threats-to-Validity Review</a:t>
            </a:r>
            <a:endParaRPr sz="3400"/>
          </a:p>
        </p:txBody>
      </p:sp>
      <p:sp>
        <p:nvSpPr>
          <p:cNvPr id="2946" name="Google Shape;2946;p138"/>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checklist to run on any causal claim before you act on it.</a:t>
            </a:r>
            <a:endParaRPr sz="1450"/>
          </a:p>
        </p:txBody>
      </p:sp>
      <p:sp>
        <p:nvSpPr>
          <p:cNvPr id="2947" name="Google Shape;2947;p138"/>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138"/>
          <p:cNvSpPr/>
          <p:nvPr/>
        </p:nvSpPr>
        <p:spPr>
          <a:xfrm>
            <a:off x="841248" y="251460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Confounding — is every backdoor blocked, and could an unmeasured confounder remain?</a:t>
            </a:r>
            <a:endParaRPr sz="1400"/>
          </a:p>
        </p:txBody>
      </p:sp>
      <p:sp>
        <p:nvSpPr>
          <p:cNvPr id="2949" name="Google Shape;2949;p138"/>
          <p:cNvSpPr/>
          <p:nvPr/>
        </p:nvSpPr>
        <p:spPr>
          <a:xfrm>
            <a:off x="566928" y="3180588"/>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138"/>
          <p:cNvSpPr/>
          <p:nvPr/>
        </p:nvSpPr>
        <p:spPr>
          <a:xfrm>
            <a:off x="841248" y="311658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Selection / attrition — who dropped out or was excluded, and is it related to treatment?</a:t>
            </a:r>
            <a:endParaRPr sz="1400"/>
          </a:p>
        </p:txBody>
      </p:sp>
      <p:sp>
        <p:nvSpPr>
          <p:cNvPr id="2951" name="Google Shape;2951;p138"/>
          <p:cNvSpPr/>
          <p:nvPr/>
        </p:nvSpPr>
        <p:spPr>
          <a:xfrm>
            <a:off x="566928" y="3782568"/>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138"/>
          <p:cNvSpPr/>
          <p:nvPr/>
        </p:nvSpPr>
        <p:spPr>
          <a:xfrm>
            <a:off x="841248" y="371856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Measurement — are T, Y, and X measured the same way across arms?</a:t>
            </a:r>
            <a:endParaRPr sz="1400"/>
          </a:p>
        </p:txBody>
      </p:sp>
      <p:sp>
        <p:nvSpPr>
          <p:cNvPr id="2953" name="Google Shape;2953;p138"/>
          <p:cNvSpPr/>
          <p:nvPr/>
        </p:nvSpPr>
        <p:spPr>
          <a:xfrm>
            <a:off x="566928" y="4384548"/>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138"/>
          <p:cNvSpPr/>
          <p:nvPr/>
        </p:nvSpPr>
        <p:spPr>
          <a:xfrm>
            <a:off x="841248" y="432054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Interference — could treated units affect controls?</a:t>
            </a:r>
            <a:endParaRPr sz="1400"/>
          </a:p>
        </p:txBody>
      </p:sp>
      <p:sp>
        <p:nvSpPr>
          <p:cNvPr id="2955" name="Google Shape;2955;p138"/>
          <p:cNvSpPr/>
          <p:nvPr/>
        </p:nvSpPr>
        <p:spPr>
          <a:xfrm>
            <a:off x="566928" y="4986528"/>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138"/>
          <p:cNvSpPr/>
          <p:nvPr/>
        </p:nvSpPr>
        <p:spPr>
          <a:xfrm>
            <a:off x="841248" y="492252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External validity — does the estimand match the population and setting of the decision?</a:t>
            </a:r>
            <a:endParaRPr sz="1400"/>
          </a:p>
        </p:txBody>
      </p:sp>
      <p:sp>
        <p:nvSpPr>
          <p:cNvPr id="2957" name="Google Shape;2957;p138"/>
          <p:cNvSpPr/>
          <p:nvPr/>
        </p:nvSpPr>
        <p:spPr>
          <a:xfrm>
            <a:off x="566928" y="55885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138"/>
          <p:cNvSpPr/>
          <p:nvPr/>
        </p:nvSpPr>
        <p:spPr>
          <a:xfrm>
            <a:off x="841248" y="552450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Robustness — do sensitivity, placebo, and negative-control checks hold up?</a:t>
            </a:r>
            <a:endParaRPr sz="1400"/>
          </a:p>
        </p:txBody>
      </p:sp>
      <p:sp>
        <p:nvSpPr>
          <p:cNvPr id="2959" name="Google Shape;2959;p13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VALIDITY</a:t>
            </a:r>
            <a:endParaRPr sz="900"/>
          </a:p>
        </p:txBody>
      </p:sp>
      <p:sp>
        <p:nvSpPr>
          <p:cNvPr id="2960" name="Google Shape;2960;p13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165  /  268</a:t>
            </a:r>
            <a:endParaRPr sz="900"/>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5" name="Shape 2965"/>
        <p:cNvGrpSpPr/>
        <p:nvPr/>
      </p:nvGrpSpPr>
      <p:grpSpPr>
        <a:xfrm>
          <a:off x="0" y="0"/>
          <a:ext cx="0" cy="0"/>
          <a:chOff x="0" y="0"/>
          <a:chExt cx="0" cy="0"/>
        </a:xfrm>
      </p:grpSpPr>
      <p:sp>
        <p:nvSpPr>
          <p:cNvPr id="2966" name="Google Shape;2966;p13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2</a:t>
            </a:r>
            <a:endParaRPr sz="1200"/>
          </a:p>
        </p:txBody>
      </p:sp>
      <p:sp>
        <p:nvSpPr>
          <p:cNvPr id="2967" name="Google Shape;2967;p13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Knowledge Check: Bias &amp; Validity</a:t>
            </a:r>
            <a:endParaRPr sz="3400"/>
          </a:p>
        </p:txBody>
      </p:sp>
      <p:sp>
        <p:nvSpPr>
          <p:cNvPr id="2968" name="Google Shape;2968;p139"/>
          <p:cNvSpPr/>
          <p:nvPr/>
        </p:nvSpPr>
        <p:spPr>
          <a:xfrm>
            <a:off x="566928" y="178308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139"/>
          <p:cNvSpPr/>
          <p:nvPr/>
        </p:nvSpPr>
        <p:spPr>
          <a:xfrm>
            <a:off x="768096" y="196596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139"/>
          <p:cNvSpPr/>
          <p:nvPr/>
        </p:nvSpPr>
        <p:spPr>
          <a:xfrm>
            <a:off x="768096"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2971" name="Google Shape;2971;p139"/>
          <p:cNvSpPr/>
          <p:nvPr/>
        </p:nvSpPr>
        <p:spPr>
          <a:xfrm>
            <a:off x="1344168" y="19293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An RDD estimate is unbiased at the cutoff but may not generalise. This is a limit of:</a:t>
            </a:r>
            <a:endParaRPr sz="1400"/>
          </a:p>
        </p:txBody>
      </p:sp>
      <p:sp>
        <p:nvSpPr>
          <p:cNvPr id="2972" name="Google Shape;2972;p139"/>
          <p:cNvSpPr/>
          <p:nvPr/>
        </p:nvSpPr>
        <p:spPr>
          <a:xfrm>
            <a:off x="1344168" y="238658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Internal validity      B) External validity      C) Measurement      D) Power</a:t>
            </a:r>
            <a:endParaRPr sz="1200"/>
          </a:p>
        </p:txBody>
      </p:sp>
      <p:sp>
        <p:nvSpPr>
          <p:cNvPr id="2973" name="Google Shape;2973;p139"/>
          <p:cNvSpPr/>
          <p:nvPr/>
        </p:nvSpPr>
        <p:spPr>
          <a:xfrm>
            <a:off x="566928" y="306324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139"/>
          <p:cNvSpPr/>
          <p:nvPr/>
        </p:nvSpPr>
        <p:spPr>
          <a:xfrm>
            <a:off x="768096" y="32461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139"/>
          <p:cNvSpPr/>
          <p:nvPr/>
        </p:nvSpPr>
        <p:spPr>
          <a:xfrm>
            <a:off x="768096"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2976" name="Google Shape;2976;p139"/>
          <p:cNvSpPr/>
          <p:nvPr/>
        </p:nvSpPr>
        <p:spPr>
          <a:xfrm>
            <a:off x="1344168" y="32095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A large E-value indicates the finding is:</a:t>
            </a:r>
            <a:endParaRPr sz="1400"/>
          </a:p>
        </p:txBody>
      </p:sp>
      <p:sp>
        <p:nvSpPr>
          <p:cNvPr id="2977" name="Google Shape;2977;p139"/>
          <p:cNvSpPr/>
          <p:nvPr/>
        </p:nvSpPr>
        <p:spPr>
          <a:xfrm>
            <a:off x="1344168" y="36667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Fragile to confounding      B) Robust to confounding      C) Underpowered      D) Biased</a:t>
            </a:r>
            <a:endParaRPr sz="1200"/>
          </a:p>
        </p:txBody>
      </p:sp>
      <p:sp>
        <p:nvSpPr>
          <p:cNvPr id="2978" name="Google Shape;2978;p139"/>
          <p:cNvSpPr/>
          <p:nvPr/>
        </p:nvSpPr>
        <p:spPr>
          <a:xfrm>
            <a:off x="566928" y="4343400"/>
            <a:ext cx="11057839" cy="1115568"/>
          </a:xfrm>
          <a:prstGeom prst="roundRect">
            <a:avLst>
              <a:gd fmla="val 655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139"/>
          <p:cNvSpPr/>
          <p:nvPr/>
        </p:nvSpPr>
        <p:spPr>
          <a:xfrm>
            <a:off x="768096" y="452628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139"/>
          <p:cNvSpPr/>
          <p:nvPr/>
        </p:nvSpPr>
        <p:spPr>
          <a:xfrm>
            <a:off x="768096" y="45262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2981" name="Google Shape;2981;p139"/>
          <p:cNvSpPr/>
          <p:nvPr/>
        </p:nvSpPr>
        <p:spPr>
          <a:xfrm>
            <a:off x="1344168" y="44897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Detecting an ‘effect’ on a negative-control outcome suggests:</a:t>
            </a:r>
            <a:endParaRPr sz="1400"/>
          </a:p>
        </p:txBody>
      </p:sp>
      <p:sp>
        <p:nvSpPr>
          <p:cNvPr id="2982" name="Google Shape;2982;p139"/>
          <p:cNvSpPr/>
          <p:nvPr/>
        </p:nvSpPr>
        <p:spPr>
          <a:xfrm>
            <a:off x="1344168" y="4946904"/>
            <a:ext cx="10051999"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Strong design      B) Residual confounding      C) High power      D) Good overlap</a:t>
            </a:r>
            <a:endParaRPr sz="1200"/>
          </a:p>
        </p:txBody>
      </p:sp>
      <p:sp>
        <p:nvSpPr>
          <p:cNvPr id="2983" name="Google Shape;2983;p13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VALIDITY</a:t>
            </a:r>
            <a:endParaRPr sz="900"/>
          </a:p>
        </p:txBody>
      </p:sp>
      <p:sp>
        <p:nvSpPr>
          <p:cNvPr id="2984" name="Google Shape;2984;p13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166  /  268</a:t>
            </a:r>
            <a:endParaRPr sz="900"/>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2989" name="Shape 2989"/>
        <p:cNvGrpSpPr/>
        <p:nvPr/>
      </p:nvGrpSpPr>
      <p:grpSpPr>
        <a:xfrm>
          <a:off x="0" y="0"/>
          <a:ext cx="0" cy="0"/>
          <a:chOff x="0" y="0"/>
          <a:chExt cx="0" cy="0"/>
        </a:xfrm>
      </p:grpSpPr>
      <p:sp>
        <p:nvSpPr>
          <p:cNvPr id="2990" name="Google Shape;2990;p140"/>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4 · HOUR 3</a:t>
            </a:r>
            <a:endParaRPr sz="1300"/>
          </a:p>
        </p:txBody>
      </p:sp>
      <p:sp>
        <p:nvSpPr>
          <p:cNvPr id="2991" name="Google Shape;2991;p140"/>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Real-World Case Studies</a:t>
            </a:r>
            <a:endParaRPr sz="4000"/>
          </a:p>
        </p:txBody>
      </p:sp>
      <p:sp>
        <p:nvSpPr>
          <p:cNvPr id="2992" name="Google Shape;2992;p140"/>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Three worked cases across technology, public policy, and health — from question to estimand to design to decision.</a:t>
            </a:r>
            <a:endParaRPr sz="1500"/>
          </a:p>
        </p:txBody>
      </p:sp>
      <p:cxnSp>
        <p:nvCxnSpPr>
          <p:cNvPr id="2993" name="Google Shape;2993;p140"/>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2994" name="Google Shape;2994;p14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4</a:t>
            </a:r>
            <a:endParaRPr sz="900"/>
          </a:p>
        </p:txBody>
      </p:sp>
      <p:sp>
        <p:nvSpPr>
          <p:cNvPr id="2995" name="Google Shape;2995;p14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167  /  268</a:t>
            </a:r>
            <a:endParaRPr sz="900"/>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0" name="Shape 3000"/>
        <p:cNvGrpSpPr/>
        <p:nvPr/>
      </p:nvGrpSpPr>
      <p:grpSpPr>
        <a:xfrm>
          <a:off x="0" y="0"/>
          <a:ext cx="0" cy="0"/>
          <a:chOff x="0" y="0"/>
          <a:chExt cx="0" cy="0"/>
        </a:xfrm>
      </p:grpSpPr>
      <p:sp>
        <p:nvSpPr>
          <p:cNvPr id="3001" name="Google Shape;3001;p141"/>
          <p:cNvSpPr/>
          <p:nvPr/>
        </p:nvSpPr>
        <p:spPr>
          <a:xfrm>
            <a:off x="0" y="0"/>
            <a:ext cx="4206240" cy="6858000"/>
          </a:xfrm>
          <a:prstGeom prst="rect">
            <a:avLst/>
          </a:prstGeom>
          <a:solidFill>
            <a:srgbClr val="16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141"/>
          <p:cNvSpPr/>
          <p:nvPr/>
        </p:nvSpPr>
        <p:spPr>
          <a:xfrm>
            <a:off x="502920" y="548640"/>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STUDY 1 · TECHNOLOGY</a:t>
            </a:r>
            <a:endParaRPr sz="1200"/>
          </a:p>
        </p:txBody>
      </p:sp>
      <p:sp>
        <p:nvSpPr>
          <p:cNvPr id="3003" name="Google Shape;3003;p141"/>
          <p:cNvSpPr/>
          <p:nvPr/>
        </p:nvSpPr>
        <p:spPr>
          <a:xfrm>
            <a:off x="502920" y="914400"/>
            <a:ext cx="3383280" cy="13716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Did the New Ranking Model Grow Engagement?</a:t>
            </a:r>
            <a:endParaRPr sz="2600"/>
          </a:p>
        </p:txBody>
      </p:sp>
      <p:sp>
        <p:nvSpPr>
          <p:cNvPr id="3004" name="Google Shape;3004;p141"/>
          <p:cNvSpPr/>
          <p:nvPr/>
        </p:nvSpPr>
        <p:spPr>
          <a:xfrm>
            <a:off x="502920" y="24688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050"/>
              <a:buFont typeface="Calibri"/>
              <a:buNone/>
            </a:pPr>
            <a:r>
              <a:rPr b="1" lang="en-US" sz="1050">
                <a:solidFill>
                  <a:srgbClr val="3FA9E0"/>
                </a:solidFill>
                <a:latin typeface="Calibri"/>
                <a:ea typeface="Calibri"/>
                <a:cs typeface="Calibri"/>
                <a:sym typeface="Calibri"/>
              </a:rPr>
              <a:t>CONTEXT</a:t>
            </a:r>
            <a:endParaRPr sz="1050"/>
          </a:p>
        </p:txBody>
      </p:sp>
      <p:sp>
        <p:nvSpPr>
          <p:cNvPr id="3005" name="Google Shape;3005;p141"/>
          <p:cNvSpPr/>
          <p:nvPr/>
        </p:nvSpPr>
        <p:spPr>
          <a:xfrm>
            <a:off x="502920" y="2761488"/>
            <a:ext cx="3383280" cy="32004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 platform ships a re-ranked feed. Observational logs show +9% session time for exposed users. Leadership wants to attribute it to the model and roll out globally.</a:t>
            </a:r>
            <a:endParaRPr sz="1250"/>
          </a:p>
        </p:txBody>
      </p:sp>
      <p:sp>
        <p:nvSpPr>
          <p:cNvPr id="3006" name="Google Shape;3006;p141"/>
          <p:cNvSpPr/>
          <p:nvPr/>
        </p:nvSpPr>
        <p:spPr>
          <a:xfrm>
            <a:off x="4663440" y="685800"/>
            <a:ext cx="6961327"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How a Rigorous Analyst Proceeds</a:t>
            </a:r>
            <a:endParaRPr sz="2000"/>
          </a:p>
        </p:txBody>
      </p:sp>
      <p:sp>
        <p:nvSpPr>
          <p:cNvPr id="3007" name="Google Shape;3007;p141"/>
          <p:cNvSpPr/>
          <p:nvPr/>
        </p:nvSpPr>
        <p:spPr>
          <a:xfrm>
            <a:off x="4663440" y="132588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ESTIMAND</a:t>
            </a:r>
            <a:endParaRPr sz="1100"/>
          </a:p>
        </p:txBody>
      </p:sp>
      <p:sp>
        <p:nvSpPr>
          <p:cNvPr id="3008" name="Google Shape;3008;p141"/>
          <p:cNvSpPr/>
          <p:nvPr/>
        </p:nvSpPr>
        <p:spPr>
          <a:xfrm>
            <a:off x="4663440" y="160020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ATE of the new ranker on session time for the eligible user base — not the observed exposed-vs-unexposed gap.</a:t>
            </a:r>
            <a:endParaRPr sz="1250"/>
          </a:p>
        </p:txBody>
      </p:sp>
      <p:sp>
        <p:nvSpPr>
          <p:cNvPr id="3009" name="Google Shape;3009;p141"/>
          <p:cNvSpPr/>
          <p:nvPr/>
        </p:nvSpPr>
        <p:spPr>
          <a:xfrm>
            <a:off x="4663440" y="250317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BA6"/>
              </a:buClr>
              <a:buSzPts val="1100"/>
              <a:buFont typeface="Calibri"/>
              <a:buNone/>
            </a:pPr>
            <a:r>
              <a:rPr b="1" lang="en-US" sz="1100">
                <a:solidFill>
                  <a:srgbClr val="5A5BA6"/>
                </a:solidFill>
                <a:latin typeface="Calibri"/>
                <a:ea typeface="Calibri"/>
                <a:cs typeface="Calibri"/>
                <a:sym typeface="Calibri"/>
              </a:rPr>
              <a:t>THREATS</a:t>
            </a:r>
            <a:endParaRPr sz="1100"/>
          </a:p>
        </p:txBody>
      </p:sp>
      <p:sp>
        <p:nvSpPr>
          <p:cNvPr id="3010" name="Google Shape;3010;p141"/>
          <p:cNvSpPr/>
          <p:nvPr/>
        </p:nvSpPr>
        <p:spPr>
          <a:xfrm>
            <a:off x="4663440" y="277749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Exposure correlated with app version and power-user status (confounding); ranking changes the marketplace others see (interference).</a:t>
            </a:r>
            <a:endParaRPr sz="1250"/>
          </a:p>
        </p:txBody>
      </p:sp>
      <p:sp>
        <p:nvSpPr>
          <p:cNvPr id="3011" name="Google Shape;3011;p141"/>
          <p:cNvSpPr/>
          <p:nvPr/>
        </p:nvSpPr>
        <p:spPr>
          <a:xfrm>
            <a:off x="4663440" y="368046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1100"/>
              <a:buFont typeface="Calibri"/>
              <a:buNone/>
            </a:pPr>
            <a:r>
              <a:rPr b="1" lang="en-US" sz="1100">
                <a:solidFill>
                  <a:srgbClr val="EA7B38"/>
                </a:solidFill>
                <a:latin typeface="Calibri"/>
                <a:ea typeface="Calibri"/>
                <a:cs typeface="Calibri"/>
                <a:sym typeface="Calibri"/>
              </a:rPr>
              <a:t>DESIGN</a:t>
            </a:r>
            <a:endParaRPr sz="1100"/>
          </a:p>
        </p:txBody>
      </p:sp>
      <p:sp>
        <p:nvSpPr>
          <p:cNvPr id="3012" name="Google Shape;3012;p141"/>
          <p:cNvSpPr/>
          <p:nvPr/>
        </p:nvSpPr>
        <p:spPr>
          <a:xfrm>
            <a:off x="4663440" y="395478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Cluster-randomize by user with a hold-back; use CUPED on the pre-period metric; guardrail on latency and revenue.</a:t>
            </a:r>
            <a:endParaRPr sz="1250"/>
          </a:p>
        </p:txBody>
      </p:sp>
      <p:sp>
        <p:nvSpPr>
          <p:cNvPr id="3013" name="Google Shape;3013;p141"/>
          <p:cNvSpPr/>
          <p:nvPr/>
        </p:nvSpPr>
        <p:spPr>
          <a:xfrm>
            <a:off x="4663440" y="485775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9B90"/>
              </a:buClr>
              <a:buSzPts val="1100"/>
              <a:buFont typeface="Calibri"/>
              <a:buNone/>
            </a:pPr>
            <a:r>
              <a:rPr b="1" lang="en-US" sz="1100">
                <a:solidFill>
                  <a:srgbClr val="3E9B90"/>
                </a:solidFill>
                <a:latin typeface="Calibri"/>
                <a:ea typeface="Calibri"/>
                <a:cs typeface="Calibri"/>
                <a:sym typeface="Calibri"/>
              </a:rPr>
              <a:t>DECISION</a:t>
            </a:r>
            <a:endParaRPr sz="1100"/>
          </a:p>
        </p:txBody>
      </p:sp>
      <p:sp>
        <p:nvSpPr>
          <p:cNvPr id="3014" name="Google Shape;3014;p141"/>
          <p:cNvSpPr/>
          <p:nvPr/>
        </p:nvSpPr>
        <p:spPr>
          <a:xfrm>
            <a:off x="4663440" y="513207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Ship only if the randomized lift is positive, guardrails hold, and the effect persists past the novelty window.</a:t>
            </a:r>
            <a:endParaRPr sz="1250"/>
          </a:p>
        </p:txBody>
      </p:sp>
      <p:sp>
        <p:nvSpPr>
          <p:cNvPr id="3015" name="Google Shape;3015;p14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CASES</a:t>
            </a:r>
            <a:endParaRPr sz="900"/>
          </a:p>
        </p:txBody>
      </p:sp>
      <p:sp>
        <p:nvSpPr>
          <p:cNvPr id="3016" name="Google Shape;3016;p14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168  /  268</a:t>
            </a:r>
            <a:endParaRPr sz="900"/>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1" name="Shape 3021"/>
        <p:cNvGrpSpPr/>
        <p:nvPr/>
      </p:nvGrpSpPr>
      <p:grpSpPr>
        <a:xfrm>
          <a:off x="0" y="0"/>
          <a:ext cx="0" cy="0"/>
          <a:chOff x="0" y="0"/>
          <a:chExt cx="0" cy="0"/>
        </a:xfrm>
      </p:grpSpPr>
      <p:sp>
        <p:nvSpPr>
          <p:cNvPr id="3022" name="Google Shape;3022;p142"/>
          <p:cNvSpPr/>
          <p:nvPr/>
        </p:nvSpPr>
        <p:spPr>
          <a:xfrm>
            <a:off x="0" y="0"/>
            <a:ext cx="4206240" cy="6858000"/>
          </a:xfrm>
          <a:prstGeom prst="rect">
            <a:avLst/>
          </a:prstGeom>
          <a:solidFill>
            <a:srgbClr val="16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142"/>
          <p:cNvSpPr/>
          <p:nvPr/>
        </p:nvSpPr>
        <p:spPr>
          <a:xfrm>
            <a:off x="502920" y="548640"/>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STUDY 1 · TECHNOLOGY</a:t>
            </a:r>
            <a:endParaRPr sz="1200"/>
          </a:p>
        </p:txBody>
      </p:sp>
      <p:sp>
        <p:nvSpPr>
          <p:cNvPr id="3024" name="Google Shape;3024;p142"/>
          <p:cNvSpPr/>
          <p:nvPr/>
        </p:nvSpPr>
        <p:spPr>
          <a:xfrm>
            <a:off x="502920" y="914400"/>
            <a:ext cx="3383280" cy="13716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The Novelty-Effect Trap</a:t>
            </a:r>
            <a:endParaRPr sz="2600"/>
          </a:p>
        </p:txBody>
      </p:sp>
      <p:sp>
        <p:nvSpPr>
          <p:cNvPr id="3025" name="Google Shape;3025;p142"/>
          <p:cNvSpPr/>
          <p:nvPr/>
        </p:nvSpPr>
        <p:spPr>
          <a:xfrm>
            <a:off x="502920" y="24688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050"/>
              <a:buFont typeface="Calibri"/>
              <a:buNone/>
            </a:pPr>
            <a:r>
              <a:rPr b="1" lang="en-US" sz="1050">
                <a:solidFill>
                  <a:srgbClr val="3FA9E0"/>
                </a:solidFill>
                <a:latin typeface="Calibri"/>
                <a:ea typeface="Calibri"/>
                <a:cs typeface="Calibri"/>
                <a:sym typeface="Calibri"/>
              </a:rPr>
              <a:t>CONTEXT</a:t>
            </a:r>
            <a:endParaRPr sz="1050"/>
          </a:p>
        </p:txBody>
      </p:sp>
      <p:sp>
        <p:nvSpPr>
          <p:cNvPr id="3026" name="Google Shape;3026;p142"/>
          <p:cNvSpPr/>
          <p:nvPr/>
        </p:nvSpPr>
        <p:spPr>
          <a:xfrm>
            <a:off x="502920" y="2761488"/>
            <a:ext cx="3383280" cy="32004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The randomized test shows +6% in week one, decaying to +1.5% by week four. Which number should govern the rollout decision?</a:t>
            </a:r>
            <a:endParaRPr sz="1250"/>
          </a:p>
        </p:txBody>
      </p:sp>
      <p:sp>
        <p:nvSpPr>
          <p:cNvPr id="3027" name="Google Shape;3027;p142"/>
          <p:cNvSpPr/>
          <p:nvPr/>
        </p:nvSpPr>
        <p:spPr>
          <a:xfrm>
            <a:off x="4663440" y="685800"/>
            <a:ext cx="6961327"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Reading a Decaying Effect</a:t>
            </a:r>
            <a:endParaRPr sz="2000"/>
          </a:p>
        </p:txBody>
      </p:sp>
      <p:sp>
        <p:nvSpPr>
          <p:cNvPr id="3028" name="Google Shape;3028;p142"/>
          <p:cNvSpPr/>
          <p:nvPr/>
        </p:nvSpPr>
        <p:spPr>
          <a:xfrm>
            <a:off x="4663440" y="132588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DIAGNOSIS</a:t>
            </a:r>
            <a:endParaRPr sz="1100"/>
          </a:p>
        </p:txBody>
      </p:sp>
      <p:sp>
        <p:nvSpPr>
          <p:cNvPr id="3029" name="Google Shape;3029;p142"/>
          <p:cNvSpPr/>
          <p:nvPr/>
        </p:nvSpPr>
        <p:spPr>
          <a:xfrm>
            <a:off x="4663440" y="160020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short-lived spike as users react to change, then reversion — the classic novelty (or primacy) effect.</a:t>
            </a:r>
            <a:endParaRPr sz="1250"/>
          </a:p>
        </p:txBody>
      </p:sp>
      <p:sp>
        <p:nvSpPr>
          <p:cNvPr id="3030" name="Google Shape;3030;p142"/>
          <p:cNvSpPr/>
          <p:nvPr/>
        </p:nvSpPr>
        <p:spPr>
          <a:xfrm>
            <a:off x="4663440" y="250317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BA6"/>
              </a:buClr>
              <a:buSzPts val="1100"/>
              <a:buFont typeface="Calibri"/>
              <a:buNone/>
            </a:pPr>
            <a:r>
              <a:rPr b="1" lang="en-US" sz="1100">
                <a:solidFill>
                  <a:srgbClr val="5A5BA6"/>
                </a:solidFill>
                <a:latin typeface="Calibri"/>
                <a:ea typeface="Calibri"/>
                <a:cs typeface="Calibri"/>
                <a:sym typeface="Calibri"/>
              </a:rPr>
              <a:t>WHAT TO TRUST</a:t>
            </a:r>
            <a:endParaRPr sz="1100"/>
          </a:p>
        </p:txBody>
      </p:sp>
      <p:sp>
        <p:nvSpPr>
          <p:cNvPr id="3031" name="Google Shape;3031;p142"/>
          <p:cNvSpPr/>
          <p:nvPr/>
        </p:nvSpPr>
        <p:spPr>
          <a:xfrm>
            <a:off x="4663440" y="277749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steady-state effect after the curve flattens, not the launch-week peak that would justify the ship.</a:t>
            </a:r>
            <a:endParaRPr sz="1250"/>
          </a:p>
        </p:txBody>
      </p:sp>
      <p:sp>
        <p:nvSpPr>
          <p:cNvPr id="3032" name="Google Shape;3032;p142"/>
          <p:cNvSpPr/>
          <p:nvPr/>
        </p:nvSpPr>
        <p:spPr>
          <a:xfrm>
            <a:off x="4663440" y="368046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1100"/>
              <a:buFont typeface="Calibri"/>
              <a:buNone/>
            </a:pPr>
            <a:r>
              <a:rPr b="1" lang="en-US" sz="1100">
                <a:solidFill>
                  <a:srgbClr val="EA7B38"/>
                </a:solidFill>
                <a:latin typeface="Calibri"/>
                <a:ea typeface="Calibri"/>
                <a:cs typeface="Calibri"/>
                <a:sym typeface="Calibri"/>
              </a:rPr>
              <a:t>DESIGN RESPONSE</a:t>
            </a:r>
            <a:endParaRPr sz="1100"/>
          </a:p>
        </p:txBody>
      </p:sp>
      <p:sp>
        <p:nvSpPr>
          <p:cNvPr id="3033" name="Google Shape;3033;p142"/>
          <p:cNvSpPr/>
          <p:nvPr/>
        </p:nvSpPr>
        <p:spPr>
          <a:xfrm>
            <a:off x="4663440" y="395478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Run long enough to reach steady state; pre-register the evaluation window; consider a staged holdback to measure long-run impact.</a:t>
            </a:r>
            <a:endParaRPr sz="1250"/>
          </a:p>
        </p:txBody>
      </p:sp>
      <p:sp>
        <p:nvSpPr>
          <p:cNvPr id="3034" name="Google Shape;3034;p142"/>
          <p:cNvSpPr/>
          <p:nvPr/>
        </p:nvSpPr>
        <p:spPr>
          <a:xfrm>
            <a:off x="4663440" y="485775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9B90"/>
              </a:buClr>
              <a:buSzPts val="1100"/>
              <a:buFont typeface="Calibri"/>
              <a:buNone/>
            </a:pPr>
            <a:r>
              <a:rPr b="1" lang="en-US" sz="1100">
                <a:solidFill>
                  <a:srgbClr val="3E9B90"/>
                </a:solidFill>
                <a:latin typeface="Calibri"/>
                <a:ea typeface="Calibri"/>
                <a:cs typeface="Calibri"/>
                <a:sym typeface="Calibri"/>
              </a:rPr>
              <a:t>LESSON</a:t>
            </a:r>
            <a:endParaRPr sz="1100"/>
          </a:p>
        </p:txBody>
      </p:sp>
      <p:sp>
        <p:nvSpPr>
          <p:cNvPr id="3035" name="Google Shape;3035;p142"/>
          <p:cNvSpPr/>
          <p:nvPr/>
        </p:nvSpPr>
        <p:spPr>
          <a:xfrm>
            <a:off x="4663440" y="513207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Time is part of the estimand. ‘Effect at week one’ and ‘effect at steady state’ are different quantities.</a:t>
            </a:r>
            <a:endParaRPr sz="1250"/>
          </a:p>
        </p:txBody>
      </p:sp>
      <p:sp>
        <p:nvSpPr>
          <p:cNvPr id="3036" name="Google Shape;3036;p14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CASES</a:t>
            </a:r>
            <a:endParaRPr sz="900"/>
          </a:p>
        </p:txBody>
      </p:sp>
      <p:sp>
        <p:nvSpPr>
          <p:cNvPr id="3037" name="Google Shape;3037;p14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169  /  268</a:t>
            </a:r>
            <a:endParaRPr sz="900"/>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42" name="Shape 3042"/>
        <p:cNvGrpSpPr/>
        <p:nvPr/>
      </p:nvGrpSpPr>
      <p:grpSpPr>
        <a:xfrm>
          <a:off x="0" y="0"/>
          <a:ext cx="0" cy="0"/>
          <a:chOff x="0" y="0"/>
          <a:chExt cx="0" cy="0"/>
        </a:xfrm>
      </p:grpSpPr>
      <p:sp>
        <p:nvSpPr>
          <p:cNvPr id="3043" name="Google Shape;3043;p143"/>
          <p:cNvSpPr/>
          <p:nvPr/>
        </p:nvSpPr>
        <p:spPr>
          <a:xfrm>
            <a:off x="0" y="0"/>
            <a:ext cx="4206240" cy="6858000"/>
          </a:xfrm>
          <a:prstGeom prst="rect">
            <a:avLst/>
          </a:prstGeom>
          <a:solidFill>
            <a:srgbClr val="16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143"/>
          <p:cNvSpPr/>
          <p:nvPr/>
        </p:nvSpPr>
        <p:spPr>
          <a:xfrm>
            <a:off x="502920" y="548640"/>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STUDY 2 · PUBLIC POLICY</a:t>
            </a:r>
            <a:endParaRPr sz="1200"/>
          </a:p>
        </p:txBody>
      </p:sp>
      <p:sp>
        <p:nvSpPr>
          <p:cNvPr id="3045" name="Google Shape;3045;p143"/>
          <p:cNvSpPr/>
          <p:nvPr/>
        </p:nvSpPr>
        <p:spPr>
          <a:xfrm>
            <a:off x="502920" y="914400"/>
            <a:ext cx="3383280" cy="13716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Did the Training Subsidy Raise Employment?</a:t>
            </a:r>
            <a:endParaRPr sz="2600"/>
          </a:p>
        </p:txBody>
      </p:sp>
      <p:sp>
        <p:nvSpPr>
          <p:cNvPr id="3046" name="Google Shape;3046;p143"/>
          <p:cNvSpPr/>
          <p:nvPr/>
        </p:nvSpPr>
        <p:spPr>
          <a:xfrm>
            <a:off x="502920" y="24688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050"/>
              <a:buFont typeface="Calibri"/>
              <a:buNone/>
            </a:pPr>
            <a:r>
              <a:rPr b="1" lang="en-US" sz="1050">
                <a:solidFill>
                  <a:srgbClr val="3FA9E0"/>
                </a:solidFill>
                <a:latin typeface="Calibri"/>
                <a:ea typeface="Calibri"/>
                <a:cs typeface="Calibri"/>
                <a:sym typeface="Calibri"/>
              </a:rPr>
              <a:t>CONTEXT</a:t>
            </a:r>
            <a:endParaRPr sz="1050"/>
          </a:p>
        </p:txBody>
      </p:sp>
      <p:sp>
        <p:nvSpPr>
          <p:cNvPr id="3047" name="Google Shape;3047;p143"/>
          <p:cNvSpPr/>
          <p:nvPr/>
        </p:nvSpPr>
        <p:spPr>
          <a:xfrm>
            <a:off x="502920" y="2761488"/>
            <a:ext cx="3383280" cy="32004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 region introduces an employment-training subsidy for firms above a headcount threshold, starting in a known year. Employment rose 4 points among adopters.</a:t>
            </a:r>
            <a:endParaRPr sz="1250"/>
          </a:p>
        </p:txBody>
      </p:sp>
      <p:sp>
        <p:nvSpPr>
          <p:cNvPr id="3048" name="Google Shape;3048;p143"/>
          <p:cNvSpPr/>
          <p:nvPr/>
        </p:nvSpPr>
        <p:spPr>
          <a:xfrm>
            <a:off x="4663440" y="685800"/>
            <a:ext cx="6961327"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Choosing the Identification Strategy</a:t>
            </a:r>
            <a:endParaRPr sz="2000"/>
          </a:p>
        </p:txBody>
      </p:sp>
      <p:sp>
        <p:nvSpPr>
          <p:cNvPr id="3049" name="Google Shape;3049;p143"/>
          <p:cNvSpPr/>
          <p:nvPr/>
        </p:nvSpPr>
        <p:spPr>
          <a:xfrm>
            <a:off x="4663440" y="132588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TWO NATURAL DESIGNS</a:t>
            </a:r>
            <a:endParaRPr sz="1100"/>
          </a:p>
        </p:txBody>
      </p:sp>
      <p:sp>
        <p:nvSpPr>
          <p:cNvPr id="3050" name="Google Shape;3050;p143"/>
          <p:cNvSpPr/>
          <p:nvPr/>
        </p:nvSpPr>
        <p:spPr>
          <a:xfrm>
            <a:off x="4663440" y="160020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threshold rule (headcount cutoff) invites RDD; a known start date with comparison regions invites DiD / synthetic control.</a:t>
            </a:r>
            <a:endParaRPr sz="1250"/>
          </a:p>
        </p:txBody>
      </p:sp>
      <p:sp>
        <p:nvSpPr>
          <p:cNvPr id="3051" name="Google Shape;3051;p143"/>
          <p:cNvSpPr/>
          <p:nvPr/>
        </p:nvSpPr>
        <p:spPr>
          <a:xfrm>
            <a:off x="4663440" y="250317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BA6"/>
              </a:buClr>
              <a:buSzPts val="1100"/>
              <a:buFont typeface="Calibri"/>
              <a:buNone/>
            </a:pPr>
            <a:r>
              <a:rPr b="1" lang="en-US" sz="1100">
                <a:solidFill>
                  <a:srgbClr val="5A5BA6"/>
                </a:solidFill>
                <a:latin typeface="Calibri"/>
                <a:ea typeface="Calibri"/>
                <a:cs typeface="Calibri"/>
                <a:sym typeface="Calibri"/>
              </a:rPr>
              <a:t>RDD CHECK</a:t>
            </a:r>
            <a:endParaRPr sz="1100"/>
          </a:p>
        </p:txBody>
      </p:sp>
      <p:sp>
        <p:nvSpPr>
          <p:cNvPr id="3052" name="Google Shape;3052;p143"/>
          <p:cNvSpPr/>
          <p:nvPr/>
        </p:nvSpPr>
        <p:spPr>
          <a:xfrm>
            <a:off x="4663440" y="277749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Test for firms bunching just above the cutoff (manipulation) and covariate continuity through it.</a:t>
            </a:r>
            <a:endParaRPr sz="1250"/>
          </a:p>
        </p:txBody>
      </p:sp>
      <p:sp>
        <p:nvSpPr>
          <p:cNvPr id="3053" name="Google Shape;3053;p143"/>
          <p:cNvSpPr/>
          <p:nvPr/>
        </p:nvSpPr>
        <p:spPr>
          <a:xfrm>
            <a:off x="4663440" y="368046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1100"/>
              <a:buFont typeface="Calibri"/>
              <a:buNone/>
            </a:pPr>
            <a:r>
              <a:rPr b="1" lang="en-US" sz="1100">
                <a:solidFill>
                  <a:srgbClr val="EA7B38"/>
                </a:solidFill>
                <a:latin typeface="Calibri"/>
                <a:ea typeface="Calibri"/>
                <a:cs typeface="Calibri"/>
                <a:sym typeface="Calibri"/>
              </a:rPr>
              <a:t>DID CHECK</a:t>
            </a:r>
            <a:endParaRPr sz="1100"/>
          </a:p>
        </p:txBody>
      </p:sp>
      <p:sp>
        <p:nvSpPr>
          <p:cNvPr id="3054" name="Google Shape;3054;p143"/>
          <p:cNvSpPr/>
          <p:nvPr/>
        </p:nvSpPr>
        <p:spPr>
          <a:xfrm>
            <a:off x="4663440" y="395478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Inspect pre-trends via an event study; consider staggered-adoption-robust estimators if timing varies.</a:t>
            </a:r>
            <a:endParaRPr sz="1250"/>
          </a:p>
        </p:txBody>
      </p:sp>
      <p:sp>
        <p:nvSpPr>
          <p:cNvPr id="3055" name="Google Shape;3055;p143"/>
          <p:cNvSpPr/>
          <p:nvPr/>
        </p:nvSpPr>
        <p:spPr>
          <a:xfrm>
            <a:off x="4663440" y="485775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9B90"/>
              </a:buClr>
              <a:buSzPts val="1100"/>
              <a:buFont typeface="Calibri"/>
              <a:buNone/>
            </a:pPr>
            <a:r>
              <a:rPr b="1" lang="en-US" sz="1100">
                <a:solidFill>
                  <a:srgbClr val="3E9B90"/>
                </a:solidFill>
                <a:latin typeface="Calibri"/>
                <a:ea typeface="Calibri"/>
                <a:cs typeface="Calibri"/>
                <a:sym typeface="Calibri"/>
              </a:rPr>
              <a:t>TRIANGULATE</a:t>
            </a:r>
            <a:endParaRPr sz="1100"/>
          </a:p>
        </p:txBody>
      </p:sp>
      <p:sp>
        <p:nvSpPr>
          <p:cNvPr id="3056" name="Google Shape;3056;p143"/>
          <p:cNvSpPr/>
          <p:nvPr/>
        </p:nvSpPr>
        <p:spPr>
          <a:xfrm>
            <a:off x="4663440" y="513207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Report both designs; agreement across independent assumptions is the strongest evidence available without an experiment.</a:t>
            </a:r>
            <a:endParaRPr sz="1250"/>
          </a:p>
        </p:txBody>
      </p:sp>
      <p:sp>
        <p:nvSpPr>
          <p:cNvPr id="3057" name="Google Shape;3057;p14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CASES</a:t>
            </a:r>
            <a:endParaRPr sz="900"/>
          </a:p>
        </p:txBody>
      </p:sp>
      <p:sp>
        <p:nvSpPr>
          <p:cNvPr id="3058" name="Google Shape;3058;p14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170  /  268</a:t>
            </a:r>
            <a:endParaRPr sz="900"/>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3" name="Shape 3063"/>
        <p:cNvGrpSpPr/>
        <p:nvPr/>
      </p:nvGrpSpPr>
      <p:grpSpPr>
        <a:xfrm>
          <a:off x="0" y="0"/>
          <a:ext cx="0" cy="0"/>
          <a:chOff x="0" y="0"/>
          <a:chExt cx="0" cy="0"/>
        </a:xfrm>
      </p:grpSpPr>
      <p:sp>
        <p:nvSpPr>
          <p:cNvPr id="3064" name="Google Shape;3064;p144"/>
          <p:cNvSpPr/>
          <p:nvPr/>
        </p:nvSpPr>
        <p:spPr>
          <a:xfrm>
            <a:off x="0" y="0"/>
            <a:ext cx="4206240" cy="6858000"/>
          </a:xfrm>
          <a:prstGeom prst="rect">
            <a:avLst/>
          </a:prstGeom>
          <a:solidFill>
            <a:srgbClr val="16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144"/>
          <p:cNvSpPr/>
          <p:nvPr/>
        </p:nvSpPr>
        <p:spPr>
          <a:xfrm>
            <a:off x="502920" y="548640"/>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STUDY 3 · HEALTH</a:t>
            </a:r>
            <a:endParaRPr sz="1200"/>
          </a:p>
        </p:txBody>
      </p:sp>
      <p:sp>
        <p:nvSpPr>
          <p:cNvPr id="3066" name="Google Shape;3066;p144"/>
          <p:cNvSpPr/>
          <p:nvPr/>
        </p:nvSpPr>
        <p:spPr>
          <a:xfrm>
            <a:off x="502920" y="914400"/>
            <a:ext cx="3383280" cy="13716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Does the New Protocol Reduce Readmissions?</a:t>
            </a:r>
            <a:endParaRPr sz="2600"/>
          </a:p>
        </p:txBody>
      </p:sp>
      <p:sp>
        <p:nvSpPr>
          <p:cNvPr id="3067" name="Google Shape;3067;p144"/>
          <p:cNvSpPr/>
          <p:nvPr/>
        </p:nvSpPr>
        <p:spPr>
          <a:xfrm>
            <a:off x="502920" y="24688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050"/>
              <a:buFont typeface="Calibri"/>
              <a:buNone/>
            </a:pPr>
            <a:r>
              <a:rPr b="1" lang="en-US" sz="1050">
                <a:solidFill>
                  <a:srgbClr val="3FA9E0"/>
                </a:solidFill>
                <a:latin typeface="Calibri"/>
                <a:ea typeface="Calibri"/>
                <a:cs typeface="Calibri"/>
                <a:sym typeface="Calibri"/>
              </a:rPr>
              <a:t>CONTEXT</a:t>
            </a:r>
            <a:endParaRPr sz="1050"/>
          </a:p>
        </p:txBody>
      </p:sp>
      <p:sp>
        <p:nvSpPr>
          <p:cNvPr id="3068" name="Google Shape;3068;p144"/>
          <p:cNvSpPr/>
          <p:nvPr/>
        </p:nvSpPr>
        <p:spPr>
          <a:xfrm>
            <a:off x="502920" y="2761488"/>
            <a:ext cx="3383280" cy="32004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 hospital adopts a discharge protocol. Observational data show treated patients readmit less — but sicker patients were less likely to receive it.</a:t>
            </a:r>
            <a:endParaRPr sz="1250"/>
          </a:p>
        </p:txBody>
      </p:sp>
      <p:sp>
        <p:nvSpPr>
          <p:cNvPr id="3069" name="Google Shape;3069;p144"/>
          <p:cNvSpPr/>
          <p:nvPr/>
        </p:nvSpPr>
        <p:spPr>
          <a:xfrm>
            <a:off x="4663440" y="685800"/>
            <a:ext cx="6961327"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Confounding by Indication</a:t>
            </a:r>
            <a:endParaRPr sz="2000"/>
          </a:p>
        </p:txBody>
      </p:sp>
      <p:sp>
        <p:nvSpPr>
          <p:cNvPr id="3070" name="Google Shape;3070;p144"/>
          <p:cNvSpPr/>
          <p:nvPr/>
        </p:nvSpPr>
        <p:spPr>
          <a:xfrm>
            <a:off x="4663440" y="132588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CORE THREAT</a:t>
            </a:r>
            <a:endParaRPr sz="1100"/>
          </a:p>
        </p:txBody>
      </p:sp>
      <p:sp>
        <p:nvSpPr>
          <p:cNvPr id="3071" name="Google Shape;3071;p144"/>
          <p:cNvSpPr/>
          <p:nvPr/>
        </p:nvSpPr>
        <p:spPr>
          <a:xfrm>
            <a:off x="4663440" y="160020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Confounding by indication — severity drives both who gets the protocol and the outcome, biasing the naive comparison.</a:t>
            </a:r>
            <a:endParaRPr sz="1250"/>
          </a:p>
        </p:txBody>
      </p:sp>
      <p:sp>
        <p:nvSpPr>
          <p:cNvPr id="3072" name="Google Shape;3072;p144"/>
          <p:cNvSpPr/>
          <p:nvPr/>
        </p:nvSpPr>
        <p:spPr>
          <a:xfrm>
            <a:off x="4663440" y="250317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BA6"/>
              </a:buClr>
              <a:buSzPts val="1100"/>
              <a:buFont typeface="Calibri"/>
              <a:buNone/>
            </a:pPr>
            <a:r>
              <a:rPr b="1" lang="en-US" sz="1100">
                <a:solidFill>
                  <a:srgbClr val="5A5BA6"/>
                </a:solidFill>
                <a:latin typeface="Calibri"/>
                <a:ea typeface="Calibri"/>
                <a:cs typeface="Calibri"/>
                <a:sym typeface="Calibri"/>
              </a:rPr>
              <a:t>IF RANDOMIZATION IS BARRED</a:t>
            </a:r>
            <a:endParaRPr sz="1100"/>
          </a:p>
        </p:txBody>
      </p:sp>
      <p:sp>
        <p:nvSpPr>
          <p:cNvPr id="3073" name="Google Shape;3073;p144"/>
          <p:cNvSpPr/>
          <p:nvPr/>
        </p:nvSpPr>
        <p:spPr>
          <a:xfrm>
            <a:off x="4663440" y="277749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Use doubly-robust adjustment on rich clinical covariates; check overlap and balance carefully.</a:t>
            </a:r>
            <a:endParaRPr sz="1250"/>
          </a:p>
        </p:txBody>
      </p:sp>
      <p:sp>
        <p:nvSpPr>
          <p:cNvPr id="3074" name="Google Shape;3074;p144"/>
          <p:cNvSpPr/>
          <p:nvPr/>
        </p:nvSpPr>
        <p:spPr>
          <a:xfrm>
            <a:off x="4663440" y="368046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1100"/>
              <a:buFont typeface="Calibri"/>
              <a:buNone/>
            </a:pPr>
            <a:r>
              <a:rPr b="1" lang="en-US" sz="1100">
                <a:solidFill>
                  <a:srgbClr val="EA7B38"/>
                </a:solidFill>
                <a:latin typeface="Calibri"/>
                <a:ea typeface="Calibri"/>
                <a:cs typeface="Calibri"/>
                <a:sym typeface="Calibri"/>
              </a:rPr>
              <a:t>LOOK FOR A NATURAL EXPERIMENT</a:t>
            </a:r>
            <a:endParaRPr sz="1100"/>
          </a:p>
        </p:txBody>
      </p:sp>
      <p:sp>
        <p:nvSpPr>
          <p:cNvPr id="3075" name="Google Shape;3075;p144"/>
          <p:cNvSpPr/>
          <p:nvPr/>
        </p:nvSpPr>
        <p:spPr>
          <a:xfrm>
            <a:off x="4663440" y="395478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Staggered ward rollout (DiD) or a clinical eligibility threshold (RDD) can strengthen identification.</a:t>
            </a:r>
            <a:endParaRPr sz="1250"/>
          </a:p>
        </p:txBody>
      </p:sp>
      <p:sp>
        <p:nvSpPr>
          <p:cNvPr id="3076" name="Google Shape;3076;p144"/>
          <p:cNvSpPr/>
          <p:nvPr/>
        </p:nvSpPr>
        <p:spPr>
          <a:xfrm>
            <a:off x="4663440" y="485775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9B90"/>
              </a:buClr>
              <a:buSzPts val="1100"/>
              <a:buFont typeface="Calibri"/>
              <a:buNone/>
            </a:pPr>
            <a:r>
              <a:rPr b="1" lang="en-US" sz="1100">
                <a:solidFill>
                  <a:srgbClr val="3E9B90"/>
                </a:solidFill>
                <a:latin typeface="Calibri"/>
                <a:ea typeface="Calibri"/>
                <a:cs typeface="Calibri"/>
                <a:sym typeface="Calibri"/>
              </a:rPr>
              <a:t>SENSITIVITY</a:t>
            </a:r>
            <a:endParaRPr sz="1100"/>
          </a:p>
        </p:txBody>
      </p:sp>
      <p:sp>
        <p:nvSpPr>
          <p:cNvPr id="3077" name="Google Shape;3077;p144"/>
          <p:cNvSpPr/>
          <p:nvPr/>
        </p:nvSpPr>
        <p:spPr>
          <a:xfrm>
            <a:off x="4663440" y="513207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Report an E-value; a small one here (weak robustness) should block a high-stakes clinical decision.</a:t>
            </a:r>
            <a:endParaRPr sz="1250"/>
          </a:p>
        </p:txBody>
      </p:sp>
      <p:sp>
        <p:nvSpPr>
          <p:cNvPr id="3078" name="Google Shape;3078;p14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CASES</a:t>
            </a:r>
            <a:endParaRPr sz="900"/>
          </a:p>
        </p:txBody>
      </p:sp>
      <p:sp>
        <p:nvSpPr>
          <p:cNvPr id="3079" name="Google Shape;3079;p14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171  /  268</a:t>
            </a:r>
            <a:endParaRPr sz="900"/>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84" name="Shape 3084"/>
        <p:cNvGrpSpPr/>
        <p:nvPr/>
      </p:nvGrpSpPr>
      <p:grpSpPr>
        <a:xfrm>
          <a:off x="0" y="0"/>
          <a:ext cx="0" cy="0"/>
          <a:chOff x="0" y="0"/>
          <a:chExt cx="0" cy="0"/>
        </a:xfrm>
      </p:grpSpPr>
      <p:sp>
        <p:nvSpPr>
          <p:cNvPr id="3085" name="Google Shape;3085;p14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3</a:t>
            </a:r>
            <a:endParaRPr sz="1200"/>
          </a:p>
        </p:txBody>
      </p:sp>
      <p:sp>
        <p:nvSpPr>
          <p:cNvPr id="3086" name="Google Shape;3086;p14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Decision-Making Under Causal Uncertainty</a:t>
            </a:r>
            <a:endParaRPr sz="3400"/>
          </a:p>
        </p:txBody>
      </p:sp>
      <p:sp>
        <p:nvSpPr>
          <p:cNvPr id="3087" name="Google Shape;3087;p145"/>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analyst's job ends not at an estimate but at a defensible decision.</a:t>
            </a:r>
            <a:endParaRPr sz="1450"/>
          </a:p>
        </p:txBody>
      </p:sp>
      <p:sp>
        <p:nvSpPr>
          <p:cNvPr id="3088" name="Google Shape;3088;p145"/>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145"/>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From effect to expected value</a:t>
            </a:r>
            <a:endParaRPr sz="1500"/>
          </a:p>
        </p:txBody>
      </p:sp>
      <p:sp>
        <p:nvSpPr>
          <p:cNvPr id="3090" name="Google Shape;3090;p145"/>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Combine the effect distribution with payoffs and costs to compute expected value and downside risk, not just significance.</a:t>
            </a:r>
            <a:endParaRPr sz="1250"/>
          </a:p>
        </p:txBody>
      </p:sp>
      <p:sp>
        <p:nvSpPr>
          <p:cNvPr id="3091" name="Google Shape;3091;p145"/>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145"/>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Value of information</a:t>
            </a:r>
            <a:endParaRPr sz="1500"/>
          </a:p>
        </p:txBody>
      </p:sp>
      <p:sp>
        <p:nvSpPr>
          <p:cNvPr id="3093" name="Google Shape;3093;p145"/>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When uncertainty is decision-relevant, quantify what a further experiment would be worth before running it.</a:t>
            </a:r>
            <a:endParaRPr sz="1250"/>
          </a:p>
        </p:txBody>
      </p:sp>
      <p:sp>
        <p:nvSpPr>
          <p:cNvPr id="3094" name="Google Shape;3094;p145"/>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145"/>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Communicate honestly</a:t>
            </a:r>
            <a:endParaRPr sz="1500"/>
          </a:p>
        </p:txBody>
      </p:sp>
      <p:sp>
        <p:nvSpPr>
          <p:cNvPr id="3096" name="Google Shape;3096;p145"/>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State the estimand, the key assumption, the interval, and the sensitivity — so decision-makers own the risk knowingly.</a:t>
            </a:r>
            <a:endParaRPr sz="1250"/>
          </a:p>
        </p:txBody>
      </p:sp>
      <p:sp>
        <p:nvSpPr>
          <p:cNvPr id="3097" name="Google Shape;3097;p145"/>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145"/>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PROFESSIONAL STANDARD</a:t>
            </a:r>
            <a:endParaRPr sz="1100"/>
          </a:p>
        </p:txBody>
      </p:sp>
      <p:sp>
        <p:nvSpPr>
          <p:cNvPr id="3099" name="Google Shape;3099;p145"/>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350">
                <a:solidFill>
                  <a:srgbClr val="16233F"/>
                </a:solidFill>
                <a:latin typeface="Calibri"/>
                <a:ea typeface="Calibri"/>
                <a:cs typeface="Calibri"/>
                <a:sym typeface="Calibri"/>
              </a:rPr>
              <a:t>A good causal report lets a reader see exactly which assumption the recommendation rests on — and how the decision would change if it failed.</a:t>
            </a:r>
            <a:endParaRPr sz="1350"/>
          </a:p>
        </p:txBody>
      </p:sp>
      <p:sp>
        <p:nvSpPr>
          <p:cNvPr id="3100" name="Google Shape;3100;p14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CASES</a:t>
            </a:r>
            <a:endParaRPr sz="900"/>
          </a:p>
        </p:txBody>
      </p:sp>
      <p:sp>
        <p:nvSpPr>
          <p:cNvPr id="3101" name="Google Shape;3101;p14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172  /  268</a:t>
            </a:r>
            <a:endParaRPr sz="900"/>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6" name="Shape 3106"/>
        <p:cNvGrpSpPr/>
        <p:nvPr/>
      </p:nvGrpSpPr>
      <p:grpSpPr>
        <a:xfrm>
          <a:off x="0" y="0"/>
          <a:ext cx="0" cy="0"/>
          <a:chOff x="0" y="0"/>
          <a:chExt cx="0" cy="0"/>
        </a:xfrm>
      </p:grpSpPr>
      <p:sp>
        <p:nvSpPr>
          <p:cNvPr id="3107" name="Google Shape;3107;p14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3</a:t>
            </a:r>
            <a:endParaRPr sz="1200"/>
          </a:p>
        </p:txBody>
      </p:sp>
      <p:sp>
        <p:nvSpPr>
          <p:cNvPr id="3108" name="Google Shape;3108;p14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Cross-Case Lessons</a:t>
            </a:r>
            <a:endParaRPr sz="3400"/>
          </a:p>
        </p:txBody>
      </p:sp>
      <p:sp>
        <p:nvSpPr>
          <p:cNvPr id="3109" name="Google Shape;3109;p146"/>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Patterns that recur across every domain.</a:t>
            </a:r>
            <a:endParaRPr sz="1450"/>
          </a:p>
        </p:txBody>
      </p:sp>
      <p:sp>
        <p:nvSpPr>
          <p:cNvPr id="3110" name="Google Shape;3110;p146"/>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146"/>
          <p:cNvSpPr/>
          <p:nvPr/>
        </p:nvSpPr>
        <p:spPr>
          <a:xfrm>
            <a:off x="841248" y="2514600"/>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The naive observational number is almost always the wrong number — and usually too large.</a:t>
            </a:r>
            <a:endParaRPr sz="1400"/>
          </a:p>
        </p:txBody>
      </p:sp>
      <p:sp>
        <p:nvSpPr>
          <p:cNvPr id="3112" name="Google Shape;3112;p146"/>
          <p:cNvSpPr/>
          <p:nvPr/>
        </p:nvSpPr>
        <p:spPr>
          <a:xfrm>
            <a:off x="566928" y="3300984"/>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146"/>
          <p:cNvSpPr/>
          <p:nvPr/>
        </p:nvSpPr>
        <p:spPr>
          <a:xfrm>
            <a:off x="841248" y="3236976"/>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The estimand includes time; short-run and steady-state effects differ.</a:t>
            </a:r>
            <a:endParaRPr sz="1400"/>
          </a:p>
        </p:txBody>
      </p:sp>
      <p:sp>
        <p:nvSpPr>
          <p:cNvPr id="3114" name="Google Shape;3114;p146"/>
          <p:cNvSpPr/>
          <p:nvPr/>
        </p:nvSpPr>
        <p:spPr>
          <a:xfrm>
            <a:off x="566928" y="4023360"/>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146"/>
          <p:cNvSpPr/>
          <p:nvPr/>
        </p:nvSpPr>
        <p:spPr>
          <a:xfrm>
            <a:off x="841248" y="3959352"/>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When you cannot randomize, triangulate across designs with different assumptions.</a:t>
            </a:r>
            <a:endParaRPr sz="1400"/>
          </a:p>
        </p:txBody>
      </p:sp>
      <p:sp>
        <p:nvSpPr>
          <p:cNvPr id="3116" name="Google Shape;3116;p146"/>
          <p:cNvSpPr/>
          <p:nvPr/>
        </p:nvSpPr>
        <p:spPr>
          <a:xfrm>
            <a:off x="566928" y="4745736"/>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146"/>
          <p:cNvSpPr/>
          <p:nvPr/>
        </p:nvSpPr>
        <p:spPr>
          <a:xfrm>
            <a:off x="841248" y="4681728"/>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High-stakes decisions demand sensitivity analysis, not just a tight interval.</a:t>
            </a:r>
            <a:endParaRPr sz="1400"/>
          </a:p>
        </p:txBody>
      </p:sp>
      <p:sp>
        <p:nvSpPr>
          <p:cNvPr id="3118" name="Google Shape;3118;p146"/>
          <p:cNvSpPr/>
          <p:nvPr/>
        </p:nvSpPr>
        <p:spPr>
          <a:xfrm>
            <a:off x="566928" y="5468112"/>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146"/>
          <p:cNvSpPr/>
          <p:nvPr/>
        </p:nvSpPr>
        <p:spPr>
          <a:xfrm>
            <a:off x="841248" y="5404104"/>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The deliverable is a decision with owned risk, not a p-value.</a:t>
            </a:r>
            <a:endParaRPr sz="1400"/>
          </a:p>
        </p:txBody>
      </p:sp>
      <p:sp>
        <p:nvSpPr>
          <p:cNvPr id="3120" name="Google Shape;3120;p14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CASES</a:t>
            </a:r>
            <a:endParaRPr sz="900"/>
          </a:p>
        </p:txBody>
      </p:sp>
      <p:sp>
        <p:nvSpPr>
          <p:cNvPr id="3121" name="Google Shape;3121;p14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173  /  268</a:t>
            </a:r>
            <a:endParaRPr sz="900"/>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126" name="Shape 3126"/>
        <p:cNvGrpSpPr/>
        <p:nvPr/>
      </p:nvGrpSpPr>
      <p:grpSpPr>
        <a:xfrm>
          <a:off x="0" y="0"/>
          <a:ext cx="0" cy="0"/>
          <a:chOff x="0" y="0"/>
          <a:chExt cx="0" cy="0"/>
        </a:xfrm>
      </p:grpSpPr>
      <p:sp>
        <p:nvSpPr>
          <p:cNvPr id="3127" name="Google Shape;3127;p147"/>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4 · APPLIED TRANSFER</a:t>
            </a:r>
            <a:endParaRPr sz="1300"/>
          </a:p>
        </p:txBody>
      </p:sp>
      <p:sp>
        <p:nvSpPr>
          <p:cNvPr id="3128" name="Google Shape;3128;p147"/>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Open-Data Case Studio</a:t>
            </a:r>
            <a:endParaRPr sz="4000"/>
          </a:p>
        </p:txBody>
      </p:sp>
      <p:sp>
        <p:nvSpPr>
          <p:cNvPr id="3129" name="Google Shape;3129;p147"/>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Six real datasets turn the course methods into reusable practice — each case ends with an estimand, a diagnostic, and a decision.</a:t>
            </a:r>
            <a:endParaRPr sz="1500"/>
          </a:p>
        </p:txBody>
      </p:sp>
      <p:cxnSp>
        <p:nvCxnSpPr>
          <p:cNvPr id="3130" name="Google Shape;3130;p147"/>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3131" name="Google Shape;3131;p14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   ·   DAY 4 · CASE STUDIO</a:t>
            </a:r>
            <a:endParaRPr sz="900"/>
          </a:p>
        </p:txBody>
      </p:sp>
      <p:sp>
        <p:nvSpPr>
          <p:cNvPr id="3132" name="Google Shape;3132;p14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174  /  268</a:t>
            </a:r>
            <a:endParaRPr sz="900"/>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7" name="Shape 3137"/>
        <p:cNvGrpSpPr/>
        <p:nvPr/>
      </p:nvGrpSpPr>
      <p:grpSpPr>
        <a:xfrm>
          <a:off x="0" y="0"/>
          <a:ext cx="0" cy="0"/>
          <a:chOff x="0" y="0"/>
          <a:chExt cx="0" cy="0"/>
        </a:xfrm>
      </p:grpSpPr>
      <p:sp>
        <p:nvSpPr>
          <p:cNvPr id="3138" name="Google Shape;3138;p14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CASE STUDIO · FACILITATION</a:t>
            </a:r>
            <a:endParaRPr sz="1200"/>
          </a:p>
        </p:txBody>
      </p:sp>
      <p:sp>
        <p:nvSpPr>
          <p:cNvPr id="3139" name="Google Shape;3139;p14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Run Every Case Through the Same Cycle</a:t>
            </a:r>
            <a:endParaRPr sz="3400"/>
          </a:p>
        </p:txBody>
      </p:sp>
      <p:sp>
        <p:nvSpPr>
          <p:cNvPr id="3140" name="Google Shape;3140;p148"/>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Transfer comes from repeating the reasoning pattern, not memorising another estimator.</a:t>
            </a:r>
            <a:endParaRPr sz="1450"/>
          </a:p>
        </p:txBody>
      </p:sp>
      <p:sp>
        <p:nvSpPr>
          <p:cNvPr id="3141" name="Google Shape;3141;p148"/>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148"/>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Frame before opening the file</a:t>
            </a:r>
            <a:endParaRPr sz="1500"/>
          </a:p>
        </p:txBody>
      </p:sp>
      <p:sp>
        <p:nvSpPr>
          <p:cNvPr id="3143" name="Google Shape;3143;p148"/>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Name the decision, treatment, outcome, target population, estimand, and plausible counterfactual.</a:t>
            </a:r>
            <a:endParaRPr sz="1250"/>
          </a:p>
        </p:txBody>
      </p:sp>
      <p:sp>
        <p:nvSpPr>
          <p:cNvPr id="3144" name="Google Shape;3144;p148"/>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148"/>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Diagnose before estimating</a:t>
            </a:r>
            <a:endParaRPr sz="1500"/>
          </a:p>
        </p:txBody>
      </p:sp>
      <p:sp>
        <p:nvSpPr>
          <p:cNvPr id="3146" name="Google Shape;3146;p148"/>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Draw the assignment story; state the identifying assumption; choose the diagnostic that could expose failure.</a:t>
            </a:r>
            <a:endParaRPr sz="1250"/>
          </a:p>
        </p:txBody>
      </p:sp>
      <p:sp>
        <p:nvSpPr>
          <p:cNvPr id="3147" name="Google Shape;3147;p148"/>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148"/>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Decide before celebrating</a:t>
            </a:r>
            <a:endParaRPr sz="1500"/>
          </a:p>
        </p:txBody>
      </p:sp>
      <p:sp>
        <p:nvSpPr>
          <p:cNvPr id="3149" name="Google Shape;3149;p148"/>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Translate the effect and interval into a ship, scale, hold, or redesign call — with one condition that would change it.</a:t>
            </a:r>
            <a:endParaRPr sz="1250"/>
          </a:p>
        </p:txBody>
      </p:sp>
      <p:sp>
        <p:nvSpPr>
          <p:cNvPr id="3150" name="Google Shape;3150;p148"/>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148"/>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TRANSFER RULE</a:t>
            </a:r>
            <a:endParaRPr sz="1100"/>
          </a:p>
        </p:txBody>
      </p:sp>
      <p:sp>
        <p:nvSpPr>
          <p:cNvPr id="3152" name="Google Shape;3152;p148"/>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350">
                <a:solidFill>
                  <a:srgbClr val="16233F"/>
                </a:solidFill>
                <a:latin typeface="Calibri"/>
                <a:ea typeface="Calibri"/>
                <a:cs typeface="Calibri"/>
                <a:sym typeface="Calibri"/>
              </a:rPr>
              <a:t>First plant and recover a known effect on Injaz. Then use the real dataset, where the truth is hidden, and defend the assumption that replaces ground truth.</a:t>
            </a:r>
            <a:endParaRPr sz="1350"/>
          </a:p>
        </p:txBody>
      </p:sp>
      <p:sp>
        <p:nvSpPr>
          <p:cNvPr id="3153" name="Google Shape;3153;p14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   ·   OPEN-DATA CASE STUDIO</a:t>
            </a:r>
            <a:endParaRPr sz="900"/>
          </a:p>
        </p:txBody>
      </p:sp>
      <p:sp>
        <p:nvSpPr>
          <p:cNvPr id="3154" name="Google Shape;3154;p14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175  /  268</a:t>
            </a:r>
            <a:endParaRPr sz="900"/>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9" name="Shape 3159"/>
        <p:cNvGrpSpPr/>
        <p:nvPr/>
      </p:nvGrpSpPr>
      <p:grpSpPr>
        <a:xfrm>
          <a:off x="0" y="0"/>
          <a:ext cx="0" cy="0"/>
          <a:chOff x="0" y="0"/>
          <a:chExt cx="0" cy="0"/>
        </a:xfrm>
      </p:grpSpPr>
      <p:sp>
        <p:nvSpPr>
          <p:cNvPr id="3160" name="Google Shape;3160;p149"/>
          <p:cNvSpPr/>
          <p:nvPr/>
        </p:nvSpPr>
        <p:spPr>
          <a:xfrm>
            <a:off x="0" y="0"/>
            <a:ext cx="4206240" cy="6858000"/>
          </a:xfrm>
          <a:prstGeom prst="rect">
            <a:avLst/>
          </a:prstGeom>
          <a:solidFill>
            <a:srgbClr val="16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149"/>
          <p:cNvSpPr/>
          <p:nvPr/>
        </p:nvSpPr>
        <p:spPr>
          <a:xfrm>
            <a:off x="502920" y="548640"/>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STUDIO 1 · DIGITAL</a:t>
            </a:r>
            <a:endParaRPr sz="1200"/>
          </a:p>
        </p:txBody>
      </p:sp>
      <p:sp>
        <p:nvSpPr>
          <p:cNvPr id="3162" name="Google Shape;3162;p149"/>
          <p:cNvSpPr/>
          <p:nvPr/>
        </p:nvSpPr>
        <p:spPr>
          <a:xfrm>
            <a:off x="502920" y="914400"/>
            <a:ext cx="3383280" cy="13716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Did the Ad Cause Conversion?</a:t>
            </a:r>
            <a:endParaRPr sz="2600"/>
          </a:p>
        </p:txBody>
      </p:sp>
      <p:sp>
        <p:nvSpPr>
          <p:cNvPr id="3163" name="Google Shape;3163;p149"/>
          <p:cNvSpPr/>
          <p:nvPr/>
        </p:nvSpPr>
        <p:spPr>
          <a:xfrm>
            <a:off x="502920" y="24688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050"/>
              <a:buFont typeface="Calibri"/>
              <a:buNone/>
            </a:pPr>
            <a:r>
              <a:rPr b="1" lang="en-US" sz="1050">
                <a:solidFill>
                  <a:srgbClr val="3FA9E0"/>
                </a:solidFill>
                <a:latin typeface="Calibri"/>
                <a:ea typeface="Calibri"/>
                <a:cs typeface="Calibri"/>
                <a:sym typeface="Calibri"/>
              </a:rPr>
              <a:t>OPEN DATA</a:t>
            </a:r>
            <a:endParaRPr sz="1050"/>
          </a:p>
        </p:txBody>
      </p:sp>
      <p:sp>
        <p:nvSpPr>
          <p:cNvPr id="3164" name="Google Shape;3164;p149"/>
          <p:cNvSpPr/>
          <p:nvPr/>
        </p:nvSpPr>
        <p:spPr>
          <a:xfrm>
            <a:off x="502920" y="2761488"/>
            <a:ext cx="3383280" cy="32004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Criteo assembled randomized incrementality tests into an anonymized uplift dataset. The unbiased release has about 14 million user rows and distinguishes assignment, exposure, visits, and conversions.</a:t>
            </a:r>
            <a:endParaRPr sz="1250"/>
          </a:p>
        </p:txBody>
      </p:sp>
      <p:sp>
        <p:nvSpPr>
          <p:cNvPr id="3165" name="Google Shape;3165;p149"/>
          <p:cNvSpPr/>
          <p:nvPr/>
        </p:nvSpPr>
        <p:spPr>
          <a:xfrm>
            <a:off x="4663440" y="685800"/>
            <a:ext cx="6961327"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Assignment, exposure, and uplift</a:t>
            </a:r>
            <a:endParaRPr sz="2000"/>
          </a:p>
        </p:txBody>
      </p:sp>
      <p:sp>
        <p:nvSpPr>
          <p:cNvPr id="3166" name="Google Shape;3166;p149"/>
          <p:cNvSpPr/>
          <p:nvPr/>
        </p:nvSpPr>
        <p:spPr>
          <a:xfrm>
            <a:off x="4663440" y="132588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ESTIMAND</a:t>
            </a:r>
            <a:endParaRPr sz="1100"/>
          </a:p>
        </p:txBody>
      </p:sp>
      <p:sp>
        <p:nvSpPr>
          <p:cNvPr id="3167" name="Google Shape;3167;p149"/>
          <p:cNvSpPr/>
          <p:nvPr/>
        </p:nvSpPr>
        <p:spPr>
          <a:xfrm>
            <a:off x="4663440" y="160020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Start with ITT: the effect of assignment to targeting on conversion or visit probability.</a:t>
            </a:r>
            <a:endParaRPr sz="1250"/>
          </a:p>
        </p:txBody>
      </p:sp>
      <p:sp>
        <p:nvSpPr>
          <p:cNvPr id="3168" name="Google Shape;3168;p149"/>
          <p:cNvSpPr/>
          <p:nvPr/>
        </p:nvSpPr>
        <p:spPr>
          <a:xfrm>
            <a:off x="4663440" y="250317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BA6"/>
              </a:buClr>
              <a:buSzPts val="1100"/>
              <a:buFont typeface="Calibri"/>
              <a:buNone/>
            </a:pPr>
            <a:r>
              <a:rPr b="1" lang="en-US" sz="1100">
                <a:solidFill>
                  <a:srgbClr val="5A5BA6"/>
                </a:solidFill>
                <a:latin typeface="Calibri"/>
                <a:ea typeface="Calibri"/>
                <a:cs typeface="Calibri"/>
                <a:sym typeface="Calibri"/>
              </a:rPr>
              <a:t>COMPLIANCE</a:t>
            </a:r>
            <a:endParaRPr sz="1100"/>
          </a:p>
        </p:txBody>
      </p:sp>
      <p:sp>
        <p:nvSpPr>
          <p:cNvPr id="3169" name="Google Shape;3169;p149"/>
          <p:cNvSpPr/>
          <p:nvPr/>
        </p:nvSpPr>
        <p:spPr>
          <a:xfrm>
            <a:off x="4663440" y="277749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Exposure is post-assignment. Comparing exposed users with controls breaks randomization; use assignment as the instrument.</a:t>
            </a:r>
            <a:endParaRPr sz="1250"/>
          </a:p>
        </p:txBody>
      </p:sp>
      <p:sp>
        <p:nvSpPr>
          <p:cNvPr id="3170" name="Google Shape;3170;p149"/>
          <p:cNvSpPr/>
          <p:nvPr/>
        </p:nvSpPr>
        <p:spPr>
          <a:xfrm>
            <a:off x="4663440" y="368046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1100"/>
              <a:buFont typeface="Calibri"/>
              <a:buNone/>
            </a:pPr>
            <a:r>
              <a:rPr b="1" lang="en-US" sz="1100">
                <a:solidFill>
                  <a:srgbClr val="EA7B38"/>
                </a:solidFill>
                <a:latin typeface="Calibri"/>
                <a:ea typeface="Calibri"/>
                <a:cs typeface="Calibri"/>
                <a:sym typeface="Calibri"/>
              </a:rPr>
              <a:t>HETEROGENEITY</a:t>
            </a:r>
            <a:endParaRPr sz="1100"/>
          </a:p>
        </p:txBody>
      </p:sp>
      <p:sp>
        <p:nvSpPr>
          <p:cNvPr id="3171" name="Google Shape;3171;p149"/>
          <p:cNvSpPr/>
          <p:nvPr/>
        </p:nvSpPr>
        <p:spPr>
          <a:xfrm>
            <a:off x="4663440" y="395478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Estimate CATE only after the average effect and multiplicity plan are fixed.</a:t>
            </a:r>
            <a:endParaRPr sz="1250"/>
          </a:p>
        </p:txBody>
      </p:sp>
      <p:sp>
        <p:nvSpPr>
          <p:cNvPr id="3172" name="Google Shape;3172;p149"/>
          <p:cNvSpPr/>
          <p:nvPr/>
        </p:nvSpPr>
        <p:spPr>
          <a:xfrm>
            <a:off x="4663440" y="485775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9B90"/>
              </a:buClr>
              <a:buSzPts val="1100"/>
              <a:buFont typeface="Calibri"/>
              <a:buNone/>
            </a:pPr>
            <a:r>
              <a:rPr b="1" lang="en-US" sz="1100">
                <a:solidFill>
                  <a:srgbClr val="3E9B90"/>
                </a:solidFill>
                <a:latin typeface="Calibri"/>
                <a:ea typeface="Calibri"/>
                <a:cs typeface="Calibri"/>
                <a:sym typeface="Calibri"/>
              </a:rPr>
              <a:t>DECISION</a:t>
            </a:r>
            <a:endParaRPr sz="1100"/>
          </a:p>
        </p:txBody>
      </p:sp>
      <p:sp>
        <p:nvSpPr>
          <p:cNvPr id="3173" name="Google Shape;3173;p149"/>
          <p:cNvSpPr/>
          <p:nvPr/>
        </p:nvSpPr>
        <p:spPr>
          <a:xfrm>
            <a:off x="4663440" y="513207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Target only if incremental conversions exceed delivery cost and the uplift survives honest validation.</a:t>
            </a:r>
            <a:endParaRPr sz="1250"/>
          </a:p>
        </p:txBody>
      </p:sp>
      <p:sp>
        <p:nvSpPr>
          <p:cNvPr id="3174" name="Google Shape;3174;p14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   ·   OPEN-DATA CASE STUDIO</a:t>
            </a:r>
            <a:endParaRPr sz="900"/>
          </a:p>
        </p:txBody>
      </p:sp>
      <p:sp>
        <p:nvSpPr>
          <p:cNvPr id="3175" name="Google Shape;3175;p14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176  /  268</a:t>
            </a:r>
            <a:endParaRPr sz="900"/>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180" name="Shape 3180"/>
        <p:cNvGrpSpPr/>
        <p:nvPr/>
      </p:nvGrpSpPr>
      <p:grpSpPr>
        <a:xfrm>
          <a:off x="0" y="0"/>
          <a:ext cx="0" cy="0"/>
          <a:chOff x="0" y="0"/>
          <a:chExt cx="0" cy="0"/>
        </a:xfrm>
      </p:grpSpPr>
      <p:sp>
        <p:nvSpPr>
          <p:cNvPr id="3181" name="Google Shape;3181;p150"/>
          <p:cNvSpPr/>
          <p:nvPr/>
        </p:nvSpPr>
        <p:spPr>
          <a:xfrm>
            <a:off x="566928" y="50292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STUDIO · TEAM ACTIVITY</a:t>
            </a:r>
            <a:endParaRPr sz="1200"/>
          </a:p>
        </p:txBody>
      </p:sp>
      <p:sp>
        <p:nvSpPr>
          <p:cNvPr id="3182" name="Google Shape;3182;p150"/>
          <p:cNvSpPr/>
          <p:nvPr/>
        </p:nvSpPr>
        <p:spPr>
          <a:xfrm>
            <a:off x="566928" y="868680"/>
            <a:ext cx="11057839"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Criteo: Measure Incrementality, Not Response</a:t>
            </a:r>
            <a:endParaRPr sz="3000"/>
          </a:p>
        </p:txBody>
      </p:sp>
      <p:sp>
        <p:nvSpPr>
          <p:cNvPr id="3183" name="Google Shape;3183;p150"/>
          <p:cNvSpPr/>
          <p:nvPr/>
        </p:nvSpPr>
        <p:spPr>
          <a:xfrm>
            <a:off x="566928" y="2011680"/>
            <a:ext cx="3931920" cy="3931920"/>
          </a:xfrm>
          <a:prstGeom prst="roundRect">
            <a:avLst>
              <a:gd fmla="val 2326" name="adj"/>
            </a:avLst>
          </a:prstGeom>
          <a:solidFill>
            <a:srgbClr val="1C2E4E"/>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150"/>
          <p:cNvSpPr/>
          <p:nvPr/>
        </p:nvSpPr>
        <p:spPr>
          <a:xfrm>
            <a:off x="841248" y="22402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OBJECTIVE</a:t>
            </a:r>
            <a:endParaRPr sz="1100"/>
          </a:p>
        </p:txBody>
      </p:sp>
      <p:sp>
        <p:nvSpPr>
          <p:cNvPr id="3185" name="Google Shape;3185;p150"/>
          <p:cNvSpPr/>
          <p:nvPr/>
        </p:nvSpPr>
        <p:spPr>
          <a:xfrm>
            <a:off x="841248" y="2542032"/>
            <a:ext cx="3383280" cy="128016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300"/>
              <a:buFont typeface="Calibri"/>
              <a:buNone/>
            </a:pPr>
            <a:r>
              <a:rPr lang="en-US" sz="1300">
                <a:solidFill>
                  <a:srgbClr val="C9DAF0"/>
                </a:solidFill>
                <a:latin typeface="Calibri"/>
                <a:ea typeface="Calibri"/>
                <a:cs typeface="Calibri"/>
                <a:sym typeface="Calibri"/>
              </a:rPr>
              <a:t>Estimate the randomized effect of ad assignment, then show why an exposed-only comparison answers a different and biased question.</a:t>
            </a:r>
            <a:endParaRPr sz="1300"/>
          </a:p>
        </p:txBody>
      </p:sp>
      <p:sp>
        <p:nvSpPr>
          <p:cNvPr id="3186" name="Google Shape;3186;p150"/>
          <p:cNvSpPr/>
          <p:nvPr/>
        </p:nvSpPr>
        <p:spPr>
          <a:xfrm>
            <a:off x="841248" y="420624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DELIVERABLE</a:t>
            </a:r>
            <a:endParaRPr sz="1100"/>
          </a:p>
        </p:txBody>
      </p:sp>
      <p:sp>
        <p:nvSpPr>
          <p:cNvPr id="3187" name="Google Shape;3187;p150"/>
          <p:cNvSpPr/>
          <p:nvPr/>
        </p:nvSpPr>
        <p:spPr>
          <a:xfrm>
            <a:off x="841248" y="4498848"/>
            <a:ext cx="3383280"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 one-page experiment readout: planned allocation check, ITT with CI, exposure first stage, and one guarded targeting recommendation.</a:t>
            </a:r>
            <a:endParaRPr sz="1250"/>
          </a:p>
        </p:txBody>
      </p:sp>
      <p:sp>
        <p:nvSpPr>
          <p:cNvPr id="3188" name="Google Shape;3188;p150"/>
          <p:cNvSpPr/>
          <p:nvPr/>
        </p:nvSpPr>
        <p:spPr>
          <a:xfrm>
            <a:off x="4864608" y="2029968"/>
            <a:ext cx="676015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STEPS</a:t>
            </a:r>
            <a:endParaRPr sz="1100"/>
          </a:p>
        </p:txBody>
      </p:sp>
      <p:sp>
        <p:nvSpPr>
          <p:cNvPr id="3189" name="Google Shape;3189;p150"/>
          <p:cNvSpPr/>
          <p:nvPr/>
        </p:nvSpPr>
        <p:spPr>
          <a:xfrm>
            <a:off x="4864608" y="23957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150"/>
          <p:cNvSpPr/>
          <p:nvPr/>
        </p:nvSpPr>
        <p:spPr>
          <a:xfrm>
            <a:off x="4864608" y="23957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1</a:t>
            </a:r>
            <a:endParaRPr sz="1300"/>
          </a:p>
        </p:txBody>
      </p:sp>
      <p:sp>
        <p:nvSpPr>
          <p:cNvPr id="3191" name="Google Shape;3191;p150"/>
          <p:cNvSpPr/>
          <p:nvPr/>
        </p:nvSpPr>
        <p:spPr>
          <a:xfrm>
            <a:off x="5413248" y="23774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Load a stratified sample; verify treatment coding, outcome rates, missingness, and the planned allocation ratio.</a:t>
            </a:r>
            <a:endParaRPr sz="1250"/>
          </a:p>
        </p:txBody>
      </p:sp>
      <p:sp>
        <p:nvSpPr>
          <p:cNvPr id="3192" name="Google Shape;3192;p150"/>
          <p:cNvSpPr/>
          <p:nvPr/>
        </p:nvSpPr>
        <p:spPr>
          <a:xfrm>
            <a:off x="4864608" y="2982468"/>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150"/>
          <p:cNvSpPr/>
          <p:nvPr/>
        </p:nvSpPr>
        <p:spPr>
          <a:xfrm>
            <a:off x="4864608" y="29824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2</a:t>
            </a:r>
            <a:endParaRPr sz="1300"/>
          </a:p>
        </p:txBody>
      </p:sp>
      <p:sp>
        <p:nvSpPr>
          <p:cNvPr id="3194" name="Google Shape;3194;p150"/>
          <p:cNvSpPr/>
          <p:nvPr/>
        </p:nvSpPr>
        <p:spPr>
          <a:xfrm>
            <a:off x="5413248" y="296418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 ITT for visits and conversions with risk differences and confidence intervals.</a:t>
            </a:r>
            <a:endParaRPr sz="1250"/>
          </a:p>
        </p:txBody>
      </p:sp>
      <p:sp>
        <p:nvSpPr>
          <p:cNvPr id="3195" name="Google Shape;3195;p150"/>
          <p:cNvSpPr/>
          <p:nvPr/>
        </p:nvSpPr>
        <p:spPr>
          <a:xfrm>
            <a:off x="4864608" y="3569208"/>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150"/>
          <p:cNvSpPr/>
          <p:nvPr/>
        </p:nvSpPr>
        <p:spPr>
          <a:xfrm>
            <a:off x="4864608" y="35692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3</a:t>
            </a:r>
            <a:endParaRPr sz="1300"/>
          </a:p>
        </p:txBody>
      </p:sp>
      <p:sp>
        <p:nvSpPr>
          <p:cNvPr id="3197" name="Google Shape;3197;p150"/>
          <p:cNvSpPr/>
          <p:nvPr/>
        </p:nvSpPr>
        <p:spPr>
          <a:xfrm>
            <a:off x="5413248" y="355092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Measure the first stage: how strongly assignment changes actual exposure.</a:t>
            </a:r>
            <a:endParaRPr sz="1250"/>
          </a:p>
        </p:txBody>
      </p:sp>
      <p:sp>
        <p:nvSpPr>
          <p:cNvPr id="3198" name="Google Shape;3198;p150"/>
          <p:cNvSpPr/>
          <p:nvPr/>
        </p:nvSpPr>
        <p:spPr>
          <a:xfrm>
            <a:off x="4864608" y="4155948"/>
            <a:ext cx="384048" cy="384048"/>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150"/>
          <p:cNvSpPr/>
          <p:nvPr/>
        </p:nvSpPr>
        <p:spPr>
          <a:xfrm>
            <a:off x="4864608" y="41559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4</a:t>
            </a:r>
            <a:endParaRPr sz="1300"/>
          </a:p>
        </p:txBody>
      </p:sp>
      <p:sp>
        <p:nvSpPr>
          <p:cNvPr id="3200" name="Google Shape;3200;p150"/>
          <p:cNvSpPr/>
          <p:nvPr/>
        </p:nvSpPr>
        <p:spPr>
          <a:xfrm>
            <a:off x="5413248" y="413766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Compare ITT with the naive exposed-vs-control difference; explain the selection mechanism.</a:t>
            </a:r>
            <a:endParaRPr sz="1250"/>
          </a:p>
        </p:txBody>
      </p:sp>
      <p:sp>
        <p:nvSpPr>
          <p:cNvPr id="3201" name="Google Shape;3201;p150"/>
          <p:cNvSpPr/>
          <p:nvPr/>
        </p:nvSpPr>
        <p:spPr>
          <a:xfrm>
            <a:off x="4864608" y="4742688"/>
            <a:ext cx="384048" cy="384048"/>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150"/>
          <p:cNvSpPr/>
          <p:nvPr/>
        </p:nvSpPr>
        <p:spPr>
          <a:xfrm>
            <a:off x="4864608" y="47426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5</a:t>
            </a:r>
            <a:endParaRPr sz="1300"/>
          </a:p>
        </p:txBody>
      </p:sp>
      <p:sp>
        <p:nvSpPr>
          <p:cNvPr id="3203" name="Google Shape;3203;p150"/>
          <p:cNvSpPr/>
          <p:nvPr/>
        </p:nvSpPr>
        <p:spPr>
          <a:xfrm>
            <a:off x="5413248" y="472440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Optional: estimate a simple CATE model with honest train/test separation and subgroup correction.</a:t>
            </a:r>
            <a:endParaRPr sz="1250"/>
          </a:p>
        </p:txBody>
      </p:sp>
      <p:sp>
        <p:nvSpPr>
          <p:cNvPr id="3204" name="Google Shape;3204;p150"/>
          <p:cNvSpPr/>
          <p:nvPr/>
        </p:nvSpPr>
        <p:spPr>
          <a:xfrm>
            <a:off x="4864608" y="53294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150"/>
          <p:cNvSpPr/>
          <p:nvPr/>
        </p:nvSpPr>
        <p:spPr>
          <a:xfrm>
            <a:off x="4864608" y="53294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6</a:t>
            </a:r>
            <a:endParaRPr sz="1300"/>
          </a:p>
        </p:txBody>
      </p:sp>
      <p:sp>
        <p:nvSpPr>
          <p:cNvPr id="3206" name="Google Shape;3206;p150"/>
          <p:cNvSpPr/>
          <p:nvPr/>
        </p:nvSpPr>
        <p:spPr>
          <a:xfrm>
            <a:off x="5413248" y="53111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Recommend target, hold, or redesign; state the minimum incremental value needed to ship.</a:t>
            </a:r>
            <a:endParaRPr sz="1250"/>
          </a:p>
        </p:txBody>
      </p:sp>
      <p:sp>
        <p:nvSpPr>
          <p:cNvPr id="3207" name="Google Shape;3207;p15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   ·   OPEN-DATA CASE STUDIO</a:t>
            </a:r>
            <a:endParaRPr sz="900"/>
          </a:p>
        </p:txBody>
      </p:sp>
      <p:sp>
        <p:nvSpPr>
          <p:cNvPr id="3208" name="Google Shape;3208;p15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177  /  268</a:t>
            </a:r>
            <a:endParaRPr sz="900"/>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13" name="Shape 3213"/>
        <p:cNvGrpSpPr/>
        <p:nvPr/>
      </p:nvGrpSpPr>
      <p:grpSpPr>
        <a:xfrm>
          <a:off x="0" y="0"/>
          <a:ext cx="0" cy="0"/>
          <a:chOff x="0" y="0"/>
          <a:chExt cx="0" cy="0"/>
        </a:xfrm>
      </p:grpSpPr>
      <p:sp>
        <p:nvSpPr>
          <p:cNvPr id="3214" name="Google Shape;3214;p151"/>
          <p:cNvSpPr/>
          <p:nvPr/>
        </p:nvSpPr>
        <p:spPr>
          <a:xfrm>
            <a:off x="0" y="0"/>
            <a:ext cx="4206240" cy="6858000"/>
          </a:xfrm>
          <a:prstGeom prst="rect">
            <a:avLst/>
          </a:prstGeom>
          <a:solidFill>
            <a:srgbClr val="16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151"/>
          <p:cNvSpPr/>
          <p:nvPr/>
        </p:nvSpPr>
        <p:spPr>
          <a:xfrm>
            <a:off x="502920" y="548640"/>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STUDIO 2 · EDUCATION</a:t>
            </a:r>
            <a:endParaRPr sz="1200"/>
          </a:p>
        </p:txBody>
      </p:sp>
      <p:sp>
        <p:nvSpPr>
          <p:cNvPr id="3216" name="Google Shape;3216;p151"/>
          <p:cNvSpPr/>
          <p:nvPr/>
        </p:nvSpPr>
        <p:spPr>
          <a:xfrm>
            <a:off x="502920" y="914400"/>
            <a:ext cx="3383280" cy="13716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Do Smaller Classes Improve Learning?</a:t>
            </a:r>
            <a:endParaRPr sz="2600"/>
          </a:p>
        </p:txBody>
      </p:sp>
      <p:sp>
        <p:nvSpPr>
          <p:cNvPr id="3217" name="Google Shape;3217;p151"/>
          <p:cNvSpPr/>
          <p:nvPr/>
        </p:nvSpPr>
        <p:spPr>
          <a:xfrm>
            <a:off x="502920" y="24688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050"/>
              <a:buFont typeface="Calibri"/>
              <a:buNone/>
            </a:pPr>
            <a:r>
              <a:rPr b="1" lang="en-US" sz="1050">
                <a:solidFill>
                  <a:srgbClr val="3FA9E0"/>
                </a:solidFill>
                <a:latin typeface="Calibri"/>
                <a:ea typeface="Calibri"/>
                <a:cs typeface="Calibri"/>
                <a:sym typeface="Calibri"/>
              </a:rPr>
              <a:t>OPEN DATA</a:t>
            </a:r>
            <a:endParaRPr sz="1050"/>
          </a:p>
        </p:txBody>
      </p:sp>
      <p:sp>
        <p:nvSpPr>
          <p:cNvPr id="3218" name="Google Shape;3218;p151"/>
          <p:cNvSpPr/>
          <p:nvPr/>
        </p:nvSpPr>
        <p:spPr>
          <a:xfrm>
            <a:off x="502920" y="2761488"/>
            <a:ext cx="3383280" cy="32004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Project STAR randomly assigned students and teachers within participating schools to small, regular, or regular-with-aide classes. AER distributes the public-access data with 11,598 rows and 47 variables.</a:t>
            </a:r>
            <a:endParaRPr sz="1250"/>
          </a:p>
        </p:txBody>
      </p:sp>
      <p:sp>
        <p:nvSpPr>
          <p:cNvPr id="3219" name="Google Shape;3219;p151"/>
          <p:cNvSpPr/>
          <p:nvPr/>
        </p:nvSpPr>
        <p:spPr>
          <a:xfrm>
            <a:off x="4663440" y="685800"/>
            <a:ext cx="6961327"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A randomized design with hierarchy</a:t>
            </a:r>
            <a:endParaRPr sz="2000"/>
          </a:p>
        </p:txBody>
      </p:sp>
      <p:sp>
        <p:nvSpPr>
          <p:cNvPr id="3220" name="Google Shape;3220;p151"/>
          <p:cNvSpPr/>
          <p:nvPr/>
        </p:nvSpPr>
        <p:spPr>
          <a:xfrm>
            <a:off x="4663440" y="132588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ESTIMAND</a:t>
            </a:r>
            <a:endParaRPr sz="1100"/>
          </a:p>
        </p:txBody>
      </p:sp>
      <p:sp>
        <p:nvSpPr>
          <p:cNvPr id="3221" name="Google Shape;3221;p151"/>
          <p:cNvSpPr/>
          <p:nvPr/>
        </p:nvSpPr>
        <p:spPr>
          <a:xfrm>
            <a:off x="4663440" y="160020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Define the ITT of assignment to a small class on the combined reading and mathematics score.</a:t>
            </a:r>
            <a:endParaRPr sz="1250"/>
          </a:p>
        </p:txBody>
      </p:sp>
      <p:sp>
        <p:nvSpPr>
          <p:cNvPr id="3222" name="Google Shape;3222;p151"/>
          <p:cNvSpPr/>
          <p:nvPr/>
        </p:nvSpPr>
        <p:spPr>
          <a:xfrm>
            <a:off x="4663440" y="250317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BA6"/>
              </a:buClr>
              <a:buSzPts val="1100"/>
              <a:buFont typeface="Calibri"/>
              <a:buNone/>
            </a:pPr>
            <a:r>
              <a:rPr b="1" lang="en-US" sz="1100">
                <a:solidFill>
                  <a:srgbClr val="5A5BA6"/>
                </a:solidFill>
                <a:latin typeface="Calibri"/>
                <a:ea typeface="Calibri"/>
                <a:cs typeface="Calibri"/>
                <a:sym typeface="Calibri"/>
              </a:rPr>
              <a:t>DESIGN</a:t>
            </a:r>
            <a:endParaRPr sz="1100"/>
          </a:p>
        </p:txBody>
      </p:sp>
      <p:sp>
        <p:nvSpPr>
          <p:cNvPr id="3223" name="Google Shape;3223;p151"/>
          <p:cNvSpPr/>
          <p:nvPr/>
        </p:nvSpPr>
        <p:spPr>
          <a:xfrm>
            <a:off x="4663440" y="277749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Schools act as blocks; pupils, teachers, and classrooms create a multilevel dependence structure.</a:t>
            </a:r>
            <a:endParaRPr sz="1250"/>
          </a:p>
        </p:txBody>
      </p:sp>
      <p:sp>
        <p:nvSpPr>
          <p:cNvPr id="3224" name="Google Shape;3224;p151"/>
          <p:cNvSpPr/>
          <p:nvPr/>
        </p:nvSpPr>
        <p:spPr>
          <a:xfrm>
            <a:off x="4663440" y="368046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1100"/>
              <a:buFont typeface="Calibri"/>
              <a:buNone/>
            </a:pPr>
            <a:r>
              <a:rPr b="1" lang="en-US" sz="1100">
                <a:solidFill>
                  <a:srgbClr val="EA7B38"/>
                </a:solidFill>
                <a:latin typeface="Calibri"/>
                <a:ea typeface="Calibri"/>
                <a:cs typeface="Calibri"/>
                <a:sym typeface="Calibri"/>
              </a:rPr>
              <a:t>DIAGNOSTIC</a:t>
            </a:r>
            <a:endParaRPr sz="1100"/>
          </a:p>
        </p:txBody>
      </p:sp>
      <p:sp>
        <p:nvSpPr>
          <p:cNvPr id="3225" name="Google Shape;3225;p151"/>
          <p:cNvSpPr/>
          <p:nvPr/>
        </p:nvSpPr>
        <p:spPr>
          <a:xfrm>
            <a:off x="4663440" y="395478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Check arm counts, baseline balance, attrition, and treatment switching before estimating effects.</a:t>
            </a:r>
            <a:endParaRPr sz="1250"/>
          </a:p>
        </p:txBody>
      </p:sp>
      <p:sp>
        <p:nvSpPr>
          <p:cNvPr id="3226" name="Google Shape;3226;p151"/>
          <p:cNvSpPr/>
          <p:nvPr/>
        </p:nvSpPr>
        <p:spPr>
          <a:xfrm>
            <a:off x="4663440" y="485775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9B90"/>
              </a:buClr>
              <a:buSzPts val="1100"/>
              <a:buFont typeface="Calibri"/>
              <a:buNone/>
            </a:pPr>
            <a:r>
              <a:rPr b="1" lang="en-US" sz="1100">
                <a:solidFill>
                  <a:srgbClr val="3E9B90"/>
                </a:solidFill>
                <a:latin typeface="Calibri"/>
                <a:ea typeface="Calibri"/>
                <a:cs typeface="Calibri"/>
                <a:sym typeface="Calibri"/>
              </a:rPr>
              <a:t>INFERENCE</a:t>
            </a:r>
            <a:endParaRPr sz="1100"/>
          </a:p>
        </p:txBody>
      </p:sp>
      <p:sp>
        <p:nvSpPr>
          <p:cNvPr id="3227" name="Google Shape;3227;p151"/>
          <p:cNvSpPr/>
          <p:nvPr/>
        </p:nvSpPr>
        <p:spPr>
          <a:xfrm>
            <a:off x="4663440" y="513207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Match standard errors to the assignment and clustering structure; do not treat every pupil-year as independent.</a:t>
            </a:r>
            <a:endParaRPr sz="1250"/>
          </a:p>
        </p:txBody>
      </p:sp>
      <p:sp>
        <p:nvSpPr>
          <p:cNvPr id="3228" name="Google Shape;3228;p15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   ·   OPEN-DATA CASE STUDIO</a:t>
            </a:r>
            <a:endParaRPr sz="900"/>
          </a:p>
        </p:txBody>
      </p:sp>
      <p:sp>
        <p:nvSpPr>
          <p:cNvPr id="3229" name="Google Shape;3229;p15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178  /  268</a:t>
            </a:r>
            <a:endParaRPr sz="900"/>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234" name="Shape 3234"/>
        <p:cNvGrpSpPr/>
        <p:nvPr/>
      </p:nvGrpSpPr>
      <p:grpSpPr>
        <a:xfrm>
          <a:off x="0" y="0"/>
          <a:ext cx="0" cy="0"/>
          <a:chOff x="0" y="0"/>
          <a:chExt cx="0" cy="0"/>
        </a:xfrm>
      </p:grpSpPr>
      <p:sp>
        <p:nvSpPr>
          <p:cNvPr id="3235" name="Google Shape;3235;p152"/>
          <p:cNvSpPr/>
          <p:nvPr/>
        </p:nvSpPr>
        <p:spPr>
          <a:xfrm>
            <a:off x="566928" y="50292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STUDIO · TEAM ACTIVITY</a:t>
            </a:r>
            <a:endParaRPr sz="1200"/>
          </a:p>
        </p:txBody>
      </p:sp>
      <p:sp>
        <p:nvSpPr>
          <p:cNvPr id="3236" name="Google Shape;3236;p152"/>
          <p:cNvSpPr/>
          <p:nvPr/>
        </p:nvSpPr>
        <p:spPr>
          <a:xfrm>
            <a:off x="566928" y="868680"/>
            <a:ext cx="11057839"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Project STAR: Respect the Randomization</a:t>
            </a:r>
            <a:endParaRPr sz="3000"/>
          </a:p>
        </p:txBody>
      </p:sp>
      <p:sp>
        <p:nvSpPr>
          <p:cNvPr id="3237" name="Google Shape;3237;p152"/>
          <p:cNvSpPr/>
          <p:nvPr/>
        </p:nvSpPr>
        <p:spPr>
          <a:xfrm>
            <a:off x="566928" y="2011680"/>
            <a:ext cx="3931920" cy="3931920"/>
          </a:xfrm>
          <a:prstGeom prst="roundRect">
            <a:avLst>
              <a:gd fmla="val 2326" name="adj"/>
            </a:avLst>
          </a:prstGeom>
          <a:solidFill>
            <a:srgbClr val="1C2E4E"/>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152"/>
          <p:cNvSpPr/>
          <p:nvPr/>
        </p:nvSpPr>
        <p:spPr>
          <a:xfrm>
            <a:off x="841248" y="22402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OBJECTIVE</a:t>
            </a:r>
            <a:endParaRPr sz="1100"/>
          </a:p>
        </p:txBody>
      </p:sp>
      <p:sp>
        <p:nvSpPr>
          <p:cNvPr id="3239" name="Google Shape;3239;p152"/>
          <p:cNvSpPr/>
          <p:nvPr/>
        </p:nvSpPr>
        <p:spPr>
          <a:xfrm>
            <a:off x="841248" y="2542032"/>
            <a:ext cx="3383280" cy="128016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300"/>
              <a:buFont typeface="Calibri"/>
              <a:buNone/>
            </a:pPr>
            <a:r>
              <a:rPr lang="en-US" sz="1300">
                <a:solidFill>
                  <a:srgbClr val="C9DAF0"/>
                </a:solidFill>
                <a:latin typeface="Calibri"/>
                <a:ea typeface="Calibri"/>
                <a:cs typeface="Calibri"/>
                <a:sym typeface="Calibri"/>
              </a:rPr>
              <a:t>Estimate the small-class effect while preserving the school-blocked, hierarchical design that generated the data.</a:t>
            </a:r>
            <a:endParaRPr sz="1300"/>
          </a:p>
        </p:txBody>
      </p:sp>
      <p:sp>
        <p:nvSpPr>
          <p:cNvPr id="3240" name="Google Shape;3240;p152"/>
          <p:cNvSpPr/>
          <p:nvPr/>
        </p:nvSpPr>
        <p:spPr>
          <a:xfrm>
            <a:off x="841248" y="420624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DELIVERABLE</a:t>
            </a:r>
            <a:endParaRPr sz="1100"/>
          </a:p>
        </p:txBody>
      </p:sp>
      <p:sp>
        <p:nvSpPr>
          <p:cNvPr id="3241" name="Google Shape;3241;p152"/>
          <p:cNvSpPr/>
          <p:nvPr/>
        </p:nvSpPr>
        <p:spPr>
          <a:xfrm>
            <a:off x="841248" y="4498848"/>
            <a:ext cx="3383280"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An estimate table comparing naive, school-adjusted, and clustered/design-aware inference, plus an attrition and switching note.</a:t>
            </a:r>
            <a:endParaRPr sz="1250"/>
          </a:p>
        </p:txBody>
      </p:sp>
      <p:sp>
        <p:nvSpPr>
          <p:cNvPr id="3242" name="Google Shape;3242;p152"/>
          <p:cNvSpPr/>
          <p:nvPr/>
        </p:nvSpPr>
        <p:spPr>
          <a:xfrm>
            <a:off x="4864608" y="2029968"/>
            <a:ext cx="676015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STEPS</a:t>
            </a:r>
            <a:endParaRPr sz="1100"/>
          </a:p>
        </p:txBody>
      </p:sp>
      <p:sp>
        <p:nvSpPr>
          <p:cNvPr id="3243" name="Google Shape;3243;p152"/>
          <p:cNvSpPr/>
          <p:nvPr/>
        </p:nvSpPr>
        <p:spPr>
          <a:xfrm>
            <a:off x="4864608" y="23957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152"/>
          <p:cNvSpPr/>
          <p:nvPr/>
        </p:nvSpPr>
        <p:spPr>
          <a:xfrm>
            <a:off x="4864608" y="23957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1</a:t>
            </a:r>
            <a:endParaRPr sz="1300"/>
          </a:p>
        </p:txBody>
      </p:sp>
      <p:sp>
        <p:nvSpPr>
          <p:cNvPr id="3245" name="Google Shape;3245;p152"/>
          <p:cNvSpPr/>
          <p:nvPr/>
        </p:nvSpPr>
        <p:spPr>
          <a:xfrm>
            <a:off x="5413248" y="23774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Create the treatment contrast: small class versus regular class; document exclusions before seeing outcomes.</a:t>
            </a:r>
            <a:endParaRPr sz="1250"/>
          </a:p>
        </p:txBody>
      </p:sp>
      <p:sp>
        <p:nvSpPr>
          <p:cNvPr id="3246" name="Google Shape;3246;p152"/>
          <p:cNvSpPr/>
          <p:nvPr/>
        </p:nvSpPr>
        <p:spPr>
          <a:xfrm>
            <a:off x="4864608" y="2982468"/>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152"/>
          <p:cNvSpPr/>
          <p:nvPr/>
        </p:nvSpPr>
        <p:spPr>
          <a:xfrm>
            <a:off x="4864608" y="29824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2</a:t>
            </a:r>
            <a:endParaRPr sz="1300"/>
          </a:p>
        </p:txBody>
      </p:sp>
      <p:sp>
        <p:nvSpPr>
          <p:cNvPr id="3248" name="Google Shape;3248;p152"/>
          <p:cNvSpPr/>
          <p:nvPr/>
        </p:nvSpPr>
        <p:spPr>
          <a:xfrm>
            <a:off x="5413248" y="296418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Build the combined test-score outcome and report missingness by assignment arm.</a:t>
            </a:r>
            <a:endParaRPr sz="1250"/>
          </a:p>
        </p:txBody>
      </p:sp>
      <p:sp>
        <p:nvSpPr>
          <p:cNvPr id="3249" name="Google Shape;3249;p152"/>
          <p:cNvSpPr/>
          <p:nvPr/>
        </p:nvSpPr>
        <p:spPr>
          <a:xfrm>
            <a:off x="4864608" y="3569208"/>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152"/>
          <p:cNvSpPr/>
          <p:nvPr/>
        </p:nvSpPr>
        <p:spPr>
          <a:xfrm>
            <a:off x="4864608" y="35692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3</a:t>
            </a:r>
            <a:endParaRPr sz="1300"/>
          </a:p>
        </p:txBody>
      </p:sp>
      <p:sp>
        <p:nvSpPr>
          <p:cNvPr id="3251" name="Google Shape;3251;p152"/>
          <p:cNvSpPr/>
          <p:nvPr/>
        </p:nvSpPr>
        <p:spPr>
          <a:xfrm>
            <a:off x="5413248" y="355092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Check balance within schools and flag treatment switching across grades.</a:t>
            </a:r>
            <a:endParaRPr sz="1250"/>
          </a:p>
        </p:txBody>
      </p:sp>
      <p:sp>
        <p:nvSpPr>
          <p:cNvPr id="3252" name="Google Shape;3252;p152"/>
          <p:cNvSpPr/>
          <p:nvPr/>
        </p:nvSpPr>
        <p:spPr>
          <a:xfrm>
            <a:off x="4864608" y="4155948"/>
            <a:ext cx="384048" cy="384048"/>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152"/>
          <p:cNvSpPr/>
          <p:nvPr/>
        </p:nvSpPr>
        <p:spPr>
          <a:xfrm>
            <a:off x="4864608" y="41559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4</a:t>
            </a:r>
            <a:endParaRPr sz="1300"/>
          </a:p>
        </p:txBody>
      </p:sp>
      <p:sp>
        <p:nvSpPr>
          <p:cNvPr id="3254" name="Google Shape;3254;p152"/>
          <p:cNvSpPr/>
          <p:nvPr/>
        </p:nvSpPr>
        <p:spPr>
          <a:xfrm>
            <a:off x="5413248" y="413766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 the ITT with school-block indicators and a design-appropriate uncertainty method.</a:t>
            </a:r>
            <a:endParaRPr sz="1250"/>
          </a:p>
        </p:txBody>
      </p:sp>
      <p:sp>
        <p:nvSpPr>
          <p:cNvPr id="3255" name="Google Shape;3255;p152"/>
          <p:cNvSpPr/>
          <p:nvPr/>
        </p:nvSpPr>
        <p:spPr>
          <a:xfrm>
            <a:off x="4864608" y="4742688"/>
            <a:ext cx="384048" cy="384048"/>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152"/>
          <p:cNvSpPr/>
          <p:nvPr/>
        </p:nvSpPr>
        <p:spPr>
          <a:xfrm>
            <a:off x="4864608" y="47426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5</a:t>
            </a:r>
            <a:endParaRPr sz="1300"/>
          </a:p>
        </p:txBody>
      </p:sp>
      <p:sp>
        <p:nvSpPr>
          <p:cNvPr id="3257" name="Google Shape;3257;p152"/>
          <p:cNvSpPr/>
          <p:nvPr/>
        </p:nvSpPr>
        <p:spPr>
          <a:xfrm>
            <a:off x="5413248" y="472440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Compare with a naive pupil-level standard error; explain why certainty changes.</a:t>
            </a:r>
            <a:endParaRPr sz="1250"/>
          </a:p>
        </p:txBody>
      </p:sp>
      <p:sp>
        <p:nvSpPr>
          <p:cNvPr id="3258" name="Google Shape;3258;p152"/>
          <p:cNvSpPr/>
          <p:nvPr/>
        </p:nvSpPr>
        <p:spPr>
          <a:xfrm>
            <a:off x="4864608" y="53294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152"/>
          <p:cNvSpPr/>
          <p:nvPr/>
        </p:nvSpPr>
        <p:spPr>
          <a:xfrm>
            <a:off x="4864608" y="53294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6</a:t>
            </a:r>
            <a:endParaRPr sz="1300"/>
          </a:p>
        </p:txBody>
      </p:sp>
      <p:sp>
        <p:nvSpPr>
          <p:cNvPr id="3260" name="Google Shape;3260;p152"/>
          <p:cNvSpPr/>
          <p:nvPr/>
        </p:nvSpPr>
        <p:spPr>
          <a:xfrm>
            <a:off x="5413248" y="53111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Write the policy conclusion and one limit on transport beyond participating schools.</a:t>
            </a:r>
            <a:endParaRPr sz="1250"/>
          </a:p>
        </p:txBody>
      </p:sp>
      <p:sp>
        <p:nvSpPr>
          <p:cNvPr id="3261" name="Google Shape;3261;p15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   ·   OPEN-DATA CASE STUDIO</a:t>
            </a:r>
            <a:endParaRPr sz="900"/>
          </a:p>
        </p:txBody>
      </p:sp>
      <p:sp>
        <p:nvSpPr>
          <p:cNvPr id="3262" name="Google Shape;3262;p15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179  /  268</a:t>
            </a:r>
            <a:endParaRPr sz="900"/>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67" name="Shape 3267"/>
        <p:cNvGrpSpPr/>
        <p:nvPr/>
      </p:nvGrpSpPr>
      <p:grpSpPr>
        <a:xfrm>
          <a:off x="0" y="0"/>
          <a:ext cx="0" cy="0"/>
          <a:chOff x="0" y="0"/>
          <a:chExt cx="0" cy="0"/>
        </a:xfrm>
      </p:grpSpPr>
      <p:sp>
        <p:nvSpPr>
          <p:cNvPr id="3268" name="Google Shape;3268;p153"/>
          <p:cNvSpPr/>
          <p:nvPr/>
        </p:nvSpPr>
        <p:spPr>
          <a:xfrm>
            <a:off x="0" y="0"/>
            <a:ext cx="4206240" cy="6858000"/>
          </a:xfrm>
          <a:prstGeom prst="rect">
            <a:avLst/>
          </a:prstGeom>
          <a:solidFill>
            <a:srgbClr val="16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153"/>
          <p:cNvSpPr/>
          <p:nvPr/>
        </p:nvSpPr>
        <p:spPr>
          <a:xfrm>
            <a:off x="502920" y="548640"/>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STUDIO 3 · WORKFORCE</a:t>
            </a:r>
            <a:endParaRPr sz="1200"/>
          </a:p>
        </p:txBody>
      </p:sp>
      <p:sp>
        <p:nvSpPr>
          <p:cNvPr id="3270" name="Google Shape;3270;p153"/>
          <p:cNvSpPr/>
          <p:nvPr/>
        </p:nvSpPr>
        <p:spPr>
          <a:xfrm>
            <a:off x="502920" y="914400"/>
            <a:ext cx="3383280" cy="13716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Can Matching Recover Training Impact?</a:t>
            </a:r>
            <a:endParaRPr sz="2600"/>
          </a:p>
        </p:txBody>
      </p:sp>
      <p:sp>
        <p:nvSpPr>
          <p:cNvPr id="3271" name="Google Shape;3271;p153"/>
          <p:cNvSpPr/>
          <p:nvPr/>
        </p:nvSpPr>
        <p:spPr>
          <a:xfrm>
            <a:off x="502920" y="24688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050"/>
              <a:buFont typeface="Calibri"/>
              <a:buNone/>
            </a:pPr>
            <a:r>
              <a:rPr b="1" lang="en-US" sz="1050">
                <a:solidFill>
                  <a:srgbClr val="3FA9E0"/>
                </a:solidFill>
                <a:latin typeface="Calibri"/>
                <a:ea typeface="Calibri"/>
                <a:cs typeface="Calibri"/>
                <a:sym typeface="Calibri"/>
              </a:rPr>
              <a:t>OPEN DATA</a:t>
            </a:r>
            <a:endParaRPr sz="1050"/>
          </a:p>
        </p:txBody>
      </p:sp>
      <p:sp>
        <p:nvSpPr>
          <p:cNvPr id="3272" name="Google Shape;3272;p153"/>
          <p:cNvSpPr/>
          <p:nvPr/>
        </p:nvSpPr>
        <p:spPr>
          <a:xfrm>
            <a:off x="502920" y="2761488"/>
            <a:ext cx="3383280" cy="32004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The MatchIt LaLonde file combines 185 treated National Supported Work participants with 429 PSID comparison units. Pre-treatment demographics and 1974–75 earnings make selection bias visible.</a:t>
            </a:r>
            <a:endParaRPr sz="1250"/>
          </a:p>
        </p:txBody>
      </p:sp>
      <p:sp>
        <p:nvSpPr>
          <p:cNvPr id="3273" name="Google Shape;3273;p153"/>
          <p:cNvSpPr/>
          <p:nvPr/>
        </p:nvSpPr>
        <p:spPr>
          <a:xfrm>
            <a:off x="4663440" y="685800"/>
            <a:ext cx="6961327"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A benchmark for observational adjustment</a:t>
            </a:r>
            <a:endParaRPr sz="2000"/>
          </a:p>
        </p:txBody>
      </p:sp>
      <p:sp>
        <p:nvSpPr>
          <p:cNvPr id="3274" name="Google Shape;3274;p153"/>
          <p:cNvSpPr/>
          <p:nvPr/>
        </p:nvSpPr>
        <p:spPr>
          <a:xfrm>
            <a:off x="4663440" y="132588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ESTIMAND</a:t>
            </a:r>
            <a:endParaRPr sz="1100"/>
          </a:p>
        </p:txBody>
      </p:sp>
      <p:sp>
        <p:nvSpPr>
          <p:cNvPr id="3275" name="Google Shape;3275;p153"/>
          <p:cNvSpPr/>
          <p:nvPr/>
        </p:nvSpPr>
        <p:spPr>
          <a:xfrm>
            <a:off x="4663440" y="160020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Target the ATT on 1978 earnings: the effect for people who actually received training.</a:t>
            </a:r>
            <a:endParaRPr sz="1250"/>
          </a:p>
        </p:txBody>
      </p:sp>
      <p:sp>
        <p:nvSpPr>
          <p:cNvPr id="3276" name="Google Shape;3276;p153"/>
          <p:cNvSpPr/>
          <p:nvPr/>
        </p:nvSpPr>
        <p:spPr>
          <a:xfrm>
            <a:off x="4663440" y="250317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BA6"/>
              </a:buClr>
              <a:buSzPts val="1100"/>
              <a:buFont typeface="Calibri"/>
              <a:buNone/>
            </a:pPr>
            <a:r>
              <a:rPr b="1" lang="en-US" sz="1100">
                <a:solidFill>
                  <a:srgbClr val="5A5BA6"/>
                </a:solidFill>
                <a:latin typeface="Calibri"/>
                <a:ea typeface="Calibri"/>
                <a:cs typeface="Calibri"/>
                <a:sym typeface="Calibri"/>
              </a:rPr>
              <a:t>THREAT</a:t>
            </a:r>
            <a:endParaRPr sz="1100"/>
          </a:p>
        </p:txBody>
      </p:sp>
      <p:sp>
        <p:nvSpPr>
          <p:cNvPr id="3277" name="Google Shape;3277;p153"/>
          <p:cNvSpPr/>
          <p:nvPr/>
        </p:nvSpPr>
        <p:spPr>
          <a:xfrm>
            <a:off x="4663440" y="277749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Programme participants and comparison units differ sharply before treatment; regression alone can extrapolate.</a:t>
            </a:r>
            <a:endParaRPr sz="1250"/>
          </a:p>
        </p:txBody>
      </p:sp>
      <p:sp>
        <p:nvSpPr>
          <p:cNvPr id="3278" name="Google Shape;3278;p153"/>
          <p:cNvSpPr/>
          <p:nvPr/>
        </p:nvSpPr>
        <p:spPr>
          <a:xfrm>
            <a:off x="4663440" y="368046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1100"/>
              <a:buFont typeface="Calibri"/>
              <a:buNone/>
            </a:pPr>
            <a:r>
              <a:rPr b="1" lang="en-US" sz="1100">
                <a:solidFill>
                  <a:srgbClr val="EA7B38"/>
                </a:solidFill>
                <a:latin typeface="Calibri"/>
                <a:ea typeface="Calibri"/>
                <a:cs typeface="Calibri"/>
                <a:sym typeface="Calibri"/>
              </a:rPr>
              <a:t>DIAGNOSTIC</a:t>
            </a:r>
            <a:endParaRPr sz="1100"/>
          </a:p>
        </p:txBody>
      </p:sp>
      <p:sp>
        <p:nvSpPr>
          <p:cNvPr id="3279" name="Google Shape;3279;p153"/>
          <p:cNvSpPr/>
          <p:nvPr/>
        </p:nvSpPr>
        <p:spPr>
          <a:xfrm>
            <a:off x="4663440" y="395478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Inspect propensity overlap and standardized mean differences before looking at the outcome estimate.</a:t>
            </a:r>
            <a:endParaRPr sz="1250"/>
          </a:p>
        </p:txBody>
      </p:sp>
      <p:sp>
        <p:nvSpPr>
          <p:cNvPr id="3280" name="Google Shape;3280;p153"/>
          <p:cNvSpPr/>
          <p:nvPr/>
        </p:nvSpPr>
        <p:spPr>
          <a:xfrm>
            <a:off x="4663440" y="485775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9B90"/>
              </a:buClr>
              <a:buSzPts val="1100"/>
              <a:buFont typeface="Calibri"/>
              <a:buNone/>
            </a:pPr>
            <a:r>
              <a:rPr b="1" lang="en-US" sz="1100">
                <a:solidFill>
                  <a:srgbClr val="3E9B90"/>
                </a:solidFill>
                <a:latin typeface="Calibri"/>
                <a:ea typeface="Calibri"/>
                <a:cs typeface="Calibri"/>
                <a:sym typeface="Calibri"/>
              </a:rPr>
              <a:t>LIMIT</a:t>
            </a:r>
            <a:endParaRPr sz="1100"/>
          </a:p>
        </p:txBody>
      </p:sp>
      <p:sp>
        <p:nvSpPr>
          <p:cNvPr id="3281" name="Google Shape;3281;p153"/>
          <p:cNvSpPr/>
          <p:nvPr/>
        </p:nvSpPr>
        <p:spPr>
          <a:xfrm>
            <a:off x="4663440" y="513207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Balance on measured covariates does not prove ignorability; sensitivity to hidden bias remains essential.</a:t>
            </a:r>
            <a:endParaRPr sz="1250"/>
          </a:p>
        </p:txBody>
      </p:sp>
      <p:sp>
        <p:nvSpPr>
          <p:cNvPr id="3282" name="Google Shape;3282;p15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   ·   OPEN-DATA CASE STUDIO</a:t>
            </a:r>
            <a:endParaRPr sz="900"/>
          </a:p>
        </p:txBody>
      </p:sp>
      <p:sp>
        <p:nvSpPr>
          <p:cNvPr id="3283" name="Google Shape;3283;p15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180  /  268</a:t>
            </a:r>
            <a:endParaRPr sz="900"/>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288" name="Shape 3288"/>
        <p:cNvGrpSpPr/>
        <p:nvPr/>
      </p:nvGrpSpPr>
      <p:grpSpPr>
        <a:xfrm>
          <a:off x="0" y="0"/>
          <a:ext cx="0" cy="0"/>
          <a:chOff x="0" y="0"/>
          <a:chExt cx="0" cy="0"/>
        </a:xfrm>
      </p:grpSpPr>
      <p:sp>
        <p:nvSpPr>
          <p:cNvPr id="3289" name="Google Shape;3289;p154"/>
          <p:cNvSpPr/>
          <p:nvPr/>
        </p:nvSpPr>
        <p:spPr>
          <a:xfrm>
            <a:off x="566928" y="50292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STUDIO · TEAM ACTIVITY</a:t>
            </a:r>
            <a:endParaRPr sz="1200"/>
          </a:p>
        </p:txBody>
      </p:sp>
      <p:sp>
        <p:nvSpPr>
          <p:cNvPr id="3290" name="Google Shape;3290;p154"/>
          <p:cNvSpPr/>
          <p:nvPr/>
        </p:nvSpPr>
        <p:spPr>
          <a:xfrm>
            <a:off x="566928" y="868680"/>
            <a:ext cx="11057839"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LaLonde: Balance Before Effect</a:t>
            </a:r>
            <a:endParaRPr sz="3000"/>
          </a:p>
        </p:txBody>
      </p:sp>
      <p:sp>
        <p:nvSpPr>
          <p:cNvPr id="3291" name="Google Shape;3291;p154"/>
          <p:cNvSpPr/>
          <p:nvPr/>
        </p:nvSpPr>
        <p:spPr>
          <a:xfrm>
            <a:off x="566928" y="2011680"/>
            <a:ext cx="3931920" cy="3931920"/>
          </a:xfrm>
          <a:prstGeom prst="roundRect">
            <a:avLst>
              <a:gd fmla="val 2326" name="adj"/>
            </a:avLst>
          </a:prstGeom>
          <a:solidFill>
            <a:srgbClr val="1C2E4E"/>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154"/>
          <p:cNvSpPr/>
          <p:nvPr/>
        </p:nvSpPr>
        <p:spPr>
          <a:xfrm>
            <a:off x="841248" y="22402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OBJECTIVE</a:t>
            </a:r>
            <a:endParaRPr sz="1100"/>
          </a:p>
        </p:txBody>
      </p:sp>
      <p:sp>
        <p:nvSpPr>
          <p:cNvPr id="3293" name="Google Shape;3293;p154"/>
          <p:cNvSpPr/>
          <p:nvPr/>
        </p:nvSpPr>
        <p:spPr>
          <a:xfrm>
            <a:off x="841248" y="2542032"/>
            <a:ext cx="3383280" cy="128016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300"/>
              <a:buFont typeface="Calibri"/>
              <a:buNone/>
            </a:pPr>
            <a:r>
              <a:rPr lang="en-US" sz="1300">
                <a:solidFill>
                  <a:srgbClr val="C9DAF0"/>
                </a:solidFill>
                <a:latin typeface="Calibri"/>
                <a:ea typeface="Calibri"/>
                <a:cs typeface="Calibri"/>
                <a:sym typeface="Calibri"/>
              </a:rPr>
              <a:t>Build a matched comparison for job training and decide whether the adjusted estimate is credible enough for a funding recommendation.</a:t>
            </a:r>
            <a:endParaRPr sz="1300"/>
          </a:p>
        </p:txBody>
      </p:sp>
      <p:sp>
        <p:nvSpPr>
          <p:cNvPr id="3294" name="Google Shape;3294;p154"/>
          <p:cNvSpPr/>
          <p:nvPr/>
        </p:nvSpPr>
        <p:spPr>
          <a:xfrm>
            <a:off x="841248" y="420624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DELIVERABLE</a:t>
            </a:r>
            <a:endParaRPr sz="1100"/>
          </a:p>
        </p:txBody>
      </p:sp>
      <p:sp>
        <p:nvSpPr>
          <p:cNvPr id="3295" name="Google Shape;3295;p154"/>
          <p:cNvSpPr/>
          <p:nvPr/>
        </p:nvSpPr>
        <p:spPr>
          <a:xfrm>
            <a:off x="841248" y="4498848"/>
            <a:ext cx="3383280"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 love plot, common-support decision, matched ATT with uncertainty, and a two-sentence hidden-confounding caveat.</a:t>
            </a:r>
            <a:endParaRPr sz="1250"/>
          </a:p>
        </p:txBody>
      </p:sp>
      <p:sp>
        <p:nvSpPr>
          <p:cNvPr id="3296" name="Google Shape;3296;p154"/>
          <p:cNvSpPr/>
          <p:nvPr/>
        </p:nvSpPr>
        <p:spPr>
          <a:xfrm>
            <a:off x="4864608" y="2029968"/>
            <a:ext cx="676015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STEPS</a:t>
            </a:r>
            <a:endParaRPr sz="1100"/>
          </a:p>
        </p:txBody>
      </p:sp>
      <p:sp>
        <p:nvSpPr>
          <p:cNvPr id="3297" name="Google Shape;3297;p154"/>
          <p:cNvSpPr/>
          <p:nvPr/>
        </p:nvSpPr>
        <p:spPr>
          <a:xfrm>
            <a:off x="4864608" y="23957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154"/>
          <p:cNvSpPr/>
          <p:nvPr/>
        </p:nvSpPr>
        <p:spPr>
          <a:xfrm>
            <a:off x="4864608" y="23957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1</a:t>
            </a:r>
            <a:endParaRPr sz="1300"/>
          </a:p>
        </p:txBody>
      </p:sp>
      <p:sp>
        <p:nvSpPr>
          <p:cNvPr id="3299" name="Google Shape;3299;p154"/>
          <p:cNvSpPr/>
          <p:nvPr/>
        </p:nvSpPr>
        <p:spPr>
          <a:xfrm>
            <a:off x="5413248" y="23774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State the ATT and freeze age, education, race, marriage, degree, and 1974–75 earnings as pre-treatment covariates.</a:t>
            </a:r>
            <a:endParaRPr sz="1250"/>
          </a:p>
        </p:txBody>
      </p:sp>
      <p:sp>
        <p:nvSpPr>
          <p:cNvPr id="3300" name="Google Shape;3300;p154"/>
          <p:cNvSpPr/>
          <p:nvPr/>
        </p:nvSpPr>
        <p:spPr>
          <a:xfrm>
            <a:off x="4864608" y="2982468"/>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154"/>
          <p:cNvSpPr/>
          <p:nvPr/>
        </p:nvSpPr>
        <p:spPr>
          <a:xfrm>
            <a:off x="4864608" y="29824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2</a:t>
            </a:r>
            <a:endParaRPr sz="1300"/>
          </a:p>
        </p:txBody>
      </p:sp>
      <p:sp>
        <p:nvSpPr>
          <p:cNvPr id="3302" name="Google Shape;3302;p154"/>
          <p:cNvSpPr/>
          <p:nvPr/>
        </p:nvSpPr>
        <p:spPr>
          <a:xfrm>
            <a:off x="5413248" y="296418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 propensity scores; plot treated and control support before matching.</a:t>
            </a:r>
            <a:endParaRPr sz="1250"/>
          </a:p>
        </p:txBody>
      </p:sp>
      <p:sp>
        <p:nvSpPr>
          <p:cNvPr id="3303" name="Google Shape;3303;p154"/>
          <p:cNvSpPr/>
          <p:nvPr/>
        </p:nvSpPr>
        <p:spPr>
          <a:xfrm>
            <a:off x="4864608" y="3569208"/>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154"/>
          <p:cNvSpPr/>
          <p:nvPr/>
        </p:nvSpPr>
        <p:spPr>
          <a:xfrm>
            <a:off x="4864608" y="35692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3</a:t>
            </a:r>
            <a:endParaRPr sz="1300"/>
          </a:p>
        </p:txBody>
      </p:sp>
      <p:sp>
        <p:nvSpPr>
          <p:cNvPr id="3305" name="Google Shape;3305;p154"/>
          <p:cNvSpPr/>
          <p:nvPr/>
        </p:nvSpPr>
        <p:spPr>
          <a:xfrm>
            <a:off x="5413248" y="355092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Match or weight; iterate only on balance, never on the treatment-effect result.</a:t>
            </a:r>
            <a:endParaRPr sz="1250"/>
          </a:p>
        </p:txBody>
      </p:sp>
      <p:sp>
        <p:nvSpPr>
          <p:cNvPr id="3306" name="Google Shape;3306;p154"/>
          <p:cNvSpPr/>
          <p:nvPr/>
        </p:nvSpPr>
        <p:spPr>
          <a:xfrm>
            <a:off x="4864608" y="4155948"/>
            <a:ext cx="384048" cy="384048"/>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154"/>
          <p:cNvSpPr/>
          <p:nvPr/>
        </p:nvSpPr>
        <p:spPr>
          <a:xfrm>
            <a:off x="4864608" y="41559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4</a:t>
            </a:r>
            <a:endParaRPr sz="1300"/>
          </a:p>
        </p:txBody>
      </p:sp>
      <p:sp>
        <p:nvSpPr>
          <p:cNvPr id="3308" name="Google Shape;3308;p154"/>
          <p:cNvSpPr/>
          <p:nvPr/>
        </p:nvSpPr>
        <p:spPr>
          <a:xfrm>
            <a:off x="5413248" y="413766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Require absolute SMD below 0.10 or explain any residual imbalance and estimand change.</a:t>
            </a:r>
            <a:endParaRPr sz="1250"/>
          </a:p>
        </p:txBody>
      </p:sp>
      <p:sp>
        <p:nvSpPr>
          <p:cNvPr id="3309" name="Google Shape;3309;p154"/>
          <p:cNvSpPr/>
          <p:nvPr/>
        </p:nvSpPr>
        <p:spPr>
          <a:xfrm>
            <a:off x="4864608" y="4742688"/>
            <a:ext cx="384048" cy="384048"/>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154"/>
          <p:cNvSpPr/>
          <p:nvPr/>
        </p:nvSpPr>
        <p:spPr>
          <a:xfrm>
            <a:off x="4864608" y="47426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5</a:t>
            </a:r>
            <a:endParaRPr sz="1300"/>
          </a:p>
        </p:txBody>
      </p:sp>
      <p:sp>
        <p:nvSpPr>
          <p:cNvPr id="3311" name="Google Shape;3311;p154"/>
          <p:cNvSpPr/>
          <p:nvPr/>
        </p:nvSpPr>
        <p:spPr>
          <a:xfrm>
            <a:off x="5413248" y="472440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 the ATT with an uncertainty method that accounts for the matched design.</a:t>
            </a:r>
            <a:endParaRPr sz="1250"/>
          </a:p>
        </p:txBody>
      </p:sp>
      <p:sp>
        <p:nvSpPr>
          <p:cNvPr id="3312" name="Google Shape;3312;p154"/>
          <p:cNvSpPr/>
          <p:nvPr/>
        </p:nvSpPr>
        <p:spPr>
          <a:xfrm>
            <a:off x="4864608" y="53294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154"/>
          <p:cNvSpPr/>
          <p:nvPr/>
        </p:nvSpPr>
        <p:spPr>
          <a:xfrm>
            <a:off x="4864608" y="53294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6</a:t>
            </a:r>
            <a:endParaRPr sz="1300"/>
          </a:p>
        </p:txBody>
      </p:sp>
      <p:sp>
        <p:nvSpPr>
          <p:cNvPr id="3314" name="Google Shape;3314;p154"/>
          <p:cNvSpPr/>
          <p:nvPr/>
        </p:nvSpPr>
        <p:spPr>
          <a:xfrm>
            <a:off x="5413248" y="53111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Stress-test one unmeasured confounder and issue a fund, hold, or collect-more-data verdict.</a:t>
            </a:r>
            <a:endParaRPr sz="1250"/>
          </a:p>
        </p:txBody>
      </p:sp>
      <p:sp>
        <p:nvSpPr>
          <p:cNvPr id="3315" name="Google Shape;3315;p15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   ·   OPEN-DATA CASE STUDIO</a:t>
            </a:r>
            <a:endParaRPr sz="900"/>
          </a:p>
        </p:txBody>
      </p:sp>
      <p:sp>
        <p:nvSpPr>
          <p:cNvPr id="3316" name="Google Shape;3316;p15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181  /  268</a:t>
            </a:r>
            <a:endParaRPr sz="900"/>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1" name="Shape 3321"/>
        <p:cNvGrpSpPr/>
        <p:nvPr/>
      </p:nvGrpSpPr>
      <p:grpSpPr>
        <a:xfrm>
          <a:off x="0" y="0"/>
          <a:ext cx="0" cy="0"/>
          <a:chOff x="0" y="0"/>
          <a:chExt cx="0" cy="0"/>
        </a:xfrm>
      </p:grpSpPr>
      <p:sp>
        <p:nvSpPr>
          <p:cNvPr id="3322" name="Google Shape;3322;p155"/>
          <p:cNvSpPr/>
          <p:nvPr/>
        </p:nvSpPr>
        <p:spPr>
          <a:xfrm>
            <a:off x="0" y="0"/>
            <a:ext cx="4206240" cy="6858000"/>
          </a:xfrm>
          <a:prstGeom prst="rect">
            <a:avLst/>
          </a:prstGeom>
          <a:solidFill>
            <a:srgbClr val="16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155"/>
          <p:cNvSpPr/>
          <p:nvPr/>
        </p:nvSpPr>
        <p:spPr>
          <a:xfrm>
            <a:off x="502920" y="548640"/>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STUDIO 4 · POLICY</a:t>
            </a:r>
            <a:endParaRPr sz="1200"/>
          </a:p>
        </p:txBody>
      </p:sp>
      <p:sp>
        <p:nvSpPr>
          <p:cNvPr id="3324" name="Google Shape;3324;p155"/>
          <p:cNvSpPr/>
          <p:nvPr/>
        </p:nvSpPr>
        <p:spPr>
          <a:xfrm>
            <a:off x="502920" y="914400"/>
            <a:ext cx="3383280" cy="13716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Do Wage Floors Change Teen Employment?</a:t>
            </a:r>
            <a:endParaRPr sz="2600"/>
          </a:p>
        </p:txBody>
      </p:sp>
      <p:sp>
        <p:nvSpPr>
          <p:cNvPr id="3325" name="Google Shape;3325;p155"/>
          <p:cNvSpPr/>
          <p:nvPr/>
        </p:nvSpPr>
        <p:spPr>
          <a:xfrm>
            <a:off x="502920" y="24688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050"/>
              <a:buFont typeface="Calibri"/>
              <a:buNone/>
            </a:pPr>
            <a:r>
              <a:rPr b="1" lang="en-US" sz="1050">
                <a:solidFill>
                  <a:srgbClr val="3FA9E0"/>
                </a:solidFill>
                <a:latin typeface="Calibri"/>
                <a:ea typeface="Calibri"/>
                <a:cs typeface="Calibri"/>
                <a:sym typeface="Calibri"/>
              </a:rPr>
              <a:t>OPEN DATA</a:t>
            </a:r>
            <a:endParaRPr sz="1050"/>
          </a:p>
        </p:txBody>
      </p:sp>
      <p:sp>
        <p:nvSpPr>
          <p:cNvPr id="3326" name="Google Shape;3326;p155"/>
          <p:cNvSpPr/>
          <p:nvPr/>
        </p:nvSpPr>
        <p:spPr>
          <a:xfrm>
            <a:off x="502920" y="2761488"/>
            <a:ext cx="3383280" cy="32004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The did package includes 2,500 county-year rows: 500 U.S. counties observed from 2003–2007, with staggered timing of state minimum-wage increases and log teen employment.</a:t>
            </a:r>
            <a:endParaRPr sz="1250"/>
          </a:p>
        </p:txBody>
      </p:sp>
      <p:sp>
        <p:nvSpPr>
          <p:cNvPr id="3327" name="Google Shape;3327;p155"/>
          <p:cNvSpPr/>
          <p:nvPr/>
        </p:nvSpPr>
        <p:spPr>
          <a:xfrm>
            <a:off x="4663440" y="685800"/>
            <a:ext cx="6961327"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Staggered adoption changes the comparison</a:t>
            </a:r>
            <a:endParaRPr sz="2000"/>
          </a:p>
        </p:txBody>
      </p:sp>
      <p:sp>
        <p:nvSpPr>
          <p:cNvPr id="3328" name="Google Shape;3328;p155"/>
          <p:cNvSpPr/>
          <p:nvPr/>
        </p:nvSpPr>
        <p:spPr>
          <a:xfrm>
            <a:off x="4663440" y="132588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ESTIMAND</a:t>
            </a:r>
            <a:endParaRPr sz="1100"/>
          </a:p>
        </p:txBody>
      </p:sp>
      <p:sp>
        <p:nvSpPr>
          <p:cNvPr id="3329" name="Google Shape;3329;p155"/>
          <p:cNvSpPr/>
          <p:nvPr/>
        </p:nvSpPr>
        <p:spPr>
          <a:xfrm>
            <a:off x="4663440" y="160020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Estimate group-time ATT values, then aggregate only after inspecting heterogeneity across cohorts and years.</a:t>
            </a:r>
            <a:endParaRPr sz="1250"/>
          </a:p>
        </p:txBody>
      </p:sp>
      <p:sp>
        <p:nvSpPr>
          <p:cNvPr id="3330" name="Google Shape;3330;p155"/>
          <p:cNvSpPr/>
          <p:nvPr/>
        </p:nvSpPr>
        <p:spPr>
          <a:xfrm>
            <a:off x="4663440" y="250317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BA6"/>
              </a:buClr>
              <a:buSzPts val="1100"/>
              <a:buFont typeface="Calibri"/>
              <a:buNone/>
            </a:pPr>
            <a:r>
              <a:rPr b="1" lang="en-US" sz="1100">
                <a:solidFill>
                  <a:srgbClr val="5A5BA6"/>
                </a:solidFill>
                <a:latin typeface="Calibri"/>
                <a:ea typeface="Calibri"/>
                <a:cs typeface="Calibri"/>
                <a:sym typeface="Calibri"/>
              </a:rPr>
              <a:t>ASSUMPTION</a:t>
            </a:r>
            <a:endParaRPr sz="1100"/>
          </a:p>
        </p:txBody>
      </p:sp>
      <p:sp>
        <p:nvSpPr>
          <p:cNvPr id="3331" name="Google Shape;3331;p155"/>
          <p:cNvSpPr/>
          <p:nvPr/>
        </p:nvSpPr>
        <p:spPr>
          <a:xfrm>
            <a:off x="4663440" y="277749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Parallel trends must hold for each treatment cohort against a valid not-yet-treated or never-treated comparison.</a:t>
            </a:r>
            <a:endParaRPr sz="1250"/>
          </a:p>
        </p:txBody>
      </p:sp>
      <p:sp>
        <p:nvSpPr>
          <p:cNvPr id="3332" name="Google Shape;3332;p155"/>
          <p:cNvSpPr/>
          <p:nvPr/>
        </p:nvSpPr>
        <p:spPr>
          <a:xfrm>
            <a:off x="4663440" y="368046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1100"/>
              <a:buFont typeface="Calibri"/>
              <a:buNone/>
            </a:pPr>
            <a:r>
              <a:rPr b="1" lang="en-US" sz="1100">
                <a:solidFill>
                  <a:srgbClr val="EA7B38"/>
                </a:solidFill>
                <a:latin typeface="Calibri"/>
                <a:ea typeface="Calibri"/>
                <a:cs typeface="Calibri"/>
                <a:sym typeface="Calibri"/>
              </a:rPr>
              <a:t>TRAP</a:t>
            </a:r>
            <a:endParaRPr sz="1100"/>
          </a:p>
        </p:txBody>
      </p:sp>
      <p:sp>
        <p:nvSpPr>
          <p:cNvPr id="3333" name="Google Shape;3333;p155"/>
          <p:cNvSpPr/>
          <p:nvPr/>
        </p:nvSpPr>
        <p:spPr>
          <a:xfrm>
            <a:off x="4663440" y="395478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Two-way fixed effects can use already-treated units as controls and mix effects with negative weights.</a:t>
            </a:r>
            <a:endParaRPr sz="1250"/>
          </a:p>
        </p:txBody>
      </p:sp>
      <p:sp>
        <p:nvSpPr>
          <p:cNvPr id="3334" name="Google Shape;3334;p155"/>
          <p:cNvSpPr/>
          <p:nvPr/>
        </p:nvSpPr>
        <p:spPr>
          <a:xfrm>
            <a:off x="4663440" y="485775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9B90"/>
              </a:buClr>
              <a:buSzPts val="1100"/>
              <a:buFont typeface="Calibri"/>
              <a:buNone/>
            </a:pPr>
            <a:r>
              <a:rPr b="1" lang="en-US" sz="1100">
                <a:solidFill>
                  <a:srgbClr val="3E9B90"/>
                </a:solidFill>
                <a:latin typeface="Calibri"/>
                <a:ea typeface="Calibri"/>
                <a:cs typeface="Calibri"/>
                <a:sym typeface="Calibri"/>
              </a:rPr>
              <a:t>DECISION</a:t>
            </a:r>
            <a:endParaRPr sz="1100"/>
          </a:p>
        </p:txBody>
      </p:sp>
      <p:sp>
        <p:nvSpPr>
          <p:cNvPr id="3335" name="Google Shape;3335;p155"/>
          <p:cNvSpPr/>
          <p:nvPr/>
        </p:nvSpPr>
        <p:spPr>
          <a:xfrm>
            <a:off x="4663440" y="513207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Report dynamic effects and pre-trend evidence; avoid a single pooled number when timing matters.</a:t>
            </a:r>
            <a:endParaRPr sz="1250"/>
          </a:p>
        </p:txBody>
      </p:sp>
      <p:sp>
        <p:nvSpPr>
          <p:cNvPr id="3336" name="Google Shape;3336;p15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   ·   OPEN-DATA CASE STUDIO</a:t>
            </a:r>
            <a:endParaRPr sz="900"/>
          </a:p>
        </p:txBody>
      </p:sp>
      <p:sp>
        <p:nvSpPr>
          <p:cNvPr id="3337" name="Google Shape;3337;p15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182  /  268</a:t>
            </a:r>
            <a:endParaRPr sz="900"/>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2" name="Shape 3342"/>
        <p:cNvGrpSpPr/>
        <p:nvPr/>
      </p:nvGrpSpPr>
      <p:grpSpPr>
        <a:xfrm>
          <a:off x="0" y="0"/>
          <a:ext cx="0" cy="0"/>
          <a:chOff x="0" y="0"/>
          <a:chExt cx="0" cy="0"/>
        </a:xfrm>
      </p:grpSpPr>
      <p:sp>
        <p:nvSpPr>
          <p:cNvPr id="3343" name="Google Shape;3343;p157"/>
          <p:cNvSpPr/>
          <p:nvPr/>
        </p:nvSpPr>
        <p:spPr>
          <a:xfrm>
            <a:off x="0" y="0"/>
            <a:ext cx="4206240" cy="6858000"/>
          </a:xfrm>
          <a:prstGeom prst="rect">
            <a:avLst/>
          </a:prstGeom>
          <a:solidFill>
            <a:srgbClr val="16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157"/>
          <p:cNvSpPr/>
          <p:nvPr/>
        </p:nvSpPr>
        <p:spPr>
          <a:xfrm>
            <a:off x="502920" y="548640"/>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STUDIO 5 · HEALTH POLICY</a:t>
            </a:r>
            <a:endParaRPr sz="1200"/>
          </a:p>
        </p:txBody>
      </p:sp>
      <p:sp>
        <p:nvSpPr>
          <p:cNvPr id="3345" name="Google Shape;3345;p157"/>
          <p:cNvSpPr/>
          <p:nvPr/>
        </p:nvSpPr>
        <p:spPr>
          <a:xfrm>
            <a:off x="502920" y="914400"/>
            <a:ext cx="3383280" cy="13716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What Did Medicaid Coverage Change?</a:t>
            </a:r>
            <a:endParaRPr sz="2600"/>
          </a:p>
        </p:txBody>
      </p:sp>
      <p:sp>
        <p:nvSpPr>
          <p:cNvPr id="3346" name="Google Shape;3346;p157"/>
          <p:cNvSpPr/>
          <p:nvPr/>
        </p:nvSpPr>
        <p:spPr>
          <a:xfrm>
            <a:off x="502920" y="24688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050"/>
              <a:buFont typeface="Calibri"/>
              <a:buNone/>
            </a:pPr>
            <a:r>
              <a:rPr b="1" lang="en-US" sz="1050">
                <a:solidFill>
                  <a:srgbClr val="3FA9E0"/>
                </a:solidFill>
                <a:latin typeface="Calibri"/>
                <a:ea typeface="Calibri"/>
                <a:cs typeface="Calibri"/>
                <a:sym typeface="Calibri"/>
              </a:rPr>
              <a:t>OPEN DATA</a:t>
            </a:r>
            <a:endParaRPr sz="1050"/>
          </a:p>
        </p:txBody>
      </p:sp>
      <p:sp>
        <p:nvSpPr>
          <p:cNvPr id="3347" name="Google Shape;3347;p157"/>
          <p:cNvSpPr/>
          <p:nvPr/>
        </p:nvSpPr>
        <p:spPr>
          <a:xfrm>
            <a:off x="502920" y="2761488"/>
            <a:ext cx="3383280" cy="32004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In 2008, Oregon used a lottery to allocate limited chances to apply for Medicaid. The study publishes public-use data, replication code, and archived analysis plans under a non-commercial data agreement.</a:t>
            </a:r>
            <a:endParaRPr sz="1250"/>
          </a:p>
        </p:txBody>
      </p:sp>
      <p:sp>
        <p:nvSpPr>
          <p:cNvPr id="3348" name="Google Shape;3348;p157"/>
          <p:cNvSpPr/>
          <p:nvPr/>
        </p:nvSpPr>
        <p:spPr>
          <a:xfrm>
            <a:off x="4663440" y="685800"/>
            <a:ext cx="6961327"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A lottery creates an encouragement design</a:t>
            </a:r>
            <a:endParaRPr sz="2000"/>
          </a:p>
        </p:txBody>
      </p:sp>
      <p:sp>
        <p:nvSpPr>
          <p:cNvPr id="3349" name="Google Shape;3349;p157"/>
          <p:cNvSpPr/>
          <p:nvPr/>
        </p:nvSpPr>
        <p:spPr>
          <a:xfrm>
            <a:off x="4663440" y="132588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ITT</a:t>
            </a:r>
            <a:endParaRPr sz="1100"/>
          </a:p>
        </p:txBody>
      </p:sp>
      <p:sp>
        <p:nvSpPr>
          <p:cNvPr id="3350" name="Google Shape;3350;p157"/>
          <p:cNvSpPr/>
          <p:nvPr/>
        </p:nvSpPr>
        <p:spPr>
          <a:xfrm>
            <a:off x="4663440" y="160020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Lottery selection identifies the effect of being offered the chance to apply — a policy-relevant assignment effect.</a:t>
            </a:r>
            <a:endParaRPr sz="1250"/>
          </a:p>
        </p:txBody>
      </p:sp>
      <p:sp>
        <p:nvSpPr>
          <p:cNvPr id="3351" name="Google Shape;3351;p157"/>
          <p:cNvSpPr/>
          <p:nvPr/>
        </p:nvSpPr>
        <p:spPr>
          <a:xfrm>
            <a:off x="4663440" y="250317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BA6"/>
              </a:buClr>
              <a:buSzPts val="1100"/>
              <a:buFont typeface="Calibri"/>
              <a:buNone/>
            </a:pPr>
            <a:r>
              <a:rPr b="1" lang="en-US" sz="1100">
                <a:solidFill>
                  <a:srgbClr val="5A5BA6"/>
                </a:solidFill>
                <a:latin typeface="Calibri"/>
                <a:ea typeface="Calibri"/>
                <a:cs typeface="Calibri"/>
                <a:sym typeface="Calibri"/>
              </a:rPr>
              <a:t>FIRST STAGE</a:t>
            </a:r>
            <a:endParaRPr sz="1100"/>
          </a:p>
        </p:txBody>
      </p:sp>
      <p:sp>
        <p:nvSpPr>
          <p:cNvPr id="3352" name="Google Shape;3352;p157"/>
          <p:cNvSpPr/>
          <p:nvPr/>
        </p:nvSpPr>
        <p:spPr>
          <a:xfrm>
            <a:off x="4663440" y="277749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Selection increased insurance coverage, but not every selected person enrolled; compliance is incomplete.</a:t>
            </a:r>
            <a:endParaRPr sz="1250"/>
          </a:p>
        </p:txBody>
      </p:sp>
      <p:sp>
        <p:nvSpPr>
          <p:cNvPr id="3353" name="Google Shape;3353;p157"/>
          <p:cNvSpPr/>
          <p:nvPr/>
        </p:nvSpPr>
        <p:spPr>
          <a:xfrm>
            <a:off x="4663440" y="368046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1100"/>
              <a:buFont typeface="Calibri"/>
              <a:buNone/>
            </a:pPr>
            <a:r>
              <a:rPr b="1" lang="en-US" sz="1100">
                <a:solidFill>
                  <a:srgbClr val="EA7B38"/>
                </a:solidFill>
                <a:latin typeface="Calibri"/>
                <a:ea typeface="Calibri"/>
                <a:cs typeface="Calibri"/>
                <a:sym typeface="Calibri"/>
              </a:rPr>
              <a:t>LATE</a:t>
            </a:r>
            <a:endParaRPr sz="1100"/>
          </a:p>
        </p:txBody>
      </p:sp>
      <p:sp>
        <p:nvSpPr>
          <p:cNvPr id="3354" name="Google Shape;3354;p157"/>
          <p:cNvSpPr/>
          <p:nvPr/>
        </p:nvSpPr>
        <p:spPr>
          <a:xfrm>
            <a:off x="4663440" y="395478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Use selection as an instrument for coverage only with relevance, exclusion, independence, and monotonicity defended.</a:t>
            </a:r>
            <a:endParaRPr sz="1250"/>
          </a:p>
        </p:txBody>
      </p:sp>
      <p:sp>
        <p:nvSpPr>
          <p:cNvPr id="3355" name="Google Shape;3355;p157"/>
          <p:cNvSpPr/>
          <p:nvPr/>
        </p:nvSpPr>
        <p:spPr>
          <a:xfrm>
            <a:off x="4663440" y="485775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9B90"/>
              </a:buClr>
              <a:buSzPts val="1100"/>
              <a:buFont typeface="Calibri"/>
              <a:buNone/>
            </a:pPr>
            <a:r>
              <a:rPr b="1" lang="en-US" sz="1100">
                <a:solidFill>
                  <a:srgbClr val="3E9B90"/>
                </a:solidFill>
                <a:latin typeface="Calibri"/>
                <a:ea typeface="Calibri"/>
                <a:cs typeface="Calibri"/>
                <a:sym typeface="Calibri"/>
              </a:rPr>
              <a:t>DISCIPLINE</a:t>
            </a:r>
            <a:endParaRPr sz="1100"/>
          </a:p>
        </p:txBody>
      </p:sp>
      <p:sp>
        <p:nvSpPr>
          <p:cNvPr id="3356" name="Google Shape;3356;p157"/>
          <p:cNvSpPr/>
          <p:nvPr/>
        </p:nvSpPr>
        <p:spPr>
          <a:xfrm>
            <a:off x="4663440" y="513207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Separate utilization, financial strain, and health outcome families; respect the archived analysis plan.</a:t>
            </a:r>
            <a:endParaRPr sz="1250"/>
          </a:p>
        </p:txBody>
      </p:sp>
      <p:sp>
        <p:nvSpPr>
          <p:cNvPr id="3357" name="Google Shape;3357;p15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   ·   OPEN-DATA CASE STUDIO</a:t>
            </a:r>
            <a:endParaRPr sz="900"/>
          </a:p>
        </p:txBody>
      </p:sp>
      <p:sp>
        <p:nvSpPr>
          <p:cNvPr id="3358" name="Google Shape;3358;p15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183  /  268</a:t>
            </a:r>
            <a:endParaRPr sz="900"/>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15" name="Shape 15"/>
        <p:cNvGrpSpPr/>
        <p:nvPr/>
      </p:nvGrpSpPr>
      <p:grpSpPr>
        <a:xfrm>
          <a:off x="0" y="0"/>
          <a:ext cx="0" cy="0"/>
          <a:chOff x="0" y="0"/>
          <a:chExt cx="0" cy="0"/>
        </a:xfrm>
      </p:grpSpPr>
      <p:sp>
        <p:nvSpPr>
          <p:cNvPr id="16" name="Google Shape;16;p156"/>
          <p:cNvSpPr/>
          <p:nvPr/>
        </p:nvSpPr>
        <p:spPr>
          <a:xfrm>
            <a:off x="566928" y="50292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STUDIO · TEAM ACTIVITY</a:t>
            </a:r>
            <a:endParaRPr sz="1200"/>
          </a:p>
        </p:txBody>
      </p:sp>
      <p:sp>
        <p:nvSpPr>
          <p:cNvPr id="17" name="Google Shape;17;p156"/>
          <p:cNvSpPr/>
          <p:nvPr/>
        </p:nvSpPr>
        <p:spPr>
          <a:xfrm>
            <a:off x="566928" y="868680"/>
            <a:ext cx="11057839"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Minimum Wage: Modern DiD Under Staggered Timing</a:t>
            </a:r>
            <a:endParaRPr sz="3000"/>
          </a:p>
        </p:txBody>
      </p:sp>
      <p:sp>
        <p:nvSpPr>
          <p:cNvPr id="18" name="Google Shape;18;p156"/>
          <p:cNvSpPr/>
          <p:nvPr/>
        </p:nvSpPr>
        <p:spPr>
          <a:xfrm>
            <a:off x="566928" y="2011680"/>
            <a:ext cx="3931920" cy="3931920"/>
          </a:xfrm>
          <a:prstGeom prst="roundRect">
            <a:avLst>
              <a:gd fmla="val 2326" name="adj"/>
            </a:avLst>
          </a:prstGeom>
          <a:solidFill>
            <a:srgbClr val="1C2E4E"/>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56"/>
          <p:cNvSpPr/>
          <p:nvPr/>
        </p:nvSpPr>
        <p:spPr>
          <a:xfrm>
            <a:off x="841248" y="22402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OBJECTIVE</a:t>
            </a:r>
            <a:endParaRPr sz="1100"/>
          </a:p>
        </p:txBody>
      </p:sp>
      <p:sp>
        <p:nvSpPr>
          <p:cNvPr id="20" name="Google Shape;20;p156"/>
          <p:cNvSpPr/>
          <p:nvPr/>
        </p:nvSpPr>
        <p:spPr>
          <a:xfrm>
            <a:off x="841248" y="2542032"/>
            <a:ext cx="3383280" cy="128016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300"/>
              <a:buFont typeface="Calibri"/>
              <a:buNone/>
            </a:pPr>
            <a:r>
              <a:rPr lang="en-US" sz="1300">
                <a:solidFill>
                  <a:srgbClr val="C9DAF0"/>
                </a:solidFill>
                <a:latin typeface="Calibri"/>
                <a:ea typeface="Calibri"/>
                <a:cs typeface="Calibri"/>
                <a:sym typeface="Calibri"/>
              </a:rPr>
              <a:t>Compare a conventional two-way fixed-effects estimate with cohort-aware group-time effects on teen employment.</a:t>
            </a:r>
            <a:endParaRPr sz="1300"/>
          </a:p>
        </p:txBody>
      </p:sp>
      <p:sp>
        <p:nvSpPr>
          <p:cNvPr id="21" name="Google Shape;21;p156"/>
          <p:cNvSpPr/>
          <p:nvPr/>
        </p:nvSpPr>
        <p:spPr>
          <a:xfrm>
            <a:off x="841248" y="420624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DELIVERABLE</a:t>
            </a:r>
            <a:endParaRPr sz="1100"/>
          </a:p>
        </p:txBody>
      </p:sp>
      <p:sp>
        <p:nvSpPr>
          <p:cNvPr id="22" name="Google Shape;22;p156"/>
          <p:cNvSpPr/>
          <p:nvPr/>
        </p:nvSpPr>
        <p:spPr>
          <a:xfrm>
            <a:off x="841248" y="4498848"/>
            <a:ext cx="3383280"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 cohort timing map, event-study plot, TWFE comparison, and a credibility verdict on parallel trends.</a:t>
            </a:r>
            <a:endParaRPr sz="1250"/>
          </a:p>
        </p:txBody>
      </p:sp>
      <p:sp>
        <p:nvSpPr>
          <p:cNvPr id="23" name="Google Shape;23;p156"/>
          <p:cNvSpPr/>
          <p:nvPr/>
        </p:nvSpPr>
        <p:spPr>
          <a:xfrm>
            <a:off x="4864608" y="2029968"/>
            <a:ext cx="676015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STEPS</a:t>
            </a:r>
            <a:endParaRPr sz="1100"/>
          </a:p>
        </p:txBody>
      </p:sp>
      <p:sp>
        <p:nvSpPr>
          <p:cNvPr id="24" name="Google Shape;24;p156"/>
          <p:cNvSpPr/>
          <p:nvPr/>
        </p:nvSpPr>
        <p:spPr>
          <a:xfrm>
            <a:off x="4864608" y="23957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56"/>
          <p:cNvSpPr/>
          <p:nvPr/>
        </p:nvSpPr>
        <p:spPr>
          <a:xfrm>
            <a:off x="4864608" y="23957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1</a:t>
            </a:r>
            <a:endParaRPr sz="1300"/>
          </a:p>
        </p:txBody>
      </p:sp>
      <p:sp>
        <p:nvSpPr>
          <p:cNvPr id="26" name="Google Shape;26;p156"/>
          <p:cNvSpPr/>
          <p:nvPr/>
        </p:nvSpPr>
        <p:spPr>
          <a:xfrm>
            <a:off x="5413248" y="23774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Profile first-treatment year and identify never-treated and not-yet-treated county groups.</a:t>
            </a:r>
            <a:endParaRPr sz="1250"/>
          </a:p>
        </p:txBody>
      </p:sp>
      <p:sp>
        <p:nvSpPr>
          <p:cNvPr id="27" name="Google Shape;27;p156"/>
          <p:cNvSpPr/>
          <p:nvPr/>
        </p:nvSpPr>
        <p:spPr>
          <a:xfrm>
            <a:off x="4864608" y="2982468"/>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56"/>
          <p:cNvSpPr/>
          <p:nvPr/>
        </p:nvSpPr>
        <p:spPr>
          <a:xfrm>
            <a:off x="4864608" y="29824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2</a:t>
            </a:r>
            <a:endParaRPr sz="1300"/>
          </a:p>
        </p:txBody>
      </p:sp>
      <p:sp>
        <p:nvSpPr>
          <p:cNvPr id="29" name="Google Shape;29;p156"/>
          <p:cNvSpPr/>
          <p:nvPr/>
        </p:nvSpPr>
        <p:spPr>
          <a:xfrm>
            <a:off x="5413248" y="296418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Plot raw mean trends by cohort before fitting a model.</a:t>
            </a:r>
            <a:endParaRPr sz="1250"/>
          </a:p>
        </p:txBody>
      </p:sp>
      <p:sp>
        <p:nvSpPr>
          <p:cNvPr id="30" name="Google Shape;30;p156"/>
          <p:cNvSpPr/>
          <p:nvPr/>
        </p:nvSpPr>
        <p:spPr>
          <a:xfrm>
            <a:off x="4864608" y="3569208"/>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56"/>
          <p:cNvSpPr/>
          <p:nvPr/>
        </p:nvSpPr>
        <p:spPr>
          <a:xfrm>
            <a:off x="4864608" y="35692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3</a:t>
            </a:r>
            <a:endParaRPr sz="1300"/>
          </a:p>
        </p:txBody>
      </p:sp>
      <p:sp>
        <p:nvSpPr>
          <p:cNvPr id="32" name="Google Shape;32;p156"/>
          <p:cNvSpPr/>
          <p:nvPr/>
        </p:nvSpPr>
        <p:spPr>
          <a:xfrm>
            <a:off x="5413248" y="355092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 a conventional TWFE coefficient and record the implicit comparison concern.</a:t>
            </a:r>
            <a:endParaRPr sz="1250"/>
          </a:p>
        </p:txBody>
      </p:sp>
      <p:sp>
        <p:nvSpPr>
          <p:cNvPr id="33" name="Google Shape;33;p156"/>
          <p:cNvSpPr/>
          <p:nvPr/>
        </p:nvSpPr>
        <p:spPr>
          <a:xfrm>
            <a:off x="4864608" y="4155948"/>
            <a:ext cx="384048" cy="384048"/>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56"/>
          <p:cNvSpPr/>
          <p:nvPr/>
        </p:nvSpPr>
        <p:spPr>
          <a:xfrm>
            <a:off x="4864608" y="41559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4</a:t>
            </a:r>
            <a:endParaRPr sz="1300"/>
          </a:p>
        </p:txBody>
      </p:sp>
      <p:sp>
        <p:nvSpPr>
          <p:cNvPr id="35" name="Google Shape;35;p156"/>
          <p:cNvSpPr/>
          <p:nvPr/>
        </p:nvSpPr>
        <p:spPr>
          <a:xfrm>
            <a:off x="5413248" y="413766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 group-time ATT values with the did workflow and aggregate by event time.</a:t>
            </a:r>
            <a:endParaRPr sz="1250"/>
          </a:p>
        </p:txBody>
      </p:sp>
      <p:sp>
        <p:nvSpPr>
          <p:cNvPr id="36" name="Google Shape;36;p156"/>
          <p:cNvSpPr/>
          <p:nvPr/>
        </p:nvSpPr>
        <p:spPr>
          <a:xfrm>
            <a:off x="4864608" y="4742688"/>
            <a:ext cx="384048" cy="384048"/>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56"/>
          <p:cNvSpPr/>
          <p:nvPr/>
        </p:nvSpPr>
        <p:spPr>
          <a:xfrm>
            <a:off x="4864608" y="47426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5</a:t>
            </a:r>
            <a:endParaRPr sz="1300"/>
          </a:p>
        </p:txBody>
      </p:sp>
      <p:sp>
        <p:nvSpPr>
          <p:cNvPr id="38" name="Google Shape;38;p156"/>
          <p:cNvSpPr/>
          <p:nvPr/>
        </p:nvSpPr>
        <p:spPr>
          <a:xfrm>
            <a:off x="5413248" y="472440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Inspect pre-treatment coefficients and add a placebo treatment date.</a:t>
            </a:r>
            <a:endParaRPr sz="1250"/>
          </a:p>
        </p:txBody>
      </p:sp>
      <p:sp>
        <p:nvSpPr>
          <p:cNvPr id="39" name="Google Shape;39;p156"/>
          <p:cNvSpPr/>
          <p:nvPr/>
        </p:nvSpPr>
        <p:spPr>
          <a:xfrm>
            <a:off x="4864608" y="53294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56"/>
          <p:cNvSpPr/>
          <p:nvPr/>
        </p:nvSpPr>
        <p:spPr>
          <a:xfrm>
            <a:off x="4864608" y="53294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6</a:t>
            </a:r>
            <a:endParaRPr sz="1300"/>
          </a:p>
        </p:txBody>
      </p:sp>
      <p:sp>
        <p:nvSpPr>
          <p:cNvPr id="41" name="Google Shape;41;p156"/>
          <p:cNvSpPr/>
          <p:nvPr/>
        </p:nvSpPr>
        <p:spPr>
          <a:xfrm>
            <a:off x="5413248" y="53111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Explain any disagreement between estimators before making the policy recommendation.</a:t>
            </a:r>
            <a:endParaRPr sz="1250"/>
          </a:p>
        </p:txBody>
      </p:sp>
      <p:sp>
        <p:nvSpPr>
          <p:cNvPr id="42" name="Google Shape;42;p15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   ·   OPEN-DATA CASE STUDIO</a:t>
            </a:r>
            <a:endParaRPr sz="900"/>
          </a:p>
        </p:txBody>
      </p:sp>
      <p:sp>
        <p:nvSpPr>
          <p:cNvPr id="43" name="Google Shape;43;p15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184  /  268</a:t>
            </a:r>
            <a:endParaRPr sz="900"/>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363" name="Shape 3363"/>
        <p:cNvGrpSpPr/>
        <p:nvPr/>
      </p:nvGrpSpPr>
      <p:grpSpPr>
        <a:xfrm>
          <a:off x="0" y="0"/>
          <a:ext cx="0" cy="0"/>
          <a:chOff x="0" y="0"/>
          <a:chExt cx="0" cy="0"/>
        </a:xfrm>
      </p:grpSpPr>
      <p:sp>
        <p:nvSpPr>
          <p:cNvPr id="3364" name="Google Shape;3364;p158"/>
          <p:cNvSpPr/>
          <p:nvPr/>
        </p:nvSpPr>
        <p:spPr>
          <a:xfrm>
            <a:off x="566928" y="50292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STUDIO · TEAM ACTIVITY</a:t>
            </a:r>
            <a:endParaRPr sz="1200"/>
          </a:p>
        </p:txBody>
      </p:sp>
      <p:sp>
        <p:nvSpPr>
          <p:cNvPr id="3365" name="Google Shape;3365;p158"/>
          <p:cNvSpPr/>
          <p:nvPr/>
        </p:nvSpPr>
        <p:spPr>
          <a:xfrm>
            <a:off x="566928" y="868680"/>
            <a:ext cx="11057839"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Oregon: Put the Instrument on Trial</a:t>
            </a:r>
            <a:endParaRPr sz="3000"/>
          </a:p>
        </p:txBody>
      </p:sp>
      <p:sp>
        <p:nvSpPr>
          <p:cNvPr id="3366" name="Google Shape;3366;p158"/>
          <p:cNvSpPr/>
          <p:nvPr/>
        </p:nvSpPr>
        <p:spPr>
          <a:xfrm>
            <a:off x="566928" y="2011680"/>
            <a:ext cx="3931920" cy="3931920"/>
          </a:xfrm>
          <a:prstGeom prst="roundRect">
            <a:avLst>
              <a:gd fmla="val 2326" name="adj"/>
            </a:avLst>
          </a:prstGeom>
          <a:solidFill>
            <a:srgbClr val="1C2E4E"/>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158"/>
          <p:cNvSpPr/>
          <p:nvPr/>
        </p:nvSpPr>
        <p:spPr>
          <a:xfrm>
            <a:off x="841248" y="22402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OBJECTIVE</a:t>
            </a:r>
            <a:endParaRPr sz="1100"/>
          </a:p>
        </p:txBody>
      </p:sp>
      <p:sp>
        <p:nvSpPr>
          <p:cNvPr id="3368" name="Google Shape;3368;p158"/>
          <p:cNvSpPr/>
          <p:nvPr/>
        </p:nvSpPr>
        <p:spPr>
          <a:xfrm>
            <a:off x="841248" y="2542032"/>
            <a:ext cx="3383280" cy="128016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300"/>
              <a:buFont typeface="Calibri"/>
              <a:buNone/>
            </a:pPr>
            <a:r>
              <a:rPr lang="en-US" sz="1300">
                <a:solidFill>
                  <a:srgbClr val="C9DAF0"/>
                </a:solidFill>
                <a:latin typeface="Calibri"/>
                <a:ea typeface="Calibri"/>
                <a:cs typeface="Calibri"/>
                <a:sym typeface="Calibri"/>
              </a:rPr>
              <a:t>Use the lottery to estimate assignment effects, then decide whether a coverage effect is identified and for whom.</a:t>
            </a:r>
            <a:endParaRPr sz="1300"/>
          </a:p>
        </p:txBody>
      </p:sp>
      <p:sp>
        <p:nvSpPr>
          <p:cNvPr id="3369" name="Google Shape;3369;p158"/>
          <p:cNvSpPr/>
          <p:nvPr/>
        </p:nvSpPr>
        <p:spPr>
          <a:xfrm>
            <a:off x="841248" y="420624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DELIVERABLE</a:t>
            </a:r>
            <a:endParaRPr sz="1100"/>
          </a:p>
        </p:txBody>
      </p:sp>
      <p:sp>
        <p:nvSpPr>
          <p:cNvPr id="3370" name="Google Shape;3370;p158"/>
          <p:cNvSpPr/>
          <p:nvPr/>
        </p:nvSpPr>
        <p:spPr>
          <a:xfrm>
            <a:off x="841248" y="4498848"/>
            <a:ext cx="3383280"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An ITT table, first-stage estimate, 2SLS/LATE result, and a written defence of exclusion and monotonicity.</a:t>
            </a:r>
            <a:endParaRPr sz="1250"/>
          </a:p>
        </p:txBody>
      </p:sp>
      <p:sp>
        <p:nvSpPr>
          <p:cNvPr id="3371" name="Google Shape;3371;p158"/>
          <p:cNvSpPr/>
          <p:nvPr/>
        </p:nvSpPr>
        <p:spPr>
          <a:xfrm>
            <a:off x="4864608" y="2029968"/>
            <a:ext cx="676015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STEPS</a:t>
            </a:r>
            <a:endParaRPr sz="1100"/>
          </a:p>
        </p:txBody>
      </p:sp>
      <p:sp>
        <p:nvSpPr>
          <p:cNvPr id="3372" name="Google Shape;3372;p158"/>
          <p:cNvSpPr/>
          <p:nvPr/>
        </p:nvSpPr>
        <p:spPr>
          <a:xfrm>
            <a:off x="4864608" y="23957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158"/>
          <p:cNvSpPr/>
          <p:nvPr/>
        </p:nvSpPr>
        <p:spPr>
          <a:xfrm>
            <a:off x="4864608" y="23957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1</a:t>
            </a:r>
            <a:endParaRPr sz="1300"/>
          </a:p>
        </p:txBody>
      </p:sp>
      <p:sp>
        <p:nvSpPr>
          <p:cNvPr id="3374" name="Google Shape;3374;p158"/>
          <p:cNvSpPr/>
          <p:nvPr/>
        </p:nvSpPr>
        <p:spPr>
          <a:xfrm>
            <a:off x="5413248" y="23774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Read the archived analysis plan; freeze one outcome family and denominator.</a:t>
            </a:r>
            <a:endParaRPr sz="1250"/>
          </a:p>
        </p:txBody>
      </p:sp>
      <p:sp>
        <p:nvSpPr>
          <p:cNvPr id="3375" name="Google Shape;3375;p158"/>
          <p:cNvSpPr/>
          <p:nvPr/>
        </p:nvSpPr>
        <p:spPr>
          <a:xfrm>
            <a:off x="4864608" y="2982468"/>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158"/>
          <p:cNvSpPr/>
          <p:nvPr/>
        </p:nvSpPr>
        <p:spPr>
          <a:xfrm>
            <a:off x="4864608" y="29824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2</a:t>
            </a:r>
            <a:endParaRPr sz="1300"/>
          </a:p>
        </p:txBody>
      </p:sp>
      <p:sp>
        <p:nvSpPr>
          <p:cNvPr id="3377" name="Google Shape;3377;p158"/>
          <p:cNvSpPr/>
          <p:nvPr/>
        </p:nvSpPr>
        <p:spPr>
          <a:xfrm>
            <a:off x="5413248" y="296418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 the ITT of lottery selection with the randomization unit respected.</a:t>
            </a:r>
            <a:endParaRPr sz="1250"/>
          </a:p>
        </p:txBody>
      </p:sp>
      <p:sp>
        <p:nvSpPr>
          <p:cNvPr id="3378" name="Google Shape;3378;p158"/>
          <p:cNvSpPr/>
          <p:nvPr/>
        </p:nvSpPr>
        <p:spPr>
          <a:xfrm>
            <a:off x="4864608" y="3569208"/>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158"/>
          <p:cNvSpPr/>
          <p:nvPr/>
        </p:nvSpPr>
        <p:spPr>
          <a:xfrm>
            <a:off x="4864608" y="35692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3</a:t>
            </a:r>
            <a:endParaRPr sz="1300"/>
          </a:p>
        </p:txBody>
      </p:sp>
      <p:sp>
        <p:nvSpPr>
          <p:cNvPr id="3380" name="Google Shape;3380;p158"/>
          <p:cNvSpPr/>
          <p:nvPr/>
        </p:nvSpPr>
        <p:spPr>
          <a:xfrm>
            <a:off x="5413248" y="355092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 the first stage from selection to insurance coverage and report its strength.</a:t>
            </a:r>
            <a:endParaRPr sz="1250"/>
          </a:p>
        </p:txBody>
      </p:sp>
      <p:sp>
        <p:nvSpPr>
          <p:cNvPr id="3381" name="Google Shape;3381;p158"/>
          <p:cNvSpPr/>
          <p:nvPr/>
        </p:nvSpPr>
        <p:spPr>
          <a:xfrm>
            <a:off x="4864608" y="4155948"/>
            <a:ext cx="384048" cy="384048"/>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158"/>
          <p:cNvSpPr/>
          <p:nvPr/>
        </p:nvSpPr>
        <p:spPr>
          <a:xfrm>
            <a:off x="4864608" y="41559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4</a:t>
            </a:r>
            <a:endParaRPr sz="1300"/>
          </a:p>
        </p:txBody>
      </p:sp>
      <p:sp>
        <p:nvSpPr>
          <p:cNvPr id="3383" name="Google Shape;3383;p158"/>
          <p:cNvSpPr/>
          <p:nvPr/>
        </p:nvSpPr>
        <p:spPr>
          <a:xfrm>
            <a:off x="5413248" y="413766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Compute 2SLS; describe the compliers represented by the LATE.</a:t>
            </a:r>
            <a:endParaRPr sz="1250"/>
          </a:p>
        </p:txBody>
      </p:sp>
      <p:sp>
        <p:nvSpPr>
          <p:cNvPr id="3384" name="Google Shape;3384;p158"/>
          <p:cNvSpPr/>
          <p:nvPr/>
        </p:nvSpPr>
        <p:spPr>
          <a:xfrm>
            <a:off x="4864608" y="4742688"/>
            <a:ext cx="384048" cy="384048"/>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158"/>
          <p:cNvSpPr/>
          <p:nvPr/>
        </p:nvSpPr>
        <p:spPr>
          <a:xfrm>
            <a:off x="4864608" y="47426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5</a:t>
            </a:r>
            <a:endParaRPr sz="1300"/>
          </a:p>
        </p:txBody>
      </p:sp>
      <p:sp>
        <p:nvSpPr>
          <p:cNvPr id="3386" name="Google Shape;3386;p158"/>
          <p:cNvSpPr/>
          <p:nvPr/>
        </p:nvSpPr>
        <p:spPr>
          <a:xfrm>
            <a:off x="5413248" y="472440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Run an instrument courtroom: one team defends exclusion, another constructs a direct path to the outcome.</a:t>
            </a:r>
            <a:endParaRPr sz="1250"/>
          </a:p>
        </p:txBody>
      </p:sp>
      <p:sp>
        <p:nvSpPr>
          <p:cNvPr id="3387" name="Google Shape;3387;p158"/>
          <p:cNvSpPr/>
          <p:nvPr/>
        </p:nvSpPr>
        <p:spPr>
          <a:xfrm>
            <a:off x="4864608" y="53294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158"/>
          <p:cNvSpPr/>
          <p:nvPr/>
        </p:nvSpPr>
        <p:spPr>
          <a:xfrm>
            <a:off x="4864608" y="53294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6</a:t>
            </a:r>
            <a:endParaRPr sz="1300"/>
          </a:p>
        </p:txBody>
      </p:sp>
      <p:sp>
        <p:nvSpPr>
          <p:cNvPr id="3389" name="Google Shape;3389;p158"/>
          <p:cNvSpPr/>
          <p:nvPr/>
        </p:nvSpPr>
        <p:spPr>
          <a:xfrm>
            <a:off x="5413248" y="53111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Write separate conclusions for the offer policy and for Medicaid coverage itself.</a:t>
            </a:r>
            <a:endParaRPr sz="1250"/>
          </a:p>
        </p:txBody>
      </p:sp>
      <p:sp>
        <p:nvSpPr>
          <p:cNvPr id="3390" name="Google Shape;3390;p15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   ·   OPEN-DATA CASE STUDIO</a:t>
            </a:r>
            <a:endParaRPr sz="900"/>
          </a:p>
        </p:txBody>
      </p:sp>
      <p:sp>
        <p:nvSpPr>
          <p:cNvPr id="3391" name="Google Shape;3391;p15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185  /  268</a:t>
            </a:r>
            <a:endParaRPr sz="900"/>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96" name="Shape 3396"/>
        <p:cNvGrpSpPr/>
        <p:nvPr/>
      </p:nvGrpSpPr>
      <p:grpSpPr>
        <a:xfrm>
          <a:off x="0" y="0"/>
          <a:ext cx="0" cy="0"/>
          <a:chOff x="0" y="0"/>
          <a:chExt cx="0" cy="0"/>
        </a:xfrm>
      </p:grpSpPr>
      <p:sp>
        <p:nvSpPr>
          <p:cNvPr id="3397" name="Google Shape;3397;p159"/>
          <p:cNvSpPr/>
          <p:nvPr/>
        </p:nvSpPr>
        <p:spPr>
          <a:xfrm>
            <a:off x="0" y="0"/>
            <a:ext cx="4206240" cy="6858000"/>
          </a:xfrm>
          <a:prstGeom prst="rect">
            <a:avLst/>
          </a:prstGeom>
          <a:solidFill>
            <a:srgbClr val="1623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159"/>
          <p:cNvSpPr/>
          <p:nvPr/>
        </p:nvSpPr>
        <p:spPr>
          <a:xfrm>
            <a:off x="502920" y="548640"/>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STUDIO 6 · PUBLIC HEALTH</a:t>
            </a:r>
            <a:endParaRPr sz="1200"/>
          </a:p>
        </p:txBody>
      </p:sp>
      <p:sp>
        <p:nvSpPr>
          <p:cNvPr id="3399" name="Google Shape;3399;p159"/>
          <p:cNvSpPr/>
          <p:nvPr/>
        </p:nvSpPr>
        <p:spPr>
          <a:xfrm>
            <a:off x="502920" y="914400"/>
            <a:ext cx="3383280" cy="13716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Did Proposition 99 Reduce Smoking?</a:t>
            </a:r>
            <a:endParaRPr sz="2600"/>
          </a:p>
        </p:txBody>
      </p:sp>
      <p:sp>
        <p:nvSpPr>
          <p:cNvPr id="3400" name="Google Shape;3400;p159"/>
          <p:cNvSpPr/>
          <p:nvPr/>
        </p:nvSpPr>
        <p:spPr>
          <a:xfrm>
            <a:off x="502920" y="24688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050"/>
              <a:buFont typeface="Calibri"/>
              <a:buNone/>
            </a:pPr>
            <a:r>
              <a:rPr b="1" lang="en-US" sz="1050">
                <a:solidFill>
                  <a:srgbClr val="3FA9E0"/>
                </a:solidFill>
                <a:latin typeface="Calibri"/>
                <a:ea typeface="Calibri"/>
                <a:cs typeface="Calibri"/>
                <a:sym typeface="Calibri"/>
              </a:rPr>
              <a:t>OPEN DATA</a:t>
            </a:r>
            <a:endParaRPr sz="1050"/>
          </a:p>
        </p:txBody>
      </p:sp>
      <p:sp>
        <p:nvSpPr>
          <p:cNvPr id="3401" name="Google Shape;3401;p159"/>
          <p:cNvSpPr/>
          <p:nvPr/>
        </p:nvSpPr>
        <p:spPr>
          <a:xfrm>
            <a:off x="502920" y="2761488"/>
            <a:ext cx="3383280" cy="32004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The synthdid package distributes a 1,209-row panel for 39 U.S. states from 1970–2000. California is treated from 1989, after Proposition 99 raised tobacco taxes and funded control efforts.</a:t>
            </a:r>
            <a:endParaRPr sz="1250"/>
          </a:p>
        </p:txBody>
      </p:sp>
      <p:sp>
        <p:nvSpPr>
          <p:cNvPr id="3402" name="Google Shape;3402;p159"/>
          <p:cNvSpPr/>
          <p:nvPr/>
        </p:nvSpPr>
        <p:spPr>
          <a:xfrm>
            <a:off x="4663440" y="685800"/>
            <a:ext cx="6961327"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Build the missing California</a:t>
            </a:r>
            <a:endParaRPr sz="2000"/>
          </a:p>
        </p:txBody>
      </p:sp>
      <p:sp>
        <p:nvSpPr>
          <p:cNvPr id="3403" name="Google Shape;3403;p159"/>
          <p:cNvSpPr/>
          <p:nvPr/>
        </p:nvSpPr>
        <p:spPr>
          <a:xfrm>
            <a:off x="4663440" y="132588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ESTIMAND</a:t>
            </a:r>
            <a:endParaRPr sz="1100"/>
          </a:p>
        </p:txBody>
      </p:sp>
      <p:sp>
        <p:nvSpPr>
          <p:cNvPr id="3404" name="Google Shape;3404;p159"/>
          <p:cNvSpPr/>
          <p:nvPr/>
        </p:nvSpPr>
        <p:spPr>
          <a:xfrm>
            <a:off x="4663440" y="160020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Estimate California's post-1989 effect on per-capita cigarette packs relative to its untreated counterfactual.</a:t>
            </a:r>
            <a:endParaRPr sz="1250"/>
          </a:p>
        </p:txBody>
      </p:sp>
      <p:sp>
        <p:nvSpPr>
          <p:cNvPr id="3405" name="Google Shape;3405;p159"/>
          <p:cNvSpPr/>
          <p:nvPr/>
        </p:nvSpPr>
        <p:spPr>
          <a:xfrm>
            <a:off x="4663440" y="250317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5BA6"/>
              </a:buClr>
              <a:buSzPts val="1100"/>
              <a:buFont typeface="Calibri"/>
              <a:buNone/>
            </a:pPr>
            <a:r>
              <a:rPr b="1" lang="en-US" sz="1100">
                <a:solidFill>
                  <a:srgbClr val="5A5BA6"/>
                </a:solidFill>
                <a:latin typeface="Calibri"/>
                <a:ea typeface="Calibri"/>
                <a:cs typeface="Calibri"/>
                <a:sym typeface="Calibri"/>
              </a:rPr>
              <a:t>DESIGN</a:t>
            </a:r>
            <a:endParaRPr sz="1100"/>
          </a:p>
        </p:txBody>
      </p:sp>
      <p:sp>
        <p:nvSpPr>
          <p:cNvPr id="3406" name="Google Shape;3406;p159"/>
          <p:cNvSpPr/>
          <p:nvPr/>
        </p:nvSpPr>
        <p:spPr>
          <a:xfrm>
            <a:off x="4663440" y="277749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Choose donor-state weights that reproduce California's pre-treatment trajectory; prediction quality is visible.</a:t>
            </a:r>
            <a:endParaRPr sz="1250"/>
          </a:p>
        </p:txBody>
      </p:sp>
      <p:sp>
        <p:nvSpPr>
          <p:cNvPr id="3407" name="Google Shape;3407;p159"/>
          <p:cNvSpPr/>
          <p:nvPr/>
        </p:nvSpPr>
        <p:spPr>
          <a:xfrm>
            <a:off x="4663440" y="368046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7B38"/>
              </a:buClr>
              <a:buSzPts val="1100"/>
              <a:buFont typeface="Calibri"/>
              <a:buNone/>
            </a:pPr>
            <a:r>
              <a:rPr b="1" lang="en-US" sz="1100">
                <a:solidFill>
                  <a:srgbClr val="EA7B38"/>
                </a:solidFill>
                <a:latin typeface="Calibri"/>
                <a:ea typeface="Calibri"/>
                <a:cs typeface="Calibri"/>
                <a:sym typeface="Calibri"/>
              </a:rPr>
              <a:t>DIAGNOSTIC</a:t>
            </a:r>
            <a:endParaRPr sz="1100"/>
          </a:p>
        </p:txBody>
      </p:sp>
      <p:sp>
        <p:nvSpPr>
          <p:cNvPr id="3408" name="Google Shape;3408;p159"/>
          <p:cNvSpPr/>
          <p:nvPr/>
        </p:nvSpPr>
        <p:spPr>
          <a:xfrm>
            <a:off x="4663440" y="395478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Inspect pre-period RMSPE, placebo-in-space gaps, leave-one-out stability, and donor concentration.</a:t>
            </a:r>
            <a:endParaRPr sz="1250"/>
          </a:p>
        </p:txBody>
      </p:sp>
      <p:sp>
        <p:nvSpPr>
          <p:cNvPr id="3409" name="Google Shape;3409;p159"/>
          <p:cNvSpPr/>
          <p:nvPr/>
        </p:nvSpPr>
        <p:spPr>
          <a:xfrm>
            <a:off x="4663440" y="4857750"/>
            <a:ext cx="69613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9B90"/>
              </a:buClr>
              <a:buSzPts val="1100"/>
              <a:buFont typeface="Calibri"/>
              <a:buNone/>
            </a:pPr>
            <a:r>
              <a:rPr b="1" lang="en-US" sz="1100">
                <a:solidFill>
                  <a:srgbClr val="3E9B90"/>
                </a:solidFill>
                <a:latin typeface="Calibri"/>
                <a:ea typeface="Calibri"/>
                <a:cs typeface="Calibri"/>
                <a:sym typeface="Calibri"/>
              </a:rPr>
              <a:t>LIMIT</a:t>
            </a:r>
            <a:endParaRPr sz="1100"/>
          </a:p>
        </p:txBody>
      </p:sp>
      <p:sp>
        <p:nvSpPr>
          <p:cNvPr id="3410" name="Google Shape;3410;p159"/>
          <p:cNvSpPr/>
          <p:nvPr/>
        </p:nvSpPr>
        <p:spPr>
          <a:xfrm>
            <a:off x="4663440" y="5132070"/>
            <a:ext cx="6961327" cy="82981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Synthetic control identifies one treated unit under a stable donor pool; uncertainty is design- and placebo-based.</a:t>
            </a:r>
            <a:endParaRPr sz="1250"/>
          </a:p>
        </p:txBody>
      </p:sp>
      <p:sp>
        <p:nvSpPr>
          <p:cNvPr id="3411" name="Google Shape;3411;p15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   ·   OPEN-DATA CASE STUDIO</a:t>
            </a:r>
            <a:endParaRPr sz="900"/>
          </a:p>
        </p:txBody>
      </p:sp>
      <p:sp>
        <p:nvSpPr>
          <p:cNvPr id="3412" name="Google Shape;3412;p15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186  /  268</a:t>
            </a:r>
            <a:endParaRPr sz="900"/>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417" name="Shape 3417"/>
        <p:cNvGrpSpPr/>
        <p:nvPr/>
      </p:nvGrpSpPr>
      <p:grpSpPr>
        <a:xfrm>
          <a:off x="0" y="0"/>
          <a:ext cx="0" cy="0"/>
          <a:chOff x="0" y="0"/>
          <a:chExt cx="0" cy="0"/>
        </a:xfrm>
      </p:grpSpPr>
      <p:sp>
        <p:nvSpPr>
          <p:cNvPr id="3418" name="Google Shape;3418;p160"/>
          <p:cNvSpPr/>
          <p:nvPr/>
        </p:nvSpPr>
        <p:spPr>
          <a:xfrm>
            <a:off x="566928" y="50292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CASE STUDIO · TEAM ACTIVITY</a:t>
            </a:r>
            <a:endParaRPr sz="1200"/>
          </a:p>
        </p:txBody>
      </p:sp>
      <p:sp>
        <p:nvSpPr>
          <p:cNvPr id="3419" name="Google Shape;3419;p160"/>
          <p:cNvSpPr/>
          <p:nvPr/>
        </p:nvSpPr>
        <p:spPr>
          <a:xfrm>
            <a:off x="566928" y="868680"/>
            <a:ext cx="11057839"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Proposition 99: Build a Credible Counterfactual</a:t>
            </a:r>
            <a:endParaRPr sz="3000"/>
          </a:p>
        </p:txBody>
      </p:sp>
      <p:sp>
        <p:nvSpPr>
          <p:cNvPr id="3420" name="Google Shape;3420;p160"/>
          <p:cNvSpPr/>
          <p:nvPr/>
        </p:nvSpPr>
        <p:spPr>
          <a:xfrm>
            <a:off x="566928" y="2011680"/>
            <a:ext cx="3931920" cy="3931920"/>
          </a:xfrm>
          <a:prstGeom prst="roundRect">
            <a:avLst>
              <a:gd fmla="val 2326" name="adj"/>
            </a:avLst>
          </a:prstGeom>
          <a:solidFill>
            <a:srgbClr val="1C2E4E"/>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160"/>
          <p:cNvSpPr/>
          <p:nvPr/>
        </p:nvSpPr>
        <p:spPr>
          <a:xfrm>
            <a:off x="841248" y="22402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OBJECTIVE</a:t>
            </a:r>
            <a:endParaRPr sz="1100"/>
          </a:p>
        </p:txBody>
      </p:sp>
      <p:sp>
        <p:nvSpPr>
          <p:cNvPr id="3422" name="Google Shape;3422;p160"/>
          <p:cNvSpPr/>
          <p:nvPr/>
        </p:nvSpPr>
        <p:spPr>
          <a:xfrm>
            <a:off x="841248" y="2542032"/>
            <a:ext cx="3383280" cy="128016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300"/>
              <a:buFont typeface="Calibri"/>
              <a:buNone/>
            </a:pPr>
            <a:r>
              <a:rPr lang="en-US" sz="1300">
                <a:solidFill>
                  <a:srgbClr val="C9DAF0"/>
                </a:solidFill>
                <a:latin typeface="Calibri"/>
                <a:ea typeface="Calibri"/>
                <a:cs typeface="Calibri"/>
                <a:sym typeface="Calibri"/>
              </a:rPr>
              <a:t>Construct a synthetic California, measure the post-treatment gap, and test whether the result is exceptional among placebo states.</a:t>
            </a:r>
            <a:endParaRPr sz="1300"/>
          </a:p>
        </p:txBody>
      </p:sp>
      <p:sp>
        <p:nvSpPr>
          <p:cNvPr id="3423" name="Google Shape;3423;p160"/>
          <p:cNvSpPr/>
          <p:nvPr/>
        </p:nvSpPr>
        <p:spPr>
          <a:xfrm>
            <a:off x="841248" y="420624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DELIVERABLE</a:t>
            </a:r>
            <a:endParaRPr sz="1100"/>
          </a:p>
        </p:txBody>
      </p:sp>
      <p:sp>
        <p:nvSpPr>
          <p:cNvPr id="3424" name="Google Shape;3424;p160"/>
          <p:cNvSpPr/>
          <p:nvPr/>
        </p:nvSpPr>
        <p:spPr>
          <a:xfrm>
            <a:off x="841248" y="4498848"/>
            <a:ext cx="3383280"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 pre/post fit plot, donor-weight table, placebo distribution, and a sensitivity-based tobacco-policy verdict.</a:t>
            </a:r>
            <a:endParaRPr sz="1250"/>
          </a:p>
        </p:txBody>
      </p:sp>
      <p:sp>
        <p:nvSpPr>
          <p:cNvPr id="3425" name="Google Shape;3425;p160"/>
          <p:cNvSpPr/>
          <p:nvPr/>
        </p:nvSpPr>
        <p:spPr>
          <a:xfrm>
            <a:off x="4864608" y="2029968"/>
            <a:ext cx="676015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STEPS</a:t>
            </a:r>
            <a:endParaRPr sz="1100"/>
          </a:p>
        </p:txBody>
      </p:sp>
      <p:sp>
        <p:nvSpPr>
          <p:cNvPr id="3426" name="Google Shape;3426;p160"/>
          <p:cNvSpPr/>
          <p:nvPr/>
        </p:nvSpPr>
        <p:spPr>
          <a:xfrm>
            <a:off x="4864608" y="23957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160"/>
          <p:cNvSpPr/>
          <p:nvPr/>
        </p:nvSpPr>
        <p:spPr>
          <a:xfrm>
            <a:off x="4864608" y="23957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1</a:t>
            </a:r>
            <a:endParaRPr sz="1300"/>
          </a:p>
        </p:txBody>
      </p:sp>
      <p:sp>
        <p:nvSpPr>
          <p:cNvPr id="3428" name="Google Shape;3428;p160"/>
          <p:cNvSpPr/>
          <p:nvPr/>
        </p:nvSpPr>
        <p:spPr>
          <a:xfrm>
            <a:off x="5413248" y="23774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Plot California and candidate donors; justify exclusions before optimizing weights.</a:t>
            </a:r>
            <a:endParaRPr sz="1250"/>
          </a:p>
        </p:txBody>
      </p:sp>
      <p:sp>
        <p:nvSpPr>
          <p:cNvPr id="3429" name="Google Shape;3429;p160"/>
          <p:cNvSpPr/>
          <p:nvPr/>
        </p:nvSpPr>
        <p:spPr>
          <a:xfrm>
            <a:off x="4864608" y="2982468"/>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160"/>
          <p:cNvSpPr/>
          <p:nvPr/>
        </p:nvSpPr>
        <p:spPr>
          <a:xfrm>
            <a:off x="4864608" y="29824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2</a:t>
            </a:r>
            <a:endParaRPr sz="1300"/>
          </a:p>
        </p:txBody>
      </p:sp>
      <p:sp>
        <p:nvSpPr>
          <p:cNvPr id="3431" name="Google Shape;3431;p160"/>
          <p:cNvSpPr/>
          <p:nvPr/>
        </p:nvSpPr>
        <p:spPr>
          <a:xfrm>
            <a:off x="5413248" y="296418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Fit donor weights on the pre-1989 period and report pre-treatment RMSPE.</a:t>
            </a:r>
            <a:endParaRPr sz="1250"/>
          </a:p>
        </p:txBody>
      </p:sp>
      <p:sp>
        <p:nvSpPr>
          <p:cNvPr id="3432" name="Google Shape;3432;p160"/>
          <p:cNvSpPr/>
          <p:nvPr/>
        </p:nvSpPr>
        <p:spPr>
          <a:xfrm>
            <a:off x="4864608" y="3569208"/>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160"/>
          <p:cNvSpPr/>
          <p:nvPr/>
        </p:nvSpPr>
        <p:spPr>
          <a:xfrm>
            <a:off x="4864608" y="35692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3</a:t>
            </a:r>
            <a:endParaRPr sz="1300"/>
          </a:p>
        </p:txBody>
      </p:sp>
      <p:sp>
        <p:nvSpPr>
          <p:cNvPr id="3434" name="Google Shape;3434;p160"/>
          <p:cNvSpPr/>
          <p:nvPr/>
        </p:nvSpPr>
        <p:spPr>
          <a:xfrm>
            <a:off x="5413248" y="355092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Plot the observed-minus-synthetic gap through 2000 and summarize the post-period effect.</a:t>
            </a:r>
            <a:endParaRPr sz="1250"/>
          </a:p>
        </p:txBody>
      </p:sp>
      <p:sp>
        <p:nvSpPr>
          <p:cNvPr id="3435" name="Google Shape;3435;p160"/>
          <p:cNvSpPr/>
          <p:nvPr/>
        </p:nvSpPr>
        <p:spPr>
          <a:xfrm>
            <a:off x="4864608" y="4155948"/>
            <a:ext cx="384048" cy="384048"/>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160"/>
          <p:cNvSpPr/>
          <p:nvPr/>
        </p:nvSpPr>
        <p:spPr>
          <a:xfrm>
            <a:off x="4864608" y="41559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4</a:t>
            </a:r>
            <a:endParaRPr sz="1300"/>
          </a:p>
        </p:txBody>
      </p:sp>
      <p:sp>
        <p:nvSpPr>
          <p:cNvPr id="3437" name="Google Shape;3437;p160"/>
          <p:cNvSpPr/>
          <p:nvPr/>
        </p:nvSpPr>
        <p:spPr>
          <a:xfrm>
            <a:off x="5413248" y="413766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Run placebo-in-space estimates and compare post/pre RMSPE ratios.</a:t>
            </a:r>
            <a:endParaRPr sz="1250"/>
          </a:p>
        </p:txBody>
      </p:sp>
      <p:sp>
        <p:nvSpPr>
          <p:cNvPr id="3438" name="Google Shape;3438;p160"/>
          <p:cNvSpPr/>
          <p:nvPr/>
        </p:nvSpPr>
        <p:spPr>
          <a:xfrm>
            <a:off x="4864608" y="4742688"/>
            <a:ext cx="384048" cy="384048"/>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160"/>
          <p:cNvSpPr/>
          <p:nvPr/>
        </p:nvSpPr>
        <p:spPr>
          <a:xfrm>
            <a:off x="4864608" y="47426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5</a:t>
            </a:r>
            <a:endParaRPr sz="1300"/>
          </a:p>
        </p:txBody>
      </p:sp>
      <p:sp>
        <p:nvSpPr>
          <p:cNvPr id="3440" name="Google Shape;3440;p160"/>
          <p:cNvSpPr/>
          <p:nvPr/>
        </p:nvSpPr>
        <p:spPr>
          <a:xfrm>
            <a:off x="5413248" y="472440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Repeat after removing the largest donor weight; explain any instability.</a:t>
            </a:r>
            <a:endParaRPr sz="1250"/>
          </a:p>
        </p:txBody>
      </p:sp>
      <p:sp>
        <p:nvSpPr>
          <p:cNvPr id="3441" name="Google Shape;3441;p160"/>
          <p:cNvSpPr/>
          <p:nvPr/>
        </p:nvSpPr>
        <p:spPr>
          <a:xfrm>
            <a:off x="4864608" y="53294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160"/>
          <p:cNvSpPr/>
          <p:nvPr/>
        </p:nvSpPr>
        <p:spPr>
          <a:xfrm>
            <a:off x="4864608" y="53294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6</a:t>
            </a:r>
            <a:endParaRPr sz="1300"/>
          </a:p>
        </p:txBody>
      </p:sp>
      <p:sp>
        <p:nvSpPr>
          <p:cNvPr id="3443" name="Google Shape;3443;p160"/>
          <p:cNvSpPr/>
          <p:nvPr/>
        </p:nvSpPr>
        <p:spPr>
          <a:xfrm>
            <a:off x="5413248" y="53111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Compare with a simple DiD and state which assumptions drive the difference.</a:t>
            </a:r>
            <a:endParaRPr sz="1250"/>
          </a:p>
        </p:txBody>
      </p:sp>
      <p:sp>
        <p:nvSpPr>
          <p:cNvPr id="3444" name="Google Shape;3444;p16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   ·   OPEN-DATA CASE STUDIO</a:t>
            </a:r>
            <a:endParaRPr sz="900"/>
          </a:p>
        </p:txBody>
      </p:sp>
      <p:sp>
        <p:nvSpPr>
          <p:cNvPr id="3445" name="Google Shape;3445;p16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187  /  268</a:t>
            </a:r>
            <a:endParaRPr sz="900"/>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0" name="Shape 3450"/>
        <p:cNvGrpSpPr/>
        <p:nvPr/>
      </p:nvGrpSpPr>
      <p:grpSpPr>
        <a:xfrm>
          <a:off x="0" y="0"/>
          <a:ext cx="0" cy="0"/>
          <a:chOff x="0" y="0"/>
          <a:chExt cx="0" cy="0"/>
        </a:xfrm>
      </p:grpSpPr>
      <p:sp>
        <p:nvSpPr>
          <p:cNvPr id="3451" name="Google Shape;3451;p16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CASE STUDIO · OPEN DATA</a:t>
            </a:r>
            <a:endParaRPr sz="1200"/>
          </a:p>
        </p:txBody>
      </p:sp>
      <p:sp>
        <p:nvSpPr>
          <p:cNvPr id="3452" name="Google Shape;3452;p16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Open Datasets You Can Reuse</a:t>
            </a:r>
            <a:endParaRPr sz="3400"/>
          </a:p>
        </p:txBody>
      </p:sp>
      <p:graphicFrame>
        <p:nvGraphicFramePr>
          <p:cNvPr id="3453" name="Google Shape;3453;p161"/>
          <p:cNvGraphicFramePr/>
          <p:nvPr/>
        </p:nvGraphicFramePr>
        <p:xfrm>
          <a:off x="566928" y="1783080"/>
          <a:ext cx="3000000" cy="3000000"/>
        </p:xfrm>
        <a:graphic>
          <a:graphicData uri="http://schemas.openxmlformats.org/drawingml/2006/table">
            <a:tbl>
              <a:tblPr>
                <a:noFill/>
                <a:tableStyleId>{B3C4230F-BFAA-4733-B5D7-E1172E9C1B61}</a:tableStyleId>
              </a:tblPr>
              <a:tblGrid>
                <a:gridCol w="2011675"/>
                <a:gridCol w="4572000"/>
                <a:gridCol w="4489700"/>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Dataset</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Design &amp; scale</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Best teaching use</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Criteo Uplift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Randomized; 13.98M rows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ITT, exposure, uplift, CATE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AER::STAR</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Blocked RCT; 11,598 × 47</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Units, hierarchy, attrition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MatchIt::lalonde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Observational; 614 × 9</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Matching, overlap, ATT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did::mpdta</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Panel; 2,500 × 6</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Staggered DiD, event study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NBER Oregon HIE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Lottery; public-use files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ITT, IV/LATE, preregistration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synthdid::Prop99</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Panel; 1,209 × 4</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Synthetic control, placebos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bl>
          </a:graphicData>
        </a:graphic>
      </p:graphicFrame>
      <p:sp>
        <p:nvSpPr>
          <p:cNvPr id="3454" name="Google Shape;3454;p16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   ·   OPEN-DATA CASE STUDIO</a:t>
            </a:r>
            <a:endParaRPr sz="900"/>
          </a:p>
        </p:txBody>
      </p:sp>
      <p:sp>
        <p:nvSpPr>
          <p:cNvPr id="3455" name="Google Shape;3455;p16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188  /  268</a:t>
            </a:r>
            <a:endParaRPr sz="900"/>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0" name="Shape 3460"/>
        <p:cNvGrpSpPr/>
        <p:nvPr/>
      </p:nvGrpSpPr>
      <p:grpSpPr>
        <a:xfrm>
          <a:off x="0" y="0"/>
          <a:ext cx="0" cy="0"/>
          <a:chOff x="0" y="0"/>
          <a:chExt cx="0" cy="0"/>
        </a:xfrm>
      </p:grpSpPr>
      <p:sp>
        <p:nvSpPr>
          <p:cNvPr id="3461" name="Google Shape;3461;p16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CASE STUDIO · FACILITATION</a:t>
            </a:r>
            <a:endParaRPr sz="1200"/>
          </a:p>
        </p:txBody>
      </p:sp>
      <p:sp>
        <p:nvSpPr>
          <p:cNvPr id="3462" name="Google Shape;3462;p16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Scale Any Case to the Time Available</a:t>
            </a:r>
            <a:endParaRPr sz="3400"/>
          </a:p>
        </p:txBody>
      </p:sp>
      <p:sp>
        <p:nvSpPr>
          <p:cNvPr id="3463" name="Google Shape;3463;p162"/>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Protect the reasoning gates even when code time is short.</a:t>
            </a:r>
            <a:endParaRPr sz="1450"/>
          </a:p>
        </p:txBody>
      </p:sp>
      <p:sp>
        <p:nvSpPr>
          <p:cNvPr id="3464" name="Google Shape;3464;p162"/>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162"/>
          <p:cNvSpPr/>
          <p:nvPr/>
        </p:nvSpPr>
        <p:spPr>
          <a:xfrm>
            <a:off x="841248" y="2514600"/>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15 min · Assumption hunt — name the estimand, draw the assignment story, and identify the load-bearing assumption.</a:t>
            </a:r>
            <a:endParaRPr sz="1400"/>
          </a:p>
        </p:txBody>
      </p:sp>
      <p:sp>
        <p:nvSpPr>
          <p:cNvPr id="3466" name="Google Shape;3466;p162"/>
          <p:cNvSpPr/>
          <p:nvPr/>
        </p:nvSpPr>
        <p:spPr>
          <a:xfrm>
            <a:off x="566928" y="3300984"/>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162"/>
          <p:cNvSpPr/>
          <p:nvPr/>
        </p:nvSpPr>
        <p:spPr>
          <a:xfrm>
            <a:off x="841248" y="3236976"/>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30 min · Diagnostic sprint — inspect balance, overlap, pre-trends, first stage, or pre-fit; issue a credibility gate.</a:t>
            </a:r>
            <a:endParaRPr sz="1400"/>
          </a:p>
        </p:txBody>
      </p:sp>
      <p:sp>
        <p:nvSpPr>
          <p:cNvPr id="3468" name="Google Shape;3468;p162"/>
          <p:cNvSpPr/>
          <p:nvPr/>
        </p:nvSpPr>
        <p:spPr>
          <a:xfrm>
            <a:off x="566928" y="4023360"/>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162"/>
          <p:cNvSpPr/>
          <p:nvPr/>
        </p:nvSpPr>
        <p:spPr>
          <a:xfrm>
            <a:off x="841248" y="3959352"/>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50 min · Core analysis — estimate one effect with correct uncertainty and write a decision paragraph.</a:t>
            </a:r>
            <a:endParaRPr sz="1400"/>
          </a:p>
        </p:txBody>
      </p:sp>
      <p:sp>
        <p:nvSpPr>
          <p:cNvPr id="3470" name="Google Shape;3470;p162"/>
          <p:cNvSpPr/>
          <p:nvPr/>
        </p:nvSpPr>
        <p:spPr>
          <a:xfrm>
            <a:off x="566928" y="4745736"/>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162"/>
          <p:cNvSpPr/>
          <p:nvPr/>
        </p:nvSpPr>
        <p:spPr>
          <a:xfrm>
            <a:off x="841248" y="4681728"/>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90 min · Decision lab — add falsification or sensitivity, reconcile a second method, and present to a skeptical board.</a:t>
            </a:r>
            <a:endParaRPr sz="1400"/>
          </a:p>
        </p:txBody>
      </p:sp>
      <p:sp>
        <p:nvSpPr>
          <p:cNvPr id="3472" name="Google Shape;3472;p162"/>
          <p:cNvSpPr/>
          <p:nvPr/>
        </p:nvSpPr>
        <p:spPr>
          <a:xfrm>
            <a:off x="566928" y="5468112"/>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162"/>
          <p:cNvSpPr/>
          <p:nvPr/>
        </p:nvSpPr>
        <p:spPr>
          <a:xfrm>
            <a:off x="841248" y="5404104"/>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Debrief rule — teams state the estimand and identifying assumption before revealing the estimate.</a:t>
            </a:r>
            <a:endParaRPr sz="1400"/>
          </a:p>
        </p:txBody>
      </p:sp>
      <p:sp>
        <p:nvSpPr>
          <p:cNvPr id="3474" name="Google Shape;3474;p16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   ·   OPEN-DATA CASE STUDIO</a:t>
            </a:r>
            <a:endParaRPr sz="900"/>
          </a:p>
        </p:txBody>
      </p:sp>
      <p:sp>
        <p:nvSpPr>
          <p:cNvPr id="3475" name="Google Shape;3475;p16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189  /  268</a:t>
            </a:r>
            <a:endParaRPr sz="900"/>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80" name="Shape 3480"/>
        <p:cNvGrpSpPr/>
        <p:nvPr/>
      </p:nvGrpSpPr>
      <p:grpSpPr>
        <a:xfrm>
          <a:off x="0" y="0"/>
          <a:ext cx="0" cy="0"/>
          <a:chOff x="0" y="0"/>
          <a:chExt cx="0" cy="0"/>
        </a:xfrm>
      </p:grpSpPr>
      <p:sp>
        <p:nvSpPr>
          <p:cNvPr id="3481" name="Google Shape;3481;p16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CASE STUDIO · CAPSTONE BRIDGE</a:t>
            </a:r>
            <a:endParaRPr sz="1200"/>
          </a:p>
        </p:txBody>
      </p:sp>
      <p:sp>
        <p:nvSpPr>
          <p:cNvPr id="3482" name="Google Shape;3482;p16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Offer an Open-Data Capstone Path</a:t>
            </a:r>
            <a:endParaRPr sz="3400"/>
          </a:p>
        </p:txBody>
      </p:sp>
      <p:sp>
        <p:nvSpPr>
          <p:cNvPr id="3483" name="Google Shape;3483;p163"/>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Keep Injaz as the default assessment; use these alternatives for transfer, make-up work, or advanced cohorts.</a:t>
            </a:r>
            <a:endParaRPr sz="1450"/>
          </a:p>
        </p:txBody>
      </p:sp>
      <p:sp>
        <p:nvSpPr>
          <p:cNvPr id="3484" name="Google Shape;3484;p163"/>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163"/>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Experiment pathway</a:t>
            </a:r>
            <a:endParaRPr sz="1500"/>
          </a:p>
        </p:txBody>
      </p:sp>
      <p:sp>
        <p:nvSpPr>
          <p:cNvPr id="3486" name="Google Shape;3486;p163"/>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Criteo or STAR: design-aware ITT, integrity checks, correct uncertainty, and an operational decision.</a:t>
            </a:r>
            <a:endParaRPr sz="1250"/>
          </a:p>
        </p:txBody>
      </p:sp>
      <p:sp>
        <p:nvSpPr>
          <p:cNvPr id="3487" name="Google Shape;3487;p163"/>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163"/>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Quasi-experiment pathway</a:t>
            </a:r>
            <a:endParaRPr sz="1500"/>
          </a:p>
        </p:txBody>
      </p:sp>
      <p:sp>
        <p:nvSpPr>
          <p:cNvPr id="3489" name="Google Shape;3489;p163"/>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LaLonde, mpdta, or Prop99: explicit identification, diagnostic gate, sensitivity or placebo, and bounded claim.</a:t>
            </a:r>
            <a:endParaRPr sz="1250"/>
          </a:p>
        </p:txBody>
      </p:sp>
      <p:sp>
        <p:nvSpPr>
          <p:cNvPr id="3490" name="Google Shape;3490;p163"/>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163"/>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Encouragement pathway</a:t>
            </a:r>
            <a:endParaRPr sz="1500"/>
          </a:p>
        </p:txBody>
      </p:sp>
      <p:sp>
        <p:nvSpPr>
          <p:cNvPr id="3492" name="Google Shape;3492;p163"/>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Oregon HIE: ITT, first stage, LATE, instrument defence, and separate recommendations for offer and receipt.</a:t>
            </a:r>
            <a:endParaRPr sz="1250"/>
          </a:p>
        </p:txBody>
      </p:sp>
      <p:sp>
        <p:nvSpPr>
          <p:cNvPr id="3493" name="Google Shape;3493;p163"/>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163"/>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NON-NEGOTIABLE EVIDENCE</a:t>
            </a:r>
            <a:endParaRPr sz="1100"/>
          </a:p>
        </p:txBody>
      </p:sp>
      <p:sp>
        <p:nvSpPr>
          <p:cNvPr id="3495" name="Google Shape;3495;p163"/>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350">
                <a:solidFill>
                  <a:srgbClr val="16233F"/>
                </a:solidFill>
                <a:latin typeface="Calibri"/>
                <a:ea typeface="Calibri"/>
                <a:cs typeface="Calibri"/>
                <a:sym typeface="Calibri"/>
              </a:rPr>
              <a:t>Every pathway submits the same spine: frozen question → estimand → design → estimate + CI → diagnostic → assumption risk → what would change the decision.</a:t>
            </a:r>
            <a:endParaRPr sz="1350"/>
          </a:p>
        </p:txBody>
      </p:sp>
      <p:sp>
        <p:nvSpPr>
          <p:cNvPr id="3496" name="Google Shape;3496;p16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   ·   OPEN-DATA CASE STUDIO</a:t>
            </a:r>
            <a:endParaRPr sz="900"/>
          </a:p>
        </p:txBody>
      </p:sp>
      <p:sp>
        <p:nvSpPr>
          <p:cNvPr id="3497" name="Google Shape;3497;p16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190  /  268</a:t>
            </a:r>
            <a:endParaRPr sz="900"/>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502" name="Shape 3502"/>
        <p:cNvGrpSpPr/>
        <p:nvPr/>
      </p:nvGrpSpPr>
      <p:grpSpPr>
        <a:xfrm>
          <a:off x="0" y="0"/>
          <a:ext cx="0" cy="0"/>
          <a:chOff x="0" y="0"/>
          <a:chExt cx="0" cy="0"/>
        </a:xfrm>
      </p:grpSpPr>
      <p:sp>
        <p:nvSpPr>
          <p:cNvPr id="3503" name="Google Shape;3503;p164"/>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4 · HOUR 4</a:t>
            </a:r>
            <a:endParaRPr sz="1300"/>
          </a:p>
        </p:txBody>
      </p:sp>
      <p:sp>
        <p:nvSpPr>
          <p:cNvPr id="3504" name="Google Shape;3504;p164"/>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Capstone Project</a:t>
            </a:r>
            <a:endParaRPr sz="4000"/>
          </a:p>
        </p:txBody>
      </p:sp>
      <p:sp>
        <p:nvSpPr>
          <p:cNvPr id="3505" name="Google Shape;3505;p164"/>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Integrate the whole course: define an estimand, choose and defend a design, estimate with valid uncertainty, and report a decision.</a:t>
            </a:r>
            <a:endParaRPr sz="1500"/>
          </a:p>
        </p:txBody>
      </p:sp>
      <p:cxnSp>
        <p:nvCxnSpPr>
          <p:cNvPr id="3506" name="Google Shape;3506;p164"/>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3507" name="Google Shape;3507;p16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4</a:t>
            </a:r>
            <a:endParaRPr sz="900"/>
          </a:p>
        </p:txBody>
      </p:sp>
      <p:sp>
        <p:nvSpPr>
          <p:cNvPr id="3508" name="Google Shape;3508;p16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191  /  268</a:t>
            </a:r>
            <a:endParaRPr sz="900"/>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513" name="Shape 3513"/>
        <p:cNvGrpSpPr/>
        <p:nvPr/>
      </p:nvGrpSpPr>
      <p:grpSpPr>
        <a:xfrm>
          <a:off x="0" y="0"/>
          <a:ext cx="0" cy="0"/>
          <a:chOff x="0" y="0"/>
          <a:chExt cx="0" cy="0"/>
        </a:xfrm>
      </p:grpSpPr>
      <p:sp>
        <p:nvSpPr>
          <p:cNvPr id="3514" name="Google Shape;3514;p165"/>
          <p:cNvSpPr/>
          <p:nvPr/>
        </p:nvSpPr>
        <p:spPr>
          <a:xfrm>
            <a:off x="566928" y="50292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200"/>
              <a:buFont typeface="Calibri"/>
              <a:buNone/>
            </a:pPr>
            <a:r>
              <a:rPr b="1" lang="en-US" sz="1200">
                <a:solidFill>
                  <a:srgbClr val="70C8F2"/>
                </a:solidFill>
                <a:latin typeface="Calibri"/>
                <a:ea typeface="Calibri"/>
                <a:cs typeface="Calibri"/>
                <a:sym typeface="Calibri"/>
              </a:rPr>
              <a:t>DAY 4 · CAPSTONE</a:t>
            </a:r>
            <a:endParaRPr sz="1200"/>
          </a:p>
        </p:txBody>
      </p:sp>
      <p:sp>
        <p:nvSpPr>
          <p:cNvPr id="3515" name="Google Shape;3515;p165"/>
          <p:cNvSpPr/>
          <p:nvPr/>
        </p:nvSpPr>
        <p:spPr>
          <a:xfrm>
            <a:off x="566928" y="868680"/>
            <a:ext cx="11057839"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Design, Estimate, Defend</a:t>
            </a:r>
            <a:endParaRPr sz="3000"/>
          </a:p>
        </p:txBody>
      </p:sp>
      <p:sp>
        <p:nvSpPr>
          <p:cNvPr id="3516" name="Google Shape;3516;p165"/>
          <p:cNvSpPr/>
          <p:nvPr/>
        </p:nvSpPr>
        <p:spPr>
          <a:xfrm>
            <a:off x="566928" y="2011680"/>
            <a:ext cx="3931920" cy="3931920"/>
          </a:xfrm>
          <a:prstGeom prst="roundRect">
            <a:avLst>
              <a:gd fmla="val 2326" name="adj"/>
            </a:avLst>
          </a:prstGeom>
          <a:solidFill>
            <a:srgbClr val="1C2E4E"/>
          </a:solidFill>
          <a:ln cap="flat" cmpd="sng" w="12700">
            <a:solidFill>
              <a:srgbClr val="2A3E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165"/>
          <p:cNvSpPr/>
          <p:nvPr/>
        </p:nvSpPr>
        <p:spPr>
          <a:xfrm>
            <a:off x="841248" y="224028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OBJECTIVE</a:t>
            </a:r>
            <a:endParaRPr sz="1100"/>
          </a:p>
        </p:txBody>
      </p:sp>
      <p:sp>
        <p:nvSpPr>
          <p:cNvPr id="3518" name="Google Shape;3518;p165"/>
          <p:cNvSpPr/>
          <p:nvPr/>
        </p:nvSpPr>
        <p:spPr>
          <a:xfrm>
            <a:off x="841248" y="2542032"/>
            <a:ext cx="3383280" cy="128016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9DAF0"/>
              </a:buClr>
              <a:buSzPts val="1300"/>
              <a:buFont typeface="Calibri"/>
              <a:buNone/>
            </a:pPr>
            <a:r>
              <a:rPr lang="en-US" sz="1300">
                <a:solidFill>
                  <a:srgbClr val="C9DAF0"/>
                </a:solidFill>
                <a:latin typeface="Calibri"/>
                <a:ea typeface="Calibri"/>
                <a:cs typeface="Calibri"/>
                <a:sym typeface="Calibri"/>
              </a:rPr>
              <a:t>On a provided realistic dataset with a business or policy question, deliver an end-to-end causal analysis that a decision-maker could act on — with every assumption made explicit.</a:t>
            </a:r>
            <a:endParaRPr sz="1300"/>
          </a:p>
        </p:txBody>
      </p:sp>
      <p:sp>
        <p:nvSpPr>
          <p:cNvPr id="3519" name="Google Shape;3519;p165"/>
          <p:cNvSpPr/>
          <p:nvPr/>
        </p:nvSpPr>
        <p:spPr>
          <a:xfrm>
            <a:off x="841248" y="4206240"/>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DELIVERABLE</a:t>
            </a:r>
            <a:endParaRPr sz="1100"/>
          </a:p>
        </p:txBody>
      </p:sp>
      <p:sp>
        <p:nvSpPr>
          <p:cNvPr id="3520" name="Google Shape;3520;p165"/>
          <p:cNvSpPr/>
          <p:nvPr/>
        </p:nvSpPr>
        <p:spPr>
          <a:xfrm>
            <a:off x="841248" y="4498848"/>
            <a:ext cx="3383280"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 notebook + a two-page decision memo: estimand, DAG, design, estimate with interval, diagnostics, sensitivity analysis, and a clear recommendation.</a:t>
            </a:r>
            <a:endParaRPr sz="1250"/>
          </a:p>
        </p:txBody>
      </p:sp>
      <p:sp>
        <p:nvSpPr>
          <p:cNvPr id="3521" name="Google Shape;3521;p165"/>
          <p:cNvSpPr/>
          <p:nvPr/>
        </p:nvSpPr>
        <p:spPr>
          <a:xfrm>
            <a:off x="4864608" y="2029968"/>
            <a:ext cx="676015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STEPS</a:t>
            </a:r>
            <a:endParaRPr sz="1100"/>
          </a:p>
        </p:txBody>
      </p:sp>
      <p:sp>
        <p:nvSpPr>
          <p:cNvPr id="3522" name="Google Shape;3522;p165"/>
          <p:cNvSpPr/>
          <p:nvPr/>
        </p:nvSpPr>
        <p:spPr>
          <a:xfrm>
            <a:off x="4864608" y="23957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165"/>
          <p:cNvSpPr/>
          <p:nvPr/>
        </p:nvSpPr>
        <p:spPr>
          <a:xfrm>
            <a:off x="4864608" y="23957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1</a:t>
            </a:r>
            <a:endParaRPr sz="1300"/>
          </a:p>
        </p:txBody>
      </p:sp>
      <p:sp>
        <p:nvSpPr>
          <p:cNvPr id="3524" name="Google Shape;3524;p165"/>
          <p:cNvSpPr/>
          <p:nvPr/>
        </p:nvSpPr>
        <p:spPr>
          <a:xfrm>
            <a:off x="5413248" y="23774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State the decision and translate it into a precise estimand and target population.</a:t>
            </a:r>
            <a:endParaRPr sz="1250"/>
          </a:p>
        </p:txBody>
      </p:sp>
      <p:sp>
        <p:nvSpPr>
          <p:cNvPr id="3525" name="Google Shape;3525;p165"/>
          <p:cNvSpPr/>
          <p:nvPr/>
        </p:nvSpPr>
        <p:spPr>
          <a:xfrm>
            <a:off x="4864608" y="2982468"/>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165"/>
          <p:cNvSpPr/>
          <p:nvPr/>
        </p:nvSpPr>
        <p:spPr>
          <a:xfrm>
            <a:off x="4864608" y="29824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2</a:t>
            </a:r>
            <a:endParaRPr sz="1300"/>
          </a:p>
        </p:txBody>
      </p:sp>
      <p:sp>
        <p:nvSpPr>
          <p:cNvPr id="3527" name="Google Shape;3527;p165"/>
          <p:cNvSpPr/>
          <p:nvPr/>
        </p:nvSpPr>
        <p:spPr>
          <a:xfrm>
            <a:off x="5413248" y="296418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Draw the DAG; justify the identification strategy (experiment, adjustment, or quasi-experiment).</a:t>
            </a:r>
            <a:endParaRPr sz="1250"/>
          </a:p>
        </p:txBody>
      </p:sp>
      <p:sp>
        <p:nvSpPr>
          <p:cNvPr id="3528" name="Google Shape;3528;p165"/>
          <p:cNvSpPr/>
          <p:nvPr/>
        </p:nvSpPr>
        <p:spPr>
          <a:xfrm>
            <a:off x="4864608" y="3569208"/>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165"/>
          <p:cNvSpPr/>
          <p:nvPr/>
        </p:nvSpPr>
        <p:spPr>
          <a:xfrm>
            <a:off x="4864608" y="35692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3</a:t>
            </a:r>
            <a:endParaRPr sz="1300"/>
          </a:p>
        </p:txBody>
      </p:sp>
      <p:sp>
        <p:nvSpPr>
          <p:cNvPr id="3530" name="Google Shape;3530;p165"/>
          <p:cNvSpPr/>
          <p:nvPr/>
        </p:nvSpPr>
        <p:spPr>
          <a:xfrm>
            <a:off x="5413248" y="355092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Run overlap, balance, and pre-trend / placebo diagnostics appropriate to the design.</a:t>
            </a:r>
            <a:endParaRPr sz="1250"/>
          </a:p>
        </p:txBody>
      </p:sp>
      <p:sp>
        <p:nvSpPr>
          <p:cNvPr id="3531" name="Google Shape;3531;p165"/>
          <p:cNvSpPr/>
          <p:nvPr/>
        </p:nvSpPr>
        <p:spPr>
          <a:xfrm>
            <a:off x="4864608" y="4155948"/>
            <a:ext cx="384048" cy="384048"/>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165"/>
          <p:cNvSpPr/>
          <p:nvPr/>
        </p:nvSpPr>
        <p:spPr>
          <a:xfrm>
            <a:off x="4864608" y="41559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4</a:t>
            </a:r>
            <a:endParaRPr sz="1300"/>
          </a:p>
        </p:txBody>
      </p:sp>
      <p:sp>
        <p:nvSpPr>
          <p:cNvPr id="3533" name="Google Shape;3533;p165"/>
          <p:cNvSpPr/>
          <p:nvPr/>
        </p:nvSpPr>
        <p:spPr>
          <a:xfrm>
            <a:off x="5413248" y="413766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Estimate the effect with a design-matched standard error and an honest interval.</a:t>
            </a:r>
            <a:endParaRPr sz="1250"/>
          </a:p>
        </p:txBody>
      </p:sp>
      <p:sp>
        <p:nvSpPr>
          <p:cNvPr id="3534" name="Google Shape;3534;p165"/>
          <p:cNvSpPr/>
          <p:nvPr/>
        </p:nvSpPr>
        <p:spPr>
          <a:xfrm>
            <a:off x="4864608" y="4742688"/>
            <a:ext cx="384048" cy="384048"/>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165"/>
          <p:cNvSpPr/>
          <p:nvPr/>
        </p:nvSpPr>
        <p:spPr>
          <a:xfrm>
            <a:off x="4864608" y="47426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5</a:t>
            </a:r>
            <a:endParaRPr sz="1300"/>
          </a:p>
        </p:txBody>
      </p:sp>
      <p:sp>
        <p:nvSpPr>
          <p:cNvPr id="3536" name="Google Shape;3536;p165"/>
          <p:cNvSpPr/>
          <p:nvPr/>
        </p:nvSpPr>
        <p:spPr>
          <a:xfrm>
            <a:off x="5413248" y="472440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Perform a sensitivity analysis (E-value or bounds) and a robustness check.</a:t>
            </a:r>
            <a:endParaRPr sz="1250"/>
          </a:p>
        </p:txBody>
      </p:sp>
      <p:sp>
        <p:nvSpPr>
          <p:cNvPr id="3537" name="Google Shape;3537;p165"/>
          <p:cNvSpPr/>
          <p:nvPr/>
        </p:nvSpPr>
        <p:spPr>
          <a:xfrm>
            <a:off x="4864608" y="5329428"/>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165"/>
          <p:cNvSpPr/>
          <p:nvPr/>
        </p:nvSpPr>
        <p:spPr>
          <a:xfrm>
            <a:off x="4864608" y="53294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6</a:t>
            </a:r>
            <a:endParaRPr sz="1300"/>
          </a:p>
        </p:txBody>
      </p:sp>
      <p:sp>
        <p:nvSpPr>
          <p:cNvPr id="3539" name="Google Shape;3539;p165"/>
          <p:cNvSpPr/>
          <p:nvPr/>
        </p:nvSpPr>
        <p:spPr>
          <a:xfrm>
            <a:off x="5413248" y="5311140"/>
            <a:ext cx="6211519" cy="5867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Write the decision memo: recommendation, the key assumption, and how the call would change if it failed.</a:t>
            </a:r>
            <a:endParaRPr sz="1250"/>
          </a:p>
        </p:txBody>
      </p:sp>
      <p:sp>
        <p:nvSpPr>
          <p:cNvPr id="3540" name="Google Shape;3540;p16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4 · CAPSTONE</a:t>
            </a:r>
            <a:endParaRPr sz="900"/>
          </a:p>
        </p:txBody>
      </p:sp>
      <p:sp>
        <p:nvSpPr>
          <p:cNvPr id="3541" name="Google Shape;3541;p16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192  /  268</a:t>
            </a:r>
            <a:endParaRPr sz="900"/>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46" name="Shape 3546"/>
        <p:cNvGrpSpPr/>
        <p:nvPr/>
      </p:nvGrpSpPr>
      <p:grpSpPr>
        <a:xfrm>
          <a:off x="0" y="0"/>
          <a:ext cx="0" cy="0"/>
          <a:chOff x="0" y="0"/>
          <a:chExt cx="0" cy="0"/>
        </a:xfrm>
      </p:grpSpPr>
      <p:sp>
        <p:nvSpPr>
          <p:cNvPr id="3547" name="Google Shape;3547;p16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CAPSTONE</a:t>
            </a:r>
            <a:endParaRPr sz="1200"/>
          </a:p>
        </p:txBody>
      </p:sp>
      <p:sp>
        <p:nvSpPr>
          <p:cNvPr id="3548" name="Google Shape;3548;p16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Capstone Rubric</a:t>
            </a:r>
            <a:endParaRPr sz="3400"/>
          </a:p>
        </p:txBody>
      </p:sp>
      <p:sp>
        <p:nvSpPr>
          <p:cNvPr id="3549" name="Google Shape;3549;p166"/>
          <p:cNvSpPr/>
          <p:nvPr/>
        </p:nvSpPr>
        <p:spPr>
          <a:xfrm>
            <a:off x="566928" y="1783080"/>
            <a:ext cx="11057839"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350"/>
              <a:buFont typeface="Calibri"/>
              <a:buNone/>
            </a:pPr>
            <a:r>
              <a:rPr lang="en-US" sz="1350">
                <a:solidFill>
                  <a:srgbClr val="566581"/>
                </a:solidFill>
                <a:latin typeface="Calibri"/>
                <a:ea typeface="Calibri"/>
                <a:cs typeface="Calibri"/>
                <a:sym typeface="Calibri"/>
              </a:rPr>
              <a:t>Scored against five weighted criteria; the memo and the diagnostics carry as much weight as the estimate.</a:t>
            </a:r>
            <a:endParaRPr sz="1350"/>
          </a:p>
        </p:txBody>
      </p:sp>
      <p:graphicFrame>
        <p:nvGraphicFramePr>
          <p:cNvPr id="3550" name="Google Shape;3550;p166"/>
          <p:cNvGraphicFramePr/>
          <p:nvPr/>
        </p:nvGraphicFramePr>
        <p:xfrm>
          <a:off x="566928" y="2331720"/>
          <a:ext cx="3000000" cy="3000000"/>
        </p:xfrm>
        <a:graphic>
          <a:graphicData uri="http://schemas.openxmlformats.org/drawingml/2006/table">
            <a:tbl>
              <a:tblPr>
                <a:noFill/>
                <a:tableStyleId>{B3C4230F-BFAA-4733-B5D7-E1172E9C1B61}</a:tableStyleId>
              </a:tblPr>
              <a:tblGrid>
                <a:gridCol w="3108950"/>
                <a:gridCol w="6501375"/>
                <a:gridCol w="1463050"/>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Criterion</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What excellence looks like</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Weight</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Estimand &amp; question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Precise, decision-relevant, correct population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15%</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Identification &amp; design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Assumptions explicit; design fits the constraints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25%</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Estimation &amp; inference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Correct estimator; design-matched, honest uncertainty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25%</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Diagnostics &amp; sensitivity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Overlap/balance/placebo + sensitivity reported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20%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Communication &amp; decision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Clear memo; risk owned; assumption-linked call</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15%</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bl>
          </a:graphicData>
        </a:graphic>
      </p:graphicFrame>
      <p:sp>
        <p:nvSpPr>
          <p:cNvPr id="3551" name="Google Shape;3551;p16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CAPSTONE</a:t>
            </a:r>
            <a:endParaRPr sz="900"/>
          </a:p>
        </p:txBody>
      </p:sp>
      <p:sp>
        <p:nvSpPr>
          <p:cNvPr id="3552" name="Google Shape;3552;p16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193  /  268</a:t>
            </a:r>
            <a:endParaRPr sz="900"/>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7" name="Shape 3557"/>
        <p:cNvGrpSpPr/>
        <p:nvPr/>
      </p:nvGrpSpPr>
      <p:grpSpPr>
        <a:xfrm>
          <a:off x="0" y="0"/>
          <a:ext cx="0" cy="0"/>
          <a:chOff x="0" y="0"/>
          <a:chExt cx="0" cy="0"/>
        </a:xfrm>
      </p:grpSpPr>
      <p:sp>
        <p:nvSpPr>
          <p:cNvPr id="3558" name="Google Shape;3558;p16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CAPSTONE</a:t>
            </a:r>
            <a:endParaRPr sz="1200"/>
          </a:p>
        </p:txBody>
      </p:sp>
      <p:sp>
        <p:nvSpPr>
          <p:cNvPr id="3559" name="Google Shape;3559;p16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Common Capstone Pitfalls to Avoid</a:t>
            </a:r>
            <a:endParaRPr sz="3400"/>
          </a:p>
        </p:txBody>
      </p:sp>
      <p:sp>
        <p:nvSpPr>
          <p:cNvPr id="3560" name="Google Shape;3560;p167"/>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mistakes that most often cost points — and credibility.</a:t>
            </a:r>
            <a:endParaRPr sz="1450"/>
          </a:p>
        </p:txBody>
      </p:sp>
      <p:sp>
        <p:nvSpPr>
          <p:cNvPr id="3561" name="Google Shape;3561;p167"/>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167"/>
          <p:cNvSpPr/>
          <p:nvPr/>
        </p:nvSpPr>
        <p:spPr>
          <a:xfrm>
            <a:off x="841248" y="2514600"/>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Reporting a naive comparison without naming the identifying assumption.</a:t>
            </a:r>
            <a:endParaRPr sz="1400"/>
          </a:p>
        </p:txBody>
      </p:sp>
      <p:sp>
        <p:nvSpPr>
          <p:cNvPr id="3563" name="Google Shape;3563;p167"/>
          <p:cNvSpPr/>
          <p:nvPr/>
        </p:nvSpPr>
        <p:spPr>
          <a:xfrm>
            <a:off x="566928" y="3300984"/>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167"/>
          <p:cNvSpPr/>
          <p:nvPr/>
        </p:nvSpPr>
        <p:spPr>
          <a:xfrm>
            <a:off x="841248" y="3236976"/>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Adjusting for a post-treatment variable (mediator or collider).</a:t>
            </a:r>
            <a:endParaRPr sz="1400"/>
          </a:p>
        </p:txBody>
      </p:sp>
      <p:sp>
        <p:nvSpPr>
          <p:cNvPr id="3565" name="Google Shape;3565;p167"/>
          <p:cNvSpPr/>
          <p:nvPr/>
        </p:nvSpPr>
        <p:spPr>
          <a:xfrm>
            <a:off x="566928" y="4023360"/>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167"/>
          <p:cNvSpPr/>
          <p:nvPr/>
        </p:nvSpPr>
        <p:spPr>
          <a:xfrm>
            <a:off x="841248" y="3959352"/>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 standard error that does not match the design (unclustered grouped data).</a:t>
            </a:r>
            <a:endParaRPr sz="1400"/>
          </a:p>
        </p:txBody>
      </p:sp>
      <p:sp>
        <p:nvSpPr>
          <p:cNvPr id="3567" name="Google Shape;3567;p167"/>
          <p:cNvSpPr/>
          <p:nvPr/>
        </p:nvSpPr>
        <p:spPr>
          <a:xfrm>
            <a:off x="566928" y="4745736"/>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167"/>
          <p:cNvSpPr/>
          <p:nvPr/>
        </p:nvSpPr>
        <p:spPr>
          <a:xfrm>
            <a:off x="841248" y="4681728"/>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 confident recommendation with no sensitivity analysis behind it.</a:t>
            </a:r>
            <a:endParaRPr sz="1400"/>
          </a:p>
        </p:txBody>
      </p:sp>
      <p:sp>
        <p:nvSpPr>
          <p:cNvPr id="3569" name="Google Shape;3569;p167"/>
          <p:cNvSpPr/>
          <p:nvPr/>
        </p:nvSpPr>
        <p:spPr>
          <a:xfrm>
            <a:off x="566928" y="5468112"/>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167"/>
          <p:cNvSpPr/>
          <p:nvPr/>
        </p:nvSpPr>
        <p:spPr>
          <a:xfrm>
            <a:off x="841248" y="5404104"/>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An estimand that quietly differs from the decision the stakeholder must make.</a:t>
            </a:r>
            <a:endParaRPr sz="1400"/>
          </a:p>
        </p:txBody>
      </p:sp>
      <p:sp>
        <p:nvSpPr>
          <p:cNvPr id="3571" name="Google Shape;3571;p16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CAPSTONE</a:t>
            </a:r>
            <a:endParaRPr sz="900"/>
          </a:p>
        </p:txBody>
      </p:sp>
      <p:sp>
        <p:nvSpPr>
          <p:cNvPr id="3572" name="Google Shape;3572;p16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194  /  268</a:t>
            </a:r>
            <a:endParaRPr sz="900"/>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7" name="Shape 3577"/>
        <p:cNvGrpSpPr/>
        <p:nvPr/>
      </p:nvGrpSpPr>
      <p:grpSpPr>
        <a:xfrm>
          <a:off x="0" y="0"/>
          <a:ext cx="0" cy="0"/>
          <a:chOff x="0" y="0"/>
          <a:chExt cx="0" cy="0"/>
        </a:xfrm>
      </p:grpSpPr>
      <p:sp>
        <p:nvSpPr>
          <p:cNvPr id="3578" name="Google Shape;3578;p16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CAPSTONE</a:t>
            </a:r>
            <a:endParaRPr sz="1200"/>
          </a:p>
        </p:txBody>
      </p:sp>
      <p:sp>
        <p:nvSpPr>
          <p:cNvPr id="3579" name="Google Shape;3579;p16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What a Great Deliverable Looks Like</a:t>
            </a:r>
            <a:endParaRPr sz="3400"/>
          </a:p>
        </p:txBody>
      </p:sp>
      <p:sp>
        <p:nvSpPr>
          <p:cNvPr id="3580" name="Google Shape;3580;p168"/>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Aim for a report a skeptical reviewer could not easily dismiss.</a:t>
            </a:r>
            <a:endParaRPr sz="1450"/>
          </a:p>
        </p:txBody>
      </p:sp>
      <p:sp>
        <p:nvSpPr>
          <p:cNvPr id="3581" name="Google Shape;3581;p168"/>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168"/>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Transparent</a:t>
            </a:r>
            <a:endParaRPr sz="1500"/>
          </a:p>
        </p:txBody>
      </p:sp>
      <p:sp>
        <p:nvSpPr>
          <p:cNvPr id="3583" name="Google Shape;3583;p168"/>
          <p:cNvSpPr/>
          <p:nvPr/>
        </p:nvSpPr>
        <p:spPr>
          <a:xfrm>
            <a:off x="859536" y="283464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DAG, the assumptions, and the code are all visible; nothing load-bearing is hidden.</a:t>
            </a:r>
            <a:endParaRPr sz="1250"/>
          </a:p>
        </p:txBody>
      </p:sp>
      <p:sp>
        <p:nvSpPr>
          <p:cNvPr id="3584" name="Google Shape;3584;p168"/>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168"/>
          <p:cNvSpPr/>
          <p:nvPr/>
        </p:nvSpPr>
        <p:spPr>
          <a:xfrm>
            <a:off x="859536" y="345186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Diagnosed</a:t>
            </a:r>
            <a:endParaRPr sz="1500"/>
          </a:p>
        </p:txBody>
      </p:sp>
      <p:sp>
        <p:nvSpPr>
          <p:cNvPr id="3586" name="Google Shape;3586;p168"/>
          <p:cNvSpPr/>
          <p:nvPr/>
        </p:nvSpPr>
        <p:spPr>
          <a:xfrm>
            <a:off x="859536" y="372618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Overlap, balance, and design-specific checks are shown, not asserted.</a:t>
            </a:r>
            <a:endParaRPr sz="1250"/>
          </a:p>
        </p:txBody>
      </p:sp>
      <p:sp>
        <p:nvSpPr>
          <p:cNvPr id="3587" name="Google Shape;3587;p168"/>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168"/>
          <p:cNvSpPr/>
          <p:nvPr/>
        </p:nvSpPr>
        <p:spPr>
          <a:xfrm>
            <a:off x="859536" y="434340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Honest about uncertainty</a:t>
            </a:r>
            <a:endParaRPr sz="1500"/>
          </a:p>
        </p:txBody>
      </p:sp>
      <p:sp>
        <p:nvSpPr>
          <p:cNvPr id="3589" name="Google Shape;3589;p168"/>
          <p:cNvSpPr/>
          <p:nvPr/>
        </p:nvSpPr>
        <p:spPr>
          <a:xfrm>
            <a:off x="859536" y="461772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Both sampling and identification uncertainty are communicated, with a sensitivity bound.</a:t>
            </a:r>
            <a:endParaRPr sz="1250"/>
          </a:p>
        </p:txBody>
      </p:sp>
      <p:sp>
        <p:nvSpPr>
          <p:cNvPr id="3590" name="Google Shape;3590;p168"/>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168"/>
          <p:cNvSpPr/>
          <p:nvPr/>
        </p:nvSpPr>
        <p:spPr>
          <a:xfrm>
            <a:off x="859536" y="523494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Actionable</a:t>
            </a:r>
            <a:endParaRPr sz="1500"/>
          </a:p>
        </p:txBody>
      </p:sp>
      <p:sp>
        <p:nvSpPr>
          <p:cNvPr id="3592" name="Google Shape;3592;p168"/>
          <p:cNvSpPr/>
          <p:nvPr/>
        </p:nvSpPr>
        <p:spPr>
          <a:xfrm>
            <a:off x="859536" y="550926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It ends in a decision, with the risk explicitly owned by the reader.</a:t>
            </a:r>
            <a:endParaRPr sz="1250"/>
          </a:p>
        </p:txBody>
      </p:sp>
      <p:sp>
        <p:nvSpPr>
          <p:cNvPr id="3593" name="Google Shape;3593;p16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CAPSTONE</a:t>
            </a:r>
            <a:endParaRPr sz="900"/>
          </a:p>
        </p:txBody>
      </p:sp>
      <p:sp>
        <p:nvSpPr>
          <p:cNvPr id="3594" name="Google Shape;3594;p16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195  /  268</a:t>
            </a:r>
            <a:endParaRPr sz="900"/>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599" name="Shape 3599"/>
        <p:cNvGrpSpPr/>
        <p:nvPr/>
      </p:nvGrpSpPr>
      <p:grpSpPr>
        <a:xfrm>
          <a:off x="0" y="0"/>
          <a:ext cx="0" cy="0"/>
          <a:chOff x="0" y="0"/>
          <a:chExt cx="0" cy="0"/>
        </a:xfrm>
      </p:grpSpPr>
      <p:sp>
        <p:nvSpPr>
          <p:cNvPr id="3600" name="Google Shape;3600;p169"/>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DAY 4 · HOUR 5</a:t>
            </a:r>
            <a:endParaRPr sz="1300"/>
          </a:p>
        </p:txBody>
      </p:sp>
      <p:sp>
        <p:nvSpPr>
          <p:cNvPr id="3601" name="Google Shape;3601;p169"/>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Defense, Post-Test &amp; Close</a:t>
            </a:r>
            <a:endParaRPr sz="4000"/>
          </a:p>
        </p:txBody>
      </p:sp>
      <p:sp>
        <p:nvSpPr>
          <p:cNvPr id="3602" name="Google Shape;3602;p169"/>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Present and defend the capstone, complete the summative assessment, and consolidate the course into durable judgment.</a:t>
            </a:r>
            <a:endParaRPr sz="1500"/>
          </a:p>
        </p:txBody>
      </p:sp>
      <p:cxnSp>
        <p:nvCxnSpPr>
          <p:cNvPr id="3603" name="Google Shape;3603;p169"/>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3604" name="Google Shape;3604;p16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4</a:t>
            </a:r>
            <a:endParaRPr sz="900"/>
          </a:p>
        </p:txBody>
      </p:sp>
      <p:sp>
        <p:nvSpPr>
          <p:cNvPr id="3605" name="Google Shape;3605;p16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196  /  268</a:t>
            </a:r>
            <a:endParaRPr sz="900"/>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0" name="Shape 3610"/>
        <p:cNvGrpSpPr/>
        <p:nvPr/>
      </p:nvGrpSpPr>
      <p:grpSpPr>
        <a:xfrm>
          <a:off x="0" y="0"/>
          <a:ext cx="0" cy="0"/>
          <a:chOff x="0" y="0"/>
          <a:chExt cx="0" cy="0"/>
        </a:xfrm>
      </p:grpSpPr>
      <p:sp>
        <p:nvSpPr>
          <p:cNvPr id="3611" name="Google Shape;3611;p17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5</a:t>
            </a:r>
            <a:endParaRPr sz="1200"/>
          </a:p>
        </p:txBody>
      </p:sp>
      <p:sp>
        <p:nvSpPr>
          <p:cNvPr id="3612" name="Google Shape;3612;p17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Capstone Defense Format</a:t>
            </a:r>
            <a:endParaRPr sz="3400"/>
          </a:p>
        </p:txBody>
      </p:sp>
      <p:sp>
        <p:nvSpPr>
          <p:cNvPr id="3613" name="Google Shape;3613;p170"/>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short, high-signal defense that mirrors a real stakeholder review.</a:t>
            </a:r>
            <a:endParaRPr sz="1450"/>
          </a:p>
        </p:txBody>
      </p:sp>
      <p:sp>
        <p:nvSpPr>
          <p:cNvPr id="3614" name="Google Shape;3614;p170"/>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170"/>
          <p:cNvSpPr/>
          <p:nvPr/>
        </p:nvSpPr>
        <p:spPr>
          <a:xfrm>
            <a:off x="841248" y="2514600"/>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Five-minute presentation: question, estimand, design, estimate, decision.</a:t>
            </a:r>
            <a:endParaRPr sz="1400"/>
          </a:p>
        </p:txBody>
      </p:sp>
      <p:sp>
        <p:nvSpPr>
          <p:cNvPr id="3616" name="Google Shape;3616;p170"/>
          <p:cNvSpPr/>
          <p:nvPr/>
        </p:nvSpPr>
        <p:spPr>
          <a:xfrm>
            <a:off x="566928" y="3328416"/>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170"/>
          <p:cNvSpPr/>
          <p:nvPr/>
        </p:nvSpPr>
        <p:spPr>
          <a:xfrm>
            <a:off x="841248" y="3264408"/>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Peer and facilitator challenge: ‘which assumption is doing the work, and how do you know?’</a:t>
            </a:r>
            <a:endParaRPr sz="1400"/>
          </a:p>
        </p:txBody>
      </p:sp>
      <p:sp>
        <p:nvSpPr>
          <p:cNvPr id="3618" name="Google Shape;3618;p170"/>
          <p:cNvSpPr/>
          <p:nvPr/>
        </p:nvSpPr>
        <p:spPr>
          <a:xfrm>
            <a:off x="566928" y="4078224"/>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170"/>
          <p:cNvSpPr/>
          <p:nvPr/>
        </p:nvSpPr>
        <p:spPr>
          <a:xfrm>
            <a:off x="841248" y="4014216"/>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Defend your sensitivity analysis and the robustness of the recommendation.</a:t>
            </a:r>
            <a:endParaRPr sz="1400"/>
          </a:p>
        </p:txBody>
      </p:sp>
      <p:sp>
        <p:nvSpPr>
          <p:cNvPr id="3620" name="Google Shape;3620;p170"/>
          <p:cNvSpPr/>
          <p:nvPr/>
        </p:nvSpPr>
        <p:spPr>
          <a:xfrm>
            <a:off x="566928" y="4828032"/>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170"/>
          <p:cNvSpPr/>
          <p:nvPr/>
        </p:nvSpPr>
        <p:spPr>
          <a:xfrm>
            <a:off x="841248" y="4764024"/>
            <a:ext cx="10783519" cy="74980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Reflect: what would you measure next to reduce the residual uncertainty?</a:t>
            </a:r>
            <a:endParaRPr sz="1400"/>
          </a:p>
        </p:txBody>
      </p:sp>
      <p:sp>
        <p:nvSpPr>
          <p:cNvPr id="3622" name="Google Shape;3622;p17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CLOSE</a:t>
            </a:r>
            <a:endParaRPr sz="900"/>
          </a:p>
        </p:txBody>
      </p:sp>
      <p:sp>
        <p:nvSpPr>
          <p:cNvPr id="3623" name="Google Shape;3623;p17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197  /  268</a:t>
            </a:r>
            <a:endParaRPr sz="900"/>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28" name="Shape 3628"/>
        <p:cNvGrpSpPr/>
        <p:nvPr/>
      </p:nvGrpSpPr>
      <p:grpSpPr>
        <a:xfrm>
          <a:off x="0" y="0"/>
          <a:ext cx="0" cy="0"/>
          <a:chOff x="0" y="0"/>
          <a:chExt cx="0" cy="0"/>
        </a:xfrm>
      </p:grpSpPr>
      <p:sp>
        <p:nvSpPr>
          <p:cNvPr id="3629" name="Google Shape;3629;p17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HOUR 5</a:t>
            </a:r>
            <a:endParaRPr sz="1200"/>
          </a:p>
        </p:txBody>
      </p:sp>
      <p:sp>
        <p:nvSpPr>
          <p:cNvPr id="3630" name="Google Shape;3630;p17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Post-Test: Sample Items</a:t>
            </a:r>
            <a:endParaRPr sz="3400"/>
          </a:p>
        </p:txBody>
      </p:sp>
      <p:sp>
        <p:nvSpPr>
          <p:cNvPr id="3631" name="Google Shape;3631;p171"/>
          <p:cNvSpPr/>
          <p:nvPr/>
        </p:nvSpPr>
        <p:spPr>
          <a:xfrm>
            <a:off x="566928" y="1783080"/>
            <a:ext cx="11057839"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350"/>
              <a:buFont typeface="Calibri"/>
              <a:buNone/>
            </a:pPr>
            <a:r>
              <a:rPr lang="en-US" sz="1350">
                <a:solidFill>
                  <a:srgbClr val="566581"/>
                </a:solidFill>
                <a:latin typeface="Calibri"/>
                <a:ea typeface="Calibri"/>
                <a:cs typeface="Calibri"/>
                <a:sym typeface="Calibri"/>
              </a:rPr>
              <a:t>A preview of the summative post-test's style; the full test has 20 items across the course.</a:t>
            </a:r>
            <a:endParaRPr sz="1350"/>
          </a:p>
        </p:txBody>
      </p:sp>
      <p:sp>
        <p:nvSpPr>
          <p:cNvPr id="3632" name="Google Shape;3632;p171"/>
          <p:cNvSpPr/>
          <p:nvPr/>
        </p:nvSpPr>
        <p:spPr>
          <a:xfrm>
            <a:off x="566928" y="2331720"/>
            <a:ext cx="11057839" cy="1100328"/>
          </a:xfrm>
          <a:prstGeom prst="roundRect">
            <a:avLst>
              <a:gd fmla="val 6648"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171"/>
          <p:cNvSpPr/>
          <p:nvPr/>
        </p:nvSpPr>
        <p:spPr>
          <a:xfrm>
            <a:off x="768096" y="2514600"/>
            <a:ext cx="384048" cy="384048"/>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171"/>
          <p:cNvSpPr/>
          <p:nvPr/>
        </p:nvSpPr>
        <p:spPr>
          <a:xfrm>
            <a:off x="768096" y="25146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Q1</a:t>
            </a:r>
            <a:endParaRPr sz="1300"/>
          </a:p>
        </p:txBody>
      </p:sp>
      <p:sp>
        <p:nvSpPr>
          <p:cNvPr id="3635" name="Google Shape;3635;p171"/>
          <p:cNvSpPr/>
          <p:nvPr/>
        </p:nvSpPr>
        <p:spPr>
          <a:xfrm>
            <a:off x="1344168" y="247802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You have grouped assignment, thin overlap, and a threshold rule. Which design is most defensible?</a:t>
            </a:r>
            <a:endParaRPr sz="1400"/>
          </a:p>
        </p:txBody>
      </p:sp>
      <p:sp>
        <p:nvSpPr>
          <p:cNvPr id="3636" name="Google Shape;3636;p171"/>
          <p:cNvSpPr/>
          <p:nvPr/>
        </p:nvSpPr>
        <p:spPr>
          <a:xfrm>
            <a:off x="1344168" y="2935224"/>
            <a:ext cx="10051999" cy="441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Naive comparison      B) RDD at the threshold      C) Unclustered OLS      D) Peeked A/B</a:t>
            </a:r>
            <a:endParaRPr sz="1200"/>
          </a:p>
        </p:txBody>
      </p:sp>
      <p:sp>
        <p:nvSpPr>
          <p:cNvPr id="3637" name="Google Shape;3637;p171"/>
          <p:cNvSpPr/>
          <p:nvPr/>
        </p:nvSpPr>
        <p:spPr>
          <a:xfrm>
            <a:off x="566928" y="3596640"/>
            <a:ext cx="11057839" cy="1100328"/>
          </a:xfrm>
          <a:prstGeom prst="roundRect">
            <a:avLst>
              <a:gd fmla="val 6648"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171"/>
          <p:cNvSpPr/>
          <p:nvPr/>
        </p:nvSpPr>
        <p:spPr>
          <a:xfrm>
            <a:off x="768096" y="3779520"/>
            <a:ext cx="384048" cy="384048"/>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171"/>
          <p:cNvSpPr/>
          <p:nvPr/>
        </p:nvSpPr>
        <p:spPr>
          <a:xfrm>
            <a:off x="768096" y="37795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Q2</a:t>
            </a:r>
            <a:endParaRPr sz="1300"/>
          </a:p>
        </p:txBody>
      </p:sp>
      <p:sp>
        <p:nvSpPr>
          <p:cNvPr id="3640" name="Google Shape;3640;p171"/>
          <p:cNvSpPr/>
          <p:nvPr/>
        </p:nvSpPr>
        <p:spPr>
          <a:xfrm>
            <a:off x="1344168" y="374294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An observational effect with E-value 1.1 should be treated as:</a:t>
            </a:r>
            <a:endParaRPr sz="1400"/>
          </a:p>
        </p:txBody>
      </p:sp>
      <p:sp>
        <p:nvSpPr>
          <p:cNvPr id="3641" name="Google Shape;3641;p171"/>
          <p:cNvSpPr/>
          <p:nvPr/>
        </p:nvSpPr>
        <p:spPr>
          <a:xfrm>
            <a:off x="1344168" y="4200144"/>
            <a:ext cx="10051999" cy="441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Robust      B) Fragile to confounding      C) Randomized      D) Design-based</a:t>
            </a:r>
            <a:endParaRPr sz="1200"/>
          </a:p>
        </p:txBody>
      </p:sp>
      <p:sp>
        <p:nvSpPr>
          <p:cNvPr id="3642" name="Google Shape;3642;p171"/>
          <p:cNvSpPr/>
          <p:nvPr/>
        </p:nvSpPr>
        <p:spPr>
          <a:xfrm>
            <a:off x="566928" y="4861560"/>
            <a:ext cx="11057839" cy="1100328"/>
          </a:xfrm>
          <a:prstGeom prst="roundRect">
            <a:avLst>
              <a:gd fmla="val 6648"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171"/>
          <p:cNvSpPr/>
          <p:nvPr/>
        </p:nvSpPr>
        <p:spPr>
          <a:xfrm>
            <a:off x="768096" y="5044440"/>
            <a:ext cx="384048" cy="384048"/>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171"/>
          <p:cNvSpPr/>
          <p:nvPr/>
        </p:nvSpPr>
        <p:spPr>
          <a:xfrm>
            <a:off x="768096" y="504444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Q3</a:t>
            </a:r>
            <a:endParaRPr sz="1300"/>
          </a:p>
        </p:txBody>
      </p:sp>
      <p:sp>
        <p:nvSpPr>
          <p:cNvPr id="3645" name="Google Shape;3645;p171"/>
          <p:cNvSpPr/>
          <p:nvPr/>
        </p:nvSpPr>
        <p:spPr>
          <a:xfrm>
            <a:off x="1344168" y="5007864"/>
            <a:ext cx="1005199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F"/>
              </a:buClr>
              <a:buSzPts val="1400"/>
              <a:buFont typeface="Cambria"/>
              <a:buNone/>
            </a:pPr>
            <a:r>
              <a:rPr b="1" lang="en-US" sz="1400">
                <a:solidFill>
                  <a:srgbClr val="16233F"/>
                </a:solidFill>
                <a:latin typeface="Cambria"/>
                <a:ea typeface="Cambria"/>
                <a:cs typeface="Cambria"/>
                <a:sym typeface="Cambria"/>
              </a:rPr>
              <a:t>The single best summary of causal-inference craft is:</a:t>
            </a:r>
            <a:endParaRPr sz="1400"/>
          </a:p>
        </p:txBody>
      </p:sp>
      <p:sp>
        <p:nvSpPr>
          <p:cNvPr id="3646" name="Google Shape;3646;p171"/>
          <p:cNvSpPr/>
          <p:nvPr/>
        </p:nvSpPr>
        <p:spPr>
          <a:xfrm>
            <a:off x="1344168" y="5465064"/>
            <a:ext cx="10051999" cy="441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00"/>
              <a:buFont typeface="Calibri"/>
              <a:buNone/>
            </a:pPr>
            <a:r>
              <a:rPr lang="en-US" sz="1200">
                <a:solidFill>
                  <a:srgbClr val="566581"/>
                </a:solidFill>
                <a:latin typeface="Calibri"/>
                <a:ea typeface="Calibri"/>
                <a:cs typeface="Calibri"/>
                <a:sym typeface="Calibri"/>
              </a:rPr>
              <a:t>A) Maximise R²      B) Design and identify before you estimate      C) Always add more controls      D) Trust the p-value</a:t>
            </a:r>
            <a:endParaRPr sz="1200"/>
          </a:p>
        </p:txBody>
      </p:sp>
      <p:sp>
        <p:nvSpPr>
          <p:cNvPr id="3647" name="Google Shape;3647;p17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CLOSE</a:t>
            </a:r>
            <a:endParaRPr sz="900"/>
          </a:p>
        </p:txBody>
      </p:sp>
      <p:sp>
        <p:nvSpPr>
          <p:cNvPr id="3648" name="Google Shape;3648;p17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198  /  268</a:t>
            </a:r>
            <a:endParaRPr sz="900"/>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3" name="Shape 3653"/>
        <p:cNvGrpSpPr/>
        <p:nvPr/>
      </p:nvGrpSpPr>
      <p:grpSpPr>
        <a:xfrm>
          <a:off x="0" y="0"/>
          <a:ext cx="0" cy="0"/>
          <a:chOff x="0" y="0"/>
          <a:chExt cx="0" cy="0"/>
        </a:xfrm>
      </p:grpSpPr>
      <p:sp>
        <p:nvSpPr>
          <p:cNvPr id="3654" name="Google Shape;3654;p17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DAY 4 · WRAP</a:t>
            </a:r>
            <a:endParaRPr sz="1200"/>
          </a:p>
        </p:txBody>
      </p:sp>
      <p:sp>
        <p:nvSpPr>
          <p:cNvPr id="3655" name="Google Shape;3655;p17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Whole Course in One Slide</a:t>
            </a:r>
            <a:endParaRPr sz="3400"/>
          </a:p>
        </p:txBody>
      </p:sp>
      <p:sp>
        <p:nvSpPr>
          <p:cNvPr id="3656" name="Google Shape;3656;p172"/>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Four days, one discipline.</a:t>
            </a:r>
            <a:endParaRPr sz="1450"/>
          </a:p>
        </p:txBody>
      </p:sp>
      <p:sp>
        <p:nvSpPr>
          <p:cNvPr id="3657" name="Google Shape;3657;p172"/>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172"/>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Potential outcomes</a:t>
            </a:r>
            <a:endParaRPr sz="1500"/>
          </a:p>
        </p:txBody>
      </p:sp>
      <p:sp>
        <p:nvSpPr>
          <p:cNvPr id="3659" name="Google Shape;3659;p172"/>
          <p:cNvSpPr/>
          <p:nvPr/>
        </p:nvSpPr>
        <p:spPr>
          <a:xfrm>
            <a:off x="859536" y="283464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Every effect is a contrast of counterfactuals; the missing one is the problem to solve.</a:t>
            </a:r>
            <a:endParaRPr sz="1250"/>
          </a:p>
        </p:txBody>
      </p:sp>
      <p:sp>
        <p:nvSpPr>
          <p:cNvPr id="3660" name="Google Shape;3660;p172"/>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172"/>
          <p:cNvSpPr/>
          <p:nvPr/>
        </p:nvSpPr>
        <p:spPr>
          <a:xfrm>
            <a:off x="859536" y="345186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Design &amp; identification first</a:t>
            </a:r>
            <a:endParaRPr sz="1500"/>
          </a:p>
        </p:txBody>
      </p:sp>
      <p:sp>
        <p:nvSpPr>
          <p:cNvPr id="3662" name="Google Shape;3662;p172"/>
          <p:cNvSpPr/>
          <p:nvPr/>
        </p:nvSpPr>
        <p:spPr>
          <a:xfrm>
            <a:off x="859536" y="372618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Randomize when you can; when you cannot, borrow its logic and name your assumption.</a:t>
            </a:r>
            <a:endParaRPr sz="1250"/>
          </a:p>
        </p:txBody>
      </p:sp>
      <p:sp>
        <p:nvSpPr>
          <p:cNvPr id="3663" name="Google Shape;3663;p172"/>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172"/>
          <p:cNvSpPr/>
          <p:nvPr/>
        </p:nvSpPr>
        <p:spPr>
          <a:xfrm>
            <a:off x="859536" y="434340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Estimate then stress-test</a:t>
            </a:r>
            <a:endParaRPr sz="1500"/>
          </a:p>
        </p:txBody>
      </p:sp>
      <p:sp>
        <p:nvSpPr>
          <p:cNvPr id="3665" name="Google Shape;3665;p172"/>
          <p:cNvSpPr/>
          <p:nvPr/>
        </p:nvSpPr>
        <p:spPr>
          <a:xfrm>
            <a:off x="859536" y="461772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Match the estimator and the standard error to the design; quantify uncertainty at both layers.</a:t>
            </a:r>
            <a:endParaRPr sz="1250"/>
          </a:p>
        </p:txBody>
      </p:sp>
      <p:sp>
        <p:nvSpPr>
          <p:cNvPr id="3666" name="Google Shape;3666;p172"/>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172"/>
          <p:cNvSpPr/>
          <p:nvPr/>
        </p:nvSpPr>
        <p:spPr>
          <a:xfrm>
            <a:off x="859536" y="523494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Decide, honestly</a:t>
            </a:r>
            <a:endParaRPr sz="1500"/>
          </a:p>
        </p:txBody>
      </p:sp>
      <p:sp>
        <p:nvSpPr>
          <p:cNvPr id="3668" name="Google Shape;3668;p172"/>
          <p:cNvSpPr/>
          <p:nvPr/>
        </p:nvSpPr>
        <p:spPr>
          <a:xfrm>
            <a:off x="859536" y="550926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End in a recommendation whose risk the reader can see and own.</a:t>
            </a:r>
            <a:endParaRPr sz="1250"/>
          </a:p>
        </p:txBody>
      </p:sp>
      <p:sp>
        <p:nvSpPr>
          <p:cNvPr id="3669" name="Google Shape;3669;p172"/>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172"/>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YOUR STANDARD</a:t>
            </a:r>
            <a:endParaRPr sz="1100"/>
          </a:p>
        </p:txBody>
      </p:sp>
      <p:sp>
        <p:nvSpPr>
          <p:cNvPr id="3671" name="Google Shape;3671;p172"/>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350">
                <a:solidFill>
                  <a:srgbClr val="16233F"/>
                </a:solidFill>
                <a:latin typeface="Calibri"/>
                <a:ea typeface="Calibri"/>
                <a:cs typeface="Calibri"/>
                <a:sym typeface="Calibri"/>
              </a:rPr>
              <a:t>You are now equipped to turn ‘what is associated’ into ‘what happens if we act’ — and to say exactly how much to trust the answer.</a:t>
            </a:r>
            <a:endParaRPr sz="1350"/>
          </a:p>
        </p:txBody>
      </p:sp>
      <p:sp>
        <p:nvSpPr>
          <p:cNvPr id="3672" name="Google Shape;3672;p17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DAY 4 · SUMMARY</a:t>
            </a:r>
            <a:endParaRPr sz="900"/>
          </a:p>
        </p:txBody>
      </p:sp>
      <p:sp>
        <p:nvSpPr>
          <p:cNvPr id="3673" name="Google Shape;3673;p17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199  /  268</a:t>
            </a:r>
            <a:endParaRPr sz="900"/>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678" name="Shape 3678"/>
        <p:cNvGrpSpPr/>
        <p:nvPr/>
      </p:nvGrpSpPr>
      <p:grpSpPr>
        <a:xfrm>
          <a:off x="0" y="0"/>
          <a:ext cx="0" cy="0"/>
          <a:chOff x="0" y="0"/>
          <a:chExt cx="0" cy="0"/>
        </a:xfrm>
      </p:grpSpPr>
      <p:sp>
        <p:nvSpPr>
          <p:cNvPr id="3679" name="Google Shape;3679;p173"/>
          <p:cNvSpPr/>
          <p:nvPr/>
        </p:nvSpPr>
        <p:spPr>
          <a:xfrm>
            <a:off x="566928" y="914400"/>
            <a:ext cx="18288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0"/>
              <a:buFont typeface="Cambria"/>
              <a:buNone/>
            </a:pPr>
            <a:r>
              <a:rPr b="1" lang="en-US" sz="12000">
                <a:solidFill>
                  <a:srgbClr val="3FA9E0"/>
                </a:solidFill>
                <a:latin typeface="Cambria"/>
                <a:ea typeface="Cambria"/>
                <a:cs typeface="Cambria"/>
                <a:sym typeface="Cambria"/>
              </a:rPr>
              <a:t>“</a:t>
            </a:r>
            <a:endParaRPr sz="12000"/>
          </a:p>
        </p:txBody>
      </p:sp>
      <p:sp>
        <p:nvSpPr>
          <p:cNvPr id="3680" name="Google Shape;3680;p173"/>
          <p:cNvSpPr/>
          <p:nvPr/>
        </p:nvSpPr>
        <p:spPr>
          <a:xfrm>
            <a:off x="749808" y="2194560"/>
            <a:ext cx="10515600" cy="2377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3000"/>
              <a:buFont typeface="Cambria"/>
              <a:buNone/>
            </a:pPr>
            <a:r>
              <a:rPr i="1" lang="en-US" sz="3000">
                <a:solidFill>
                  <a:srgbClr val="FFFFFF"/>
                </a:solidFill>
                <a:latin typeface="Cambria"/>
                <a:ea typeface="Cambria"/>
                <a:cs typeface="Cambria"/>
                <a:sym typeface="Cambria"/>
              </a:rPr>
              <a:t>The credibility of a causal estimate is set before you fit a model. Design and identification carry the weight; estimation is bookkeeping.</a:t>
            </a:r>
            <a:endParaRPr sz="3000"/>
          </a:p>
        </p:txBody>
      </p:sp>
      <p:cxnSp>
        <p:nvCxnSpPr>
          <p:cNvPr id="3681" name="Google Shape;3681;p173"/>
          <p:cNvCxnSpPr/>
          <p:nvPr/>
        </p:nvCxnSpPr>
        <p:spPr>
          <a:xfrm>
            <a:off x="749808" y="4846320"/>
            <a:ext cx="1371600" cy="0"/>
          </a:xfrm>
          <a:prstGeom prst="straightConnector1">
            <a:avLst/>
          </a:prstGeom>
          <a:noFill/>
          <a:ln cap="flat" cmpd="sng" w="25400">
            <a:solidFill>
              <a:srgbClr val="3FA9E0"/>
            </a:solidFill>
            <a:prstDash val="solid"/>
            <a:round/>
            <a:headEnd len="sm" w="sm" type="none"/>
            <a:tailEnd len="sm" w="sm" type="none"/>
          </a:ln>
        </p:spPr>
      </p:cxnSp>
      <p:sp>
        <p:nvSpPr>
          <p:cNvPr id="3682" name="Google Shape;3682;p173"/>
          <p:cNvSpPr/>
          <p:nvPr/>
        </p:nvSpPr>
        <p:spPr>
          <a:xfrm>
            <a:off x="749808" y="502920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AF0"/>
              </a:buClr>
              <a:buSzPts val="1500"/>
              <a:buFont typeface="Calibri"/>
              <a:buNone/>
            </a:pPr>
            <a:r>
              <a:rPr b="1" lang="en-US" sz="1500">
                <a:solidFill>
                  <a:srgbClr val="C9DAF0"/>
                </a:solidFill>
                <a:latin typeface="Calibri"/>
                <a:ea typeface="Calibri"/>
                <a:cs typeface="Calibri"/>
                <a:sym typeface="Calibri"/>
              </a:rPr>
              <a:t>The discipline of causal inference</a:t>
            </a:r>
            <a:endParaRPr sz="1500"/>
          </a:p>
        </p:txBody>
      </p:sp>
      <p:sp>
        <p:nvSpPr>
          <p:cNvPr id="3683" name="Google Shape;3683;p173"/>
          <p:cNvSpPr/>
          <p:nvPr/>
        </p:nvSpPr>
        <p:spPr>
          <a:xfrm>
            <a:off x="749808" y="539496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1250"/>
              <a:buFont typeface="Calibri"/>
              <a:buNone/>
            </a:pPr>
            <a:r>
              <a:rPr lang="en-US" sz="1250">
                <a:solidFill>
                  <a:srgbClr val="9FB0C8"/>
                </a:solidFill>
                <a:latin typeface="Calibri"/>
                <a:ea typeface="Calibri"/>
                <a:cs typeface="Calibri"/>
                <a:sym typeface="Calibri"/>
              </a:rPr>
              <a:t>The core stance of this course</a:t>
            </a:r>
            <a:endParaRPr sz="1250"/>
          </a:p>
        </p:txBody>
      </p:sp>
      <p:sp>
        <p:nvSpPr>
          <p:cNvPr id="3684" name="Google Shape;3684;p17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DAY 4 · CLOSE</a:t>
            </a:r>
            <a:endParaRPr sz="900"/>
          </a:p>
        </p:txBody>
      </p:sp>
      <p:sp>
        <p:nvSpPr>
          <p:cNvPr id="3685" name="Google Shape;3685;p17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200  /  268</a:t>
            </a:r>
            <a:endParaRPr sz="900"/>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690" name="Shape 3690"/>
        <p:cNvGrpSpPr/>
        <p:nvPr/>
      </p:nvGrpSpPr>
      <p:grpSpPr>
        <a:xfrm>
          <a:off x="0" y="0"/>
          <a:ext cx="0" cy="0"/>
          <a:chOff x="0" y="0"/>
          <a:chExt cx="0" cy="0"/>
        </a:xfrm>
      </p:grpSpPr>
      <p:sp>
        <p:nvSpPr>
          <p:cNvPr id="3691" name="Google Shape;3691;p174"/>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CORE CURRICULUM COMPLETE</a:t>
            </a:r>
            <a:endParaRPr sz="1300"/>
          </a:p>
        </p:txBody>
      </p:sp>
      <p:sp>
        <p:nvSpPr>
          <p:cNvPr id="3692" name="Google Shape;3692;p174"/>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What Follows: Advanced Topics &amp; Reference</a:t>
            </a:r>
            <a:endParaRPr sz="4000"/>
          </a:p>
        </p:txBody>
      </p:sp>
      <p:sp>
        <p:nvSpPr>
          <p:cNvPr id="3693" name="Google Shape;3693;p174"/>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The four core days are complete. The remaining sections are supplementary: advanced deep-dives facilitators can weave in, and a standalone reference toolkit to keep after the course.</a:t>
            </a:r>
            <a:endParaRPr sz="1500"/>
          </a:p>
        </p:txBody>
      </p:sp>
      <p:cxnSp>
        <p:nvCxnSpPr>
          <p:cNvPr id="3694" name="Google Shape;3694;p174"/>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3695" name="Google Shape;3695;p17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TRANSITION</a:t>
            </a:r>
            <a:endParaRPr sz="900"/>
          </a:p>
        </p:txBody>
      </p:sp>
      <p:sp>
        <p:nvSpPr>
          <p:cNvPr id="3696" name="Google Shape;3696;p17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201  /  268</a:t>
            </a:r>
            <a:endParaRPr sz="900"/>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701" name="Shape 3701"/>
        <p:cNvGrpSpPr/>
        <p:nvPr/>
      </p:nvGrpSpPr>
      <p:grpSpPr>
        <a:xfrm>
          <a:off x="0" y="0"/>
          <a:ext cx="0" cy="0"/>
          <a:chOff x="0" y="0"/>
          <a:chExt cx="0" cy="0"/>
        </a:xfrm>
      </p:grpSpPr>
      <p:sp>
        <p:nvSpPr>
          <p:cNvPr id="3702" name="Google Shape;3702;p175"/>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ADVANCED TOPICS</a:t>
            </a:r>
            <a:endParaRPr sz="1300"/>
          </a:p>
        </p:txBody>
      </p:sp>
      <p:sp>
        <p:nvSpPr>
          <p:cNvPr id="3703" name="Google Shape;3703;p175"/>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Deep-Dives for the Expert Practitioner</a:t>
            </a:r>
            <a:endParaRPr sz="4000"/>
          </a:p>
        </p:txBody>
      </p:sp>
      <p:sp>
        <p:nvSpPr>
          <p:cNvPr id="3704" name="Google Shape;3704;p175"/>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Selected advanced topics facilitators can weave into the four days or run as extension sessions: adaptive and interference-aware experimentation, advanced identification, and long-run effects.</a:t>
            </a:r>
            <a:endParaRPr sz="1500"/>
          </a:p>
        </p:txBody>
      </p:sp>
      <p:cxnSp>
        <p:nvCxnSpPr>
          <p:cNvPr id="3705" name="Google Shape;3705;p175"/>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3706" name="Google Shape;3706;p17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ADVANCED</a:t>
            </a:r>
            <a:endParaRPr sz="900"/>
          </a:p>
        </p:txBody>
      </p:sp>
      <p:sp>
        <p:nvSpPr>
          <p:cNvPr id="3707" name="Google Shape;3707;p17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202  /  268</a:t>
            </a:r>
            <a:endParaRPr sz="900"/>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712" name="Shape 3712"/>
        <p:cNvGrpSpPr/>
        <p:nvPr/>
      </p:nvGrpSpPr>
      <p:grpSpPr>
        <a:xfrm>
          <a:off x="0" y="0"/>
          <a:ext cx="0" cy="0"/>
          <a:chOff x="0" y="0"/>
          <a:chExt cx="0" cy="0"/>
        </a:xfrm>
      </p:grpSpPr>
      <p:sp>
        <p:nvSpPr>
          <p:cNvPr id="3713" name="Google Shape;3713;p176"/>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ADVANCED · EXPERIMENTATION</a:t>
            </a:r>
            <a:endParaRPr sz="1300"/>
          </a:p>
        </p:txBody>
      </p:sp>
      <p:sp>
        <p:nvSpPr>
          <p:cNvPr id="3714" name="Google Shape;3714;p176"/>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Beyond the Basic A/B Test</a:t>
            </a:r>
            <a:endParaRPr sz="4000"/>
          </a:p>
        </p:txBody>
      </p:sp>
      <p:sp>
        <p:nvSpPr>
          <p:cNvPr id="3715" name="Google Shape;3715;p176"/>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Adaptive designs, interference-robust experiments, and the subtle statistical traps in production testing.</a:t>
            </a:r>
            <a:endParaRPr sz="1500"/>
          </a:p>
        </p:txBody>
      </p:sp>
      <p:cxnSp>
        <p:nvCxnSpPr>
          <p:cNvPr id="3716" name="Google Shape;3716;p176"/>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3717" name="Google Shape;3717;p17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ADVANCED</a:t>
            </a:r>
            <a:endParaRPr sz="900"/>
          </a:p>
        </p:txBody>
      </p:sp>
      <p:sp>
        <p:nvSpPr>
          <p:cNvPr id="3718" name="Google Shape;3718;p17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203  /  268</a:t>
            </a:r>
            <a:endParaRPr sz="900"/>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3" name="Shape 3723"/>
        <p:cNvGrpSpPr/>
        <p:nvPr/>
      </p:nvGrpSpPr>
      <p:grpSpPr>
        <a:xfrm>
          <a:off x="0" y="0"/>
          <a:ext cx="0" cy="0"/>
          <a:chOff x="0" y="0"/>
          <a:chExt cx="0" cy="0"/>
        </a:xfrm>
      </p:grpSpPr>
      <p:sp>
        <p:nvSpPr>
          <p:cNvPr id="3724" name="Google Shape;3724;p17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EXPERIMENTATION</a:t>
            </a:r>
            <a:endParaRPr sz="1200"/>
          </a:p>
        </p:txBody>
      </p:sp>
      <p:sp>
        <p:nvSpPr>
          <p:cNvPr id="3725" name="Google Shape;3725;p17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Simpson's Paradox in Experiments</a:t>
            </a:r>
            <a:endParaRPr sz="3400"/>
          </a:p>
        </p:txBody>
      </p:sp>
      <p:sp>
        <p:nvSpPr>
          <p:cNvPr id="3726" name="Google Shape;3726;p177"/>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An aggregate result can reverse within every subgroup when group mix differs across arms — a live risk with uneven traffic.</a:t>
            </a:r>
            <a:endParaRPr sz="1450"/>
          </a:p>
        </p:txBody>
      </p:sp>
      <p:sp>
        <p:nvSpPr>
          <p:cNvPr id="3727" name="Google Shape;3727;p177"/>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177"/>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mechanism</a:t>
            </a:r>
            <a:endParaRPr sz="1500"/>
          </a:p>
        </p:txBody>
      </p:sp>
      <p:sp>
        <p:nvSpPr>
          <p:cNvPr id="3729" name="Google Shape;3729;p177"/>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If arms have different mixes of a strong covariate, pooling can flip the sign relative to every stratum.</a:t>
            </a:r>
            <a:endParaRPr sz="1250"/>
          </a:p>
        </p:txBody>
      </p:sp>
      <p:sp>
        <p:nvSpPr>
          <p:cNvPr id="3730" name="Google Shape;3730;p177"/>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177"/>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Why experiments are not immune</a:t>
            </a:r>
            <a:endParaRPr sz="1500"/>
          </a:p>
        </p:txBody>
      </p:sp>
      <p:sp>
        <p:nvSpPr>
          <p:cNvPr id="3732" name="Google Shape;3732;p177"/>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Imbalanced randomization, ramped rollouts, or mid-test traffic shifts can induce it even under nominal randomization.</a:t>
            </a:r>
            <a:endParaRPr sz="1250"/>
          </a:p>
        </p:txBody>
      </p:sp>
      <p:sp>
        <p:nvSpPr>
          <p:cNvPr id="3733" name="Google Shape;3733;p177"/>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177"/>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guard</a:t>
            </a:r>
            <a:endParaRPr sz="1500"/>
          </a:p>
        </p:txBody>
      </p:sp>
      <p:sp>
        <p:nvSpPr>
          <p:cNvPr id="3735" name="Google Shape;3735;p177"/>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Stratify or block the design, verify balance, and inspect effects within key strata before pooling.</a:t>
            </a:r>
            <a:endParaRPr sz="1250"/>
          </a:p>
        </p:txBody>
      </p:sp>
      <p:sp>
        <p:nvSpPr>
          <p:cNvPr id="3736" name="Google Shape;3736;p177"/>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177"/>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WATCH FOR</a:t>
            </a:r>
            <a:endParaRPr sz="1100"/>
          </a:p>
        </p:txBody>
      </p:sp>
      <p:sp>
        <p:nvSpPr>
          <p:cNvPr id="3738" name="Google Shape;3738;p177"/>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Reversal</a:t>
            </a:r>
            <a:endParaRPr sz="5400"/>
          </a:p>
        </p:txBody>
      </p:sp>
      <p:sp>
        <p:nvSpPr>
          <p:cNvPr id="3739" name="Google Shape;3739;p177"/>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When the pooled effect and every subgroup effect disagree in sign, the pooled number is a mix artifact — trust the design-consistent, stratified estimate.</a:t>
            </a:r>
            <a:endParaRPr sz="1300"/>
          </a:p>
        </p:txBody>
      </p:sp>
      <p:sp>
        <p:nvSpPr>
          <p:cNvPr id="3740" name="Google Shape;3740;p17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EXPERIMENTATION</a:t>
            </a:r>
            <a:endParaRPr sz="900"/>
          </a:p>
        </p:txBody>
      </p:sp>
      <p:sp>
        <p:nvSpPr>
          <p:cNvPr id="3741" name="Google Shape;3741;p17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204  /  268</a:t>
            </a:r>
            <a:endParaRPr sz="900"/>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EXPERIMENTATION</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Simpson's Paradox, Drawn</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Every segment trends upward. The pooled line trends downward. Both are arithmetically correct.</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WHY IT HAPPENS</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The segments differ in both their baseline and their share of the treated. Pooling mixes the composition change into the effect.</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The defence is structural: analyse at the level of randomisation, and be suspicious of any aggregate whose sign disagrees with all of its parts.</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EXPERIMENTATION</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205  /  268</a:t>
            </a:r>
            <a:endParaRPr sz="900"/>
          </a:p>
        </p:txBody>
      </p:sp>
      <p:pic>
        <p:nvPicPr>
          <p:cNvPr id="279" name="Picture 278" descr="m4_simpsons_paradox.png"/>
          <p:cNvPicPr>
            <a:picLocks noChangeAspect="1"/>
          </p:cNvPicPr>
          <p:nvPr/>
        </p:nvPicPr>
        <p:blipFill>
          <a:blip r:embed="rId2"/>
          <a:stretch>
            <a:fillRect/>
          </a:stretch>
        </p:blipFill>
        <p:spPr>
          <a:xfrm>
            <a:off x="1034935" y="2249424"/>
            <a:ext cx="6854672" cy="3877056"/>
          </a:xfrm>
          <a:prstGeom prst="rect">
            <a:avLst/>
          </a:prstGeom>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6" name="Shape 3746"/>
        <p:cNvGrpSpPr/>
        <p:nvPr/>
      </p:nvGrpSpPr>
      <p:grpSpPr>
        <a:xfrm>
          <a:off x="0" y="0"/>
          <a:ext cx="0" cy="0"/>
          <a:chOff x="0" y="0"/>
          <a:chExt cx="0" cy="0"/>
        </a:xfrm>
      </p:grpSpPr>
      <p:sp>
        <p:nvSpPr>
          <p:cNvPr id="3747" name="Google Shape;3747;p17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EXPERIMENTATION</a:t>
            </a:r>
            <a:endParaRPr sz="1200"/>
          </a:p>
        </p:txBody>
      </p:sp>
      <p:sp>
        <p:nvSpPr>
          <p:cNvPr id="3748" name="Google Shape;3748;p17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Reading an A/A Test</a:t>
            </a:r>
            <a:endParaRPr sz="3400"/>
          </a:p>
        </p:txBody>
      </p:sp>
      <p:sp>
        <p:nvSpPr>
          <p:cNvPr id="3749" name="Google Shape;3749;p178"/>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Running two identical arms is the cheapest, most under-used integrity check in experimentation.</a:t>
            </a:r>
            <a:endParaRPr sz="1450"/>
          </a:p>
        </p:txBody>
      </p:sp>
      <p:sp>
        <p:nvSpPr>
          <p:cNvPr id="3750" name="Google Shape;3750;p178"/>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178"/>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What it validates</a:t>
            </a:r>
            <a:endParaRPr sz="1500"/>
          </a:p>
        </p:txBody>
      </p:sp>
      <p:sp>
        <p:nvSpPr>
          <p:cNvPr id="3752" name="Google Shape;3752;p178"/>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Assignment fairness, logging correctness, and the calibration of your significance procedure — all before a real test.</a:t>
            </a:r>
            <a:endParaRPr sz="1250"/>
          </a:p>
        </p:txBody>
      </p:sp>
      <p:sp>
        <p:nvSpPr>
          <p:cNvPr id="3753" name="Google Shape;3753;p178"/>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178"/>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What ‘failure’ means</a:t>
            </a:r>
            <a:endParaRPr sz="1500"/>
          </a:p>
        </p:txBody>
      </p:sp>
      <p:sp>
        <p:nvSpPr>
          <p:cNvPr id="3755" name="Google Shape;3755;p178"/>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Frequent ‘significant’ A/A results signal a broken pipeline, a sample-ratio issue, or an invalid variance estimate.</a:t>
            </a:r>
            <a:endParaRPr sz="1250"/>
          </a:p>
        </p:txBody>
      </p:sp>
      <p:sp>
        <p:nvSpPr>
          <p:cNvPr id="3756" name="Google Shape;3756;p178"/>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178"/>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Cadence</a:t>
            </a:r>
            <a:endParaRPr sz="1500"/>
          </a:p>
        </p:txBody>
      </p:sp>
      <p:sp>
        <p:nvSpPr>
          <p:cNvPr id="3758" name="Google Shape;3758;p178"/>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Keep a continuous A/A running as a canary; a sudden A/A alarm often precedes a bad ship decision.</a:t>
            </a:r>
            <a:endParaRPr sz="1250"/>
          </a:p>
        </p:txBody>
      </p:sp>
      <p:sp>
        <p:nvSpPr>
          <p:cNvPr id="3759" name="Google Shape;3759;p17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EXPERIMENTATION</a:t>
            </a:r>
            <a:endParaRPr sz="900"/>
          </a:p>
        </p:txBody>
      </p:sp>
      <p:sp>
        <p:nvSpPr>
          <p:cNvPr id="3760" name="Google Shape;3760;p17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206  /  268</a:t>
            </a:r>
            <a:endParaRPr sz="900"/>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5" name="Shape 3765"/>
        <p:cNvGrpSpPr/>
        <p:nvPr/>
      </p:nvGrpSpPr>
      <p:grpSpPr>
        <a:xfrm>
          <a:off x="0" y="0"/>
          <a:ext cx="0" cy="0"/>
          <a:chOff x="0" y="0"/>
          <a:chExt cx="0" cy="0"/>
        </a:xfrm>
      </p:grpSpPr>
      <p:sp>
        <p:nvSpPr>
          <p:cNvPr id="3766" name="Google Shape;3766;p17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EXPERIMENTATION</a:t>
            </a:r>
            <a:endParaRPr sz="1200"/>
          </a:p>
        </p:txBody>
      </p:sp>
      <p:sp>
        <p:nvSpPr>
          <p:cNvPr id="3767" name="Google Shape;3767;p17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A/B Testing vs. Multi-Armed Bandits</a:t>
            </a:r>
            <a:endParaRPr sz="3400"/>
          </a:p>
        </p:txBody>
      </p:sp>
      <p:sp>
        <p:nvSpPr>
          <p:cNvPr id="3768" name="Google Shape;3768;p179"/>
          <p:cNvSpPr/>
          <p:nvPr/>
        </p:nvSpPr>
        <p:spPr>
          <a:xfrm>
            <a:off x="566928" y="1828800"/>
            <a:ext cx="5117440" cy="4160520"/>
          </a:xfrm>
          <a:prstGeom prst="roundRect">
            <a:avLst>
              <a:gd fmla="val 2198"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179"/>
          <p:cNvSpPr/>
          <p:nvPr/>
        </p:nvSpPr>
        <p:spPr>
          <a:xfrm>
            <a:off x="859536" y="2084832"/>
            <a:ext cx="45322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FIXED A/B</a:t>
            </a:r>
            <a:endParaRPr sz="1100"/>
          </a:p>
        </p:txBody>
      </p:sp>
      <p:sp>
        <p:nvSpPr>
          <p:cNvPr id="3770" name="Google Shape;3770;p179"/>
          <p:cNvSpPr/>
          <p:nvPr/>
        </p:nvSpPr>
        <p:spPr>
          <a:xfrm>
            <a:off x="859536" y="2377440"/>
            <a:ext cx="45322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2000"/>
              <a:buFont typeface="Cambria"/>
              <a:buNone/>
            </a:pPr>
            <a:r>
              <a:rPr b="1" lang="en-US" sz="2000">
                <a:solidFill>
                  <a:srgbClr val="16233F"/>
                </a:solidFill>
                <a:latin typeface="Cambria"/>
                <a:ea typeface="Cambria"/>
                <a:cs typeface="Cambria"/>
                <a:sym typeface="Cambria"/>
              </a:rPr>
              <a:t>Learn, Then Ship</a:t>
            </a:r>
            <a:endParaRPr sz="2000"/>
          </a:p>
        </p:txBody>
      </p:sp>
      <p:sp>
        <p:nvSpPr>
          <p:cNvPr id="3771" name="Google Shape;3771;p179"/>
          <p:cNvSpPr/>
          <p:nvPr/>
        </p:nvSpPr>
        <p:spPr>
          <a:xfrm>
            <a:off x="877824" y="3072384"/>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179"/>
          <p:cNvSpPr/>
          <p:nvPr/>
        </p:nvSpPr>
        <p:spPr>
          <a:xfrm>
            <a:off x="1115568" y="3017520"/>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Fixed allocation until a pre-set horizon.</a:t>
            </a:r>
            <a:endParaRPr sz="1250"/>
          </a:p>
        </p:txBody>
      </p:sp>
      <p:sp>
        <p:nvSpPr>
          <p:cNvPr id="3773" name="Google Shape;3773;p179"/>
          <p:cNvSpPr/>
          <p:nvPr/>
        </p:nvSpPr>
        <p:spPr>
          <a:xfrm>
            <a:off x="877824" y="3694176"/>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179"/>
          <p:cNvSpPr/>
          <p:nvPr/>
        </p:nvSpPr>
        <p:spPr>
          <a:xfrm>
            <a:off x="1115568" y="3639312"/>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Clean, unbiased effect estimates for all arms.</a:t>
            </a:r>
            <a:endParaRPr sz="1250"/>
          </a:p>
        </p:txBody>
      </p:sp>
      <p:sp>
        <p:nvSpPr>
          <p:cNvPr id="3775" name="Google Shape;3775;p179"/>
          <p:cNvSpPr/>
          <p:nvPr/>
        </p:nvSpPr>
        <p:spPr>
          <a:xfrm>
            <a:off x="877824" y="4315968"/>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179"/>
          <p:cNvSpPr/>
          <p:nvPr/>
        </p:nvSpPr>
        <p:spPr>
          <a:xfrm>
            <a:off x="1115568" y="4261104"/>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Best when you need a defensible causal number.</a:t>
            </a:r>
            <a:endParaRPr sz="1250"/>
          </a:p>
        </p:txBody>
      </p:sp>
      <p:sp>
        <p:nvSpPr>
          <p:cNvPr id="3777" name="Google Shape;3777;p179"/>
          <p:cNvSpPr/>
          <p:nvPr/>
        </p:nvSpPr>
        <p:spPr>
          <a:xfrm>
            <a:off x="877824" y="4937760"/>
            <a:ext cx="118872" cy="118872"/>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179"/>
          <p:cNvSpPr/>
          <p:nvPr/>
        </p:nvSpPr>
        <p:spPr>
          <a:xfrm>
            <a:off x="1115568" y="4882896"/>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‘Wastes’ traffic on losing arms while running.</a:t>
            </a:r>
            <a:endParaRPr sz="1250"/>
          </a:p>
        </p:txBody>
      </p:sp>
      <p:sp>
        <p:nvSpPr>
          <p:cNvPr id="3779" name="Google Shape;3779;p179"/>
          <p:cNvSpPr/>
          <p:nvPr/>
        </p:nvSpPr>
        <p:spPr>
          <a:xfrm>
            <a:off x="6507328" y="1828800"/>
            <a:ext cx="5117440" cy="4160520"/>
          </a:xfrm>
          <a:prstGeom prst="roundRect">
            <a:avLst>
              <a:gd fmla="val 2198" name="adj"/>
            </a:avLst>
          </a:prstGeom>
          <a:solidFill>
            <a:srgbClr val="16233F"/>
          </a:solidFill>
          <a:ln cap="flat" cmpd="sng" w="12700">
            <a:solidFill>
              <a:srgbClr val="1623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179"/>
          <p:cNvSpPr/>
          <p:nvPr/>
        </p:nvSpPr>
        <p:spPr>
          <a:xfrm>
            <a:off x="6799936" y="2084832"/>
            <a:ext cx="45322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C8F2"/>
              </a:buClr>
              <a:buSzPts val="1100"/>
              <a:buFont typeface="Calibri"/>
              <a:buNone/>
            </a:pPr>
            <a:r>
              <a:rPr b="1" lang="en-US" sz="1100">
                <a:solidFill>
                  <a:srgbClr val="70C8F2"/>
                </a:solidFill>
                <a:latin typeface="Calibri"/>
                <a:ea typeface="Calibri"/>
                <a:cs typeface="Calibri"/>
                <a:sym typeface="Calibri"/>
              </a:rPr>
              <a:t>BANDIT</a:t>
            </a:r>
            <a:endParaRPr sz="1100"/>
          </a:p>
        </p:txBody>
      </p:sp>
      <p:sp>
        <p:nvSpPr>
          <p:cNvPr id="3781" name="Google Shape;3781;p179"/>
          <p:cNvSpPr/>
          <p:nvPr/>
        </p:nvSpPr>
        <p:spPr>
          <a:xfrm>
            <a:off x="6799936" y="2377440"/>
            <a:ext cx="45322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1" lang="en-US" sz="2000">
                <a:solidFill>
                  <a:srgbClr val="FFFFFF"/>
                </a:solidFill>
                <a:latin typeface="Cambria"/>
                <a:ea typeface="Cambria"/>
                <a:cs typeface="Cambria"/>
                <a:sym typeface="Cambria"/>
              </a:rPr>
              <a:t>Earn While You Learn</a:t>
            </a:r>
            <a:endParaRPr sz="2000"/>
          </a:p>
        </p:txBody>
      </p:sp>
      <p:sp>
        <p:nvSpPr>
          <p:cNvPr id="3782" name="Google Shape;3782;p179"/>
          <p:cNvSpPr/>
          <p:nvPr/>
        </p:nvSpPr>
        <p:spPr>
          <a:xfrm>
            <a:off x="6818224" y="3072384"/>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179"/>
          <p:cNvSpPr/>
          <p:nvPr/>
        </p:nvSpPr>
        <p:spPr>
          <a:xfrm>
            <a:off x="7055968" y="3017520"/>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Allocation adapts toward better-performing arms.</a:t>
            </a:r>
            <a:endParaRPr sz="1250"/>
          </a:p>
        </p:txBody>
      </p:sp>
      <p:sp>
        <p:nvSpPr>
          <p:cNvPr id="3784" name="Google Shape;3784;p179"/>
          <p:cNvSpPr/>
          <p:nvPr/>
        </p:nvSpPr>
        <p:spPr>
          <a:xfrm>
            <a:off x="6818224" y="3694176"/>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179"/>
          <p:cNvSpPr/>
          <p:nvPr/>
        </p:nvSpPr>
        <p:spPr>
          <a:xfrm>
            <a:off x="7055968" y="3639312"/>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Minimises regret; maximises reward during the test.</a:t>
            </a:r>
            <a:endParaRPr sz="1250"/>
          </a:p>
        </p:txBody>
      </p:sp>
      <p:sp>
        <p:nvSpPr>
          <p:cNvPr id="3786" name="Google Shape;3786;p179"/>
          <p:cNvSpPr/>
          <p:nvPr/>
        </p:nvSpPr>
        <p:spPr>
          <a:xfrm>
            <a:off x="6818224" y="4315968"/>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179"/>
          <p:cNvSpPr/>
          <p:nvPr/>
        </p:nvSpPr>
        <p:spPr>
          <a:xfrm>
            <a:off x="7055968" y="4261104"/>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Best for many variants and continuous optimisation.</a:t>
            </a:r>
            <a:endParaRPr sz="1250"/>
          </a:p>
        </p:txBody>
      </p:sp>
      <p:sp>
        <p:nvSpPr>
          <p:cNvPr id="3788" name="Google Shape;3788;p179"/>
          <p:cNvSpPr/>
          <p:nvPr/>
        </p:nvSpPr>
        <p:spPr>
          <a:xfrm>
            <a:off x="6818224" y="4937760"/>
            <a:ext cx="118872" cy="118872"/>
          </a:xfrm>
          <a:prstGeom prst="ellipse">
            <a:avLst/>
          </a:prstGeom>
          <a:solidFill>
            <a:srgbClr val="70C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179"/>
          <p:cNvSpPr/>
          <p:nvPr/>
        </p:nvSpPr>
        <p:spPr>
          <a:xfrm>
            <a:off x="7055968" y="4882896"/>
            <a:ext cx="4294480" cy="62179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9DAF0"/>
              </a:buClr>
              <a:buSzPts val="1250"/>
              <a:buFont typeface="Calibri"/>
              <a:buNone/>
            </a:pPr>
            <a:r>
              <a:rPr lang="en-US" sz="1250">
                <a:solidFill>
                  <a:srgbClr val="C9DAF0"/>
                </a:solidFill>
                <a:latin typeface="Calibri"/>
                <a:ea typeface="Calibri"/>
                <a:cs typeface="Calibri"/>
                <a:sym typeface="Calibri"/>
              </a:rPr>
              <a:t>Adaptive allocation complicates unbiased inference.</a:t>
            </a:r>
            <a:endParaRPr sz="1250"/>
          </a:p>
        </p:txBody>
      </p:sp>
      <p:sp>
        <p:nvSpPr>
          <p:cNvPr id="3790" name="Google Shape;3790;p179"/>
          <p:cNvSpPr/>
          <p:nvPr/>
        </p:nvSpPr>
        <p:spPr>
          <a:xfrm>
            <a:off x="5803240" y="3616452"/>
            <a:ext cx="585216" cy="585216"/>
          </a:xfrm>
          <a:prstGeom prst="ellipse">
            <a:avLst/>
          </a:prstGeom>
          <a:solidFill>
            <a:srgbClr val="3FA9E0"/>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179"/>
          <p:cNvSpPr/>
          <p:nvPr/>
        </p:nvSpPr>
        <p:spPr>
          <a:xfrm>
            <a:off x="5803240" y="361645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lang="en-US" sz="1500">
                <a:solidFill>
                  <a:srgbClr val="FFFFFF"/>
                </a:solidFill>
                <a:latin typeface="Cambria"/>
                <a:ea typeface="Cambria"/>
                <a:cs typeface="Cambria"/>
                <a:sym typeface="Cambria"/>
              </a:rPr>
              <a:t>VS</a:t>
            </a:r>
            <a:endParaRPr sz="1500"/>
          </a:p>
        </p:txBody>
      </p:sp>
      <p:sp>
        <p:nvSpPr>
          <p:cNvPr id="3792" name="Google Shape;3792;p17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EXPERIMENTATION</a:t>
            </a:r>
            <a:endParaRPr sz="900"/>
          </a:p>
        </p:txBody>
      </p:sp>
      <p:sp>
        <p:nvSpPr>
          <p:cNvPr id="3793" name="Google Shape;3793;p17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207  /  268</a:t>
            </a:r>
            <a:endParaRPr sz="900"/>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98" name="Shape 3798"/>
        <p:cNvGrpSpPr/>
        <p:nvPr/>
      </p:nvGrpSpPr>
      <p:grpSpPr>
        <a:xfrm>
          <a:off x="0" y="0"/>
          <a:ext cx="0" cy="0"/>
          <a:chOff x="0" y="0"/>
          <a:chExt cx="0" cy="0"/>
        </a:xfrm>
      </p:grpSpPr>
      <p:sp>
        <p:nvSpPr>
          <p:cNvPr id="3799" name="Google Shape;3799;p18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EXPERIMENTATION</a:t>
            </a:r>
            <a:endParaRPr sz="1200"/>
          </a:p>
        </p:txBody>
      </p:sp>
      <p:sp>
        <p:nvSpPr>
          <p:cNvPr id="3800" name="Google Shape;3800;p18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Adaptive Designs &amp; Their Inference Cost</a:t>
            </a:r>
            <a:endParaRPr sz="3400"/>
          </a:p>
        </p:txBody>
      </p:sp>
      <p:sp>
        <p:nvSpPr>
          <p:cNvPr id="3801" name="Google Shape;3801;p180"/>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Adapting allocation as data arrive improves efficiency but breaks naive analysis.</a:t>
            </a:r>
            <a:endParaRPr sz="1450"/>
          </a:p>
        </p:txBody>
      </p:sp>
      <p:sp>
        <p:nvSpPr>
          <p:cNvPr id="3802" name="Google Shape;3802;p180"/>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180"/>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benefit</a:t>
            </a:r>
            <a:endParaRPr sz="1500"/>
          </a:p>
        </p:txBody>
      </p:sp>
      <p:sp>
        <p:nvSpPr>
          <p:cNvPr id="3804" name="Google Shape;3804;p180"/>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Bandits and response-adaptive designs cut the cost of exploration and speed up finding the best arm.</a:t>
            </a:r>
            <a:endParaRPr sz="1250"/>
          </a:p>
        </p:txBody>
      </p:sp>
      <p:sp>
        <p:nvSpPr>
          <p:cNvPr id="3805" name="Google Shape;3805;p180"/>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180"/>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catch</a:t>
            </a:r>
            <a:endParaRPr sz="1500"/>
          </a:p>
        </p:txBody>
      </p:sp>
      <p:sp>
        <p:nvSpPr>
          <p:cNvPr id="3807" name="Google Shape;3807;p180"/>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Because allocation depends on interim outcomes, standard errors and effect estimates need adaptive-aware corrections.</a:t>
            </a:r>
            <a:endParaRPr sz="1250"/>
          </a:p>
        </p:txBody>
      </p:sp>
      <p:sp>
        <p:nvSpPr>
          <p:cNvPr id="3808" name="Google Shape;3808;p180"/>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180"/>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remedy</a:t>
            </a:r>
            <a:endParaRPr sz="1500"/>
          </a:p>
        </p:txBody>
      </p:sp>
      <p:sp>
        <p:nvSpPr>
          <p:cNvPr id="3810" name="Google Shape;3810;p180"/>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Use inference designed for adaptivity (e.g. adaptively-weighted estimators) when you still need a valid effect, not just a winner.</a:t>
            </a:r>
            <a:endParaRPr sz="1250"/>
          </a:p>
        </p:txBody>
      </p:sp>
      <p:sp>
        <p:nvSpPr>
          <p:cNvPr id="3811" name="Google Shape;3811;p180"/>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180"/>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RULE OF THUMB</a:t>
            </a:r>
            <a:endParaRPr sz="1100"/>
          </a:p>
        </p:txBody>
      </p:sp>
      <p:sp>
        <p:nvSpPr>
          <p:cNvPr id="3813" name="Google Shape;3813;p180"/>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Use bandits to optimise a decision; use fixed A/B when you must report a trustworthy effect size. Do not analyse bandit data with fixed-horizon formulas.</a:t>
            </a:r>
            <a:endParaRPr sz="1350"/>
          </a:p>
        </p:txBody>
      </p:sp>
      <p:sp>
        <p:nvSpPr>
          <p:cNvPr id="3814" name="Google Shape;3814;p18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EXPERIMENTATION</a:t>
            </a:r>
            <a:endParaRPr sz="900"/>
          </a:p>
        </p:txBody>
      </p:sp>
      <p:sp>
        <p:nvSpPr>
          <p:cNvPr id="3815" name="Google Shape;3815;p18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208  /  268</a:t>
            </a:r>
            <a:endParaRPr sz="900"/>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20" name="Shape 3820"/>
        <p:cNvGrpSpPr/>
        <p:nvPr/>
      </p:nvGrpSpPr>
      <p:grpSpPr>
        <a:xfrm>
          <a:off x="0" y="0"/>
          <a:ext cx="0" cy="0"/>
          <a:chOff x="0" y="0"/>
          <a:chExt cx="0" cy="0"/>
        </a:xfrm>
      </p:grpSpPr>
      <p:sp>
        <p:nvSpPr>
          <p:cNvPr id="3821" name="Google Shape;3821;p18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EXPERIMENTATION</a:t>
            </a:r>
            <a:endParaRPr sz="1200"/>
          </a:p>
        </p:txBody>
      </p:sp>
      <p:sp>
        <p:nvSpPr>
          <p:cNvPr id="3822" name="Google Shape;3822;p18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Interference: Switchback &amp; Cluster Designs</a:t>
            </a:r>
            <a:endParaRPr sz="3400"/>
          </a:p>
        </p:txBody>
      </p:sp>
      <p:sp>
        <p:nvSpPr>
          <p:cNvPr id="3823" name="Google Shape;3823;p181"/>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In marketplaces and networks, treating some units changes the environment for others — breaking SUTVA. The design must absorb the spillover.</a:t>
            </a:r>
            <a:endParaRPr sz="1450"/>
          </a:p>
        </p:txBody>
      </p:sp>
      <p:sp>
        <p:nvSpPr>
          <p:cNvPr id="3824" name="Google Shape;3824;p181"/>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181"/>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Switchback experiments</a:t>
            </a:r>
            <a:endParaRPr sz="1500"/>
          </a:p>
        </p:txBody>
      </p:sp>
      <p:sp>
        <p:nvSpPr>
          <p:cNvPr id="3826" name="Google Shape;3826;p181"/>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Alternate the whole system between treatment and control over time windows; the unit becomes a time slice, containing spillover.</a:t>
            </a:r>
            <a:endParaRPr sz="1250"/>
          </a:p>
        </p:txBody>
      </p:sp>
      <p:sp>
        <p:nvSpPr>
          <p:cNvPr id="3827" name="Google Shape;3827;p181"/>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181"/>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Cluster / ego-network designs</a:t>
            </a:r>
            <a:endParaRPr sz="1500"/>
          </a:p>
        </p:txBody>
      </p:sp>
      <p:sp>
        <p:nvSpPr>
          <p:cNvPr id="3829" name="Google Shape;3829;p181"/>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Randomize connected groups together so interference stays within, not across, arms.</a:t>
            </a:r>
            <a:endParaRPr sz="1250"/>
          </a:p>
        </p:txBody>
      </p:sp>
      <p:sp>
        <p:nvSpPr>
          <p:cNvPr id="3830" name="Google Shape;3830;p181"/>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181"/>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Exposure modelling</a:t>
            </a:r>
            <a:endParaRPr sz="1500"/>
          </a:p>
        </p:txBody>
      </p:sp>
      <p:sp>
        <p:nvSpPr>
          <p:cNvPr id="3832" name="Google Shape;3832;p181"/>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Define an exposure mapping (how much treatment a unit is effectively exposed to) and estimate effects against it.</a:t>
            </a:r>
            <a:endParaRPr sz="1250"/>
          </a:p>
        </p:txBody>
      </p:sp>
      <p:sp>
        <p:nvSpPr>
          <p:cNvPr id="3833" name="Google Shape;3833;p181"/>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181"/>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MARKETPLACE</a:t>
            </a:r>
            <a:endParaRPr sz="1100"/>
          </a:p>
        </p:txBody>
      </p:sp>
      <p:sp>
        <p:nvSpPr>
          <p:cNvPr id="3835" name="Google Shape;3835;p181"/>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Time</a:t>
            </a:r>
            <a:endParaRPr sz="5400"/>
          </a:p>
        </p:txBody>
      </p:sp>
      <p:sp>
        <p:nvSpPr>
          <p:cNvPr id="3836" name="Google Shape;3836;p181"/>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When users share supply, randomizing by time (switchback) or by market cluster is often the only way to get an unbiased effect.</a:t>
            </a:r>
            <a:endParaRPr sz="1300"/>
          </a:p>
        </p:txBody>
      </p:sp>
      <p:sp>
        <p:nvSpPr>
          <p:cNvPr id="3837" name="Google Shape;3837;p18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EXPERIMENTATION</a:t>
            </a:r>
            <a:endParaRPr sz="900"/>
          </a:p>
        </p:txBody>
      </p:sp>
      <p:sp>
        <p:nvSpPr>
          <p:cNvPr id="3838" name="Google Shape;3838;p18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209  /  268</a:t>
            </a:r>
            <a:endParaRPr sz="900"/>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43" name="Shape 3843"/>
        <p:cNvGrpSpPr/>
        <p:nvPr/>
      </p:nvGrpSpPr>
      <p:grpSpPr>
        <a:xfrm>
          <a:off x="0" y="0"/>
          <a:ext cx="0" cy="0"/>
          <a:chOff x="0" y="0"/>
          <a:chExt cx="0" cy="0"/>
        </a:xfrm>
      </p:grpSpPr>
      <p:sp>
        <p:nvSpPr>
          <p:cNvPr id="3844" name="Google Shape;3844;p18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EXPERIMENTATION</a:t>
            </a:r>
            <a:endParaRPr sz="1200"/>
          </a:p>
        </p:txBody>
      </p:sp>
      <p:sp>
        <p:nvSpPr>
          <p:cNvPr id="3845" name="Google Shape;3845;p18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Sequential Testing, Quantified</a:t>
            </a:r>
            <a:endParaRPr sz="3400"/>
          </a:p>
        </p:txBody>
      </p:sp>
      <p:sp>
        <p:nvSpPr>
          <p:cNvPr id="3846" name="Google Shape;3846;p182"/>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concrete look at how continuous monitoring inflates error — and how boundaries restore validity.</a:t>
            </a:r>
            <a:endParaRPr sz="1450"/>
          </a:p>
        </p:txBody>
      </p:sp>
      <p:sp>
        <p:nvSpPr>
          <p:cNvPr id="3847" name="Google Shape;3847;p182"/>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182"/>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inflation</a:t>
            </a:r>
            <a:endParaRPr sz="1500"/>
          </a:p>
        </p:txBody>
      </p:sp>
      <p:sp>
        <p:nvSpPr>
          <p:cNvPr id="3849" name="Google Shape;3849;p182"/>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Checking a nominal-5% test daily for a month can push the true false-positive rate toward 20–30%.</a:t>
            </a:r>
            <a:endParaRPr sz="1250"/>
          </a:p>
        </p:txBody>
      </p:sp>
      <p:sp>
        <p:nvSpPr>
          <p:cNvPr id="3850" name="Google Shape;3850;p182"/>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182"/>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Alpha spending</a:t>
            </a:r>
            <a:endParaRPr sz="1500"/>
          </a:p>
        </p:txBody>
      </p:sp>
      <p:sp>
        <p:nvSpPr>
          <p:cNvPr id="3852" name="Google Shape;3852;p182"/>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Group-sequential boundaries allocate the 5% budget across looks; O'Brien–Fleming is strict early, generous late.</a:t>
            </a:r>
            <a:endParaRPr sz="1250"/>
          </a:p>
        </p:txBody>
      </p:sp>
      <p:sp>
        <p:nvSpPr>
          <p:cNvPr id="3853" name="Google Shape;3853;p182"/>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182"/>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Always-valid</a:t>
            </a:r>
            <a:endParaRPr sz="1500"/>
          </a:p>
        </p:txBody>
      </p:sp>
      <p:sp>
        <p:nvSpPr>
          <p:cNvPr id="3855" name="Google Shape;3855;p182"/>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Confidence sequences and e-values hold at every sample size and any stopping time — look as often as you like.</a:t>
            </a:r>
            <a:endParaRPr sz="1250"/>
          </a:p>
        </p:txBody>
      </p:sp>
      <p:sp>
        <p:nvSpPr>
          <p:cNvPr id="3856" name="Google Shape;3856;p18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EXPERIMENTATION</a:t>
            </a:r>
            <a:endParaRPr sz="900"/>
          </a:p>
        </p:txBody>
      </p:sp>
      <p:sp>
        <p:nvSpPr>
          <p:cNvPr id="3857" name="Google Shape;3857;p18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210  /  268</a:t>
            </a:r>
            <a:endParaRPr sz="900"/>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62" name="Shape 3862"/>
        <p:cNvGrpSpPr/>
        <p:nvPr/>
      </p:nvGrpSpPr>
      <p:grpSpPr>
        <a:xfrm>
          <a:off x="0" y="0"/>
          <a:ext cx="0" cy="0"/>
          <a:chOff x="0" y="0"/>
          <a:chExt cx="0" cy="0"/>
        </a:xfrm>
      </p:grpSpPr>
      <p:sp>
        <p:nvSpPr>
          <p:cNvPr id="3863" name="Google Shape;3863;p18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EXPERIMENTATION</a:t>
            </a:r>
            <a:endParaRPr sz="1200"/>
          </a:p>
        </p:txBody>
      </p:sp>
      <p:sp>
        <p:nvSpPr>
          <p:cNvPr id="3864" name="Google Shape;3864;p18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Bayesian A/B Testing</a:t>
            </a:r>
            <a:endParaRPr sz="3400"/>
          </a:p>
        </p:txBody>
      </p:sp>
      <p:sp>
        <p:nvSpPr>
          <p:cNvPr id="3865" name="Google Shape;3865;p183"/>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complementary framework that reports probabilities decision-makers find intuitive — with its own discipline.</a:t>
            </a:r>
            <a:endParaRPr sz="1450"/>
          </a:p>
        </p:txBody>
      </p:sp>
      <p:sp>
        <p:nvSpPr>
          <p:cNvPr id="3866" name="Google Shape;3866;p183"/>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183"/>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outputs</a:t>
            </a:r>
            <a:endParaRPr sz="1500"/>
          </a:p>
        </p:txBody>
      </p:sp>
      <p:sp>
        <p:nvSpPr>
          <p:cNvPr id="3868" name="Google Shape;3868;p183"/>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P(variant better), the posterior effect distribution, and expected loss from shipping the wrong arm.</a:t>
            </a:r>
            <a:endParaRPr sz="1250"/>
          </a:p>
        </p:txBody>
      </p:sp>
      <p:sp>
        <p:nvSpPr>
          <p:cNvPr id="3869" name="Google Shape;3869;p183"/>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183"/>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appeal</a:t>
            </a:r>
            <a:endParaRPr sz="1500"/>
          </a:p>
        </p:txBody>
      </p:sp>
      <p:sp>
        <p:nvSpPr>
          <p:cNvPr id="3871" name="Google Shape;3871;p183"/>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Decision-relevant statements and coherent early stopping via expected loss, if priors and rules are pre-set.</a:t>
            </a:r>
            <a:endParaRPr sz="1250"/>
          </a:p>
        </p:txBody>
      </p:sp>
      <p:sp>
        <p:nvSpPr>
          <p:cNvPr id="3872" name="Google Shape;3872;p183"/>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183"/>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caution</a:t>
            </a:r>
            <a:endParaRPr sz="1500"/>
          </a:p>
        </p:txBody>
      </p:sp>
      <p:sp>
        <p:nvSpPr>
          <p:cNvPr id="3874" name="Google Shape;3874;p183"/>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Priors and the decision rule must be fixed in advance; ‘Bayesian’ is not a licence to peek without a plan.</a:t>
            </a:r>
            <a:endParaRPr sz="1250"/>
          </a:p>
        </p:txBody>
      </p:sp>
      <p:sp>
        <p:nvSpPr>
          <p:cNvPr id="3875" name="Google Shape;3875;p18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EXPERIMENTATION</a:t>
            </a:r>
            <a:endParaRPr sz="900"/>
          </a:p>
        </p:txBody>
      </p:sp>
      <p:sp>
        <p:nvSpPr>
          <p:cNvPr id="3876" name="Google Shape;3876;p18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211  /  268</a:t>
            </a:r>
            <a:endParaRPr sz="900"/>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81" name="Shape 3881"/>
        <p:cNvGrpSpPr/>
        <p:nvPr/>
      </p:nvGrpSpPr>
      <p:grpSpPr>
        <a:xfrm>
          <a:off x="0" y="0"/>
          <a:ext cx="0" cy="0"/>
          <a:chOff x="0" y="0"/>
          <a:chExt cx="0" cy="0"/>
        </a:xfrm>
      </p:grpSpPr>
      <p:sp>
        <p:nvSpPr>
          <p:cNvPr id="3882" name="Google Shape;3882;p18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EXPERIMENTATION</a:t>
            </a:r>
            <a:endParaRPr sz="1200"/>
          </a:p>
        </p:txBody>
      </p:sp>
      <p:sp>
        <p:nvSpPr>
          <p:cNvPr id="3883" name="Google Shape;3883;p18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Winner's Curse &amp; Shrinkage</a:t>
            </a:r>
            <a:endParaRPr sz="3400"/>
          </a:p>
        </p:txBody>
      </p:sp>
      <p:sp>
        <p:nvSpPr>
          <p:cNvPr id="3884" name="Google Shape;3884;p184"/>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variant that clears the bar to ship tends to have an over-estimated effect — selection acts on the estimate itself.</a:t>
            </a:r>
            <a:endParaRPr sz="1450"/>
          </a:p>
        </p:txBody>
      </p:sp>
      <p:sp>
        <p:nvSpPr>
          <p:cNvPr id="3885" name="Google Shape;3885;p184"/>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184"/>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Why it happens</a:t>
            </a:r>
            <a:endParaRPr sz="1500"/>
          </a:p>
        </p:txBody>
      </p:sp>
      <p:sp>
        <p:nvSpPr>
          <p:cNvPr id="3887" name="Google Shape;3887;p184"/>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Among many tested ideas, those that reach significance are disproportionately those that got lucky upward.</a:t>
            </a:r>
            <a:endParaRPr sz="1250"/>
          </a:p>
        </p:txBody>
      </p:sp>
      <p:sp>
        <p:nvSpPr>
          <p:cNvPr id="3888" name="Google Shape;3888;p184"/>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184"/>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consequence</a:t>
            </a:r>
            <a:endParaRPr sz="1500"/>
          </a:p>
        </p:txBody>
      </p:sp>
      <p:sp>
        <p:nvSpPr>
          <p:cNvPr id="3890" name="Google Shape;3890;p184"/>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Realised production lift routinely underperforms the test estimate that justified the launch.</a:t>
            </a:r>
            <a:endParaRPr sz="1250"/>
          </a:p>
        </p:txBody>
      </p:sp>
      <p:sp>
        <p:nvSpPr>
          <p:cNvPr id="3891" name="Google Shape;3891;p184"/>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184"/>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fix</a:t>
            </a:r>
            <a:endParaRPr sz="1500"/>
          </a:p>
        </p:txBody>
      </p:sp>
      <p:sp>
        <p:nvSpPr>
          <p:cNvPr id="3893" name="Google Shape;3893;p184"/>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Shrink effect estimates toward the prior mean (empirical-Bayes / hierarchical models), especially across many experiments.</a:t>
            </a:r>
            <a:endParaRPr sz="1250"/>
          </a:p>
        </p:txBody>
      </p:sp>
      <p:sp>
        <p:nvSpPr>
          <p:cNvPr id="3894" name="Google Shape;3894;p184"/>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184"/>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EXPECTATION MANAGEMENT</a:t>
            </a:r>
            <a:endParaRPr sz="1100"/>
          </a:p>
        </p:txBody>
      </p:sp>
      <p:sp>
        <p:nvSpPr>
          <p:cNvPr id="3896" name="Google Shape;3896;p184"/>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Report a shrunk, de-biased estimate for planning. The raw ‘winning’ lift is an optimistic ceiling, not a forecast.</a:t>
            </a:r>
            <a:endParaRPr sz="1350"/>
          </a:p>
        </p:txBody>
      </p:sp>
      <p:sp>
        <p:nvSpPr>
          <p:cNvPr id="3897" name="Google Shape;3897;p18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EXPERIMENTATION</a:t>
            </a:r>
            <a:endParaRPr sz="900"/>
          </a:p>
        </p:txBody>
      </p:sp>
      <p:sp>
        <p:nvSpPr>
          <p:cNvPr id="3898" name="Google Shape;3898;p18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212  /  268</a:t>
            </a:r>
            <a:endParaRPr sz="900"/>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03" name="Shape 3903"/>
        <p:cNvGrpSpPr/>
        <p:nvPr/>
      </p:nvGrpSpPr>
      <p:grpSpPr>
        <a:xfrm>
          <a:off x="0" y="0"/>
          <a:ext cx="0" cy="0"/>
          <a:chOff x="0" y="0"/>
          <a:chExt cx="0" cy="0"/>
        </a:xfrm>
      </p:grpSpPr>
      <p:sp>
        <p:nvSpPr>
          <p:cNvPr id="3904" name="Google Shape;3904;p18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EXPERIMENTATION</a:t>
            </a:r>
            <a:endParaRPr sz="1200"/>
          </a:p>
        </p:txBody>
      </p:sp>
      <p:sp>
        <p:nvSpPr>
          <p:cNvPr id="3905" name="Google Shape;3905;p18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 Guardrail-Metric Framework</a:t>
            </a:r>
            <a:endParaRPr sz="3400"/>
          </a:p>
        </p:txBody>
      </p:sp>
      <p:sp>
        <p:nvSpPr>
          <p:cNvPr id="3906" name="Google Shape;3906;p185"/>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Guardrails turn ‘the primary metric won’ into ‘shipping is safe’.</a:t>
            </a:r>
            <a:endParaRPr sz="1400"/>
          </a:p>
        </p:txBody>
      </p:sp>
      <p:sp>
        <p:nvSpPr>
          <p:cNvPr id="3907" name="Google Shape;3907;p185"/>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185"/>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01</a:t>
            </a:r>
            <a:endParaRPr sz="1300"/>
          </a:p>
        </p:txBody>
      </p:sp>
      <p:sp>
        <p:nvSpPr>
          <p:cNvPr id="3909" name="Google Shape;3909;p185"/>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Quality guardrails</a:t>
            </a:r>
            <a:endParaRPr sz="1600"/>
          </a:p>
        </p:txBody>
      </p:sp>
      <p:sp>
        <p:nvSpPr>
          <p:cNvPr id="3910" name="Google Shape;3910;p185"/>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Latency, error rate, crash rate — a win that degrades reliability does not ship.</a:t>
            </a:r>
            <a:endParaRPr sz="1250"/>
          </a:p>
        </p:txBody>
      </p:sp>
      <p:sp>
        <p:nvSpPr>
          <p:cNvPr id="3911" name="Google Shape;3911;p185"/>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185"/>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02</a:t>
            </a:r>
            <a:endParaRPr sz="1300"/>
          </a:p>
        </p:txBody>
      </p:sp>
      <p:sp>
        <p:nvSpPr>
          <p:cNvPr id="3913" name="Google Shape;3913;p185"/>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Business guardrails</a:t>
            </a:r>
            <a:endParaRPr sz="1600"/>
          </a:p>
        </p:txBody>
      </p:sp>
      <p:sp>
        <p:nvSpPr>
          <p:cNvPr id="3914" name="Google Shape;3914;p185"/>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Revenue, cost, and unit economics must not silently regress behind an engagement lift.</a:t>
            </a:r>
            <a:endParaRPr sz="1250"/>
          </a:p>
        </p:txBody>
      </p:sp>
      <p:sp>
        <p:nvSpPr>
          <p:cNvPr id="3915" name="Google Shape;3915;p185"/>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185"/>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03</a:t>
            </a:r>
            <a:endParaRPr sz="1300"/>
          </a:p>
        </p:txBody>
      </p:sp>
      <p:sp>
        <p:nvSpPr>
          <p:cNvPr id="3917" name="Google Shape;3917;p185"/>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Trust &amp; safety guardrails</a:t>
            </a:r>
            <a:endParaRPr sz="1600"/>
          </a:p>
        </p:txBody>
      </p:sp>
      <p:sp>
        <p:nvSpPr>
          <p:cNvPr id="3918" name="Google Shape;3918;p185"/>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Complaints, policy violations, and fairness metrics protect users and reputation.</a:t>
            </a:r>
            <a:endParaRPr sz="1250"/>
          </a:p>
        </p:txBody>
      </p:sp>
      <p:sp>
        <p:nvSpPr>
          <p:cNvPr id="3919" name="Google Shape;3919;p185"/>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185"/>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04</a:t>
            </a:r>
            <a:endParaRPr sz="1300"/>
          </a:p>
        </p:txBody>
      </p:sp>
      <p:sp>
        <p:nvSpPr>
          <p:cNvPr id="3921" name="Google Shape;3921;p185"/>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Counter-metrics</a:t>
            </a:r>
            <a:endParaRPr sz="1600"/>
          </a:p>
        </p:txBody>
      </p:sp>
      <p:sp>
        <p:nvSpPr>
          <p:cNvPr id="3922" name="Google Shape;3922;p185"/>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Metrics that would move if the primary metric is being gamed rather than genuinely improved.</a:t>
            </a:r>
            <a:endParaRPr sz="1250"/>
          </a:p>
        </p:txBody>
      </p:sp>
      <p:sp>
        <p:nvSpPr>
          <p:cNvPr id="3923" name="Google Shape;3923;p18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EXPERIMENTATION</a:t>
            </a:r>
            <a:endParaRPr sz="900"/>
          </a:p>
        </p:txBody>
      </p:sp>
      <p:sp>
        <p:nvSpPr>
          <p:cNvPr id="3924" name="Google Shape;3924;p18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213  /  268</a:t>
            </a:r>
            <a:endParaRPr sz="900"/>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3929" name="Shape 3929"/>
        <p:cNvGrpSpPr/>
        <p:nvPr/>
      </p:nvGrpSpPr>
      <p:grpSpPr>
        <a:xfrm>
          <a:off x="0" y="0"/>
          <a:ext cx="0" cy="0"/>
          <a:chOff x="0" y="0"/>
          <a:chExt cx="0" cy="0"/>
        </a:xfrm>
      </p:grpSpPr>
      <p:sp>
        <p:nvSpPr>
          <p:cNvPr id="3930" name="Google Shape;3930;p186"/>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ADVANCED · IDENTIFICATION</a:t>
            </a:r>
            <a:endParaRPr sz="1300"/>
          </a:p>
        </p:txBody>
      </p:sp>
      <p:sp>
        <p:nvSpPr>
          <p:cNvPr id="3931" name="Google Shape;3931;p186"/>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Advanced Identification</a:t>
            </a:r>
            <a:endParaRPr sz="4000"/>
          </a:p>
        </p:txBody>
      </p:sp>
      <p:sp>
        <p:nvSpPr>
          <p:cNvPr id="3932" name="Google Shape;3932;p186"/>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Front-door adjustment, mediation, time-varying treatments, and the modern machine-learning toolkit for effects.</a:t>
            </a:r>
            <a:endParaRPr sz="1500"/>
          </a:p>
        </p:txBody>
      </p:sp>
      <p:cxnSp>
        <p:nvCxnSpPr>
          <p:cNvPr id="3933" name="Google Shape;3933;p186"/>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3934" name="Google Shape;3934;p18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ADVANCED</a:t>
            </a:r>
            <a:endParaRPr sz="900"/>
          </a:p>
        </p:txBody>
      </p:sp>
      <p:sp>
        <p:nvSpPr>
          <p:cNvPr id="3935" name="Google Shape;3935;p18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214  /  268</a:t>
            </a:r>
            <a:endParaRPr sz="900"/>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40" name="Shape 3940"/>
        <p:cNvGrpSpPr/>
        <p:nvPr/>
      </p:nvGrpSpPr>
      <p:grpSpPr>
        <a:xfrm>
          <a:off x="0" y="0"/>
          <a:ext cx="0" cy="0"/>
          <a:chOff x="0" y="0"/>
          <a:chExt cx="0" cy="0"/>
        </a:xfrm>
      </p:grpSpPr>
      <p:sp>
        <p:nvSpPr>
          <p:cNvPr id="3941" name="Google Shape;3941;p18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IDENTIFICATION</a:t>
            </a:r>
            <a:endParaRPr sz="1200"/>
          </a:p>
        </p:txBody>
      </p:sp>
      <p:sp>
        <p:nvSpPr>
          <p:cNvPr id="3942" name="Google Shape;3942;p18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Front-Door Criterion</a:t>
            </a:r>
            <a:endParaRPr sz="3400"/>
          </a:p>
        </p:txBody>
      </p:sp>
      <p:sp>
        <p:nvSpPr>
          <p:cNvPr id="3943" name="Google Shape;3943;p187"/>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When a confounder is unmeasured but a fully-mediating mechanism is observed, the effect can still be identified.</a:t>
            </a:r>
            <a:endParaRPr sz="1450"/>
          </a:p>
        </p:txBody>
      </p:sp>
      <p:sp>
        <p:nvSpPr>
          <p:cNvPr id="3944" name="Google Shape;3944;p187"/>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187"/>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structure</a:t>
            </a:r>
            <a:endParaRPr sz="1500"/>
          </a:p>
        </p:txBody>
      </p:sp>
      <p:sp>
        <p:nvSpPr>
          <p:cNvPr id="3946" name="Google Shape;3946;p187"/>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 → M → Y with unmeasured U confounding T and Y, but U not affecting M except through T.</a:t>
            </a:r>
            <a:endParaRPr sz="1250"/>
          </a:p>
        </p:txBody>
      </p:sp>
      <p:sp>
        <p:nvSpPr>
          <p:cNvPr id="3947" name="Google Shape;3947;p187"/>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187"/>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two-step logic</a:t>
            </a:r>
            <a:endParaRPr sz="1500"/>
          </a:p>
        </p:txBody>
      </p:sp>
      <p:sp>
        <p:nvSpPr>
          <p:cNvPr id="3949" name="Google Shape;3949;p187"/>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Identify T→M (unconfounded) and M→Y (adjusting for T), then chain them to recover the total effect of T on Y.</a:t>
            </a:r>
            <a:endParaRPr sz="1250"/>
          </a:p>
        </p:txBody>
      </p:sp>
      <p:sp>
        <p:nvSpPr>
          <p:cNvPr id="3950" name="Google Shape;3950;p187"/>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187"/>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When it helps</a:t>
            </a:r>
            <a:endParaRPr sz="1500"/>
          </a:p>
        </p:txBody>
      </p:sp>
      <p:sp>
        <p:nvSpPr>
          <p:cNvPr id="3952" name="Google Shape;3952;p187"/>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Rare but powerful — a credible, fully-observed mediating mechanism can rescue an otherwise-confounded question.</a:t>
            </a:r>
            <a:endParaRPr sz="1250"/>
          </a:p>
        </p:txBody>
      </p:sp>
      <p:sp>
        <p:nvSpPr>
          <p:cNvPr id="3953" name="Google Shape;3953;p18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IDENTIFICATION</a:t>
            </a:r>
            <a:endParaRPr sz="900"/>
          </a:p>
        </p:txBody>
      </p:sp>
      <p:sp>
        <p:nvSpPr>
          <p:cNvPr id="3954" name="Google Shape;3954;p18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215  /  268</a:t>
            </a:r>
            <a:endParaRPr sz="900"/>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59" name="Shape 3959"/>
        <p:cNvGrpSpPr/>
        <p:nvPr/>
      </p:nvGrpSpPr>
      <p:grpSpPr>
        <a:xfrm>
          <a:off x="0" y="0"/>
          <a:ext cx="0" cy="0"/>
          <a:chOff x="0" y="0"/>
          <a:chExt cx="0" cy="0"/>
        </a:xfrm>
      </p:grpSpPr>
      <p:sp>
        <p:nvSpPr>
          <p:cNvPr id="3960" name="Google Shape;3960;p18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IDENTIFICATION</a:t>
            </a:r>
            <a:endParaRPr sz="1200"/>
          </a:p>
        </p:txBody>
      </p:sp>
      <p:sp>
        <p:nvSpPr>
          <p:cNvPr id="3961" name="Google Shape;3961;p18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Mediation: Direct vs. Indirect Effects</a:t>
            </a:r>
            <a:endParaRPr sz="3400"/>
          </a:p>
        </p:txBody>
      </p:sp>
      <p:sp>
        <p:nvSpPr>
          <p:cNvPr id="3962" name="Google Shape;3962;p188"/>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Sometimes the question is not ‘does it work’ but ‘how’ — how much of the effect runs through a mechanism.</a:t>
            </a:r>
            <a:endParaRPr sz="1450"/>
          </a:p>
        </p:txBody>
      </p:sp>
      <p:sp>
        <p:nvSpPr>
          <p:cNvPr id="3963" name="Google Shape;3963;p188"/>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188"/>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decomposition</a:t>
            </a:r>
            <a:endParaRPr sz="1500"/>
          </a:p>
        </p:txBody>
      </p:sp>
      <p:sp>
        <p:nvSpPr>
          <p:cNvPr id="3965" name="Google Shape;3965;p188"/>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The total effect splits into a direct effect and an indirect (through-mediator) effect.</a:t>
            </a:r>
            <a:endParaRPr sz="1250"/>
          </a:p>
        </p:txBody>
      </p:sp>
      <p:sp>
        <p:nvSpPr>
          <p:cNvPr id="3966" name="Google Shape;3966;p188"/>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188"/>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extra assumptions</a:t>
            </a:r>
            <a:endParaRPr sz="1500"/>
          </a:p>
        </p:txBody>
      </p:sp>
      <p:sp>
        <p:nvSpPr>
          <p:cNvPr id="3968" name="Google Shape;3968;p188"/>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Mediation needs stronger, often untestable, no-confounding assumptions on the mediator–outcome link.</a:t>
            </a:r>
            <a:endParaRPr sz="1250"/>
          </a:p>
        </p:txBody>
      </p:sp>
      <p:sp>
        <p:nvSpPr>
          <p:cNvPr id="3969" name="Google Shape;3969;p188"/>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188"/>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caution</a:t>
            </a:r>
            <a:endParaRPr sz="1500"/>
          </a:p>
        </p:txBody>
      </p:sp>
      <p:sp>
        <p:nvSpPr>
          <p:cNvPr id="3971" name="Google Shape;3971;p188"/>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Do not ‘control for the mediator’ to get a direct effect naively — that reintroduces bias; use proper mediation estimators.</a:t>
            </a:r>
            <a:endParaRPr sz="1250"/>
          </a:p>
        </p:txBody>
      </p:sp>
      <p:sp>
        <p:nvSpPr>
          <p:cNvPr id="3972" name="Google Shape;3972;p188"/>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188"/>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MECHANISM ≠ FREE</a:t>
            </a:r>
            <a:endParaRPr sz="1100"/>
          </a:p>
        </p:txBody>
      </p:sp>
      <p:sp>
        <p:nvSpPr>
          <p:cNvPr id="3974" name="Google Shape;3974;p188"/>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Mechanism questions are valuable but demand more assumptions than total-effect questions. Be explicit that you are climbing to a harder rung.</a:t>
            </a:r>
            <a:endParaRPr sz="1350"/>
          </a:p>
        </p:txBody>
      </p:sp>
      <p:sp>
        <p:nvSpPr>
          <p:cNvPr id="3975" name="Google Shape;3975;p18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IDENTIFICATION</a:t>
            </a:r>
            <a:endParaRPr sz="900"/>
          </a:p>
        </p:txBody>
      </p:sp>
      <p:sp>
        <p:nvSpPr>
          <p:cNvPr id="3976" name="Google Shape;3976;p18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216  /  268</a:t>
            </a:r>
            <a:endParaRPr sz="900"/>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81" name="Shape 3981"/>
        <p:cNvGrpSpPr/>
        <p:nvPr/>
      </p:nvGrpSpPr>
      <p:grpSpPr>
        <a:xfrm>
          <a:off x="0" y="0"/>
          <a:ext cx="0" cy="0"/>
          <a:chOff x="0" y="0"/>
          <a:chExt cx="0" cy="0"/>
        </a:xfrm>
      </p:grpSpPr>
      <p:sp>
        <p:nvSpPr>
          <p:cNvPr id="3982" name="Google Shape;3982;p18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IDENTIFICATION</a:t>
            </a:r>
            <a:endParaRPr sz="1200"/>
          </a:p>
        </p:txBody>
      </p:sp>
      <p:sp>
        <p:nvSpPr>
          <p:cNvPr id="3983" name="Google Shape;3983;p18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Time-Varying Treatments &amp; g-Methods</a:t>
            </a:r>
            <a:endParaRPr sz="3400"/>
          </a:p>
        </p:txBody>
      </p:sp>
      <p:sp>
        <p:nvSpPr>
          <p:cNvPr id="3984" name="Google Shape;3984;p189"/>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When treatment and confounders evolve over time and influence each other, standard regression fails — even with the ‘right’ controls.</a:t>
            </a:r>
            <a:endParaRPr sz="1450"/>
          </a:p>
        </p:txBody>
      </p:sp>
      <p:sp>
        <p:nvSpPr>
          <p:cNvPr id="3985" name="Google Shape;3985;p189"/>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189"/>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trap</a:t>
            </a:r>
            <a:endParaRPr sz="1500"/>
          </a:p>
        </p:txBody>
      </p:sp>
      <p:sp>
        <p:nvSpPr>
          <p:cNvPr id="3987" name="Google Shape;3987;p189"/>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time-varying confounder that is also affected by past treatment is a confounder and a mediator at once; adjusting for it biases the effect either way.</a:t>
            </a:r>
            <a:endParaRPr sz="1250"/>
          </a:p>
        </p:txBody>
      </p:sp>
      <p:sp>
        <p:nvSpPr>
          <p:cNvPr id="3988" name="Google Shape;3988;p189"/>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189"/>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tools</a:t>
            </a:r>
            <a:endParaRPr sz="1500"/>
          </a:p>
        </p:txBody>
      </p:sp>
      <p:sp>
        <p:nvSpPr>
          <p:cNvPr id="3990" name="Google Shape;3990;p189"/>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g-computation, marginal structural models with IPW, and g-estimation handle the feedback correctly.</a:t>
            </a:r>
            <a:endParaRPr sz="1250"/>
          </a:p>
        </p:txBody>
      </p:sp>
      <p:sp>
        <p:nvSpPr>
          <p:cNvPr id="3991" name="Google Shape;3991;p189"/>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189"/>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Where it matters</a:t>
            </a:r>
            <a:endParaRPr sz="1500"/>
          </a:p>
        </p:txBody>
      </p:sp>
      <p:sp>
        <p:nvSpPr>
          <p:cNvPr id="3993" name="Google Shape;3993;p189"/>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Sequential decisions — dynamic treatment regimes, repeated interventions, longitudinal policy — need g-methods, not plain regression.</a:t>
            </a:r>
            <a:endParaRPr sz="1250"/>
          </a:p>
        </p:txBody>
      </p:sp>
      <p:sp>
        <p:nvSpPr>
          <p:cNvPr id="3994" name="Google Shape;3994;p18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IDENTIFICATION</a:t>
            </a:r>
            <a:endParaRPr sz="900"/>
          </a:p>
        </p:txBody>
      </p:sp>
      <p:sp>
        <p:nvSpPr>
          <p:cNvPr id="3995" name="Google Shape;3995;p18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217  /  268</a:t>
            </a:r>
            <a:endParaRPr sz="900"/>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00" name="Shape 4000"/>
        <p:cNvGrpSpPr/>
        <p:nvPr/>
      </p:nvGrpSpPr>
      <p:grpSpPr>
        <a:xfrm>
          <a:off x="0" y="0"/>
          <a:ext cx="0" cy="0"/>
          <a:chOff x="0" y="0"/>
          <a:chExt cx="0" cy="0"/>
        </a:xfrm>
      </p:grpSpPr>
      <p:sp>
        <p:nvSpPr>
          <p:cNvPr id="4001" name="Google Shape;4001;p19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IDENTIFICATION</a:t>
            </a:r>
            <a:endParaRPr sz="1200"/>
          </a:p>
        </p:txBody>
      </p:sp>
      <p:sp>
        <p:nvSpPr>
          <p:cNvPr id="4002" name="Google Shape;4002;p19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Double / Debiased Machine Learning</a:t>
            </a:r>
            <a:endParaRPr sz="3400"/>
          </a:p>
        </p:txBody>
      </p:sp>
      <p:sp>
        <p:nvSpPr>
          <p:cNvPr id="4003" name="Google Shape;4003;p190"/>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How to use flexible ML for nuisance functions without contaminating the effect estimate.</a:t>
            </a:r>
            <a:endParaRPr sz="1450"/>
          </a:p>
        </p:txBody>
      </p:sp>
      <p:sp>
        <p:nvSpPr>
          <p:cNvPr id="4004" name="Google Shape;4004;p190"/>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190"/>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Neyman orthogonality</a:t>
            </a:r>
            <a:endParaRPr sz="1500"/>
          </a:p>
        </p:txBody>
      </p:sp>
      <p:sp>
        <p:nvSpPr>
          <p:cNvPr id="4006" name="Google Shape;4006;p190"/>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Build the estimator so small errors in the nuisance models do not, to first order, bias the effect.</a:t>
            </a:r>
            <a:endParaRPr sz="1250"/>
          </a:p>
        </p:txBody>
      </p:sp>
      <p:sp>
        <p:nvSpPr>
          <p:cNvPr id="4007" name="Google Shape;4007;p190"/>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190"/>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Cross-fitting</a:t>
            </a:r>
            <a:endParaRPr sz="1500"/>
          </a:p>
        </p:txBody>
      </p:sp>
      <p:sp>
        <p:nvSpPr>
          <p:cNvPr id="4009" name="Google Shape;4009;p190"/>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Estimate nuisances on one fold and the effect on another, breaking the over-fitting that would invalidate inference.</a:t>
            </a:r>
            <a:endParaRPr sz="1250"/>
          </a:p>
        </p:txBody>
      </p:sp>
      <p:sp>
        <p:nvSpPr>
          <p:cNvPr id="4010" name="Google Shape;4010;p190"/>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190"/>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payoff</a:t>
            </a:r>
            <a:endParaRPr sz="1500"/>
          </a:p>
        </p:txBody>
      </p:sp>
      <p:sp>
        <p:nvSpPr>
          <p:cNvPr id="4012" name="Google Shape;4012;p190"/>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Gradient boosting, forests, or neural nets can model E[Y|X] and e(x) while the effect keeps valid confidence intervals.</a:t>
            </a:r>
            <a:endParaRPr sz="1250"/>
          </a:p>
        </p:txBody>
      </p:sp>
      <p:sp>
        <p:nvSpPr>
          <p:cNvPr id="4013" name="Google Shape;4013;p190"/>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190"/>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WHY IT WORKS</a:t>
            </a:r>
            <a:endParaRPr sz="1100"/>
          </a:p>
        </p:txBody>
      </p:sp>
      <p:sp>
        <p:nvSpPr>
          <p:cNvPr id="4015" name="Google Shape;4015;p190"/>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 + split</a:t>
            </a:r>
            <a:endParaRPr sz="5400"/>
          </a:p>
        </p:txBody>
      </p:sp>
      <p:sp>
        <p:nvSpPr>
          <p:cNvPr id="4016" name="Google Shape;4016;p190"/>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Orthogonal scores plus cross-fitting are what let modern ML power causal estimates without the usual regularisation bias.</a:t>
            </a:r>
            <a:endParaRPr sz="1300"/>
          </a:p>
        </p:txBody>
      </p:sp>
      <p:sp>
        <p:nvSpPr>
          <p:cNvPr id="4017" name="Google Shape;4017;p19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IDENTIFICATION</a:t>
            </a:r>
            <a:endParaRPr sz="900"/>
          </a:p>
        </p:txBody>
      </p:sp>
      <p:sp>
        <p:nvSpPr>
          <p:cNvPr id="4018" name="Google Shape;4018;p19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218  /  268</a:t>
            </a:r>
            <a:endParaRPr sz="900"/>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3" name="Shape 4023"/>
        <p:cNvGrpSpPr/>
        <p:nvPr/>
      </p:nvGrpSpPr>
      <p:grpSpPr>
        <a:xfrm>
          <a:off x="0" y="0"/>
          <a:ext cx="0" cy="0"/>
          <a:chOff x="0" y="0"/>
          <a:chExt cx="0" cy="0"/>
        </a:xfrm>
      </p:grpSpPr>
      <p:sp>
        <p:nvSpPr>
          <p:cNvPr id="4024" name="Google Shape;4024;p19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IDENTIFICATION</a:t>
            </a:r>
            <a:endParaRPr sz="1200"/>
          </a:p>
        </p:txBody>
      </p:sp>
      <p:sp>
        <p:nvSpPr>
          <p:cNvPr id="4025" name="Google Shape;4025;p19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Causal Forests for Heterogeneity</a:t>
            </a:r>
            <a:endParaRPr sz="3400"/>
          </a:p>
        </p:txBody>
      </p:sp>
      <p:sp>
        <p:nvSpPr>
          <p:cNvPr id="4026" name="Google Shape;4026;p191"/>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principled way to estimate how the effect τ(x) varies — with honest uncertainty for each subgroup.</a:t>
            </a:r>
            <a:endParaRPr sz="1450"/>
          </a:p>
        </p:txBody>
      </p:sp>
      <p:sp>
        <p:nvSpPr>
          <p:cNvPr id="4027" name="Google Shape;4027;p191"/>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191"/>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Honest splitting</a:t>
            </a:r>
            <a:endParaRPr sz="1500"/>
          </a:p>
        </p:txBody>
      </p:sp>
      <p:sp>
        <p:nvSpPr>
          <p:cNvPr id="4029" name="Google Shape;4029;p191"/>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Separate the data used to choose splits from the data used to estimate effects, avoiding over-fit CATEs.</a:t>
            </a:r>
            <a:endParaRPr sz="1250"/>
          </a:p>
        </p:txBody>
      </p:sp>
      <p:sp>
        <p:nvSpPr>
          <p:cNvPr id="4030" name="Google Shape;4030;p191"/>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191"/>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Local effects</a:t>
            </a:r>
            <a:endParaRPr sz="1500"/>
          </a:p>
        </p:txBody>
      </p:sp>
      <p:sp>
        <p:nvSpPr>
          <p:cNvPr id="4032" name="Google Shape;4032;p191"/>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Each leaf yields a locally near-randomized comparison, giving an effect estimate conditioned on covariates.</a:t>
            </a:r>
            <a:endParaRPr sz="1250"/>
          </a:p>
        </p:txBody>
      </p:sp>
      <p:sp>
        <p:nvSpPr>
          <p:cNvPr id="4033" name="Google Shape;4033;p191"/>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191"/>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Uses</a:t>
            </a:r>
            <a:endParaRPr sz="1500"/>
          </a:p>
        </p:txBody>
      </p:sp>
      <p:sp>
        <p:nvSpPr>
          <p:cNvPr id="4035" name="Google Shape;4035;p191"/>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Targeting policies, identifying who benefits or is harmed, and surfacing effect modifiers to test next.</a:t>
            </a:r>
            <a:endParaRPr sz="1250"/>
          </a:p>
        </p:txBody>
      </p:sp>
      <p:sp>
        <p:nvSpPr>
          <p:cNvPr id="4036" name="Google Shape;4036;p19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IDENTIFICATION</a:t>
            </a:r>
            <a:endParaRPr sz="900"/>
          </a:p>
        </p:txBody>
      </p:sp>
      <p:sp>
        <p:nvSpPr>
          <p:cNvPr id="4037" name="Google Shape;4037;p19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219  /  268</a:t>
            </a:r>
            <a:endParaRPr sz="900"/>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2" name="Shape 4042"/>
        <p:cNvGrpSpPr/>
        <p:nvPr/>
      </p:nvGrpSpPr>
      <p:grpSpPr>
        <a:xfrm>
          <a:off x="0" y="0"/>
          <a:ext cx="0" cy="0"/>
          <a:chOff x="0" y="0"/>
          <a:chExt cx="0" cy="0"/>
        </a:xfrm>
      </p:grpSpPr>
      <p:sp>
        <p:nvSpPr>
          <p:cNvPr id="4043" name="Google Shape;4043;p19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IDENTIFICATION</a:t>
            </a:r>
            <a:endParaRPr sz="1200"/>
          </a:p>
        </p:txBody>
      </p:sp>
      <p:sp>
        <p:nvSpPr>
          <p:cNvPr id="4044" name="Google Shape;4044;p19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From CATE to Policy</a:t>
            </a:r>
            <a:endParaRPr sz="3400"/>
          </a:p>
        </p:txBody>
      </p:sp>
      <p:sp>
        <p:nvSpPr>
          <p:cNvPr id="4045" name="Google Shape;4045;p192"/>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Estimating heterogeneous effects is a means; the end is a decision rule about whom to treat.</a:t>
            </a:r>
            <a:endParaRPr sz="1450"/>
          </a:p>
        </p:txBody>
      </p:sp>
      <p:sp>
        <p:nvSpPr>
          <p:cNvPr id="4046" name="Google Shape;4046;p192"/>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192"/>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Policy learning</a:t>
            </a:r>
            <a:endParaRPr sz="1500"/>
          </a:p>
        </p:txBody>
      </p:sp>
      <p:sp>
        <p:nvSpPr>
          <p:cNvPr id="4048" name="Google Shape;4048;p192"/>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Turn τ(x) into a treatment rule that maximises total benefit subject to budget or fairness constraints.</a:t>
            </a:r>
            <a:endParaRPr sz="1250"/>
          </a:p>
        </p:txBody>
      </p:sp>
      <p:sp>
        <p:nvSpPr>
          <p:cNvPr id="4049" name="Google Shape;4049;p192"/>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192"/>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Uplift, not response</a:t>
            </a:r>
            <a:endParaRPr sz="1500"/>
          </a:p>
        </p:txBody>
      </p:sp>
      <p:sp>
        <p:nvSpPr>
          <p:cNvPr id="4051" name="Google Shape;4051;p192"/>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Target those the treatment changes (high uplift), not those with high outcomes regardless — a common, costly confusion.</a:t>
            </a:r>
            <a:endParaRPr sz="1250"/>
          </a:p>
        </p:txBody>
      </p:sp>
      <p:sp>
        <p:nvSpPr>
          <p:cNvPr id="4052" name="Google Shape;4052;p192"/>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192"/>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Evaluate the policy</a:t>
            </a:r>
            <a:endParaRPr sz="1500"/>
          </a:p>
        </p:txBody>
      </p:sp>
      <p:sp>
        <p:nvSpPr>
          <p:cNvPr id="4054" name="Google Shape;4054;p192"/>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Estimate the value of a learned rule with a held-out set or a follow-up experiment before deploying it.</a:t>
            </a:r>
            <a:endParaRPr sz="1250"/>
          </a:p>
        </p:txBody>
      </p:sp>
      <p:sp>
        <p:nvSpPr>
          <p:cNvPr id="4055" name="Google Shape;4055;p192"/>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192"/>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TARGETING INSIGHT</a:t>
            </a:r>
            <a:endParaRPr sz="1100"/>
          </a:p>
        </p:txBody>
      </p:sp>
      <p:sp>
        <p:nvSpPr>
          <p:cNvPr id="4057" name="Google Shape;4057;p192"/>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Ranking users by predicted outcome and ranking by predicted uplift give different lists. Only the uplift list improves the decision.</a:t>
            </a:r>
            <a:endParaRPr sz="1350"/>
          </a:p>
        </p:txBody>
      </p:sp>
      <p:sp>
        <p:nvSpPr>
          <p:cNvPr id="4058" name="Google Shape;4058;p19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IDENTIFICATION</a:t>
            </a:r>
            <a:endParaRPr sz="900"/>
          </a:p>
        </p:txBody>
      </p:sp>
      <p:sp>
        <p:nvSpPr>
          <p:cNvPr id="4059" name="Google Shape;4059;p19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220  /  268</a:t>
            </a:r>
            <a:endParaRPr sz="900"/>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4064" name="Shape 4064"/>
        <p:cNvGrpSpPr/>
        <p:nvPr/>
      </p:nvGrpSpPr>
      <p:grpSpPr>
        <a:xfrm>
          <a:off x="0" y="0"/>
          <a:ext cx="0" cy="0"/>
          <a:chOff x="0" y="0"/>
          <a:chExt cx="0" cy="0"/>
        </a:xfrm>
      </p:grpSpPr>
      <p:sp>
        <p:nvSpPr>
          <p:cNvPr id="4065" name="Google Shape;4065;p193"/>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ADVANCED · MEASUREMENT</a:t>
            </a:r>
            <a:endParaRPr sz="1300"/>
          </a:p>
        </p:txBody>
      </p:sp>
      <p:sp>
        <p:nvSpPr>
          <p:cNvPr id="4066" name="Google Shape;4066;p193"/>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Long-Run Effects &amp; Measurement</a:t>
            </a:r>
            <a:endParaRPr sz="4000"/>
          </a:p>
        </p:txBody>
      </p:sp>
      <p:sp>
        <p:nvSpPr>
          <p:cNvPr id="4067" name="Google Shape;4067;p193"/>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Surrogates, novelty, regression to the mean, and combining evidence across studies.</a:t>
            </a:r>
            <a:endParaRPr sz="1500"/>
          </a:p>
        </p:txBody>
      </p:sp>
      <p:cxnSp>
        <p:nvCxnSpPr>
          <p:cNvPr id="4068" name="Google Shape;4068;p193"/>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4069" name="Google Shape;4069;p19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ADVANCED</a:t>
            </a:r>
            <a:endParaRPr sz="900"/>
          </a:p>
        </p:txBody>
      </p:sp>
      <p:sp>
        <p:nvSpPr>
          <p:cNvPr id="4070" name="Google Shape;4070;p19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221  /  268</a:t>
            </a:r>
            <a:endParaRPr sz="900"/>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75" name="Shape 4075"/>
        <p:cNvGrpSpPr/>
        <p:nvPr/>
      </p:nvGrpSpPr>
      <p:grpSpPr>
        <a:xfrm>
          <a:off x="0" y="0"/>
          <a:ext cx="0" cy="0"/>
          <a:chOff x="0" y="0"/>
          <a:chExt cx="0" cy="0"/>
        </a:xfrm>
      </p:grpSpPr>
      <p:sp>
        <p:nvSpPr>
          <p:cNvPr id="4076" name="Google Shape;4076;p19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MEASUREMENT</a:t>
            </a:r>
            <a:endParaRPr sz="1200"/>
          </a:p>
        </p:txBody>
      </p:sp>
      <p:sp>
        <p:nvSpPr>
          <p:cNvPr id="4077" name="Google Shape;4077;p19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Short-Term Proxies &amp; Surrogate Metrics</a:t>
            </a:r>
            <a:endParaRPr sz="3400"/>
          </a:p>
        </p:txBody>
      </p:sp>
      <p:sp>
        <p:nvSpPr>
          <p:cNvPr id="4078" name="Google Shape;4078;p194"/>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Decisions are often about long-run outcomes we cannot wait to measure — so we lean on surrogates, at our peril.</a:t>
            </a:r>
            <a:endParaRPr sz="1450"/>
          </a:p>
        </p:txBody>
      </p:sp>
      <p:sp>
        <p:nvSpPr>
          <p:cNvPr id="4079" name="Google Shape;4079;p194"/>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194"/>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temptation</a:t>
            </a:r>
            <a:endParaRPr sz="1500"/>
          </a:p>
        </p:txBody>
      </p:sp>
      <p:sp>
        <p:nvSpPr>
          <p:cNvPr id="4081" name="Google Shape;4081;p194"/>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Use an early, fast-moving proxy (clicks) to predict a slow, real goal (retention, lifetime value).</a:t>
            </a:r>
            <a:endParaRPr sz="1250"/>
          </a:p>
        </p:txBody>
      </p:sp>
      <p:sp>
        <p:nvSpPr>
          <p:cNvPr id="4082" name="Google Shape;4082;p194"/>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194"/>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surrogacy condition</a:t>
            </a:r>
            <a:endParaRPr sz="1500"/>
          </a:p>
        </p:txBody>
      </p:sp>
      <p:sp>
        <p:nvSpPr>
          <p:cNvPr id="4084" name="Google Shape;4084;p194"/>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valid surrogate fully mediates the treatment's effect on the true outcome — a strong, checkable-in-part assumption.</a:t>
            </a:r>
            <a:endParaRPr sz="1250"/>
          </a:p>
        </p:txBody>
      </p:sp>
      <p:sp>
        <p:nvSpPr>
          <p:cNvPr id="4085" name="Google Shape;4085;p194"/>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194"/>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risk</a:t>
            </a:r>
            <a:endParaRPr sz="1500"/>
          </a:p>
        </p:txBody>
      </p:sp>
      <p:sp>
        <p:nvSpPr>
          <p:cNvPr id="4087" name="Google Shape;4087;p194"/>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Optimising a broken surrogate can move the proxy while harming the real goal (proxy gaming).</a:t>
            </a:r>
            <a:endParaRPr sz="1250"/>
          </a:p>
        </p:txBody>
      </p:sp>
      <p:sp>
        <p:nvSpPr>
          <p:cNvPr id="4088" name="Google Shape;4088;p19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MEASUREMENT</a:t>
            </a:r>
            <a:endParaRPr sz="900"/>
          </a:p>
        </p:txBody>
      </p:sp>
      <p:sp>
        <p:nvSpPr>
          <p:cNvPr id="4089" name="Google Shape;4089;p19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222  /  268</a:t>
            </a:r>
            <a:endParaRPr sz="900"/>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94" name="Shape 4094"/>
        <p:cNvGrpSpPr/>
        <p:nvPr/>
      </p:nvGrpSpPr>
      <p:grpSpPr>
        <a:xfrm>
          <a:off x="0" y="0"/>
          <a:ext cx="0" cy="0"/>
          <a:chOff x="0" y="0"/>
          <a:chExt cx="0" cy="0"/>
        </a:xfrm>
      </p:grpSpPr>
      <p:sp>
        <p:nvSpPr>
          <p:cNvPr id="4095" name="Google Shape;4095;p19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MEASUREMENT</a:t>
            </a:r>
            <a:endParaRPr sz="1200"/>
          </a:p>
        </p:txBody>
      </p:sp>
      <p:sp>
        <p:nvSpPr>
          <p:cNvPr id="4096" name="Google Shape;4096;p19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Novelty &amp; Primacy Effects</a:t>
            </a:r>
            <a:endParaRPr sz="3400"/>
          </a:p>
        </p:txBody>
      </p:sp>
      <p:sp>
        <p:nvSpPr>
          <p:cNvPr id="4097" name="Google Shape;4097;p195"/>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Users react to change itself, not only to the treatment — and those reactions fade.</a:t>
            </a:r>
            <a:endParaRPr sz="1450"/>
          </a:p>
        </p:txBody>
      </p:sp>
      <p:sp>
        <p:nvSpPr>
          <p:cNvPr id="4098" name="Google Shape;4098;p195"/>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195"/>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Novelty effect</a:t>
            </a:r>
            <a:endParaRPr sz="1500"/>
          </a:p>
        </p:txBody>
      </p:sp>
      <p:sp>
        <p:nvSpPr>
          <p:cNvPr id="4100" name="Google Shape;4100;p195"/>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transient boost as users engage with something new; it decays toward the true steady-state effect.</a:t>
            </a:r>
            <a:endParaRPr sz="1250"/>
          </a:p>
        </p:txBody>
      </p:sp>
      <p:sp>
        <p:nvSpPr>
          <p:cNvPr id="4101" name="Google Shape;4101;p195"/>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195"/>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Primacy effect</a:t>
            </a:r>
            <a:endParaRPr sz="1500"/>
          </a:p>
        </p:txBody>
      </p:sp>
      <p:sp>
        <p:nvSpPr>
          <p:cNvPr id="4103" name="Google Shape;4103;p195"/>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transient dip as users adjust to a change; the true effect emerges only after adaptation.</a:t>
            </a:r>
            <a:endParaRPr sz="1250"/>
          </a:p>
        </p:txBody>
      </p:sp>
      <p:sp>
        <p:nvSpPr>
          <p:cNvPr id="4104" name="Google Shape;4104;p195"/>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195"/>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design response</a:t>
            </a:r>
            <a:endParaRPr sz="1500"/>
          </a:p>
        </p:txBody>
      </p:sp>
      <p:sp>
        <p:nvSpPr>
          <p:cNvPr id="4106" name="Google Shape;4106;p195"/>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Run to steady state, pre-register the evaluation window, and consider a long-run holdback to measure durable impact.</a:t>
            </a:r>
            <a:endParaRPr sz="1250"/>
          </a:p>
        </p:txBody>
      </p:sp>
      <p:sp>
        <p:nvSpPr>
          <p:cNvPr id="4107" name="Google Shape;4107;p195"/>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195"/>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ESTIMAND INCLUDES TIME</a:t>
            </a:r>
            <a:endParaRPr sz="1100"/>
          </a:p>
        </p:txBody>
      </p:sp>
      <p:sp>
        <p:nvSpPr>
          <p:cNvPr id="4109" name="Google Shape;4109;p195"/>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‘Effect at week one’ and ‘effect at steady state’ are different quantities. Decide which the decision needs before you launch.</a:t>
            </a:r>
            <a:endParaRPr sz="1350"/>
          </a:p>
        </p:txBody>
      </p:sp>
      <p:sp>
        <p:nvSpPr>
          <p:cNvPr id="4110" name="Google Shape;4110;p19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MEASUREMENT</a:t>
            </a:r>
            <a:endParaRPr sz="900"/>
          </a:p>
        </p:txBody>
      </p:sp>
      <p:sp>
        <p:nvSpPr>
          <p:cNvPr id="4111" name="Google Shape;4111;p19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223  /  268</a:t>
            </a:r>
            <a:endParaRPr sz="900"/>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6" name="Shape 4116"/>
        <p:cNvGrpSpPr/>
        <p:nvPr/>
      </p:nvGrpSpPr>
      <p:grpSpPr>
        <a:xfrm>
          <a:off x="0" y="0"/>
          <a:ext cx="0" cy="0"/>
          <a:chOff x="0" y="0"/>
          <a:chExt cx="0" cy="0"/>
        </a:xfrm>
      </p:grpSpPr>
      <p:sp>
        <p:nvSpPr>
          <p:cNvPr id="4117" name="Google Shape;4117;p19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MEASUREMENT</a:t>
            </a:r>
            <a:endParaRPr sz="1200"/>
          </a:p>
        </p:txBody>
      </p:sp>
      <p:sp>
        <p:nvSpPr>
          <p:cNvPr id="4118" name="Google Shape;4118;p19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Regression to the Mean</a:t>
            </a:r>
            <a:endParaRPr sz="3400"/>
          </a:p>
        </p:txBody>
      </p:sp>
      <p:sp>
        <p:nvSpPr>
          <p:cNvPr id="4119" name="Google Shape;4119;p196"/>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Selecting units because they were extreme, then re-measuring, guarantees apparent improvement — with no treatment at all.</a:t>
            </a:r>
            <a:endParaRPr sz="1450"/>
          </a:p>
        </p:txBody>
      </p:sp>
      <p:sp>
        <p:nvSpPr>
          <p:cNvPr id="4120" name="Google Shape;4120;p196"/>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1" name="Google Shape;4121;p196"/>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mechanism</a:t>
            </a:r>
            <a:endParaRPr sz="1500"/>
          </a:p>
        </p:txBody>
      </p:sp>
      <p:sp>
        <p:nvSpPr>
          <p:cNvPr id="4122" name="Google Shape;4122;p196"/>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Extreme observations contain extreme noise; on re-measurement, the noise averages out and values move toward the mean.</a:t>
            </a:r>
            <a:endParaRPr sz="1250"/>
          </a:p>
        </p:txBody>
      </p:sp>
      <p:sp>
        <p:nvSpPr>
          <p:cNvPr id="4123" name="Google Shape;4123;p196"/>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196"/>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false story</a:t>
            </a:r>
            <a:endParaRPr sz="1500"/>
          </a:p>
        </p:txBody>
      </p:sp>
      <p:sp>
        <p:nvSpPr>
          <p:cNvPr id="4125" name="Google Shape;4125;p196"/>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Targeting ‘worst performers’ for an intervention then seeing them improve can be pure regression to the mean.</a:t>
            </a:r>
            <a:endParaRPr sz="1250"/>
          </a:p>
        </p:txBody>
      </p:sp>
      <p:sp>
        <p:nvSpPr>
          <p:cNvPr id="4126" name="Google Shape;4126;p196"/>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196"/>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control</a:t>
            </a:r>
            <a:endParaRPr sz="1500"/>
          </a:p>
        </p:txBody>
      </p:sp>
      <p:sp>
        <p:nvSpPr>
          <p:cNvPr id="4128" name="Google Shape;4128;p196"/>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randomized control group experiences the same regression, so the between-arm difference remains a valid effect.</a:t>
            </a:r>
            <a:endParaRPr sz="1250"/>
          </a:p>
        </p:txBody>
      </p:sp>
      <p:sp>
        <p:nvSpPr>
          <p:cNvPr id="4129" name="Google Shape;4129;p19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MEASUREMENT</a:t>
            </a:r>
            <a:endParaRPr sz="900"/>
          </a:p>
        </p:txBody>
      </p:sp>
      <p:sp>
        <p:nvSpPr>
          <p:cNvPr id="4130" name="Google Shape;4130;p19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224  /  268</a:t>
            </a:r>
            <a:endParaRPr sz="900"/>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5" name="Shape 4135"/>
        <p:cNvGrpSpPr/>
        <p:nvPr/>
      </p:nvGrpSpPr>
      <p:grpSpPr>
        <a:xfrm>
          <a:off x="0" y="0"/>
          <a:ext cx="0" cy="0"/>
          <a:chOff x="0" y="0"/>
          <a:chExt cx="0" cy="0"/>
        </a:xfrm>
      </p:grpSpPr>
      <p:sp>
        <p:nvSpPr>
          <p:cNvPr id="4136" name="Google Shape;4136;p19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MEASUREMENT</a:t>
            </a:r>
            <a:endParaRPr sz="1200"/>
          </a:p>
        </p:txBody>
      </p:sp>
      <p:sp>
        <p:nvSpPr>
          <p:cNvPr id="4137" name="Google Shape;4137;p19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Combining Evidence Across Experiments</a:t>
            </a:r>
            <a:endParaRPr sz="3400"/>
          </a:p>
        </p:txBody>
      </p:sp>
      <p:sp>
        <p:nvSpPr>
          <p:cNvPr id="4138" name="Google Shape;4138;p197"/>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One experiment is a data point; a programme of experiments is knowledge — if combined correctly.</a:t>
            </a:r>
            <a:endParaRPr sz="1450"/>
          </a:p>
        </p:txBody>
      </p:sp>
      <p:sp>
        <p:nvSpPr>
          <p:cNvPr id="4139" name="Google Shape;4139;p197"/>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197"/>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Meta-analysis</a:t>
            </a:r>
            <a:endParaRPr sz="1500"/>
          </a:p>
        </p:txBody>
      </p:sp>
      <p:sp>
        <p:nvSpPr>
          <p:cNvPr id="4141" name="Google Shape;4141;p197"/>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Pool effects across studies with proper weighting; model between-study heterogeneity rather than assuming one true effect.</a:t>
            </a:r>
            <a:endParaRPr sz="1250"/>
          </a:p>
        </p:txBody>
      </p:sp>
      <p:sp>
        <p:nvSpPr>
          <p:cNvPr id="4142" name="Google Shape;4142;p197"/>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197"/>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Hierarchical shrinkage</a:t>
            </a:r>
            <a:endParaRPr sz="1500"/>
          </a:p>
        </p:txBody>
      </p:sp>
      <p:sp>
        <p:nvSpPr>
          <p:cNvPr id="4144" name="Google Shape;4144;p197"/>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Partial pooling stabilises noisy individual estimates and tempers the winner's curse across many tests.</a:t>
            </a:r>
            <a:endParaRPr sz="1250"/>
          </a:p>
        </p:txBody>
      </p:sp>
      <p:sp>
        <p:nvSpPr>
          <p:cNvPr id="4145" name="Google Shape;4145;p197"/>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197"/>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Institutional memory</a:t>
            </a:r>
            <a:endParaRPr sz="1500"/>
          </a:p>
        </p:txBody>
      </p:sp>
      <p:sp>
        <p:nvSpPr>
          <p:cNvPr id="4147" name="Google Shape;4147;p197"/>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searchable experiment repository turns scattered results into compounding organisational learning.</a:t>
            </a:r>
            <a:endParaRPr sz="1250"/>
          </a:p>
        </p:txBody>
      </p:sp>
      <p:sp>
        <p:nvSpPr>
          <p:cNvPr id="4148" name="Google Shape;4148;p19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MEASUREMENT</a:t>
            </a:r>
            <a:endParaRPr sz="900"/>
          </a:p>
        </p:txBody>
      </p:sp>
      <p:sp>
        <p:nvSpPr>
          <p:cNvPr id="4149" name="Google Shape;4149;p19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225  /  268</a:t>
            </a:r>
            <a:endParaRPr sz="900"/>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4" name="Shape 4154"/>
        <p:cNvGrpSpPr/>
        <p:nvPr/>
      </p:nvGrpSpPr>
      <p:grpSpPr>
        <a:xfrm>
          <a:off x="0" y="0"/>
          <a:ext cx="0" cy="0"/>
          <a:chOff x="0" y="0"/>
          <a:chExt cx="0" cy="0"/>
        </a:xfrm>
      </p:grpSpPr>
      <p:sp>
        <p:nvSpPr>
          <p:cNvPr id="4155" name="Google Shape;4155;p19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MEASUREMENT</a:t>
            </a:r>
            <a:endParaRPr sz="1200"/>
          </a:p>
        </p:txBody>
      </p:sp>
      <p:sp>
        <p:nvSpPr>
          <p:cNvPr id="4156" name="Google Shape;4156;p19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 Catalogue of Causal Fallacies</a:t>
            </a:r>
            <a:endParaRPr sz="3400"/>
          </a:p>
        </p:txBody>
      </p:sp>
      <p:sp>
        <p:nvSpPr>
          <p:cNvPr id="4157" name="Google Shape;4157;p198"/>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Named errors are easier to catch. Keep this list at hand during reviews.</a:t>
            </a:r>
            <a:endParaRPr sz="1450"/>
          </a:p>
        </p:txBody>
      </p:sp>
      <p:sp>
        <p:nvSpPr>
          <p:cNvPr id="4158" name="Google Shape;4158;p198"/>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198"/>
          <p:cNvSpPr/>
          <p:nvPr/>
        </p:nvSpPr>
        <p:spPr>
          <a:xfrm>
            <a:off x="841248" y="251460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Post hoc ergo propter hoc — ‘after, therefore because of’; sequence mistaken for cause.</a:t>
            </a:r>
            <a:endParaRPr sz="1400"/>
          </a:p>
        </p:txBody>
      </p:sp>
      <p:sp>
        <p:nvSpPr>
          <p:cNvPr id="4160" name="Google Shape;4160;p198"/>
          <p:cNvSpPr/>
          <p:nvPr/>
        </p:nvSpPr>
        <p:spPr>
          <a:xfrm>
            <a:off x="566928" y="3180588"/>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198"/>
          <p:cNvSpPr/>
          <p:nvPr/>
        </p:nvSpPr>
        <p:spPr>
          <a:xfrm>
            <a:off x="841248" y="311658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Confounding by indication — who gets treated is driven by the very risk that drives the outcome.</a:t>
            </a:r>
            <a:endParaRPr sz="1400"/>
          </a:p>
        </p:txBody>
      </p:sp>
      <p:sp>
        <p:nvSpPr>
          <p:cNvPr id="4162" name="Google Shape;4162;p198"/>
          <p:cNvSpPr/>
          <p:nvPr/>
        </p:nvSpPr>
        <p:spPr>
          <a:xfrm>
            <a:off x="566928" y="3782568"/>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198"/>
          <p:cNvSpPr/>
          <p:nvPr/>
        </p:nvSpPr>
        <p:spPr>
          <a:xfrm>
            <a:off x="841248" y="371856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Collider / selection bias — conditioning on a common effect invents association.</a:t>
            </a:r>
            <a:endParaRPr sz="1400"/>
          </a:p>
        </p:txBody>
      </p:sp>
      <p:sp>
        <p:nvSpPr>
          <p:cNvPr id="4164" name="Google Shape;4164;p198"/>
          <p:cNvSpPr/>
          <p:nvPr/>
        </p:nvSpPr>
        <p:spPr>
          <a:xfrm>
            <a:off x="566928" y="4384548"/>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198"/>
          <p:cNvSpPr/>
          <p:nvPr/>
        </p:nvSpPr>
        <p:spPr>
          <a:xfrm>
            <a:off x="841248" y="432054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Survivorship bias — analysing only the units that remained, ignoring those that dropped out.</a:t>
            </a:r>
            <a:endParaRPr sz="1400"/>
          </a:p>
        </p:txBody>
      </p:sp>
      <p:sp>
        <p:nvSpPr>
          <p:cNvPr id="4166" name="Google Shape;4166;p198"/>
          <p:cNvSpPr/>
          <p:nvPr/>
        </p:nvSpPr>
        <p:spPr>
          <a:xfrm>
            <a:off x="566928" y="4986528"/>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198"/>
          <p:cNvSpPr/>
          <p:nvPr/>
        </p:nvSpPr>
        <p:spPr>
          <a:xfrm>
            <a:off x="841248" y="492252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Immortal time bias — mis-classifying a period during which the outcome could not occur.</a:t>
            </a:r>
            <a:endParaRPr sz="1400"/>
          </a:p>
        </p:txBody>
      </p:sp>
      <p:sp>
        <p:nvSpPr>
          <p:cNvPr id="4168" name="Google Shape;4168;p198"/>
          <p:cNvSpPr/>
          <p:nvPr/>
        </p:nvSpPr>
        <p:spPr>
          <a:xfrm>
            <a:off x="566928" y="55885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198"/>
          <p:cNvSpPr/>
          <p:nvPr/>
        </p:nvSpPr>
        <p:spPr>
          <a:xfrm>
            <a:off x="841248" y="552450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Ecological fallacy — inferring individual effects from group-level correlations.</a:t>
            </a:r>
            <a:endParaRPr sz="1400"/>
          </a:p>
        </p:txBody>
      </p:sp>
      <p:sp>
        <p:nvSpPr>
          <p:cNvPr id="4170" name="Google Shape;4170;p19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MEASUREMENT</a:t>
            </a:r>
            <a:endParaRPr sz="900"/>
          </a:p>
        </p:txBody>
      </p:sp>
      <p:sp>
        <p:nvSpPr>
          <p:cNvPr id="4171" name="Google Shape;4171;p19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226  /  268</a:t>
            </a:r>
            <a:endParaRPr sz="900"/>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76" name="Shape 4176"/>
        <p:cNvGrpSpPr/>
        <p:nvPr/>
      </p:nvGrpSpPr>
      <p:grpSpPr>
        <a:xfrm>
          <a:off x="0" y="0"/>
          <a:ext cx="0" cy="0"/>
          <a:chOff x="0" y="0"/>
          <a:chExt cx="0" cy="0"/>
        </a:xfrm>
      </p:grpSpPr>
      <p:sp>
        <p:nvSpPr>
          <p:cNvPr id="4177" name="Google Shape;4177;p19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MEASUREMENT</a:t>
            </a:r>
            <a:endParaRPr sz="1200"/>
          </a:p>
        </p:txBody>
      </p:sp>
      <p:sp>
        <p:nvSpPr>
          <p:cNvPr id="4178" name="Google Shape;4178;p19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Communicating a Causal Result</a:t>
            </a:r>
            <a:endParaRPr sz="3400"/>
          </a:p>
        </p:txBody>
      </p:sp>
      <p:sp>
        <p:nvSpPr>
          <p:cNvPr id="4179" name="Google Shape;4179;p199"/>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last mile: turning a defensible estimate into a decision a stakeholder can own.</a:t>
            </a:r>
            <a:endParaRPr sz="1450"/>
          </a:p>
        </p:txBody>
      </p:sp>
      <p:sp>
        <p:nvSpPr>
          <p:cNvPr id="4180" name="Google Shape;4180;p199"/>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199"/>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Lead with the decision</a:t>
            </a:r>
            <a:endParaRPr sz="1500"/>
          </a:p>
        </p:txBody>
      </p:sp>
      <p:sp>
        <p:nvSpPr>
          <p:cNvPr id="4182" name="Google Shape;4182;p199"/>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State the recommendation and the effect in the metric's real units before any methodology.</a:t>
            </a:r>
            <a:endParaRPr sz="1250"/>
          </a:p>
        </p:txBody>
      </p:sp>
      <p:sp>
        <p:nvSpPr>
          <p:cNvPr id="4183" name="Google Shape;4183;p199"/>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199"/>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Show the interval and the assumption</a:t>
            </a:r>
            <a:endParaRPr sz="1500"/>
          </a:p>
        </p:txBody>
      </p:sp>
      <p:sp>
        <p:nvSpPr>
          <p:cNvPr id="4185" name="Google Shape;4185;p199"/>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Pair the estimate with its interval and the single load-bearing assumption, in plain language.</a:t>
            </a:r>
            <a:endParaRPr sz="1250"/>
          </a:p>
        </p:txBody>
      </p:sp>
      <p:sp>
        <p:nvSpPr>
          <p:cNvPr id="4186" name="Google Shape;4186;p199"/>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199"/>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Make the risk visible</a:t>
            </a:r>
            <a:endParaRPr sz="1500"/>
          </a:p>
        </p:txBody>
      </p:sp>
      <p:sp>
        <p:nvSpPr>
          <p:cNvPr id="4188" name="Google Shape;4188;p199"/>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Say how the decision would change if the key assumption failed — so the reader owns the residual risk.</a:t>
            </a:r>
            <a:endParaRPr sz="1250"/>
          </a:p>
        </p:txBody>
      </p:sp>
      <p:sp>
        <p:nvSpPr>
          <p:cNvPr id="4189" name="Google Shape;4189;p199"/>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199"/>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TEST OF A REPORT</a:t>
            </a:r>
            <a:endParaRPr sz="1100"/>
          </a:p>
        </p:txBody>
      </p:sp>
      <p:sp>
        <p:nvSpPr>
          <p:cNvPr id="4191" name="Google Shape;4191;p199"/>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350">
                <a:solidFill>
                  <a:srgbClr val="16233F"/>
                </a:solidFill>
                <a:latin typeface="Calibri"/>
                <a:ea typeface="Calibri"/>
                <a:cs typeface="Calibri"/>
                <a:sym typeface="Calibri"/>
              </a:rPr>
              <a:t>A skeptical reader should be able to find, in under a minute, the estimand, the interval, the key assumption, and the sensitivity. If they cannot, rewrite it.</a:t>
            </a:r>
            <a:endParaRPr sz="1350"/>
          </a:p>
        </p:txBody>
      </p:sp>
      <p:sp>
        <p:nvSpPr>
          <p:cNvPr id="4192" name="Google Shape;4192;p19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MEASUREMENT</a:t>
            </a:r>
            <a:endParaRPr sz="900"/>
          </a:p>
        </p:txBody>
      </p:sp>
      <p:sp>
        <p:nvSpPr>
          <p:cNvPr id="4193" name="Google Shape;4193;p19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227  /  268</a:t>
            </a:r>
            <a:endParaRPr sz="900"/>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ADVANCED · MEASUREMENT</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One Page, Three Interventions, One Threshold</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chart a decision-maker can actually act on: effects in business units, intervals, and the line that defines 'worth doing'.</a:t>
            </a:r>
            <a:endParaRPr sz="1450"/>
          </a:p>
        </p:txBody>
      </p:sp>
      <p:sp>
        <p:nvSpPr>
          <p:cNvPr id="274" name="Google Shape;274;p11"/>
          <p:cNvSpPr/>
          <p:nvPr/>
        </p:nvSpPr>
        <p:spPr>
          <a:xfrm>
            <a:off x="8540496" y="2249424"/>
            <a:ext cx="3081528" cy="3877056"/>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814816" y="2523744"/>
            <a:ext cx="25328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THE CENTREPIECE</a:t>
            </a:r>
            <a:endParaRPr sz="1100"/>
          </a:p>
        </p:txBody>
      </p:sp>
      <p:sp>
        <p:nvSpPr>
          <p:cNvPr id="276" name="Google Shape;276;p11"/>
          <p:cNvSpPr/>
          <p:nvPr/>
        </p:nvSpPr>
        <p:spPr>
          <a:xfrm>
            <a:off x="8814816" y="2907791"/>
            <a:ext cx="2532888" cy="2944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700"/>
              </a:spcAft>
              <a:buClr>
                <a:srgbClr val="16233F"/>
              </a:buClr>
              <a:buSzPts val="1350"/>
              <a:buFont typeface="Calibri"/>
              <a:buNone/>
            </a:pPr>
            <a:endParaRPr sz="1350"/>
            <a:r>
              <a:rPr i="1" lang="en-US" sz="1050">
                <a:solidFill>
                  <a:srgbClr val="16233F"/>
                </a:solidFill>
                <a:latin typeface="Calibri"/>
                <a:ea typeface="Calibri"/>
                <a:cs typeface="Calibri"/>
                <a:sym typeface="Calibri"/>
              </a:rPr>
              <a:t>Zero answers 'is there an effect'. The threshold answers 'is it worth it'. The interval answers 'how sure are we'. A point estimate answers none of the three.</a:t>
            </a:r>
          </a:p>
          <a:p>
            <a:pPr indent="0" lvl="0" marL="0" marR="0" rtl="0" algn="l">
              <a:lnSpc>
                <a:spcPct val="125000"/>
              </a:lnSpc>
              <a:spcBef>
                <a:spcPts val="0"/>
              </a:spcBef>
              <a:spcAft>
                <a:spcPts val="700"/>
              </a:spcAft>
              <a:buClr>
                <a:srgbClr val="16233F"/>
              </a:buClr>
              <a:buSzPts val="1350"/>
              <a:buFont typeface="Calibri"/>
              <a:buNone/>
            </a:pPr>
            <a:r>
              <a:rPr i="1" lang="en-US" sz="1050">
                <a:solidFill>
                  <a:srgbClr val="16233F"/>
                </a:solidFill>
                <a:latin typeface="Calibri"/>
                <a:ea typeface="Calibri"/>
                <a:cs typeface="Calibri"/>
                <a:sym typeface="Calibri"/>
              </a:rPr>
              <a:t>Autofill is significant yet its interval straddles the threshold — so the recommendation is hold and extend, not ship.</a:t>
            </a:r>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ADVANCED · MEASUREMENT</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228  /  268</a:t>
            </a:r>
            <a:endParaRPr sz="900"/>
          </a:p>
        </p:txBody>
      </p:sp>
      <p:pic>
        <p:nvPicPr>
          <p:cNvPr id="279" name="Picture 278" descr="m7_decision_plot.png"/>
          <p:cNvPicPr>
            <a:picLocks noChangeAspect="1"/>
          </p:cNvPicPr>
          <p:nvPr/>
        </p:nvPicPr>
        <p:blipFill>
          <a:blip r:embed="rId2"/>
          <a:stretch>
            <a:fillRect/>
          </a:stretch>
        </p:blipFill>
        <p:spPr>
          <a:xfrm>
            <a:off x="980329" y="2249424"/>
            <a:ext cx="6963884" cy="3877056"/>
          </a:xfrm>
          <a:prstGeom prst="rect">
            <a:avLst/>
          </a:prstGeom>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4198" name="Shape 4198"/>
        <p:cNvGrpSpPr/>
        <p:nvPr/>
      </p:nvGrpSpPr>
      <p:grpSpPr>
        <a:xfrm>
          <a:off x="0" y="0"/>
          <a:ext cx="0" cy="0"/>
          <a:chOff x="0" y="0"/>
          <a:chExt cx="0" cy="0"/>
        </a:xfrm>
      </p:grpSpPr>
      <p:sp>
        <p:nvSpPr>
          <p:cNvPr id="4199" name="Google Shape;4199;p200"/>
          <p:cNvSpPr/>
          <p:nvPr/>
        </p:nvSpPr>
        <p:spPr>
          <a:xfrm>
            <a:off x="566928" y="914400"/>
            <a:ext cx="18288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0"/>
              <a:buFont typeface="Cambria"/>
              <a:buNone/>
            </a:pPr>
            <a:r>
              <a:rPr b="1" lang="en-US" sz="12000">
                <a:solidFill>
                  <a:srgbClr val="3FA9E0"/>
                </a:solidFill>
                <a:latin typeface="Cambria"/>
                <a:ea typeface="Cambria"/>
                <a:cs typeface="Cambria"/>
                <a:sym typeface="Cambria"/>
              </a:rPr>
              <a:t>“</a:t>
            </a:r>
            <a:endParaRPr sz="12000"/>
          </a:p>
        </p:txBody>
      </p:sp>
      <p:sp>
        <p:nvSpPr>
          <p:cNvPr id="4200" name="Google Shape;4200;p200"/>
          <p:cNvSpPr/>
          <p:nvPr/>
        </p:nvSpPr>
        <p:spPr>
          <a:xfrm>
            <a:off x="749808" y="2194560"/>
            <a:ext cx="10515600" cy="2377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3000"/>
              <a:buFont typeface="Cambria"/>
              <a:buNone/>
            </a:pPr>
            <a:r>
              <a:rPr i="1" lang="en-US" sz="3000">
                <a:solidFill>
                  <a:srgbClr val="FFFFFF"/>
                </a:solidFill>
                <a:latin typeface="Cambria"/>
                <a:ea typeface="Cambria"/>
                <a:cs typeface="Cambria"/>
                <a:sym typeface="Cambria"/>
              </a:rPr>
              <a:t>Every method in this course is a different answer to one question: how do we see the outcome that did not happen?</a:t>
            </a:r>
            <a:endParaRPr sz="3000"/>
          </a:p>
        </p:txBody>
      </p:sp>
      <p:cxnSp>
        <p:nvCxnSpPr>
          <p:cNvPr id="4201" name="Google Shape;4201;p200"/>
          <p:cNvCxnSpPr/>
          <p:nvPr/>
        </p:nvCxnSpPr>
        <p:spPr>
          <a:xfrm>
            <a:off x="749808" y="4846320"/>
            <a:ext cx="1371600" cy="0"/>
          </a:xfrm>
          <a:prstGeom prst="straightConnector1">
            <a:avLst/>
          </a:prstGeom>
          <a:noFill/>
          <a:ln cap="flat" cmpd="sng" w="25400">
            <a:solidFill>
              <a:srgbClr val="3FA9E0"/>
            </a:solidFill>
            <a:prstDash val="solid"/>
            <a:round/>
            <a:headEnd len="sm" w="sm" type="none"/>
            <a:tailEnd len="sm" w="sm" type="none"/>
          </a:ln>
        </p:spPr>
      </p:cxnSp>
      <p:sp>
        <p:nvSpPr>
          <p:cNvPr id="4202" name="Google Shape;4202;p200"/>
          <p:cNvSpPr/>
          <p:nvPr/>
        </p:nvSpPr>
        <p:spPr>
          <a:xfrm>
            <a:off x="749808" y="502920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AF0"/>
              </a:buClr>
              <a:buSzPts val="1500"/>
              <a:buFont typeface="Calibri"/>
              <a:buNone/>
            </a:pPr>
            <a:r>
              <a:rPr b="1" lang="en-US" sz="1500">
                <a:solidFill>
                  <a:srgbClr val="C9DAF0"/>
                </a:solidFill>
                <a:latin typeface="Calibri"/>
                <a:ea typeface="Calibri"/>
                <a:cs typeface="Calibri"/>
                <a:sym typeface="Calibri"/>
              </a:rPr>
              <a:t>The through-line of causal inference</a:t>
            </a:r>
            <a:endParaRPr sz="1500"/>
          </a:p>
        </p:txBody>
      </p:sp>
      <p:sp>
        <p:nvSpPr>
          <p:cNvPr id="4203" name="Google Shape;4203;p200"/>
          <p:cNvSpPr/>
          <p:nvPr/>
        </p:nvSpPr>
        <p:spPr>
          <a:xfrm>
            <a:off x="749808" y="539496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1250"/>
              <a:buFont typeface="Calibri"/>
              <a:buNone/>
            </a:pPr>
            <a:r>
              <a:rPr lang="en-US" sz="1250">
                <a:solidFill>
                  <a:srgbClr val="9FB0C8"/>
                </a:solidFill>
                <a:latin typeface="Calibri"/>
                <a:ea typeface="Calibri"/>
                <a:cs typeface="Calibri"/>
                <a:sym typeface="Calibri"/>
              </a:rPr>
              <a:t>From potential outcomes to policy</a:t>
            </a:r>
            <a:endParaRPr sz="1250"/>
          </a:p>
        </p:txBody>
      </p:sp>
      <p:sp>
        <p:nvSpPr>
          <p:cNvPr id="4204" name="Google Shape;4204;p20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ADVANCED</a:t>
            </a:r>
            <a:endParaRPr sz="900"/>
          </a:p>
        </p:txBody>
      </p:sp>
      <p:sp>
        <p:nvSpPr>
          <p:cNvPr id="4205" name="Google Shape;4205;p20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229  /  268</a:t>
            </a:r>
            <a:endParaRPr sz="900"/>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4210" name="Shape 4210"/>
        <p:cNvGrpSpPr/>
        <p:nvPr/>
      </p:nvGrpSpPr>
      <p:grpSpPr>
        <a:xfrm>
          <a:off x="0" y="0"/>
          <a:ext cx="0" cy="0"/>
          <a:chOff x="0" y="0"/>
          <a:chExt cx="0" cy="0"/>
        </a:xfrm>
      </p:grpSpPr>
      <p:sp>
        <p:nvSpPr>
          <p:cNvPr id="4211" name="Google Shape;4211;p201"/>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PART 5</a:t>
            </a:r>
            <a:endParaRPr sz="1300"/>
          </a:p>
        </p:txBody>
      </p:sp>
      <p:sp>
        <p:nvSpPr>
          <p:cNvPr id="4212" name="Google Shape;4212;p201"/>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Reference, Toolkit &amp; Extended Examples</a:t>
            </a:r>
            <a:endParaRPr sz="4000"/>
          </a:p>
        </p:txBody>
      </p:sp>
      <p:sp>
        <p:nvSpPr>
          <p:cNvPr id="4213" name="Google Shape;4213;p201"/>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A working reference: extended numerical walkthroughs, cheat-sheets, checklists, professional-practice notes, glossary, and facilitator materials.</a:t>
            </a:r>
            <a:endParaRPr sz="1500"/>
          </a:p>
        </p:txBody>
      </p:sp>
      <p:cxnSp>
        <p:nvCxnSpPr>
          <p:cNvPr id="4214" name="Google Shape;4214;p201"/>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4215" name="Google Shape;4215;p20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REFERENCE</a:t>
            </a:r>
            <a:endParaRPr sz="900"/>
          </a:p>
        </p:txBody>
      </p:sp>
      <p:sp>
        <p:nvSpPr>
          <p:cNvPr id="4216" name="Google Shape;4216;p20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230  /  268</a:t>
            </a:r>
            <a:endParaRPr sz="900"/>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4221" name="Shape 4221"/>
        <p:cNvGrpSpPr/>
        <p:nvPr/>
      </p:nvGrpSpPr>
      <p:grpSpPr>
        <a:xfrm>
          <a:off x="0" y="0"/>
          <a:ext cx="0" cy="0"/>
          <a:chOff x="0" y="0"/>
          <a:chExt cx="0" cy="0"/>
        </a:xfrm>
      </p:grpSpPr>
      <p:sp>
        <p:nvSpPr>
          <p:cNvPr id="4222" name="Google Shape;4222;p202"/>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REFERENCE · WORKED EXAMPLES</a:t>
            </a:r>
            <a:endParaRPr sz="1300"/>
          </a:p>
        </p:txBody>
      </p:sp>
      <p:sp>
        <p:nvSpPr>
          <p:cNvPr id="4223" name="Google Shape;4223;p202"/>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Extended Numerical Walkthroughs</a:t>
            </a:r>
            <a:endParaRPr sz="4000"/>
          </a:p>
        </p:txBody>
      </p:sp>
      <p:sp>
        <p:nvSpPr>
          <p:cNvPr id="4224" name="Google Shape;4224;p202"/>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Six estimators, each carried through concrete numbers you can reproduce in the labs.</a:t>
            </a:r>
            <a:endParaRPr sz="1500"/>
          </a:p>
        </p:txBody>
      </p:sp>
      <p:cxnSp>
        <p:nvCxnSpPr>
          <p:cNvPr id="4225" name="Google Shape;4225;p202"/>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4226" name="Google Shape;4226;p20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REFERENCE</a:t>
            </a:r>
            <a:endParaRPr sz="900"/>
          </a:p>
        </p:txBody>
      </p:sp>
      <p:sp>
        <p:nvSpPr>
          <p:cNvPr id="4227" name="Google Shape;4227;p20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231  /  268</a:t>
            </a:r>
            <a:endParaRPr sz="900"/>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2" name="Shape 4232"/>
        <p:cNvGrpSpPr/>
        <p:nvPr/>
      </p:nvGrpSpPr>
      <p:grpSpPr>
        <a:xfrm>
          <a:off x="0" y="0"/>
          <a:ext cx="0" cy="0"/>
          <a:chOff x="0" y="0"/>
          <a:chExt cx="0" cy="0"/>
        </a:xfrm>
      </p:grpSpPr>
      <p:sp>
        <p:nvSpPr>
          <p:cNvPr id="4233" name="Google Shape;4233;p20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WORKED EXAMPLE · MATCHING</a:t>
            </a:r>
            <a:endParaRPr sz="1200"/>
          </a:p>
        </p:txBody>
      </p:sp>
      <p:sp>
        <p:nvSpPr>
          <p:cNvPr id="4234" name="Google Shape;4234;p20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Propensity Matching, Step by Step</a:t>
            </a:r>
            <a:endParaRPr sz="3400"/>
          </a:p>
        </p:txBody>
      </p:sp>
      <p:sp>
        <p:nvSpPr>
          <p:cNvPr id="4235" name="Google Shape;4235;p203"/>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Estimating the ATT by matching each treated unit to its nearest control on the propensity score.</a:t>
            </a:r>
            <a:endParaRPr sz="1450"/>
          </a:p>
        </p:txBody>
      </p:sp>
      <p:sp>
        <p:nvSpPr>
          <p:cNvPr id="4236" name="Google Shape;4236;p203"/>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203"/>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1 · Fit the propensity model</a:t>
            </a:r>
            <a:endParaRPr sz="1500"/>
          </a:p>
        </p:txBody>
      </p:sp>
      <p:sp>
        <p:nvSpPr>
          <p:cNvPr id="4238" name="Google Shape;4238;p203"/>
          <p:cNvSpPr/>
          <p:nvPr/>
        </p:nvSpPr>
        <p:spPr>
          <a:xfrm>
            <a:off x="859536" y="283464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Model e(x)=P(T=1|X) (e.g. logistic or gradient boosting) using only pre-treatment covariates.</a:t>
            </a:r>
            <a:endParaRPr sz="1250"/>
          </a:p>
        </p:txBody>
      </p:sp>
      <p:sp>
        <p:nvSpPr>
          <p:cNvPr id="4239" name="Google Shape;4239;p203"/>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203"/>
          <p:cNvSpPr/>
          <p:nvPr/>
        </p:nvSpPr>
        <p:spPr>
          <a:xfrm>
            <a:off x="859536" y="345186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2 · Match on the score</a:t>
            </a:r>
            <a:endParaRPr sz="1500"/>
          </a:p>
        </p:txBody>
      </p:sp>
      <p:sp>
        <p:nvSpPr>
          <p:cNvPr id="4241" name="Google Shape;4241;p203"/>
          <p:cNvSpPr/>
          <p:nvPr/>
        </p:nvSpPr>
        <p:spPr>
          <a:xfrm>
            <a:off x="859536" y="372618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For each treated unit, find the nearest control by |ê(xᵢ) − ê(xⱼ)| within a caliper (e.g. 0.2 × SD of the logit).</a:t>
            </a:r>
            <a:endParaRPr sz="1250"/>
          </a:p>
        </p:txBody>
      </p:sp>
      <p:sp>
        <p:nvSpPr>
          <p:cNvPr id="4242" name="Google Shape;4242;p203"/>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203"/>
          <p:cNvSpPr/>
          <p:nvPr/>
        </p:nvSpPr>
        <p:spPr>
          <a:xfrm>
            <a:off x="859536" y="434340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3 · Check balance</a:t>
            </a:r>
            <a:endParaRPr sz="1500"/>
          </a:p>
        </p:txBody>
      </p:sp>
      <p:sp>
        <p:nvSpPr>
          <p:cNvPr id="4244" name="Google Shape;4244;p203"/>
          <p:cNvSpPr/>
          <p:nvPr/>
        </p:nvSpPr>
        <p:spPr>
          <a:xfrm>
            <a:off x="859536" y="461772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Compute standardized mean differences after matching; all should fall below 0.1 for a credible comparison.</a:t>
            </a:r>
            <a:endParaRPr sz="1250"/>
          </a:p>
        </p:txBody>
      </p:sp>
      <p:sp>
        <p:nvSpPr>
          <p:cNvPr id="4245" name="Google Shape;4245;p203"/>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203"/>
          <p:cNvSpPr/>
          <p:nvPr/>
        </p:nvSpPr>
        <p:spPr>
          <a:xfrm>
            <a:off x="859536" y="523494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4 · Estimate the ATT</a:t>
            </a:r>
            <a:endParaRPr sz="1500"/>
          </a:p>
        </p:txBody>
      </p:sp>
      <p:sp>
        <p:nvSpPr>
          <p:cNvPr id="4247" name="Google Shape;4247;p203"/>
          <p:cNvSpPr/>
          <p:nvPr/>
        </p:nvSpPr>
        <p:spPr>
          <a:xfrm>
            <a:off x="859536" y="550926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Average the within-pair outcome differences; get the SE by a matching-appropriate method (not the naive bootstrap).</a:t>
            </a:r>
            <a:endParaRPr sz="1250"/>
          </a:p>
        </p:txBody>
      </p:sp>
      <p:sp>
        <p:nvSpPr>
          <p:cNvPr id="4248" name="Google Shape;4248;p203"/>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203"/>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BALANCE TARGET</a:t>
            </a:r>
            <a:endParaRPr sz="1100"/>
          </a:p>
        </p:txBody>
      </p:sp>
      <p:sp>
        <p:nvSpPr>
          <p:cNvPr id="4250" name="Google Shape;4250;p203"/>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SMD&lt;0.1</a:t>
            </a:r>
            <a:endParaRPr sz="5400"/>
          </a:p>
        </p:txBody>
      </p:sp>
      <p:sp>
        <p:nvSpPr>
          <p:cNvPr id="4251" name="Google Shape;4251;p203"/>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Matching is judged by the balance it achieves, not by the propensity model's accuracy. Report a love-plot of SMDs before and after.</a:t>
            </a:r>
            <a:endParaRPr sz="1300"/>
          </a:p>
        </p:txBody>
      </p:sp>
      <p:sp>
        <p:nvSpPr>
          <p:cNvPr id="4252" name="Google Shape;4252;p20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EXAMPLES</a:t>
            </a:r>
            <a:endParaRPr sz="900"/>
          </a:p>
        </p:txBody>
      </p:sp>
      <p:sp>
        <p:nvSpPr>
          <p:cNvPr id="4253" name="Google Shape;4253;p20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232  /  268</a:t>
            </a:r>
            <a:endParaRPr sz="900"/>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58" name="Shape 4258"/>
        <p:cNvGrpSpPr/>
        <p:nvPr/>
      </p:nvGrpSpPr>
      <p:grpSpPr>
        <a:xfrm>
          <a:off x="0" y="0"/>
          <a:ext cx="0" cy="0"/>
          <a:chOff x="0" y="0"/>
          <a:chExt cx="0" cy="0"/>
        </a:xfrm>
      </p:grpSpPr>
      <p:sp>
        <p:nvSpPr>
          <p:cNvPr id="4259" name="Google Shape;4259;p20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WORKED EXAMPLE · IPW</a:t>
            </a:r>
            <a:endParaRPr sz="1200"/>
          </a:p>
        </p:txBody>
      </p:sp>
      <p:sp>
        <p:nvSpPr>
          <p:cNvPr id="4260" name="Google Shape;4260;p20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Inverse-Probability Weights, Numerically</a:t>
            </a:r>
            <a:endParaRPr sz="3400"/>
          </a:p>
        </p:txBody>
      </p:sp>
      <p:sp>
        <p:nvSpPr>
          <p:cNvPr id="4261" name="Google Shape;4261;p204"/>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How a propensity score becomes a weight — and why extremes are dangerous.</a:t>
            </a:r>
            <a:endParaRPr sz="1450"/>
          </a:p>
        </p:txBody>
      </p:sp>
      <p:sp>
        <p:nvSpPr>
          <p:cNvPr id="4262" name="Google Shape;4262;p204"/>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204"/>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Treated unit, ê=0.8</a:t>
            </a:r>
            <a:endParaRPr sz="1500"/>
          </a:p>
        </p:txBody>
      </p:sp>
      <p:sp>
        <p:nvSpPr>
          <p:cNvPr id="4264" name="Google Shape;4264;p204"/>
          <p:cNvSpPr/>
          <p:nvPr/>
        </p:nvSpPr>
        <p:spPr>
          <a:xfrm>
            <a:off x="859536" y="283464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Weight = 1/0.8 = 1.25. A treated unit that ‘looks treated’ gets modest weight.</a:t>
            </a:r>
            <a:endParaRPr sz="1250"/>
          </a:p>
        </p:txBody>
      </p:sp>
      <p:sp>
        <p:nvSpPr>
          <p:cNvPr id="4265" name="Google Shape;4265;p204"/>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204"/>
          <p:cNvSpPr/>
          <p:nvPr/>
        </p:nvSpPr>
        <p:spPr>
          <a:xfrm>
            <a:off x="859536" y="345186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Treated unit, ê=0.05</a:t>
            </a:r>
            <a:endParaRPr sz="1500"/>
          </a:p>
        </p:txBody>
      </p:sp>
      <p:sp>
        <p:nvSpPr>
          <p:cNvPr id="4267" name="Google Shape;4267;p204"/>
          <p:cNvSpPr/>
          <p:nvPr/>
        </p:nvSpPr>
        <p:spPr>
          <a:xfrm>
            <a:off x="859536" y="372618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Weight = 1/0.05 = 20. A treated unit that ‘looks like a control’ dominates the estimate — a red flag.</a:t>
            </a:r>
            <a:endParaRPr sz="1250"/>
          </a:p>
        </p:txBody>
      </p:sp>
      <p:sp>
        <p:nvSpPr>
          <p:cNvPr id="4268" name="Google Shape;4268;p204"/>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204"/>
          <p:cNvSpPr/>
          <p:nvPr/>
        </p:nvSpPr>
        <p:spPr>
          <a:xfrm>
            <a:off x="859536" y="434340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Control unit, ê=0.9</a:t>
            </a:r>
            <a:endParaRPr sz="1500"/>
          </a:p>
        </p:txBody>
      </p:sp>
      <p:sp>
        <p:nvSpPr>
          <p:cNvPr id="4270" name="Google Shape;4270;p204"/>
          <p:cNvSpPr/>
          <p:nvPr/>
        </p:nvSpPr>
        <p:spPr>
          <a:xfrm>
            <a:off x="859536" y="461772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Weight = 1/(1−0.9) = 10. Symmetrically, near-certain-treated controls get huge weight.</a:t>
            </a:r>
            <a:endParaRPr sz="1250"/>
          </a:p>
        </p:txBody>
      </p:sp>
      <p:sp>
        <p:nvSpPr>
          <p:cNvPr id="4271" name="Google Shape;4271;p204"/>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204"/>
          <p:cNvSpPr/>
          <p:nvPr/>
        </p:nvSpPr>
        <p:spPr>
          <a:xfrm>
            <a:off x="859536" y="523494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Stabilise</a:t>
            </a:r>
            <a:endParaRPr sz="1500"/>
          </a:p>
        </p:txBody>
      </p:sp>
      <p:sp>
        <p:nvSpPr>
          <p:cNvPr id="4273" name="Google Shape;4273;p204"/>
          <p:cNvSpPr/>
          <p:nvPr/>
        </p:nvSpPr>
        <p:spPr>
          <a:xfrm>
            <a:off x="859536" y="550926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Multiply by the marginal treatment probability (stabilised weights) or trim/winsorise to tame the tail.</a:t>
            </a:r>
            <a:endParaRPr sz="1250"/>
          </a:p>
        </p:txBody>
      </p:sp>
      <p:sp>
        <p:nvSpPr>
          <p:cNvPr id="4274" name="Google Shape;4274;p204"/>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5" name="Google Shape;4275;p204"/>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DIAGNOSTIC</a:t>
            </a:r>
            <a:endParaRPr sz="1100"/>
          </a:p>
        </p:txBody>
      </p:sp>
      <p:sp>
        <p:nvSpPr>
          <p:cNvPr id="4276" name="Google Shape;4276;p204"/>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Always print the max and 99th-percentile weight. A handful of weights above ~10 means your effective sample is a few units — revisit overlap.</a:t>
            </a:r>
            <a:endParaRPr sz="1350"/>
          </a:p>
        </p:txBody>
      </p:sp>
      <p:sp>
        <p:nvSpPr>
          <p:cNvPr id="4277" name="Google Shape;4277;p20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EXAMPLES</a:t>
            </a:r>
            <a:endParaRPr sz="900"/>
          </a:p>
        </p:txBody>
      </p:sp>
      <p:sp>
        <p:nvSpPr>
          <p:cNvPr id="4278" name="Google Shape;4278;p20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233  /  268</a:t>
            </a:r>
            <a:endParaRPr sz="900"/>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83" name="Shape 4283"/>
        <p:cNvGrpSpPr/>
        <p:nvPr/>
      </p:nvGrpSpPr>
      <p:grpSpPr>
        <a:xfrm>
          <a:off x="0" y="0"/>
          <a:ext cx="0" cy="0"/>
          <a:chOff x="0" y="0"/>
          <a:chExt cx="0" cy="0"/>
        </a:xfrm>
      </p:grpSpPr>
      <p:sp>
        <p:nvSpPr>
          <p:cNvPr id="4284" name="Google Shape;4284;p20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WORKED EXAMPLE · DID</a:t>
            </a:r>
            <a:endParaRPr sz="1200"/>
          </a:p>
        </p:txBody>
      </p:sp>
      <p:sp>
        <p:nvSpPr>
          <p:cNvPr id="4285" name="Google Shape;4285;p20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 2×2 Difference-in-Differences Table</a:t>
            </a:r>
            <a:endParaRPr sz="3400"/>
          </a:p>
        </p:txBody>
      </p:sp>
      <p:sp>
        <p:nvSpPr>
          <p:cNvPr id="4286" name="Google Shape;4286;p205"/>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whole estimator in four numbers.</a:t>
            </a:r>
            <a:endParaRPr sz="1450"/>
          </a:p>
        </p:txBody>
      </p:sp>
      <p:sp>
        <p:nvSpPr>
          <p:cNvPr id="4287" name="Google Shape;4287;p205"/>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205"/>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cells</a:t>
            </a:r>
            <a:endParaRPr sz="1500"/>
          </a:p>
        </p:txBody>
      </p:sp>
      <p:sp>
        <p:nvSpPr>
          <p:cNvPr id="4289" name="Google Shape;4289;p205"/>
          <p:cNvSpPr/>
          <p:nvPr/>
        </p:nvSpPr>
        <p:spPr>
          <a:xfrm>
            <a:off x="859536" y="283464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Treated: 40 (pre) → 52 (post). Control: 38 (pre) → 44 (post).</a:t>
            </a:r>
            <a:endParaRPr sz="1250"/>
          </a:p>
        </p:txBody>
      </p:sp>
      <p:sp>
        <p:nvSpPr>
          <p:cNvPr id="4290" name="Google Shape;4290;p205"/>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205"/>
          <p:cNvSpPr/>
          <p:nvPr/>
        </p:nvSpPr>
        <p:spPr>
          <a:xfrm>
            <a:off x="859536" y="345186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First differences</a:t>
            </a:r>
            <a:endParaRPr sz="1500"/>
          </a:p>
        </p:txBody>
      </p:sp>
      <p:sp>
        <p:nvSpPr>
          <p:cNvPr id="4292" name="Google Shape;4292;p205"/>
          <p:cNvSpPr/>
          <p:nvPr/>
        </p:nvSpPr>
        <p:spPr>
          <a:xfrm>
            <a:off x="859536" y="372618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Treated change = 52 − 40 = 12. Control change = 44 − 38 = 6.</a:t>
            </a:r>
            <a:endParaRPr sz="1250"/>
          </a:p>
        </p:txBody>
      </p:sp>
      <p:sp>
        <p:nvSpPr>
          <p:cNvPr id="4293" name="Google Shape;4293;p205"/>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205"/>
          <p:cNvSpPr/>
          <p:nvPr/>
        </p:nvSpPr>
        <p:spPr>
          <a:xfrm>
            <a:off x="859536" y="434340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double difference</a:t>
            </a:r>
            <a:endParaRPr sz="1500"/>
          </a:p>
        </p:txBody>
      </p:sp>
      <p:sp>
        <p:nvSpPr>
          <p:cNvPr id="4295" name="Google Shape;4295;p205"/>
          <p:cNvSpPr/>
          <p:nvPr/>
        </p:nvSpPr>
        <p:spPr>
          <a:xfrm>
            <a:off x="859536" y="461772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DiD estimate = 12 − 6 = +6 — the effect, net of the common time trend of +6.</a:t>
            </a:r>
            <a:endParaRPr sz="1250"/>
          </a:p>
        </p:txBody>
      </p:sp>
      <p:sp>
        <p:nvSpPr>
          <p:cNvPr id="4296" name="Google Shape;4296;p205"/>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205"/>
          <p:cNvSpPr/>
          <p:nvPr/>
        </p:nvSpPr>
        <p:spPr>
          <a:xfrm>
            <a:off x="859536" y="523494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assumption</a:t>
            </a:r>
            <a:endParaRPr sz="1500"/>
          </a:p>
        </p:txBody>
      </p:sp>
      <p:sp>
        <p:nvSpPr>
          <p:cNvPr id="4298" name="Google Shape;4298;p205"/>
          <p:cNvSpPr/>
          <p:nvPr/>
        </p:nvSpPr>
        <p:spPr>
          <a:xfrm>
            <a:off x="859536" y="550926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Valid only if, absent treatment, the treated group would also have risen by +6 (parallel trends).</a:t>
            </a:r>
            <a:endParaRPr sz="1250"/>
          </a:p>
        </p:txBody>
      </p:sp>
      <p:sp>
        <p:nvSpPr>
          <p:cNvPr id="4299" name="Google Shape;4299;p205"/>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205"/>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DID</a:t>
            </a:r>
            <a:endParaRPr sz="1100"/>
          </a:p>
        </p:txBody>
      </p:sp>
      <p:sp>
        <p:nvSpPr>
          <p:cNvPr id="4301" name="Google Shape;4301;p205"/>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12 − 6</a:t>
            </a:r>
            <a:endParaRPr sz="5400"/>
          </a:p>
        </p:txBody>
      </p:sp>
      <p:sp>
        <p:nvSpPr>
          <p:cNvPr id="4302" name="Google Shape;4302;p205"/>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Subtracting the control's change removes any shock common to both groups. The remaining +6 is causal only under parallel trends.</a:t>
            </a:r>
            <a:endParaRPr sz="1300"/>
          </a:p>
        </p:txBody>
      </p:sp>
      <p:sp>
        <p:nvSpPr>
          <p:cNvPr id="4303" name="Google Shape;4303;p20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EXAMPLES</a:t>
            </a:r>
            <a:endParaRPr sz="900"/>
          </a:p>
        </p:txBody>
      </p:sp>
      <p:sp>
        <p:nvSpPr>
          <p:cNvPr id="4304" name="Google Shape;4304;p20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234  /  268</a:t>
            </a:r>
            <a:endParaRPr sz="900"/>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09" name="Shape 4309"/>
        <p:cNvGrpSpPr/>
        <p:nvPr/>
      </p:nvGrpSpPr>
      <p:grpSpPr>
        <a:xfrm>
          <a:off x="0" y="0"/>
          <a:ext cx="0" cy="0"/>
          <a:chOff x="0" y="0"/>
          <a:chExt cx="0" cy="0"/>
        </a:xfrm>
      </p:grpSpPr>
      <p:sp>
        <p:nvSpPr>
          <p:cNvPr id="4310" name="Google Shape;4310;p20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WORKED EXAMPLE · IV</a:t>
            </a:r>
            <a:endParaRPr sz="1200"/>
          </a:p>
        </p:txBody>
      </p:sp>
      <p:sp>
        <p:nvSpPr>
          <p:cNvPr id="4311" name="Google Shape;4311;p20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Wald Estimator</a:t>
            </a:r>
            <a:endParaRPr sz="3400"/>
          </a:p>
        </p:txBody>
      </p:sp>
      <p:sp>
        <p:nvSpPr>
          <p:cNvPr id="4312" name="Google Shape;4312;p206"/>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simplest instrumental-variables estimate: a ratio of two differences.</a:t>
            </a:r>
            <a:endParaRPr sz="1450"/>
          </a:p>
        </p:txBody>
      </p:sp>
      <p:sp>
        <p:nvSpPr>
          <p:cNvPr id="4313" name="Google Shape;4313;p206"/>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206"/>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setup</a:t>
            </a:r>
            <a:endParaRPr sz="1500"/>
          </a:p>
        </p:txBody>
      </p:sp>
      <p:sp>
        <p:nvSpPr>
          <p:cNvPr id="4315" name="Google Shape;4315;p206"/>
          <p:cNvSpPr/>
          <p:nvPr/>
        </p:nvSpPr>
        <p:spPr>
          <a:xfrm>
            <a:off x="859536" y="283464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random encouragement Z raises uptake of treatment T; we want the effect of T on Y among compliers.</a:t>
            </a:r>
            <a:endParaRPr sz="1250"/>
          </a:p>
        </p:txBody>
      </p:sp>
      <p:sp>
        <p:nvSpPr>
          <p:cNvPr id="4316" name="Google Shape;4316;p206"/>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206"/>
          <p:cNvSpPr/>
          <p:nvPr/>
        </p:nvSpPr>
        <p:spPr>
          <a:xfrm>
            <a:off x="859536" y="345186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Reduced form</a:t>
            </a:r>
            <a:endParaRPr sz="1500"/>
          </a:p>
        </p:txBody>
      </p:sp>
      <p:sp>
        <p:nvSpPr>
          <p:cNvPr id="4318" name="Google Shape;4318;p206"/>
          <p:cNvSpPr/>
          <p:nvPr/>
        </p:nvSpPr>
        <p:spPr>
          <a:xfrm>
            <a:off x="859536" y="372618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Effect of Z on Y = 0.9 percentage points (intention-to-treat on the outcome).</a:t>
            </a:r>
            <a:endParaRPr sz="1250"/>
          </a:p>
        </p:txBody>
      </p:sp>
      <p:sp>
        <p:nvSpPr>
          <p:cNvPr id="4319" name="Google Shape;4319;p206"/>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206"/>
          <p:cNvSpPr/>
          <p:nvPr/>
        </p:nvSpPr>
        <p:spPr>
          <a:xfrm>
            <a:off x="859536" y="434340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First stage</a:t>
            </a:r>
            <a:endParaRPr sz="1500"/>
          </a:p>
        </p:txBody>
      </p:sp>
      <p:sp>
        <p:nvSpPr>
          <p:cNvPr id="4321" name="Google Shape;4321;p206"/>
          <p:cNvSpPr/>
          <p:nvPr/>
        </p:nvSpPr>
        <p:spPr>
          <a:xfrm>
            <a:off x="859536" y="461772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Effect of Z on T = 0.30 (the encouragement raised uptake by 30 points).</a:t>
            </a:r>
            <a:endParaRPr sz="1250"/>
          </a:p>
        </p:txBody>
      </p:sp>
      <p:sp>
        <p:nvSpPr>
          <p:cNvPr id="4322" name="Google Shape;4322;p206"/>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206"/>
          <p:cNvSpPr/>
          <p:nvPr/>
        </p:nvSpPr>
        <p:spPr>
          <a:xfrm>
            <a:off x="859536" y="523494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Wald ratio (LATE)</a:t>
            </a:r>
            <a:endParaRPr sz="1500"/>
          </a:p>
        </p:txBody>
      </p:sp>
      <p:sp>
        <p:nvSpPr>
          <p:cNvPr id="4324" name="Google Shape;4324;p206"/>
          <p:cNvSpPr/>
          <p:nvPr/>
        </p:nvSpPr>
        <p:spPr>
          <a:xfrm>
            <a:off x="859536" y="550926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0.9 / 0.30 = 3.0 — the effect for compliers, scaling the ITT up by the compliance rate.</a:t>
            </a:r>
            <a:endParaRPr sz="1250"/>
          </a:p>
        </p:txBody>
      </p:sp>
      <p:sp>
        <p:nvSpPr>
          <p:cNvPr id="4325" name="Google Shape;4325;p206"/>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206"/>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READ CAREFULLY</a:t>
            </a:r>
            <a:endParaRPr sz="1100"/>
          </a:p>
        </p:txBody>
      </p:sp>
      <p:sp>
        <p:nvSpPr>
          <p:cNvPr id="4327" name="Google Shape;4327;p206"/>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A weak first stage (small denominator) makes the ratio explode and its inference unreliable — always report the first-stage strength.</a:t>
            </a:r>
            <a:endParaRPr sz="1350"/>
          </a:p>
        </p:txBody>
      </p:sp>
      <p:sp>
        <p:nvSpPr>
          <p:cNvPr id="4328" name="Google Shape;4328;p20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EXAMPLES</a:t>
            </a:r>
            <a:endParaRPr sz="900"/>
          </a:p>
        </p:txBody>
      </p:sp>
      <p:sp>
        <p:nvSpPr>
          <p:cNvPr id="4329" name="Google Shape;4329;p20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235  /  268</a:t>
            </a:r>
            <a:endParaRPr sz="900"/>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4" name="Shape 4334"/>
        <p:cNvGrpSpPr/>
        <p:nvPr/>
      </p:nvGrpSpPr>
      <p:grpSpPr>
        <a:xfrm>
          <a:off x="0" y="0"/>
          <a:ext cx="0" cy="0"/>
          <a:chOff x="0" y="0"/>
          <a:chExt cx="0" cy="0"/>
        </a:xfrm>
      </p:grpSpPr>
      <p:sp>
        <p:nvSpPr>
          <p:cNvPr id="4335" name="Google Shape;4335;p20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WORKED EXAMPLE · RDD</a:t>
            </a:r>
            <a:endParaRPr sz="1200"/>
          </a:p>
        </p:txBody>
      </p:sp>
      <p:sp>
        <p:nvSpPr>
          <p:cNvPr id="4336" name="Google Shape;4336;p20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Estimating the Jump at a Cutoff</a:t>
            </a:r>
            <a:endParaRPr sz="3400"/>
          </a:p>
        </p:txBody>
      </p:sp>
      <p:sp>
        <p:nvSpPr>
          <p:cNvPr id="4337" name="Google Shape;4337;p207"/>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A sharp regression-discontinuity effect is the gap in fitted outcomes at the threshold.</a:t>
            </a:r>
            <a:endParaRPr sz="1450"/>
          </a:p>
        </p:txBody>
      </p:sp>
      <p:sp>
        <p:nvSpPr>
          <p:cNvPr id="4338" name="Google Shape;4338;p207"/>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207"/>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running variable</a:t>
            </a:r>
            <a:endParaRPr sz="1500"/>
          </a:p>
        </p:txBody>
      </p:sp>
      <p:sp>
        <p:nvSpPr>
          <p:cNvPr id="4340" name="Google Shape;4340;p207"/>
          <p:cNvSpPr/>
          <p:nvPr/>
        </p:nvSpPr>
        <p:spPr>
          <a:xfrm>
            <a:off x="859536" y="283464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Firms with a score ≥ 70 receive the subsidy; below 70 do not. The score is the running variable, 70 the cutoff.</a:t>
            </a:r>
            <a:endParaRPr sz="1250"/>
          </a:p>
        </p:txBody>
      </p:sp>
      <p:sp>
        <p:nvSpPr>
          <p:cNvPr id="4341" name="Google Shape;4341;p207"/>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207"/>
          <p:cNvSpPr/>
          <p:nvPr/>
        </p:nvSpPr>
        <p:spPr>
          <a:xfrm>
            <a:off x="859536" y="345186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Local fits</a:t>
            </a:r>
            <a:endParaRPr sz="1500"/>
          </a:p>
        </p:txBody>
      </p:sp>
      <p:sp>
        <p:nvSpPr>
          <p:cNvPr id="4343" name="Google Shape;4343;p207"/>
          <p:cNvSpPr/>
          <p:nvPr/>
        </p:nvSpPr>
        <p:spPr>
          <a:xfrm>
            <a:off x="859536" y="372618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Fit a flexible local regression just below and just above 70 within a chosen bandwidth.</a:t>
            </a:r>
            <a:endParaRPr sz="1250"/>
          </a:p>
        </p:txBody>
      </p:sp>
      <p:sp>
        <p:nvSpPr>
          <p:cNvPr id="4344" name="Google Shape;4344;p207"/>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207"/>
          <p:cNvSpPr/>
          <p:nvPr/>
        </p:nvSpPr>
        <p:spPr>
          <a:xfrm>
            <a:off x="859536" y="434340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estimate</a:t>
            </a:r>
            <a:endParaRPr sz="1500"/>
          </a:p>
        </p:txBody>
      </p:sp>
      <p:sp>
        <p:nvSpPr>
          <p:cNvPr id="4346" name="Google Shape;4346;p207"/>
          <p:cNvSpPr/>
          <p:nvPr/>
        </p:nvSpPr>
        <p:spPr>
          <a:xfrm>
            <a:off x="859536" y="461772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Predicted outcome at 70⁺ minus at 70⁻ — say 44 vs. 40 — gives a local effect of +4.</a:t>
            </a:r>
            <a:endParaRPr sz="1250"/>
          </a:p>
        </p:txBody>
      </p:sp>
      <p:sp>
        <p:nvSpPr>
          <p:cNvPr id="4347" name="Google Shape;4347;p207"/>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207"/>
          <p:cNvSpPr/>
          <p:nvPr/>
        </p:nvSpPr>
        <p:spPr>
          <a:xfrm>
            <a:off x="859536" y="523494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Robustness</a:t>
            </a:r>
            <a:endParaRPr sz="1500"/>
          </a:p>
        </p:txBody>
      </p:sp>
      <p:sp>
        <p:nvSpPr>
          <p:cNvPr id="4349" name="Google Shape;4349;p207"/>
          <p:cNvSpPr/>
          <p:nvPr/>
        </p:nvSpPr>
        <p:spPr>
          <a:xfrm>
            <a:off x="859536" y="550926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Re-estimate across bandwidths and polynomial orders; run a density (McCrary) test for manipulation at 70.</a:t>
            </a:r>
            <a:endParaRPr sz="1250"/>
          </a:p>
        </p:txBody>
      </p:sp>
      <p:sp>
        <p:nvSpPr>
          <p:cNvPr id="4350" name="Google Shape;4350;p207"/>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207"/>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LOCAL EFFECT</a:t>
            </a:r>
            <a:endParaRPr sz="1100"/>
          </a:p>
        </p:txBody>
      </p:sp>
      <p:sp>
        <p:nvSpPr>
          <p:cNvPr id="4352" name="Google Shape;4352;p207"/>
          <p:cNvSpPr/>
          <p:nvPr/>
        </p:nvSpPr>
        <p:spPr>
          <a:xfrm>
            <a:off x="7744968" y="2331720"/>
            <a:ext cx="3605479"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33F"/>
              </a:buClr>
              <a:buSzPts val="5400"/>
              <a:buFont typeface="Cambria"/>
              <a:buNone/>
            </a:pPr>
            <a:r>
              <a:rPr b="1" lang="en-US" sz="5400">
                <a:solidFill>
                  <a:srgbClr val="16233F"/>
                </a:solidFill>
                <a:latin typeface="Cambria"/>
                <a:ea typeface="Cambria"/>
                <a:cs typeface="Cambria"/>
                <a:sym typeface="Cambria"/>
              </a:rPr>
              <a:t>44 − 40</a:t>
            </a:r>
            <a:endParaRPr sz="5400"/>
          </a:p>
        </p:txBody>
      </p:sp>
      <p:sp>
        <p:nvSpPr>
          <p:cNvPr id="4353" name="Google Shape;4353;p207"/>
          <p:cNvSpPr/>
          <p:nvPr/>
        </p:nvSpPr>
        <p:spPr>
          <a:xfrm>
            <a:off x="7744968" y="3520440"/>
            <a:ext cx="3605479" cy="2103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66581"/>
              </a:buClr>
              <a:buSzPts val="1300"/>
              <a:buFont typeface="Calibri"/>
              <a:buNone/>
            </a:pPr>
            <a:r>
              <a:rPr lang="en-US" sz="1300">
                <a:solidFill>
                  <a:srgbClr val="566581"/>
                </a:solidFill>
                <a:latin typeface="Calibri"/>
                <a:ea typeface="Calibri"/>
                <a:cs typeface="Calibri"/>
                <a:sym typeface="Calibri"/>
              </a:rPr>
              <a:t>RDD identifies the effect for units at the cutoff. Its credibility rests on smoothness of everything else through the threshold.</a:t>
            </a:r>
            <a:endParaRPr sz="1300"/>
          </a:p>
        </p:txBody>
      </p:sp>
      <p:sp>
        <p:nvSpPr>
          <p:cNvPr id="4354" name="Google Shape;4354;p20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EXAMPLES</a:t>
            </a:r>
            <a:endParaRPr sz="900"/>
          </a:p>
        </p:txBody>
      </p:sp>
      <p:sp>
        <p:nvSpPr>
          <p:cNvPr id="4355" name="Google Shape;4355;p20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236  /  268</a:t>
            </a:r>
            <a:endParaRPr sz="900"/>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60" name="Shape 4360"/>
        <p:cNvGrpSpPr/>
        <p:nvPr/>
      </p:nvGrpSpPr>
      <p:grpSpPr>
        <a:xfrm>
          <a:off x="0" y="0"/>
          <a:ext cx="0" cy="0"/>
          <a:chOff x="0" y="0"/>
          <a:chExt cx="0" cy="0"/>
        </a:xfrm>
      </p:grpSpPr>
      <p:sp>
        <p:nvSpPr>
          <p:cNvPr id="4361" name="Google Shape;4361;p20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WORKED EXAMPLE · POWER</a:t>
            </a:r>
            <a:endParaRPr sz="1200"/>
          </a:p>
        </p:txBody>
      </p:sp>
      <p:sp>
        <p:nvSpPr>
          <p:cNvPr id="4362" name="Google Shape;4362;p20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 Sample-Size Calculation</a:t>
            </a:r>
            <a:endParaRPr sz="3400"/>
          </a:p>
        </p:txBody>
      </p:sp>
      <p:sp>
        <p:nvSpPr>
          <p:cNvPr id="4363" name="Google Shape;4363;p208"/>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Sizing an A/B test for a conversion metric, end to end.</a:t>
            </a:r>
            <a:endParaRPr sz="1450"/>
          </a:p>
        </p:txBody>
      </p:sp>
      <p:sp>
        <p:nvSpPr>
          <p:cNvPr id="4364" name="Google Shape;4364;p208"/>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208"/>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Baseline &amp; target</a:t>
            </a:r>
            <a:endParaRPr sz="1500"/>
          </a:p>
        </p:txBody>
      </p:sp>
      <p:sp>
        <p:nvSpPr>
          <p:cNvPr id="4366" name="Google Shape;4366;p208"/>
          <p:cNvSpPr/>
          <p:nvPr/>
        </p:nvSpPr>
        <p:spPr>
          <a:xfrm>
            <a:off x="859536" y="283464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Baseline conversion 10%; we want to detect a relative lift of 5% (absolute +0.5 pt) at α = 0.05, power 0.8.</a:t>
            </a:r>
            <a:endParaRPr sz="1250"/>
          </a:p>
        </p:txBody>
      </p:sp>
      <p:sp>
        <p:nvSpPr>
          <p:cNvPr id="4367" name="Google Shape;4367;p208"/>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208"/>
          <p:cNvSpPr/>
          <p:nvPr/>
        </p:nvSpPr>
        <p:spPr>
          <a:xfrm>
            <a:off x="859536" y="345186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Per-arm formula</a:t>
            </a:r>
            <a:endParaRPr sz="1500"/>
          </a:p>
        </p:txBody>
      </p:sp>
      <p:sp>
        <p:nvSpPr>
          <p:cNvPr id="4369" name="Google Shape;4369;p208"/>
          <p:cNvSpPr/>
          <p:nvPr/>
        </p:nvSpPr>
        <p:spPr>
          <a:xfrm>
            <a:off x="859536" y="372618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n per arm ≈ (z_{0.025}+z_{0.20})² · 2·p(1−p) / δ² with p≈0.10, δ = 0.005.</a:t>
            </a:r>
            <a:endParaRPr sz="1250"/>
          </a:p>
        </p:txBody>
      </p:sp>
      <p:sp>
        <p:nvSpPr>
          <p:cNvPr id="4370" name="Google Shape;4370;p208"/>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208"/>
          <p:cNvSpPr/>
          <p:nvPr/>
        </p:nvSpPr>
        <p:spPr>
          <a:xfrm>
            <a:off x="859536" y="434340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The number</a:t>
            </a:r>
            <a:endParaRPr sz="1500"/>
          </a:p>
        </p:txBody>
      </p:sp>
      <p:sp>
        <p:nvSpPr>
          <p:cNvPr id="4372" name="Google Shape;4372;p208"/>
          <p:cNvSpPr/>
          <p:nvPr/>
        </p:nvSpPr>
        <p:spPr>
          <a:xfrm>
            <a:off x="859536" y="461772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 (1.96+0.84)² · 2(0.09) / 0.000025 ≈ 56,400 per arm — about 113k total.</a:t>
            </a:r>
            <a:endParaRPr sz="1250"/>
          </a:p>
        </p:txBody>
      </p:sp>
      <p:sp>
        <p:nvSpPr>
          <p:cNvPr id="4373" name="Google Shape;4373;p208"/>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208"/>
          <p:cNvSpPr/>
          <p:nvPr/>
        </p:nvSpPr>
        <p:spPr>
          <a:xfrm>
            <a:off x="859536" y="523494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Lever</a:t>
            </a:r>
            <a:endParaRPr sz="1500"/>
          </a:p>
        </p:txBody>
      </p:sp>
      <p:sp>
        <p:nvSpPr>
          <p:cNvPr id="4375" name="Google Shape;4375;p208"/>
          <p:cNvSpPr/>
          <p:nvPr/>
        </p:nvSpPr>
        <p:spPr>
          <a:xfrm>
            <a:off x="859536" y="5509260"/>
            <a:ext cx="6217920"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CUPED or a lower target lift changes this sharply: n scales with 1/δ² and with residual variance.</a:t>
            </a:r>
            <a:endParaRPr sz="1250"/>
          </a:p>
        </p:txBody>
      </p:sp>
      <p:sp>
        <p:nvSpPr>
          <p:cNvPr id="4376" name="Google Shape;4376;p208"/>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208"/>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SANITY CHECK</a:t>
            </a:r>
            <a:endParaRPr sz="1100"/>
          </a:p>
        </p:txBody>
      </p:sp>
      <p:sp>
        <p:nvSpPr>
          <p:cNvPr id="4378" name="Google Shape;4378;p208"/>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lang="en-US" sz="1350">
                <a:solidFill>
                  <a:srgbClr val="16233F"/>
                </a:solidFill>
                <a:latin typeface="Calibri"/>
                <a:ea typeface="Calibri"/>
                <a:cs typeface="Calibri"/>
                <a:sym typeface="Calibri"/>
              </a:rPr>
              <a:t>If the required runtime exceeds a few weeks at your traffic, either accept a larger MDE, add variance reduction, or reconsider the test.</a:t>
            </a:r>
            <a:endParaRPr sz="1350"/>
          </a:p>
        </p:txBody>
      </p:sp>
      <p:sp>
        <p:nvSpPr>
          <p:cNvPr id="4379" name="Google Shape;4379;p20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EXAMPLES</a:t>
            </a:r>
            <a:endParaRPr sz="900"/>
          </a:p>
        </p:txBody>
      </p:sp>
      <p:sp>
        <p:nvSpPr>
          <p:cNvPr id="4380" name="Google Shape;4380;p20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237  /  268</a:t>
            </a:r>
            <a:endParaRPr sz="900"/>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4385" name="Shape 4385"/>
        <p:cNvGrpSpPr/>
        <p:nvPr/>
      </p:nvGrpSpPr>
      <p:grpSpPr>
        <a:xfrm>
          <a:off x="0" y="0"/>
          <a:ext cx="0" cy="0"/>
          <a:chOff x="0" y="0"/>
          <a:chExt cx="0" cy="0"/>
        </a:xfrm>
      </p:grpSpPr>
      <p:sp>
        <p:nvSpPr>
          <p:cNvPr id="4386" name="Google Shape;4386;p209"/>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REFERENCE · CHEAT-SHEETS</a:t>
            </a:r>
            <a:endParaRPr sz="1300"/>
          </a:p>
        </p:txBody>
      </p:sp>
      <p:sp>
        <p:nvSpPr>
          <p:cNvPr id="4387" name="Google Shape;4387;p209"/>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Decision &amp; Method References</a:t>
            </a:r>
            <a:endParaRPr sz="4000"/>
          </a:p>
        </p:txBody>
      </p:sp>
      <p:sp>
        <p:nvSpPr>
          <p:cNvPr id="4388" name="Google Shape;4388;p209"/>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One-glance tables for estimands, assumptions, estimators, standard errors, and design selection.</a:t>
            </a:r>
            <a:endParaRPr sz="1500"/>
          </a:p>
        </p:txBody>
      </p:sp>
      <p:cxnSp>
        <p:nvCxnSpPr>
          <p:cNvPr id="4389" name="Google Shape;4389;p209"/>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4390" name="Google Shape;4390;p20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REFERENCE</a:t>
            </a:r>
            <a:endParaRPr sz="900"/>
          </a:p>
        </p:txBody>
      </p:sp>
      <p:sp>
        <p:nvSpPr>
          <p:cNvPr id="4391" name="Google Shape;4391;p20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238  /  268</a:t>
            </a:r>
            <a:endParaRPr sz="900"/>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96" name="Shape 4396"/>
        <p:cNvGrpSpPr/>
        <p:nvPr/>
      </p:nvGrpSpPr>
      <p:grpSpPr>
        <a:xfrm>
          <a:off x="0" y="0"/>
          <a:ext cx="0" cy="0"/>
          <a:chOff x="0" y="0"/>
          <a:chExt cx="0" cy="0"/>
        </a:xfrm>
      </p:grpSpPr>
      <p:sp>
        <p:nvSpPr>
          <p:cNvPr id="4397" name="Google Shape;4397;p21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SELECTION</a:t>
            </a:r>
            <a:endParaRPr sz="1200"/>
          </a:p>
        </p:txBody>
      </p:sp>
      <p:sp>
        <p:nvSpPr>
          <p:cNvPr id="4398" name="Google Shape;4398;p21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Which Design Should I Use?</a:t>
            </a:r>
            <a:endParaRPr sz="3400"/>
          </a:p>
        </p:txBody>
      </p:sp>
      <p:sp>
        <p:nvSpPr>
          <p:cNvPr id="4399" name="Google Shape;4399;p210"/>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 quick decision path from constraints to a credible design.</a:t>
            </a:r>
            <a:endParaRPr sz="1400"/>
          </a:p>
        </p:txBody>
      </p:sp>
      <p:sp>
        <p:nvSpPr>
          <p:cNvPr id="4400" name="Google Shape;4400;p210"/>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210"/>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1</a:t>
            </a:r>
            <a:endParaRPr sz="1300"/>
          </a:p>
        </p:txBody>
      </p:sp>
      <p:sp>
        <p:nvSpPr>
          <p:cNvPr id="4402" name="Google Shape;4402;p210"/>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Can you randomize?</a:t>
            </a:r>
            <a:endParaRPr sz="1600"/>
          </a:p>
        </p:txBody>
      </p:sp>
      <p:sp>
        <p:nvSpPr>
          <p:cNvPr id="4403" name="Google Shape;4403;p210"/>
          <p:cNvSpPr/>
          <p:nvPr/>
        </p:nvSpPr>
        <p:spPr>
          <a:xfrm>
            <a:off x="1298448" y="2734056"/>
            <a:ext cx="10234879" cy="37490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Yes → run an experiment (Day 2). It is the gold standard; everything else approximates it.</a:t>
            </a:r>
            <a:endParaRPr sz="1250"/>
          </a:p>
        </p:txBody>
      </p:sp>
      <p:sp>
        <p:nvSpPr>
          <p:cNvPr id="4404" name="Google Shape;4404;p210"/>
          <p:cNvSpPr/>
          <p:nvPr/>
        </p:nvSpPr>
        <p:spPr>
          <a:xfrm>
            <a:off x="566928" y="3209544"/>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210"/>
          <p:cNvSpPr/>
          <p:nvPr/>
        </p:nvSpPr>
        <p:spPr>
          <a:xfrm>
            <a:off x="566928" y="320954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2</a:t>
            </a:r>
            <a:endParaRPr sz="1300"/>
          </a:p>
        </p:txBody>
      </p:sp>
      <p:sp>
        <p:nvSpPr>
          <p:cNvPr id="4406" name="Google Shape;4406;p210"/>
          <p:cNvSpPr/>
          <p:nvPr/>
        </p:nvSpPr>
        <p:spPr>
          <a:xfrm>
            <a:off x="1298448" y="3163824"/>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Is there a threshold rule?</a:t>
            </a:r>
            <a:endParaRPr sz="1600"/>
          </a:p>
        </p:txBody>
      </p:sp>
      <p:sp>
        <p:nvSpPr>
          <p:cNvPr id="4407" name="Google Shape;4407;p210"/>
          <p:cNvSpPr/>
          <p:nvPr/>
        </p:nvSpPr>
        <p:spPr>
          <a:xfrm>
            <a:off x="1298448" y="3474720"/>
            <a:ext cx="10234879" cy="37490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cutoff on a running variable → regression discontinuity (sharp or fuzzy).</a:t>
            </a:r>
            <a:endParaRPr sz="1250"/>
          </a:p>
        </p:txBody>
      </p:sp>
      <p:sp>
        <p:nvSpPr>
          <p:cNvPr id="4408" name="Google Shape;4408;p210"/>
          <p:cNvSpPr/>
          <p:nvPr/>
        </p:nvSpPr>
        <p:spPr>
          <a:xfrm>
            <a:off x="566928" y="3950208"/>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210"/>
          <p:cNvSpPr/>
          <p:nvPr/>
        </p:nvSpPr>
        <p:spPr>
          <a:xfrm>
            <a:off x="566928" y="395020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3</a:t>
            </a:r>
            <a:endParaRPr sz="1300"/>
          </a:p>
        </p:txBody>
      </p:sp>
      <p:sp>
        <p:nvSpPr>
          <p:cNvPr id="4410" name="Google Shape;4410;p210"/>
          <p:cNvSpPr/>
          <p:nvPr/>
        </p:nvSpPr>
        <p:spPr>
          <a:xfrm>
            <a:off x="1298448" y="3904488"/>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A nudge that shifts uptake only?</a:t>
            </a:r>
            <a:endParaRPr sz="1600"/>
          </a:p>
        </p:txBody>
      </p:sp>
      <p:sp>
        <p:nvSpPr>
          <p:cNvPr id="4411" name="Google Shape;4411;p210"/>
          <p:cNvSpPr/>
          <p:nvPr/>
        </p:nvSpPr>
        <p:spPr>
          <a:xfrm>
            <a:off x="1298448" y="4215384"/>
            <a:ext cx="10234879" cy="37490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A valid instrument → IV / 2SLS, estimating the LATE for compliers.</a:t>
            </a:r>
            <a:endParaRPr sz="1250"/>
          </a:p>
        </p:txBody>
      </p:sp>
      <p:sp>
        <p:nvSpPr>
          <p:cNvPr id="4412" name="Google Shape;4412;p210"/>
          <p:cNvSpPr/>
          <p:nvPr/>
        </p:nvSpPr>
        <p:spPr>
          <a:xfrm>
            <a:off x="566928" y="4690872"/>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210"/>
          <p:cNvSpPr/>
          <p:nvPr/>
        </p:nvSpPr>
        <p:spPr>
          <a:xfrm>
            <a:off x="566928" y="469087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4</a:t>
            </a:r>
            <a:endParaRPr sz="1300"/>
          </a:p>
        </p:txBody>
      </p:sp>
      <p:sp>
        <p:nvSpPr>
          <p:cNvPr id="4414" name="Google Shape;4414;p210"/>
          <p:cNvSpPr/>
          <p:nvPr/>
        </p:nvSpPr>
        <p:spPr>
          <a:xfrm>
            <a:off x="1298448" y="4645152"/>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A known switch-on time + comparisons?</a:t>
            </a:r>
            <a:endParaRPr sz="1600"/>
          </a:p>
        </p:txBody>
      </p:sp>
      <p:sp>
        <p:nvSpPr>
          <p:cNvPr id="4415" name="Google Shape;4415;p210"/>
          <p:cNvSpPr/>
          <p:nvPr/>
        </p:nvSpPr>
        <p:spPr>
          <a:xfrm>
            <a:off x="1298448" y="4956048"/>
            <a:ext cx="10234879" cy="37490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Difference-in-differences or synthetic control, checking pre-trends.</a:t>
            </a:r>
            <a:endParaRPr sz="1250"/>
          </a:p>
        </p:txBody>
      </p:sp>
      <p:sp>
        <p:nvSpPr>
          <p:cNvPr id="4416" name="Google Shape;4416;p210"/>
          <p:cNvSpPr/>
          <p:nvPr/>
        </p:nvSpPr>
        <p:spPr>
          <a:xfrm>
            <a:off x="566928" y="5431536"/>
            <a:ext cx="502920" cy="50292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210"/>
          <p:cNvSpPr/>
          <p:nvPr/>
        </p:nvSpPr>
        <p:spPr>
          <a:xfrm>
            <a:off x="566928" y="543153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5</a:t>
            </a:r>
            <a:endParaRPr sz="1300"/>
          </a:p>
        </p:txBody>
      </p:sp>
      <p:sp>
        <p:nvSpPr>
          <p:cNvPr id="4418" name="Google Shape;4418;p210"/>
          <p:cNvSpPr/>
          <p:nvPr/>
        </p:nvSpPr>
        <p:spPr>
          <a:xfrm>
            <a:off x="1298448" y="5385816"/>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Rich covariates, plausibly no hidden confounder?</a:t>
            </a:r>
            <a:endParaRPr sz="1600"/>
          </a:p>
        </p:txBody>
      </p:sp>
      <p:sp>
        <p:nvSpPr>
          <p:cNvPr id="4419" name="Google Shape;4419;p210"/>
          <p:cNvSpPr/>
          <p:nvPr/>
        </p:nvSpPr>
        <p:spPr>
          <a:xfrm>
            <a:off x="1298448" y="5696712"/>
            <a:ext cx="10234879" cy="37490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Doubly-robust adjustment with cross-fitting, plus a sensitivity analysis.</a:t>
            </a:r>
            <a:endParaRPr sz="1250"/>
          </a:p>
        </p:txBody>
      </p:sp>
      <p:sp>
        <p:nvSpPr>
          <p:cNvPr id="4420" name="Google Shape;4420;p21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CHEAT-SHEETS</a:t>
            </a:r>
            <a:endParaRPr sz="900"/>
          </a:p>
        </p:txBody>
      </p:sp>
      <p:sp>
        <p:nvSpPr>
          <p:cNvPr id="4421" name="Google Shape;4421;p21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239  /  268</a:t>
            </a:r>
            <a:endParaRPr sz="900"/>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2" name="Google Shape;262;p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SELECTION</a:t>
            </a:r>
            <a:endParaRPr sz="1200"/>
          </a:p>
        </p:txBody>
      </p:sp>
      <p:sp>
        <p:nvSpPr>
          <p:cNvPr id="263" name="Google Shape;263;p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Which Design Should I Use?</a:t>
            </a:r>
            <a:endParaRPr sz="3400"/>
          </a:p>
        </p:txBody>
      </p:sp>
      <p:sp>
        <p:nvSpPr>
          <p:cNvPr id="264" name="Google Shape;264;p11"/>
          <p:cNvSpPr/>
          <p:nvPr/>
        </p:nvSpPr>
        <p:spPr>
          <a:xfrm>
            <a:off x="566928" y="1627632"/>
            <a:ext cx="11055096" cy="5303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Four questions, asked in this order, before any data is touched. Method selection is itself a causal decision.</a:t>
            </a:r>
            <a:endParaRPr sz="1450"/>
          </a:p>
        </p:txBody>
      </p:sp>
      <p:sp>
        <p:nvSpPr>
          <p:cNvPr id="276" name="Google Shape;276;p11"/>
          <p:cNvSpPr/>
          <p:nvPr/>
        </p:nvSpPr>
        <p:spPr>
          <a:xfrm>
            <a:off x="566928" y="5797296"/>
            <a:ext cx="11055096" cy="40233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100">
                <a:solidFill>
                  <a:srgbClr val="16233F"/>
                </a:solidFill>
                <a:latin typeface="Calibri"/>
                <a:ea typeface="Calibri"/>
                <a:cs typeface="Calibri"/>
                <a:sym typeface="Calibri"/>
              </a:rPr>
              <a:t>THE LAST BOX — Notice that 'not identifiable' is on the flowchart. It is a legitimate destination, not a dead end you route around.</a:t>
            </a:r>
            <a:endParaRPr sz="1350"/>
          </a:p>
        </p:txBody>
      </p:sp>
      <p:sp>
        <p:nvSpPr>
          <p:cNvPr id="277" name="Google Shape;277;p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CHEAT-SHEETS</a:t>
            </a:r>
            <a:endParaRPr sz="900"/>
          </a:p>
        </p:txBody>
      </p:sp>
      <p:sp>
        <p:nvSpPr>
          <p:cNvPr id="278" name="Google Shape;278;p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240  /  268</a:t>
            </a:r>
            <a:endParaRPr sz="900"/>
          </a:p>
        </p:txBody>
      </p:sp>
      <p:pic>
        <p:nvPicPr>
          <p:cNvPr id="279" name="Picture 278" descr="m7_method_selection.png"/>
          <p:cNvPicPr>
            <a:picLocks noChangeAspect="1"/>
          </p:cNvPicPr>
          <p:nvPr/>
        </p:nvPicPr>
        <p:blipFill>
          <a:blip r:embed="rId2"/>
          <a:stretch>
            <a:fillRect/>
          </a:stretch>
        </p:blipFill>
        <p:spPr>
          <a:xfrm>
            <a:off x="879647" y="2212848"/>
            <a:ext cx="10429657" cy="3474720"/>
          </a:xfrm>
          <a:prstGeom prst="rect">
            <a:avLst/>
          </a:prstGeom>
        </p:spPr>
      </p:pic>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26" name="Shape 4426"/>
        <p:cNvGrpSpPr/>
        <p:nvPr/>
      </p:nvGrpSpPr>
      <p:grpSpPr>
        <a:xfrm>
          <a:off x="0" y="0"/>
          <a:ext cx="0" cy="0"/>
          <a:chOff x="0" y="0"/>
          <a:chExt cx="0" cy="0"/>
        </a:xfrm>
      </p:grpSpPr>
      <p:sp>
        <p:nvSpPr>
          <p:cNvPr id="4427" name="Google Shape;4427;p21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CHEAT-SHEETS</a:t>
            </a:r>
            <a:endParaRPr sz="1200"/>
          </a:p>
        </p:txBody>
      </p:sp>
      <p:sp>
        <p:nvSpPr>
          <p:cNvPr id="4428" name="Google Shape;4428;p21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Estimand Cheat-Sheet</a:t>
            </a:r>
            <a:endParaRPr sz="3400"/>
          </a:p>
        </p:txBody>
      </p:sp>
      <p:graphicFrame>
        <p:nvGraphicFramePr>
          <p:cNvPr id="4429" name="Google Shape;4429;p211"/>
          <p:cNvGraphicFramePr/>
          <p:nvPr/>
        </p:nvGraphicFramePr>
        <p:xfrm>
          <a:off x="566928" y="1783080"/>
          <a:ext cx="3000000" cy="3000000"/>
        </p:xfrm>
        <a:graphic>
          <a:graphicData uri="http://schemas.openxmlformats.org/drawingml/2006/table">
            <a:tbl>
              <a:tblPr>
                <a:noFill/>
                <a:tableStyleId>{B3C4230F-BFAA-4733-B5D7-E1172E9C1B61}</a:tableStyleId>
              </a:tblPr>
              <a:tblGrid>
                <a:gridCol w="2011675"/>
                <a:gridCol w="4572000"/>
                <a:gridCol w="4489700"/>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Estimand</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Definition</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When to target it</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ATE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E[Y(1) − Y(0)]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Population-wide ‘treat everyone vs. no one’ decisions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ATT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E[Y(1) − Y(0) | T=1]</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Value of a treatment for those who actually received it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ATC</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E[Y(1) − Y(0) | T=0]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Whether to extend treatment to the currently untreated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CATE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E[Y(1) − Y(0) | X=x]</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Targeting, personalisation, fairness, heterogeneity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ITT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Effect of assignment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Realistic rollout impact under imperfect compliance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LATE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Effect on compliers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IV / encouragement designs with partial compliance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bl>
          </a:graphicData>
        </a:graphic>
      </p:graphicFrame>
      <p:sp>
        <p:nvSpPr>
          <p:cNvPr id="4430" name="Google Shape;4430;p21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CHEAT-SHEETS</a:t>
            </a:r>
            <a:endParaRPr sz="900"/>
          </a:p>
        </p:txBody>
      </p:sp>
      <p:sp>
        <p:nvSpPr>
          <p:cNvPr id="4431" name="Google Shape;4431;p21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241  /  268</a:t>
            </a:r>
            <a:endParaRPr sz="900"/>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6" name="Shape 4436"/>
        <p:cNvGrpSpPr/>
        <p:nvPr/>
      </p:nvGrpSpPr>
      <p:grpSpPr>
        <a:xfrm>
          <a:off x="0" y="0"/>
          <a:ext cx="0" cy="0"/>
          <a:chOff x="0" y="0"/>
          <a:chExt cx="0" cy="0"/>
        </a:xfrm>
      </p:grpSpPr>
      <p:sp>
        <p:nvSpPr>
          <p:cNvPr id="4437" name="Google Shape;4437;p21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CHEAT-SHEETS</a:t>
            </a:r>
            <a:endParaRPr sz="1200"/>
          </a:p>
        </p:txBody>
      </p:sp>
      <p:sp>
        <p:nvSpPr>
          <p:cNvPr id="4438" name="Google Shape;4438;p21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Assumptions Cheat-Sheet</a:t>
            </a:r>
            <a:endParaRPr sz="3400"/>
          </a:p>
        </p:txBody>
      </p:sp>
      <p:graphicFrame>
        <p:nvGraphicFramePr>
          <p:cNvPr id="4439" name="Google Shape;4439;p212"/>
          <p:cNvGraphicFramePr/>
          <p:nvPr/>
        </p:nvGraphicFramePr>
        <p:xfrm>
          <a:off x="566928" y="1783080"/>
          <a:ext cx="3000000" cy="3000000"/>
        </p:xfrm>
        <a:graphic>
          <a:graphicData uri="http://schemas.openxmlformats.org/drawingml/2006/table">
            <a:tbl>
              <a:tblPr>
                <a:noFill/>
                <a:tableStyleId>{B3C4230F-BFAA-4733-B5D7-E1172E9C1B61}</a:tableStyleId>
              </a:tblPr>
              <a:tblGrid>
                <a:gridCol w="2103125"/>
                <a:gridCol w="3840475"/>
                <a:gridCol w="1371600"/>
                <a:gridCol w="3758175"/>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Assumption</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Statement</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Testable?</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Fix / probe</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SUTVA</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No interference; one treatment version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Partly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Cluster-randomize; model spillovers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Ignorability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{Y(1),Y(0)} ⊥ T | X</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No</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Randomize; sensitivity analysis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Positivity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0 &lt; e(x) &lt; 1</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Yes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Trim; common-support; redefine estimand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Consistency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Y = Y(T)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No</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Define the intervention precisely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Parallel trends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Equal counterfactual trends (DiD)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Partly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Event study; matched comparison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Exclusion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Z affects Y only via T (IV)</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No</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Argue from domain; over-ID tests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bl>
          </a:graphicData>
        </a:graphic>
      </p:graphicFrame>
      <p:sp>
        <p:nvSpPr>
          <p:cNvPr id="4440" name="Google Shape;4440;p21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CHEAT-SHEETS</a:t>
            </a:r>
            <a:endParaRPr sz="900"/>
          </a:p>
        </p:txBody>
      </p:sp>
      <p:sp>
        <p:nvSpPr>
          <p:cNvPr id="4441" name="Google Shape;4441;p21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242  /  268</a:t>
            </a:r>
            <a:endParaRPr sz="900"/>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46" name="Shape 4446"/>
        <p:cNvGrpSpPr/>
        <p:nvPr/>
      </p:nvGrpSpPr>
      <p:grpSpPr>
        <a:xfrm>
          <a:off x="0" y="0"/>
          <a:ext cx="0" cy="0"/>
          <a:chOff x="0" y="0"/>
          <a:chExt cx="0" cy="0"/>
        </a:xfrm>
      </p:grpSpPr>
      <p:sp>
        <p:nvSpPr>
          <p:cNvPr id="4447" name="Google Shape;4447;p21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CHEAT-SHEETS</a:t>
            </a:r>
            <a:endParaRPr sz="1200"/>
          </a:p>
        </p:txBody>
      </p:sp>
      <p:sp>
        <p:nvSpPr>
          <p:cNvPr id="4448" name="Google Shape;4448;p21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Estimator Cheat-Sheet</a:t>
            </a:r>
            <a:endParaRPr sz="3400"/>
          </a:p>
        </p:txBody>
      </p:sp>
      <p:graphicFrame>
        <p:nvGraphicFramePr>
          <p:cNvPr id="4449" name="Google Shape;4449;p213"/>
          <p:cNvGraphicFramePr/>
          <p:nvPr/>
        </p:nvGraphicFramePr>
        <p:xfrm>
          <a:off x="566928" y="1783080"/>
          <a:ext cx="3000000" cy="3000000"/>
        </p:xfrm>
        <a:graphic>
          <a:graphicData uri="http://schemas.openxmlformats.org/drawingml/2006/table">
            <a:tbl>
              <a:tblPr>
                <a:noFill/>
                <a:tableStyleId>{B3C4230F-BFAA-4733-B5D7-E1172E9C1B61}</a:tableStyleId>
              </a:tblPr>
              <a:tblGrid>
                <a:gridCol w="2377450"/>
                <a:gridCol w="2743200"/>
                <a:gridCol w="3200400"/>
                <a:gridCol w="2752350"/>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Estimator</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Models</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Fails when</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Notes</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Outcome regression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E[Y|T,X]</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Outcome model wrong</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The g-formula; simple, extrapolates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Matching</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Distance on X / e(x)</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Poor overlap</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Transparent; changes estimand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IPW</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e(x)</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Extreme propensities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Stabilise / trim weights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Doubly-robust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Both (either right)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Both wrong</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AIPW / TMLE; default choice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Double ML</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Both, cross-fit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Both wrong</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Uses flexible ML safely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bl>
          </a:graphicData>
        </a:graphic>
      </p:graphicFrame>
      <p:sp>
        <p:nvSpPr>
          <p:cNvPr id="4450" name="Google Shape;4450;p21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CHEAT-SHEETS</a:t>
            </a:r>
            <a:endParaRPr sz="900"/>
          </a:p>
        </p:txBody>
      </p:sp>
      <p:sp>
        <p:nvSpPr>
          <p:cNvPr id="4451" name="Google Shape;4451;p21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243  /  268</a:t>
            </a:r>
            <a:endParaRPr sz="900"/>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56" name="Shape 4456"/>
        <p:cNvGrpSpPr/>
        <p:nvPr/>
      </p:nvGrpSpPr>
      <p:grpSpPr>
        <a:xfrm>
          <a:off x="0" y="0"/>
          <a:ext cx="0" cy="0"/>
          <a:chOff x="0" y="0"/>
          <a:chExt cx="0" cy="0"/>
        </a:xfrm>
      </p:grpSpPr>
      <p:sp>
        <p:nvSpPr>
          <p:cNvPr id="4457" name="Google Shape;4457;p21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CHEAT-SHEETS</a:t>
            </a:r>
            <a:endParaRPr sz="1200"/>
          </a:p>
        </p:txBody>
      </p:sp>
      <p:sp>
        <p:nvSpPr>
          <p:cNvPr id="4458" name="Google Shape;4458;p21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Standard-Error Selection</a:t>
            </a:r>
            <a:endParaRPr sz="3400"/>
          </a:p>
        </p:txBody>
      </p:sp>
      <p:graphicFrame>
        <p:nvGraphicFramePr>
          <p:cNvPr id="4459" name="Google Shape;4459;p214"/>
          <p:cNvGraphicFramePr/>
          <p:nvPr/>
        </p:nvGraphicFramePr>
        <p:xfrm>
          <a:off x="566928" y="1783080"/>
          <a:ext cx="3000000" cy="3000000"/>
        </p:xfrm>
        <a:graphic>
          <a:graphicData uri="http://schemas.openxmlformats.org/drawingml/2006/table">
            <a:tbl>
              <a:tblPr>
                <a:noFill/>
                <a:tableStyleId>{B3C4230F-BFAA-4733-B5D7-E1172E9C1B61}</a:tableStyleId>
              </a:tblPr>
              <a:tblGrid>
                <a:gridCol w="3840475"/>
                <a:gridCol w="3108950"/>
                <a:gridCol w="4123950"/>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Situation</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Use</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Why</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Simple randomized experiment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Robust (HC2) / design-based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Matches complete randomization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Grouped / cluster assignment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Cluster-robust SEs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Accounts for within-cluster correlation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Few clusters (&lt; ~40)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Wild-cluster bootstrap</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Asymptotics unreliable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Complex / matching estimator</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Estimator-specific / bootstrap</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Naive analytic SE invalid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Time-series / panels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Newey–West / block bootstrap</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Serial correlation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bl>
          </a:graphicData>
        </a:graphic>
      </p:graphicFrame>
      <p:sp>
        <p:nvSpPr>
          <p:cNvPr id="4460" name="Google Shape;4460;p21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CHEAT-SHEETS</a:t>
            </a:r>
            <a:endParaRPr sz="900"/>
          </a:p>
        </p:txBody>
      </p:sp>
      <p:sp>
        <p:nvSpPr>
          <p:cNvPr id="4461" name="Google Shape;4461;p21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244  /  268</a:t>
            </a:r>
            <a:endParaRPr sz="900"/>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6" name="Shape 4466"/>
        <p:cNvGrpSpPr/>
        <p:nvPr/>
      </p:nvGrpSpPr>
      <p:grpSpPr>
        <a:xfrm>
          <a:off x="0" y="0"/>
          <a:ext cx="0" cy="0"/>
          <a:chOff x="0" y="0"/>
          <a:chExt cx="0" cy="0"/>
        </a:xfrm>
      </p:grpSpPr>
      <p:sp>
        <p:nvSpPr>
          <p:cNvPr id="4467" name="Google Shape;4467;p21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CHEAT-SHEETS</a:t>
            </a:r>
            <a:endParaRPr sz="1200"/>
          </a:p>
        </p:txBody>
      </p:sp>
      <p:sp>
        <p:nvSpPr>
          <p:cNvPr id="4468" name="Google Shape;4468;p21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DAG Pattern Library</a:t>
            </a:r>
            <a:endParaRPr sz="3400"/>
          </a:p>
        </p:txBody>
      </p:sp>
      <p:sp>
        <p:nvSpPr>
          <p:cNvPr id="4469" name="Google Shape;4469;p215"/>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The recurring structures and what each demands.</a:t>
            </a:r>
            <a:endParaRPr sz="1400"/>
          </a:p>
        </p:txBody>
      </p:sp>
      <p:sp>
        <p:nvSpPr>
          <p:cNvPr id="4470" name="Google Shape;4470;p215"/>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215"/>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a:t>
            </a:r>
            <a:endParaRPr sz="1300"/>
          </a:p>
        </p:txBody>
      </p:sp>
      <p:sp>
        <p:nvSpPr>
          <p:cNvPr id="4472" name="Google Shape;4472;p215"/>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Confounder (fork)</a:t>
            </a:r>
            <a:endParaRPr sz="1600"/>
          </a:p>
        </p:txBody>
      </p:sp>
      <p:sp>
        <p:nvSpPr>
          <p:cNvPr id="4473" name="Google Shape;4473;p215"/>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 ← X → Y. Adjust for X to close the backdoor.</a:t>
            </a:r>
            <a:endParaRPr sz="1250"/>
          </a:p>
        </p:txBody>
      </p:sp>
      <p:sp>
        <p:nvSpPr>
          <p:cNvPr id="4474" name="Google Shape;4474;p215"/>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215"/>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a:t>
            </a:r>
            <a:endParaRPr sz="1300"/>
          </a:p>
        </p:txBody>
      </p:sp>
      <p:sp>
        <p:nvSpPr>
          <p:cNvPr id="4476" name="Google Shape;4476;p215"/>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Mediator (chain)</a:t>
            </a:r>
            <a:endParaRPr sz="1600"/>
          </a:p>
        </p:txBody>
      </p:sp>
      <p:sp>
        <p:nvSpPr>
          <p:cNvPr id="4477" name="Google Shape;4477;p215"/>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 → M → Y. Do not adjust for M if you want the total effect.</a:t>
            </a:r>
            <a:endParaRPr sz="1250"/>
          </a:p>
        </p:txBody>
      </p:sp>
      <p:sp>
        <p:nvSpPr>
          <p:cNvPr id="4478" name="Google Shape;4478;p215"/>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215"/>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a:t>
            </a:r>
            <a:endParaRPr sz="1300"/>
          </a:p>
        </p:txBody>
      </p:sp>
      <p:sp>
        <p:nvSpPr>
          <p:cNvPr id="4480" name="Google Shape;4480;p215"/>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Collider</a:t>
            </a:r>
            <a:endParaRPr sz="1600"/>
          </a:p>
        </p:txBody>
      </p:sp>
      <p:sp>
        <p:nvSpPr>
          <p:cNvPr id="4481" name="Google Shape;4481;p215"/>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T → C ← Y. Never condition on C (or its descendants).</a:t>
            </a:r>
            <a:endParaRPr sz="1250"/>
          </a:p>
        </p:txBody>
      </p:sp>
      <p:sp>
        <p:nvSpPr>
          <p:cNvPr id="4482" name="Google Shape;4482;p215"/>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215"/>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a:t>
            </a:r>
            <a:endParaRPr sz="1300"/>
          </a:p>
        </p:txBody>
      </p:sp>
      <p:sp>
        <p:nvSpPr>
          <p:cNvPr id="4484" name="Google Shape;4484;p215"/>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M-bias</a:t>
            </a:r>
            <a:endParaRPr sz="1600"/>
          </a:p>
        </p:txBody>
      </p:sp>
      <p:sp>
        <p:nvSpPr>
          <p:cNvPr id="4485" name="Google Shape;4485;p215"/>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Conditioning on a pre-treatment collider can open bias — not all pre-treatment controls are safe.</a:t>
            </a:r>
            <a:endParaRPr sz="1250"/>
          </a:p>
        </p:txBody>
      </p:sp>
      <p:sp>
        <p:nvSpPr>
          <p:cNvPr id="4486" name="Google Shape;4486;p21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CHEAT-SHEETS</a:t>
            </a:r>
            <a:endParaRPr sz="900"/>
          </a:p>
        </p:txBody>
      </p:sp>
      <p:sp>
        <p:nvSpPr>
          <p:cNvPr id="4487" name="Google Shape;4487;p21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245  /  268</a:t>
            </a:r>
            <a:endParaRPr sz="900"/>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4492" name="Shape 4492"/>
        <p:cNvGrpSpPr/>
        <p:nvPr/>
      </p:nvGrpSpPr>
      <p:grpSpPr>
        <a:xfrm>
          <a:off x="0" y="0"/>
          <a:ext cx="0" cy="0"/>
          <a:chOff x="0" y="0"/>
          <a:chExt cx="0" cy="0"/>
        </a:xfrm>
      </p:grpSpPr>
      <p:sp>
        <p:nvSpPr>
          <p:cNvPr id="4493" name="Google Shape;4493;p216"/>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REFERENCE · PRACTICE</a:t>
            </a:r>
            <a:endParaRPr sz="1300"/>
          </a:p>
        </p:txBody>
      </p:sp>
      <p:sp>
        <p:nvSpPr>
          <p:cNvPr id="4494" name="Google Shape;4494;p216"/>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Checklists &amp; Pitfalls</a:t>
            </a:r>
            <a:endParaRPr sz="4000"/>
          </a:p>
        </p:txBody>
      </p:sp>
      <p:sp>
        <p:nvSpPr>
          <p:cNvPr id="4495" name="Google Shape;4495;p216"/>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The pre-flight lists and failure-mode catalogue to run on every analysis.</a:t>
            </a:r>
            <a:endParaRPr sz="1500"/>
          </a:p>
        </p:txBody>
      </p:sp>
      <p:cxnSp>
        <p:nvCxnSpPr>
          <p:cNvPr id="4496" name="Google Shape;4496;p216"/>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4497" name="Google Shape;4497;p21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REFERENCE</a:t>
            </a:r>
            <a:endParaRPr sz="900"/>
          </a:p>
        </p:txBody>
      </p:sp>
      <p:sp>
        <p:nvSpPr>
          <p:cNvPr id="4498" name="Google Shape;4498;p21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246  /  268</a:t>
            </a:r>
            <a:endParaRPr sz="900"/>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03" name="Shape 4503"/>
        <p:cNvGrpSpPr/>
        <p:nvPr/>
      </p:nvGrpSpPr>
      <p:grpSpPr>
        <a:xfrm>
          <a:off x="0" y="0"/>
          <a:ext cx="0" cy="0"/>
          <a:chOff x="0" y="0"/>
          <a:chExt cx="0" cy="0"/>
        </a:xfrm>
      </p:grpSpPr>
      <p:sp>
        <p:nvSpPr>
          <p:cNvPr id="4504" name="Google Shape;4504;p21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CHECKLISTS</a:t>
            </a:r>
            <a:endParaRPr sz="1200"/>
          </a:p>
        </p:txBody>
      </p:sp>
      <p:sp>
        <p:nvSpPr>
          <p:cNvPr id="4505" name="Google Shape;4505;p21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A/B Testing Pre-Flight Checklist</a:t>
            </a:r>
            <a:endParaRPr sz="3400"/>
          </a:p>
        </p:txBody>
      </p:sp>
      <p:sp>
        <p:nvSpPr>
          <p:cNvPr id="4506" name="Google Shape;4506;p217"/>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Complete before launch, at analysis, and before ship.</a:t>
            </a:r>
            <a:endParaRPr sz="1450"/>
          </a:p>
        </p:txBody>
      </p:sp>
      <p:sp>
        <p:nvSpPr>
          <p:cNvPr id="4507" name="Google Shape;4507;p217"/>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217"/>
          <p:cNvSpPr/>
          <p:nvPr/>
        </p:nvSpPr>
        <p:spPr>
          <a:xfrm>
            <a:off x="841248" y="2514600"/>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Pre-launch: single primary metric, named guardrails, power/MDE computed, horizon fixed, randomization unit chosen.</a:t>
            </a:r>
            <a:endParaRPr sz="1400"/>
          </a:p>
        </p:txBody>
      </p:sp>
      <p:sp>
        <p:nvSpPr>
          <p:cNvPr id="4509" name="Google Shape;4509;p217"/>
          <p:cNvSpPr/>
          <p:nvPr/>
        </p:nvSpPr>
        <p:spPr>
          <a:xfrm>
            <a:off x="566928" y="3300984"/>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217"/>
          <p:cNvSpPr/>
          <p:nvPr/>
        </p:nvSpPr>
        <p:spPr>
          <a:xfrm>
            <a:off x="841248" y="3236976"/>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Sanity: A/A test passes; sample-ratio matches the intended split.</a:t>
            </a:r>
            <a:endParaRPr sz="1400"/>
          </a:p>
        </p:txBody>
      </p:sp>
      <p:sp>
        <p:nvSpPr>
          <p:cNvPr id="4511" name="Google Shape;4511;p217"/>
          <p:cNvSpPr/>
          <p:nvPr/>
        </p:nvSpPr>
        <p:spPr>
          <a:xfrm>
            <a:off x="566928" y="4023360"/>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217"/>
          <p:cNvSpPr/>
          <p:nvPr/>
        </p:nvSpPr>
        <p:spPr>
          <a:xfrm>
            <a:off x="841248" y="3959352"/>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Analysis: design-matched SE; CUPED / covariate adjustment applied; only pre-registered subgroups tested.</a:t>
            </a:r>
            <a:endParaRPr sz="1400"/>
          </a:p>
        </p:txBody>
      </p:sp>
      <p:sp>
        <p:nvSpPr>
          <p:cNvPr id="4513" name="Google Shape;4513;p217"/>
          <p:cNvSpPr/>
          <p:nvPr/>
        </p:nvSpPr>
        <p:spPr>
          <a:xfrm>
            <a:off x="566928" y="4745736"/>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217"/>
          <p:cNvSpPr/>
          <p:nvPr/>
        </p:nvSpPr>
        <p:spPr>
          <a:xfrm>
            <a:off x="841248" y="4681728"/>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Integrity: no peeking (or valid sequential method used); multiplicity controlled.</a:t>
            </a:r>
            <a:endParaRPr sz="1400"/>
          </a:p>
        </p:txBody>
      </p:sp>
      <p:sp>
        <p:nvSpPr>
          <p:cNvPr id="4515" name="Google Shape;4515;p217"/>
          <p:cNvSpPr/>
          <p:nvPr/>
        </p:nvSpPr>
        <p:spPr>
          <a:xfrm>
            <a:off x="566928" y="5468112"/>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217"/>
          <p:cNvSpPr/>
          <p:nvPr/>
        </p:nvSpPr>
        <p:spPr>
          <a:xfrm>
            <a:off x="841248" y="5404104"/>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Ship: primary metric positive AND all guardrails held AND effect stable past novelty window.</a:t>
            </a:r>
            <a:endParaRPr sz="1400"/>
          </a:p>
        </p:txBody>
      </p:sp>
      <p:sp>
        <p:nvSpPr>
          <p:cNvPr id="4517" name="Google Shape;4517;p21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PRACTICE</a:t>
            </a:r>
            <a:endParaRPr sz="900"/>
          </a:p>
        </p:txBody>
      </p:sp>
      <p:sp>
        <p:nvSpPr>
          <p:cNvPr id="4518" name="Google Shape;4518;p21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247  /  268</a:t>
            </a:r>
            <a:endParaRPr sz="900"/>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3" name="Shape 4523"/>
        <p:cNvGrpSpPr/>
        <p:nvPr/>
      </p:nvGrpSpPr>
      <p:grpSpPr>
        <a:xfrm>
          <a:off x="0" y="0"/>
          <a:ext cx="0" cy="0"/>
          <a:chOff x="0" y="0"/>
          <a:chExt cx="0" cy="0"/>
        </a:xfrm>
      </p:grpSpPr>
      <p:sp>
        <p:nvSpPr>
          <p:cNvPr id="4524" name="Google Shape;4524;p21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CHECKLISTS</a:t>
            </a:r>
            <a:endParaRPr sz="1200"/>
          </a:p>
        </p:txBody>
      </p:sp>
      <p:sp>
        <p:nvSpPr>
          <p:cNvPr id="4525" name="Google Shape;4525;p21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Observational Study Checklist</a:t>
            </a:r>
            <a:endParaRPr sz="3400"/>
          </a:p>
        </p:txBody>
      </p:sp>
      <p:sp>
        <p:nvSpPr>
          <p:cNvPr id="4526" name="Google Shape;4526;p218"/>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order matters; do not skip steps.</a:t>
            </a:r>
            <a:endParaRPr sz="1450"/>
          </a:p>
        </p:txBody>
      </p:sp>
      <p:sp>
        <p:nvSpPr>
          <p:cNvPr id="4527" name="Google Shape;4527;p218"/>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218"/>
          <p:cNvSpPr/>
          <p:nvPr/>
        </p:nvSpPr>
        <p:spPr>
          <a:xfrm>
            <a:off x="841248" y="2514600"/>
            <a:ext cx="10783519" cy="51598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Define estimand (ATE vs. ATT) and target population first.</a:t>
            </a:r>
            <a:endParaRPr sz="1400"/>
          </a:p>
        </p:txBody>
      </p:sp>
      <p:sp>
        <p:nvSpPr>
          <p:cNvPr id="4529" name="Google Shape;4529;p218"/>
          <p:cNvSpPr/>
          <p:nvPr/>
        </p:nvSpPr>
        <p:spPr>
          <a:xfrm>
            <a:off x="566928" y="3094591"/>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218"/>
          <p:cNvSpPr/>
          <p:nvPr/>
        </p:nvSpPr>
        <p:spPr>
          <a:xfrm>
            <a:off x="841248" y="3030583"/>
            <a:ext cx="10783519" cy="51598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Draw the DAG; choose the adjustment set by the backdoor criterion, not by fit.</a:t>
            </a:r>
            <a:endParaRPr sz="1400"/>
          </a:p>
        </p:txBody>
      </p:sp>
      <p:sp>
        <p:nvSpPr>
          <p:cNvPr id="4531" name="Google Shape;4531;p218"/>
          <p:cNvSpPr/>
          <p:nvPr/>
        </p:nvSpPr>
        <p:spPr>
          <a:xfrm>
            <a:off x="566928" y="3610574"/>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218"/>
          <p:cNvSpPr/>
          <p:nvPr/>
        </p:nvSpPr>
        <p:spPr>
          <a:xfrm>
            <a:off x="841248" y="3546566"/>
            <a:ext cx="10783519" cy="51598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Confirm every confounder is measured; flag plausible unmeasured ones.</a:t>
            </a:r>
            <a:endParaRPr sz="1400"/>
          </a:p>
        </p:txBody>
      </p:sp>
      <p:sp>
        <p:nvSpPr>
          <p:cNvPr id="4533" name="Google Shape;4533;p218"/>
          <p:cNvSpPr/>
          <p:nvPr/>
        </p:nvSpPr>
        <p:spPr>
          <a:xfrm>
            <a:off x="566928" y="4126557"/>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218"/>
          <p:cNvSpPr/>
          <p:nvPr/>
        </p:nvSpPr>
        <p:spPr>
          <a:xfrm>
            <a:off x="841248" y="4062549"/>
            <a:ext cx="10783519" cy="51598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Check overlap; trim or restrict to common support.</a:t>
            </a:r>
            <a:endParaRPr sz="1400"/>
          </a:p>
        </p:txBody>
      </p:sp>
      <p:sp>
        <p:nvSpPr>
          <p:cNvPr id="4535" name="Google Shape;4535;p218"/>
          <p:cNvSpPr/>
          <p:nvPr/>
        </p:nvSpPr>
        <p:spPr>
          <a:xfrm>
            <a:off x="566928" y="4642539"/>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218"/>
          <p:cNvSpPr/>
          <p:nvPr/>
        </p:nvSpPr>
        <p:spPr>
          <a:xfrm>
            <a:off x="841248" y="4578531"/>
            <a:ext cx="10783519" cy="51598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Verify post-adjustment balance (SMD &lt; 0.1).</a:t>
            </a:r>
            <a:endParaRPr sz="1400"/>
          </a:p>
        </p:txBody>
      </p:sp>
      <p:sp>
        <p:nvSpPr>
          <p:cNvPr id="4537" name="Google Shape;4537;p218"/>
          <p:cNvSpPr/>
          <p:nvPr/>
        </p:nvSpPr>
        <p:spPr>
          <a:xfrm>
            <a:off x="566928" y="5158522"/>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218"/>
          <p:cNvSpPr/>
          <p:nvPr/>
        </p:nvSpPr>
        <p:spPr>
          <a:xfrm>
            <a:off x="841248" y="5094514"/>
            <a:ext cx="10783519" cy="51598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Estimate with a doubly-robust / cross-fit method; report a proper interval.</a:t>
            </a:r>
            <a:endParaRPr sz="1400"/>
          </a:p>
        </p:txBody>
      </p:sp>
      <p:sp>
        <p:nvSpPr>
          <p:cNvPr id="4539" name="Google Shape;4539;p218"/>
          <p:cNvSpPr/>
          <p:nvPr/>
        </p:nvSpPr>
        <p:spPr>
          <a:xfrm>
            <a:off x="566928" y="5674505"/>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218"/>
          <p:cNvSpPr/>
          <p:nvPr/>
        </p:nvSpPr>
        <p:spPr>
          <a:xfrm>
            <a:off x="841248" y="5610497"/>
            <a:ext cx="10783519" cy="515983"/>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Run a sensitivity analysis (E-value / bounds) and placebo / negative-control checks.</a:t>
            </a:r>
            <a:endParaRPr sz="1400"/>
          </a:p>
        </p:txBody>
      </p:sp>
      <p:sp>
        <p:nvSpPr>
          <p:cNvPr id="4541" name="Google Shape;4541;p21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PRACTICE</a:t>
            </a:r>
            <a:endParaRPr sz="900"/>
          </a:p>
        </p:txBody>
      </p:sp>
      <p:sp>
        <p:nvSpPr>
          <p:cNvPr id="4542" name="Google Shape;4542;p21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248  /  268</a:t>
            </a:r>
            <a:endParaRPr sz="900"/>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47" name="Shape 4547"/>
        <p:cNvGrpSpPr/>
        <p:nvPr/>
      </p:nvGrpSpPr>
      <p:grpSpPr>
        <a:xfrm>
          <a:off x="0" y="0"/>
          <a:ext cx="0" cy="0"/>
          <a:chOff x="0" y="0"/>
          <a:chExt cx="0" cy="0"/>
        </a:xfrm>
      </p:grpSpPr>
      <p:sp>
        <p:nvSpPr>
          <p:cNvPr id="4548" name="Google Shape;4548;p21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PITFALLS</a:t>
            </a:r>
            <a:endParaRPr sz="1200"/>
          </a:p>
        </p:txBody>
      </p:sp>
      <p:sp>
        <p:nvSpPr>
          <p:cNvPr id="4549" name="Google Shape;4549;p21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Pitfalls Master List (1 of 2)</a:t>
            </a:r>
            <a:endParaRPr sz="3400"/>
          </a:p>
        </p:txBody>
      </p:sp>
      <p:sp>
        <p:nvSpPr>
          <p:cNvPr id="4550" name="Google Shape;4550;p219"/>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Design and identification failures.</a:t>
            </a:r>
            <a:endParaRPr sz="1450"/>
          </a:p>
        </p:txBody>
      </p:sp>
      <p:sp>
        <p:nvSpPr>
          <p:cNvPr id="4551" name="Google Shape;4551;p219"/>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219"/>
          <p:cNvSpPr/>
          <p:nvPr/>
        </p:nvSpPr>
        <p:spPr>
          <a:xfrm>
            <a:off x="841248" y="251460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Interpreting a conditional (observational) comparison as a causal effect.</a:t>
            </a:r>
            <a:endParaRPr sz="1400"/>
          </a:p>
        </p:txBody>
      </p:sp>
      <p:sp>
        <p:nvSpPr>
          <p:cNvPr id="4553" name="Google Shape;4553;p219"/>
          <p:cNvSpPr/>
          <p:nvPr/>
        </p:nvSpPr>
        <p:spPr>
          <a:xfrm>
            <a:off x="566928" y="3180588"/>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219"/>
          <p:cNvSpPr/>
          <p:nvPr/>
        </p:nvSpPr>
        <p:spPr>
          <a:xfrm>
            <a:off x="841248" y="311658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Adjusting for a post-treatment variable (mediator or collider bias).</a:t>
            </a:r>
            <a:endParaRPr sz="1400"/>
          </a:p>
        </p:txBody>
      </p:sp>
      <p:sp>
        <p:nvSpPr>
          <p:cNvPr id="4555" name="Google Shape;4555;p219"/>
          <p:cNvSpPr/>
          <p:nvPr/>
        </p:nvSpPr>
        <p:spPr>
          <a:xfrm>
            <a:off x="566928" y="3782568"/>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219"/>
          <p:cNvSpPr/>
          <p:nvPr/>
        </p:nvSpPr>
        <p:spPr>
          <a:xfrm>
            <a:off x="841248" y="371856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‘Controlling for everything’ — including colliders — to look thorough.</a:t>
            </a:r>
            <a:endParaRPr sz="1400"/>
          </a:p>
        </p:txBody>
      </p:sp>
      <p:sp>
        <p:nvSpPr>
          <p:cNvPr id="4557" name="Google Shape;4557;p219"/>
          <p:cNvSpPr/>
          <p:nvPr/>
        </p:nvSpPr>
        <p:spPr>
          <a:xfrm>
            <a:off x="566928" y="4384548"/>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219"/>
          <p:cNvSpPr/>
          <p:nvPr/>
        </p:nvSpPr>
        <p:spPr>
          <a:xfrm>
            <a:off x="841248" y="432054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Assuming randomization guarantees balance in every single sample.</a:t>
            </a:r>
            <a:endParaRPr sz="1400"/>
          </a:p>
        </p:txBody>
      </p:sp>
      <p:sp>
        <p:nvSpPr>
          <p:cNvPr id="4559" name="Google Shape;4559;p219"/>
          <p:cNvSpPr/>
          <p:nvPr/>
        </p:nvSpPr>
        <p:spPr>
          <a:xfrm>
            <a:off x="566928" y="4986528"/>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219"/>
          <p:cNvSpPr/>
          <p:nvPr/>
        </p:nvSpPr>
        <p:spPr>
          <a:xfrm>
            <a:off x="841248" y="492252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Randomizing at the wrong level relative to interference.</a:t>
            </a:r>
            <a:endParaRPr sz="1400"/>
          </a:p>
        </p:txBody>
      </p:sp>
      <p:sp>
        <p:nvSpPr>
          <p:cNvPr id="4561" name="Google Shape;4561;p219"/>
          <p:cNvSpPr/>
          <p:nvPr/>
        </p:nvSpPr>
        <p:spPr>
          <a:xfrm>
            <a:off x="566928" y="55885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219"/>
          <p:cNvSpPr/>
          <p:nvPr/>
        </p:nvSpPr>
        <p:spPr>
          <a:xfrm>
            <a:off x="841248" y="552450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Ignoring an unmeasured confounder because ‘the model fits well’.</a:t>
            </a:r>
            <a:endParaRPr sz="1400"/>
          </a:p>
        </p:txBody>
      </p:sp>
      <p:sp>
        <p:nvSpPr>
          <p:cNvPr id="4563" name="Google Shape;4563;p21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PRACTICE</a:t>
            </a:r>
            <a:endParaRPr sz="900"/>
          </a:p>
        </p:txBody>
      </p:sp>
      <p:sp>
        <p:nvSpPr>
          <p:cNvPr id="4564" name="Google Shape;4564;p21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249  /  268</a:t>
            </a:r>
            <a:endParaRPr sz="900"/>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69" name="Shape 4569"/>
        <p:cNvGrpSpPr/>
        <p:nvPr/>
      </p:nvGrpSpPr>
      <p:grpSpPr>
        <a:xfrm>
          <a:off x="0" y="0"/>
          <a:ext cx="0" cy="0"/>
          <a:chOff x="0" y="0"/>
          <a:chExt cx="0" cy="0"/>
        </a:xfrm>
      </p:grpSpPr>
      <p:sp>
        <p:nvSpPr>
          <p:cNvPr id="4570" name="Google Shape;4570;p220"/>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PITFALLS</a:t>
            </a:r>
            <a:endParaRPr sz="1200"/>
          </a:p>
        </p:txBody>
      </p:sp>
      <p:sp>
        <p:nvSpPr>
          <p:cNvPr id="4571" name="Google Shape;4571;p220"/>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Pitfalls Master List (2 of 2)</a:t>
            </a:r>
            <a:endParaRPr sz="3400"/>
          </a:p>
        </p:txBody>
      </p:sp>
      <p:sp>
        <p:nvSpPr>
          <p:cNvPr id="4572" name="Google Shape;4572;p220"/>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Estimation, inference, and communication failures.</a:t>
            </a:r>
            <a:endParaRPr sz="1450"/>
          </a:p>
        </p:txBody>
      </p:sp>
      <p:sp>
        <p:nvSpPr>
          <p:cNvPr id="4573" name="Google Shape;4573;p220"/>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220"/>
          <p:cNvSpPr/>
          <p:nvPr/>
        </p:nvSpPr>
        <p:spPr>
          <a:xfrm>
            <a:off x="841248" y="251460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Peeking at a fixed-horizon test and stopping on the first significant look.</a:t>
            </a:r>
            <a:endParaRPr sz="1400"/>
          </a:p>
        </p:txBody>
      </p:sp>
      <p:sp>
        <p:nvSpPr>
          <p:cNvPr id="4575" name="Google Shape;4575;p220"/>
          <p:cNvSpPr/>
          <p:nvPr/>
        </p:nvSpPr>
        <p:spPr>
          <a:xfrm>
            <a:off x="566928" y="3180588"/>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220"/>
          <p:cNvSpPr/>
          <p:nvPr/>
        </p:nvSpPr>
        <p:spPr>
          <a:xfrm>
            <a:off x="841248" y="311658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Unclustered standard errors on grouped or repeated-measure data.</a:t>
            </a:r>
            <a:endParaRPr sz="1400"/>
          </a:p>
        </p:txBody>
      </p:sp>
      <p:sp>
        <p:nvSpPr>
          <p:cNvPr id="4577" name="Google Shape;4577;p220"/>
          <p:cNvSpPr/>
          <p:nvPr/>
        </p:nvSpPr>
        <p:spPr>
          <a:xfrm>
            <a:off x="566928" y="3782568"/>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220"/>
          <p:cNvSpPr/>
          <p:nvPr/>
        </p:nvSpPr>
        <p:spPr>
          <a:xfrm>
            <a:off x="841248" y="371856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Extreme IPW weights left untrimmed, driven by a few units.</a:t>
            </a:r>
            <a:endParaRPr sz="1400"/>
          </a:p>
        </p:txBody>
      </p:sp>
      <p:sp>
        <p:nvSpPr>
          <p:cNvPr id="4579" name="Google Shape;4579;p220"/>
          <p:cNvSpPr/>
          <p:nvPr/>
        </p:nvSpPr>
        <p:spPr>
          <a:xfrm>
            <a:off x="566928" y="4384548"/>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220"/>
          <p:cNvSpPr/>
          <p:nvPr/>
        </p:nvSpPr>
        <p:spPr>
          <a:xfrm>
            <a:off x="841248" y="432054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Reporting the most significant of many unplanned subgroups.</a:t>
            </a:r>
            <a:endParaRPr sz="1400"/>
          </a:p>
        </p:txBody>
      </p:sp>
      <p:sp>
        <p:nvSpPr>
          <p:cNvPr id="4581" name="Google Shape;4581;p220"/>
          <p:cNvSpPr/>
          <p:nvPr/>
        </p:nvSpPr>
        <p:spPr>
          <a:xfrm>
            <a:off x="566928" y="4986528"/>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220"/>
          <p:cNvSpPr/>
          <p:nvPr/>
        </p:nvSpPr>
        <p:spPr>
          <a:xfrm>
            <a:off x="841248" y="492252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 tight confidence interval presented as if identification were certain.</a:t>
            </a:r>
            <a:endParaRPr sz="1400"/>
          </a:p>
        </p:txBody>
      </p:sp>
      <p:sp>
        <p:nvSpPr>
          <p:cNvPr id="4583" name="Google Shape;4583;p220"/>
          <p:cNvSpPr/>
          <p:nvPr/>
        </p:nvSpPr>
        <p:spPr>
          <a:xfrm>
            <a:off x="566928" y="55885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4" name="Google Shape;4584;p220"/>
          <p:cNvSpPr/>
          <p:nvPr/>
        </p:nvSpPr>
        <p:spPr>
          <a:xfrm>
            <a:off x="841248" y="5524500"/>
            <a:ext cx="10783519" cy="6019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An estimand that quietly differs from the decision at hand.</a:t>
            </a:r>
            <a:endParaRPr sz="1400"/>
          </a:p>
        </p:txBody>
      </p:sp>
      <p:sp>
        <p:nvSpPr>
          <p:cNvPr id="4585" name="Google Shape;4585;p22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PRACTICE</a:t>
            </a:r>
            <a:endParaRPr sz="900"/>
          </a:p>
        </p:txBody>
      </p:sp>
      <p:sp>
        <p:nvSpPr>
          <p:cNvPr id="4586" name="Google Shape;4586;p22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250  /  268</a:t>
            </a:r>
            <a:endParaRPr sz="900"/>
          </a:p>
        </p:txBody>
      </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91" name="Shape 4591"/>
        <p:cNvGrpSpPr/>
        <p:nvPr/>
      </p:nvGrpSpPr>
      <p:grpSpPr>
        <a:xfrm>
          <a:off x="0" y="0"/>
          <a:ext cx="0" cy="0"/>
          <a:chOff x="0" y="0"/>
          <a:chExt cx="0" cy="0"/>
        </a:xfrm>
      </p:grpSpPr>
      <p:sp>
        <p:nvSpPr>
          <p:cNvPr id="4592" name="Google Shape;4592;p22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SENSITIVITY</a:t>
            </a:r>
            <a:endParaRPr sz="1200"/>
          </a:p>
        </p:txBody>
      </p:sp>
      <p:sp>
        <p:nvSpPr>
          <p:cNvPr id="4593" name="Google Shape;4593;p22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Sensitivity &amp; Falsification Toolkit</a:t>
            </a:r>
            <a:endParaRPr sz="3400"/>
          </a:p>
        </p:txBody>
      </p:sp>
      <p:sp>
        <p:nvSpPr>
          <p:cNvPr id="4594" name="Google Shape;4594;p221"/>
          <p:cNvSpPr/>
          <p:nvPr/>
        </p:nvSpPr>
        <p:spPr>
          <a:xfrm>
            <a:off x="566928" y="17830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Ways to stress-test a causal claim.</a:t>
            </a:r>
            <a:endParaRPr sz="1400"/>
          </a:p>
        </p:txBody>
      </p:sp>
      <p:sp>
        <p:nvSpPr>
          <p:cNvPr id="4595" name="Google Shape;4595;p221"/>
          <p:cNvSpPr/>
          <p:nvPr/>
        </p:nvSpPr>
        <p:spPr>
          <a:xfrm>
            <a:off x="566928" y="2468880"/>
            <a:ext cx="502920" cy="50292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221"/>
          <p:cNvSpPr/>
          <p:nvPr/>
        </p:nvSpPr>
        <p:spPr>
          <a:xfrm>
            <a:off x="566928"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01</a:t>
            </a:r>
            <a:endParaRPr sz="1300"/>
          </a:p>
        </p:txBody>
      </p:sp>
      <p:sp>
        <p:nvSpPr>
          <p:cNvPr id="4597" name="Google Shape;4597;p221"/>
          <p:cNvSpPr/>
          <p:nvPr/>
        </p:nvSpPr>
        <p:spPr>
          <a:xfrm>
            <a:off x="1298448" y="242316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E-value</a:t>
            </a:r>
            <a:endParaRPr sz="1600"/>
          </a:p>
        </p:txBody>
      </p:sp>
      <p:sp>
        <p:nvSpPr>
          <p:cNvPr id="4598" name="Google Shape;4598;p221"/>
          <p:cNvSpPr/>
          <p:nvPr/>
        </p:nvSpPr>
        <p:spPr>
          <a:xfrm>
            <a:off x="1298448" y="273405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Minimum confounding strength (with T and Y) needed to nullify the estimate. Bigger is more robust.</a:t>
            </a:r>
            <a:endParaRPr sz="1250"/>
          </a:p>
        </p:txBody>
      </p:sp>
      <p:sp>
        <p:nvSpPr>
          <p:cNvPr id="4599" name="Google Shape;4599;p221"/>
          <p:cNvSpPr/>
          <p:nvPr/>
        </p:nvSpPr>
        <p:spPr>
          <a:xfrm>
            <a:off x="566928" y="3394710"/>
            <a:ext cx="502920" cy="50292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221"/>
          <p:cNvSpPr/>
          <p:nvPr/>
        </p:nvSpPr>
        <p:spPr>
          <a:xfrm>
            <a:off x="566928" y="339471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02</a:t>
            </a:r>
            <a:endParaRPr sz="1300"/>
          </a:p>
        </p:txBody>
      </p:sp>
      <p:sp>
        <p:nvSpPr>
          <p:cNvPr id="4601" name="Google Shape;4601;p221"/>
          <p:cNvSpPr/>
          <p:nvPr/>
        </p:nvSpPr>
        <p:spPr>
          <a:xfrm>
            <a:off x="1298448" y="334899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Rosenbaum bounds</a:t>
            </a:r>
            <a:endParaRPr sz="1600"/>
          </a:p>
        </p:txBody>
      </p:sp>
      <p:sp>
        <p:nvSpPr>
          <p:cNvPr id="4602" name="Google Shape;4602;p221"/>
          <p:cNvSpPr/>
          <p:nvPr/>
        </p:nvSpPr>
        <p:spPr>
          <a:xfrm>
            <a:off x="1298448" y="365988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How large a hidden bias in assignment odds would overturn a matched result.</a:t>
            </a:r>
            <a:endParaRPr sz="1250"/>
          </a:p>
        </p:txBody>
      </p:sp>
      <p:sp>
        <p:nvSpPr>
          <p:cNvPr id="4603" name="Google Shape;4603;p221"/>
          <p:cNvSpPr/>
          <p:nvPr/>
        </p:nvSpPr>
        <p:spPr>
          <a:xfrm>
            <a:off x="566928" y="4320540"/>
            <a:ext cx="502920" cy="50292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4" name="Google Shape;4604;p221"/>
          <p:cNvSpPr/>
          <p:nvPr/>
        </p:nvSpPr>
        <p:spPr>
          <a:xfrm>
            <a:off x="566928" y="43205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03</a:t>
            </a:r>
            <a:endParaRPr sz="1300"/>
          </a:p>
        </p:txBody>
      </p:sp>
      <p:sp>
        <p:nvSpPr>
          <p:cNvPr id="4605" name="Google Shape;4605;p221"/>
          <p:cNvSpPr/>
          <p:nvPr/>
        </p:nvSpPr>
        <p:spPr>
          <a:xfrm>
            <a:off x="1298448" y="427482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Partial-R² benchmarks</a:t>
            </a:r>
            <a:endParaRPr sz="1600"/>
          </a:p>
        </p:txBody>
      </p:sp>
      <p:sp>
        <p:nvSpPr>
          <p:cNvPr id="4606" name="Google Shape;4606;p221"/>
          <p:cNvSpPr/>
          <p:nvPr/>
        </p:nvSpPr>
        <p:spPr>
          <a:xfrm>
            <a:off x="1298448" y="458571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Cinelli–Hazlett: benchmark an unobserved confounder against observed covariates.</a:t>
            </a:r>
            <a:endParaRPr sz="1250"/>
          </a:p>
        </p:txBody>
      </p:sp>
      <p:sp>
        <p:nvSpPr>
          <p:cNvPr id="4607" name="Google Shape;4607;p221"/>
          <p:cNvSpPr/>
          <p:nvPr/>
        </p:nvSpPr>
        <p:spPr>
          <a:xfrm>
            <a:off x="566928" y="5246370"/>
            <a:ext cx="502920" cy="50292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221"/>
          <p:cNvSpPr/>
          <p:nvPr/>
        </p:nvSpPr>
        <p:spPr>
          <a:xfrm>
            <a:off x="566928" y="524637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lang="en-US" sz="1300">
                <a:solidFill>
                  <a:srgbClr val="FFFFFF"/>
                </a:solidFill>
                <a:latin typeface="Cambria"/>
                <a:ea typeface="Cambria"/>
                <a:cs typeface="Cambria"/>
                <a:sym typeface="Cambria"/>
              </a:rPr>
              <a:t>04</a:t>
            </a:r>
            <a:endParaRPr sz="1300"/>
          </a:p>
        </p:txBody>
      </p:sp>
      <p:sp>
        <p:nvSpPr>
          <p:cNvPr id="4609" name="Google Shape;4609;p221"/>
          <p:cNvSpPr/>
          <p:nvPr/>
        </p:nvSpPr>
        <p:spPr>
          <a:xfrm>
            <a:off x="1298448" y="5200650"/>
            <a:ext cx="10234879"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600"/>
              <a:buFont typeface="Cambria"/>
              <a:buNone/>
            </a:pPr>
            <a:r>
              <a:rPr b="1" lang="en-US" sz="1600">
                <a:solidFill>
                  <a:srgbClr val="16233F"/>
                </a:solidFill>
                <a:latin typeface="Cambria"/>
                <a:ea typeface="Cambria"/>
                <a:cs typeface="Cambria"/>
                <a:sym typeface="Cambria"/>
              </a:rPr>
              <a:t>Negative controls &amp; placebos</a:t>
            </a:r>
            <a:endParaRPr sz="1600"/>
          </a:p>
        </p:txBody>
      </p:sp>
      <p:sp>
        <p:nvSpPr>
          <p:cNvPr id="4610" name="Google Shape;4610;p221"/>
          <p:cNvSpPr/>
          <p:nvPr/>
        </p:nvSpPr>
        <p:spPr>
          <a:xfrm>
            <a:off x="1298448" y="5511546"/>
            <a:ext cx="10234879" cy="5600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Outcomes/exposures/periods where no effect can exist; a detected effect exposes bias.</a:t>
            </a:r>
            <a:endParaRPr sz="1250"/>
          </a:p>
        </p:txBody>
      </p:sp>
      <p:sp>
        <p:nvSpPr>
          <p:cNvPr id="4611" name="Google Shape;4611;p22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PRACTICE</a:t>
            </a:r>
            <a:endParaRPr sz="900"/>
          </a:p>
        </p:txBody>
      </p:sp>
      <p:sp>
        <p:nvSpPr>
          <p:cNvPr id="4612" name="Google Shape;4612;p22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251  /  268</a:t>
            </a:r>
            <a:endParaRPr sz="900"/>
          </a:p>
        </p:txBody>
      </p:sp>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4617" name="Shape 4617"/>
        <p:cNvGrpSpPr/>
        <p:nvPr/>
      </p:nvGrpSpPr>
      <p:grpSpPr>
        <a:xfrm>
          <a:off x="0" y="0"/>
          <a:ext cx="0" cy="0"/>
          <a:chOff x="0" y="0"/>
          <a:chExt cx="0" cy="0"/>
        </a:xfrm>
      </p:grpSpPr>
      <p:sp>
        <p:nvSpPr>
          <p:cNvPr id="4618" name="Google Shape;4618;p222"/>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REFERENCE · PROFESSIONAL PRACTICE</a:t>
            </a:r>
            <a:endParaRPr sz="1300"/>
          </a:p>
        </p:txBody>
      </p:sp>
      <p:sp>
        <p:nvSpPr>
          <p:cNvPr id="4619" name="Google Shape;4619;p222"/>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Reproducibility, Ethics &amp; Tooling</a:t>
            </a:r>
            <a:endParaRPr sz="4000"/>
          </a:p>
        </p:txBody>
      </p:sp>
      <p:sp>
        <p:nvSpPr>
          <p:cNvPr id="4620" name="Google Shape;4620;p222"/>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Standards that separate a defensible analysis from a plausible-looking one.</a:t>
            </a:r>
            <a:endParaRPr sz="1500"/>
          </a:p>
        </p:txBody>
      </p:sp>
      <p:cxnSp>
        <p:nvCxnSpPr>
          <p:cNvPr id="4621" name="Google Shape;4621;p222"/>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4622" name="Google Shape;4622;p22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REFERENCE</a:t>
            </a:r>
            <a:endParaRPr sz="900"/>
          </a:p>
        </p:txBody>
      </p:sp>
      <p:sp>
        <p:nvSpPr>
          <p:cNvPr id="4623" name="Google Shape;4623;p22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252  /  268</a:t>
            </a:r>
            <a:endParaRPr sz="900"/>
          </a:p>
        </p:txBody>
      </p: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8" name="Shape 4628"/>
        <p:cNvGrpSpPr/>
        <p:nvPr/>
      </p:nvGrpSpPr>
      <p:grpSpPr>
        <a:xfrm>
          <a:off x="0" y="0"/>
          <a:ext cx="0" cy="0"/>
          <a:chOff x="0" y="0"/>
          <a:chExt cx="0" cy="0"/>
        </a:xfrm>
      </p:grpSpPr>
      <p:sp>
        <p:nvSpPr>
          <p:cNvPr id="4629" name="Google Shape;4629;p22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PRACTICE · REPRODUCIBILITY</a:t>
            </a:r>
            <a:endParaRPr sz="1200"/>
          </a:p>
        </p:txBody>
      </p:sp>
      <p:sp>
        <p:nvSpPr>
          <p:cNvPr id="4630" name="Google Shape;4630;p22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Pre-Registration &amp; Reproducibility</a:t>
            </a:r>
            <a:endParaRPr sz="3400"/>
          </a:p>
        </p:txBody>
      </p:sp>
      <p:sp>
        <p:nvSpPr>
          <p:cNvPr id="4631" name="Google Shape;4631;p223"/>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The strongest defence against p-hacking and hindsight is committing to the analysis before seeing outcomes.</a:t>
            </a:r>
            <a:endParaRPr sz="1450"/>
          </a:p>
        </p:txBody>
      </p:sp>
      <p:sp>
        <p:nvSpPr>
          <p:cNvPr id="4632" name="Google Shape;4632;p223"/>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223"/>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Pre-register</a:t>
            </a:r>
            <a:endParaRPr sz="1500"/>
          </a:p>
        </p:txBody>
      </p:sp>
      <p:sp>
        <p:nvSpPr>
          <p:cNvPr id="4634" name="Google Shape;4634;p223"/>
          <p:cNvSpPr/>
          <p:nvPr/>
        </p:nvSpPr>
        <p:spPr>
          <a:xfrm>
            <a:off x="859536" y="28346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Fix the primary metric, the estimand, the analysis, and the stopping rule before data collection ends.</a:t>
            </a:r>
            <a:endParaRPr sz="1250"/>
          </a:p>
        </p:txBody>
      </p:sp>
      <p:sp>
        <p:nvSpPr>
          <p:cNvPr id="4635" name="Google Shape;4635;p223"/>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223"/>
          <p:cNvSpPr/>
          <p:nvPr/>
        </p:nvSpPr>
        <p:spPr>
          <a:xfrm>
            <a:off x="859536" y="34747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Separate exploration from confirmation</a:t>
            </a:r>
            <a:endParaRPr sz="1500"/>
          </a:p>
        </p:txBody>
      </p:sp>
      <p:sp>
        <p:nvSpPr>
          <p:cNvPr id="4637" name="Google Shape;4637;p223"/>
          <p:cNvSpPr/>
          <p:nvPr/>
        </p:nvSpPr>
        <p:spPr>
          <a:xfrm>
            <a:off x="859536" y="37490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Label exploratory findings honestly; confirm them on fresh data before acting.</a:t>
            </a:r>
            <a:endParaRPr sz="1250"/>
          </a:p>
        </p:txBody>
      </p:sp>
      <p:sp>
        <p:nvSpPr>
          <p:cNvPr id="4638" name="Google Shape;4638;p223"/>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223"/>
          <p:cNvSpPr/>
          <p:nvPr/>
        </p:nvSpPr>
        <p:spPr>
          <a:xfrm>
            <a:off x="859536" y="43891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Reproducible pipelines</a:t>
            </a:r>
            <a:endParaRPr sz="1500"/>
          </a:p>
        </p:txBody>
      </p:sp>
      <p:sp>
        <p:nvSpPr>
          <p:cNvPr id="4640" name="Google Shape;4640;p223"/>
          <p:cNvSpPr/>
          <p:nvPr/>
        </p:nvSpPr>
        <p:spPr>
          <a:xfrm>
            <a:off x="859536" y="4663440"/>
            <a:ext cx="10692079"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Version data and code, seed randomness, and script the full analysis so a reviewer can re-run it.</a:t>
            </a:r>
            <a:endParaRPr sz="1250"/>
          </a:p>
        </p:txBody>
      </p:sp>
      <p:sp>
        <p:nvSpPr>
          <p:cNvPr id="4641" name="Google Shape;4641;p22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PRACTICE</a:t>
            </a:r>
            <a:endParaRPr sz="900"/>
          </a:p>
        </p:txBody>
      </p:sp>
      <p:sp>
        <p:nvSpPr>
          <p:cNvPr id="4642" name="Google Shape;4642;p22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253  /  268</a:t>
            </a:r>
            <a:endParaRPr sz="900"/>
          </a:p>
        </p:txBody>
      </p:sp>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7" name="Shape 4647"/>
        <p:cNvGrpSpPr/>
        <p:nvPr/>
      </p:nvGrpSpPr>
      <p:grpSpPr>
        <a:xfrm>
          <a:off x="0" y="0"/>
          <a:ext cx="0" cy="0"/>
          <a:chOff x="0" y="0"/>
          <a:chExt cx="0" cy="0"/>
        </a:xfrm>
      </p:grpSpPr>
      <p:sp>
        <p:nvSpPr>
          <p:cNvPr id="4648" name="Google Shape;4648;p22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PRACTICE · ETHICS</a:t>
            </a:r>
            <a:endParaRPr sz="1200"/>
          </a:p>
        </p:txBody>
      </p:sp>
      <p:sp>
        <p:nvSpPr>
          <p:cNvPr id="4649" name="Google Shape;4649;p22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The Ethics of Experimentation</a:t>
            </a:r>
            <a:endParaRPr sz="3400"/>
          </a:p>
        </p:txBody>
      </p:sp>
      <p:sp>
        <p:nvSpPr>
          <p:cNvPr id="4650" name="Google Shape;4650;p224"/>
          <p:cNvSpPr/>
          <p:nvPr/>
        </p:nvSpPr>
        <p:spPr>
          <a:xfrm>
            <a:off x="566928" y="1737360"/>
            <a:ext cx="6583680"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Experiments act on real people; credibility and responsibility are inseparable.</a:t>
            </a:r>
            <a:endParaRPr sz="1450"/>
          </a:p>
        </p:txBody>
      </p:sp>
      <p:sp>
        <p:nvSpPr>
          <p:cNvPr id="4651" name="Google Shape;4651;p224"/>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224"/>
          <p:cNvSpPr/>
          <p:nvPr/>
        </p:nvSpPr>
        <p:spPr>
          <a:xfrm>
            <a:off x="859536" y="25603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Do no harm</a:t>
            </a:r>
            <a:endParaRPr sz="1500"/>
          </a:p>
        </p:txBody>
      </p:sp>
      <p:sp>
        <p:nvSpPr>
          <p:cNvPr id="4653" name="Google Shape;4653;p224"/>
          <p:cNvSpPr/>
          <p:nvPr/>
        </p:nvSpPr>
        <p:spPr>
          <a:xfrm>
            <a:off x="859536" y="28346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Guardrails protect users from being harmed by a variant; some interventions must never be randomized.</a:t>
            </a:r>
            <a:endParaRPr sz="1250"/>
          </a:p>
        </p:txBody>
      </p:sp>
      <p:sp>
        <p:nvSpPr>
          <p:cNvPr id="4654" name="Google Shape;4654;p224"/>
          <p:cNvSpPr/>
          <p:nvPr/>
        </p:nvSpPr>
        <p:spPr>
          <a:xfrm>
            <a:off x="566928" y="352958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224"/>
          <p:cNvSpPr/>
          <p:nvPr/>
        </p:nvSpPr>
        <p:spPr>
          <a:xfrm>
            <a:off x="859536" y="34747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Equipoise &amp; consent</a:t>
            </a:r>
            <a:endParaRPr sz="1500"/>
          </a:p>
        </p:txBody>
      </p:sp>
      <p:sp>
        <p:nvSpPr>
          <p:cNvPr id="4656" name="Google Shape;4656;p224"/>
          <p:cNvSpPr/>
          <p:nvPr/>
        </p:nvSpPr>
        <p:spPr>
          <a:xfrm>
            <a:off x="859536" y="37490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Randomize only under genuine uncertainty about which arm is better; respect consent and applicable regulation.</a:t>
            </a:r>
            <a:endParaRPr sz="1250"/>
          </a:p>
        </p:txBody>
      </p:sp>
      <p:sp>
        <p:nvSpPr>
          <p:cNvPr id="4657" name="Google Shape;4657;p224"/>
          <p:cNvSpPr/>
          <p:nvPr/>
        </p:nvSpPr>
        <p:spPr>
          <a:xfrm>
            <a:off x="566928" y="444398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224"/>
          <p:cNvSpPr/>
          <p:nvPr/>
        </p:nvSpPr>
        <p:spPr>
          <a:xfrm>
            <a:off x="859536" y="4389120"/>
            <a:ext cx="6217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Fairness of effects</a:t>
            </a:r>
            <a:endParaRPr sz="1500"/>
          </a:p>
        </p:txBody>
      </p:sp>
      <p:sp>
        <p:nvSpPr>
          <p:cNvPr id="4659" name="Google Shape;4659;p224"/>
          <p:cNvSpPr/>
          <p:nvPr/>
        </p:nvSpPr>
        <p:spPr>
          <a:xfrm>
            <a:off x="859536" y="4663440"/>
            <a:ext cx="6217920" cy="62179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Check that a positive average effect is not achieved by harming a subgroup; report distributional impact.</a:t>
            </a:r>
            <a:endParaRPr sz="1250"/>
          </a:p>
        </p:txBody>
      </p:sp>
      <p:sp>
        <p:nvSpPr>
          <p:cNvPr id="4660" name="Google Shape;4660;p224"/>
          <p:cNvSpPr/>
          <p:nvPr/>
        </p:nvSpPr>
        <p:spPr>
          <a:xfrm>
            <a:off x="7470648" y="1737360"/>
            <a:ext cx="4154119" cy="4114800"/>
          </a:xfrm>
          <a:prstGeom prst="roundRect">
            <a:avLst>
              <a:gd fmla="val 2667" name="adj"/>
            </a:avLst>
          </a:prstGeom>
          <a:solidFill>
            <a:srgbClr val="F4F7FB"/>
          </a:solidFill>
          <a:ln cap="flat" cmpd="sng" w="12700">
            <a:solidFill>
              <a:srgbClr val="D9E2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224"/>
          <p:cNvSpPr/>
          <p:nvPr/>
        </p:nvSpPr>
        <p:spPr>
          <a:xfrm>
            <a:off x="7744968" y="2011680"/>
            <a:ext cx="36054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100"/>
              <a:buFont typeface="Calibri"/>
              <a:buNone/>
            </a:pPr>
            <a:r>
              <a:rPr b="1" lang="en-US" sz="1100">
                <a:solidFill>
                  <a:srgbClr val="3FA9E0"/>
                </a:solidFill>
                <a:latin typeface="Calibri"/>
                <a:ea typeface="Calibri"/>
                <a:cs typeface="Calibri"/>
                <a:sym typeface="Calibri"/>
              </a:rPr>
              <a:t>GOVERNANCE</a:t>
            </a:r>
            <a:endParaRPr sz="1100"/>
          </a:p>
        </p:txBody>
      </p:sp>
      <p:sp>
        <p:nvSpPr>
          <p:cNvPr id="4662" name="Google Shape;4662;p224"/>
          <p:cNvSpPr/>
          <p:nvPr/>
        </p:nvSpPr>
        <p:spPr>
          <a:xfrm>
            <a:off x="7744968" y="2377440"/>
            <a:ext cx="3605479" cy="320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6233F"/>
              </a:buClr>
              <a:buSzPts val="1350"/>
              <a:buFont typeface="Calibri"/>
              <a:buNone/>
            </a:pPr>
            <a:r>
              <a:rPr i="1" lang="en-US" sz="1350">
                <a:solidFill>
                  <a:srgbClr val="16233F"/>
                </a:solidFill>
                <a:latin typeface="Calibri"/>
                <a:ea typeface="Calibri"/>
                <a:cs typeface="Calibri"/>
                <a:sym typeface="Calibri"/>
              </a:rPr>
              <a:t>In a national and enterprise context, align experimentation with data-protection rules and an ethics-review process — responsible AI and responsible experimentation share the same spine.</a:t>
            </a:r>
            <a:endParaRPr sz="1350"/>
          </a:p>
        </p:txBody>
      </p:sp>
      <p:sp>
        <p:nvSpPr>
          <p:cNvPr id="4663" name="Google Shape;4663;p22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PRACTICE</a:t>
            </a:r>
            <a:endParaRPr sz="900"/>
          </a:p>
        </p:txBody>
      </p:sp>
      <p:sp>
        <p:nvSpPr>
          <p:cNvPr id="4664" name="Google Shape;4664;p22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254  /  268</a:t>
            </a:r>
            <a:endParaRPr sz="900"/>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69" name="Shape 4669"/>
        <p:cNvGrpSpPr/>
        <p:nvPr/>
      </p:nvGrpSpPr>
      <p:grpSpPr>
        <a:xfrm>
          <a:off x="0" y="0"/>
          <a:ext cx="0" cy="0"/>
          <a:chOff x="0" y="0"/>
          <a:chExt cx="0" cy="0"/>
        </a:xfrm>
      </p:grpSpPr>
      <p:sp>
        <p:nvSpPr>
          <p:cNvPr id="4670" name="Google Shape;4670;p22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PRACTICE · TOOLING</a:t>
            </a:r>
            <a:endParaRPr sz="1200"/>
          </a:p>
        </p:txBody>
      </p:sp>
      <p:sp>
        <p:nvSpPr>
          <p:cNvPr id="4671" name="Google Shape;4671;p22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Python Toolkit</a:t>
            </a:r>
            <a:endParaRPr sz="3400"/>
          </a:p>
        </p:txBody>
      </p:sp>
      <p:sp>
        <p:nvSpPr>
          <p:cNvPr id="4672" name="Google Shape;4672;p225"/>
          <p:cNvSpPr/>
          <p:nvPr/>
        </p:nvSpPr>
        <p:spPr>
          <a:xfrm>
            <a:off x="566928" y="1783080"/>
            <a:ext cx="11057839"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350"/>
              <a:buFont typeface="Calibri"/>
              <a:buNone/>
            </a:pPr>
            <a:r>
              <a:rPr lang="en-US" sz="1350">
                <a:solidFill>
                  <a:srgbClr val="566581"/>
                </a:solidFill>
                <a:latin typeface="Calibri"/>
                <a:ea typeface="Calibri"/>
                <a:cs typeface="Calibri"/>
                <a:sym typeface="Calibri"/>
              </a:rPr>
              <a:t>A practical, open-source stack for the labs and for production work.</a:t>
            </a:r>
            <a:endParaRPr sz="1350"/>
          </a:p>
        </p:txBody>
      </p:sp>
      <p:graphicFrame>
        <p:nvGraphicFramePr>
          <p:cNvPr id="4673" name="Google Shape;4673;p225"/>
          <p:cNvGraphicFramePr/>
          <p:nvPr/>
        </p:nvGraphicFramePr>
        <p:xfrm>
          <a:off x="566928" y="2331720"/>
          <a:ext cx="3000000" cy="3000000"/>
        </p:xfrm>
        <a:graphic>
          <a:graphicData uri="http://schemas.openxmlformats.org/drawingml/2006/table">
            <a:tbl>
              <a:tblPr>
                <a:noFill/>
                <a:tableStyleId>{B3C4230F-BFAA-4733-B5D7-E1172E9C1B61}</a:tableStyleId>
              </a:tblPr>
              <a:tblGrid>
                <a:gridCol w="2926075"/>
                <a:gridCol w="3749050"/>
                <a:gridCol w="3483875"/>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Task</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Libraries</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Notes</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Data &amp; modelling</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pandas, NumPy, statsmodels, scikit-learn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Foundations for estimation and inference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Causal estimation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DoWhy, EconML, CausalML</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Adjustment, DR/ML learners, CATE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Diagnostics / matching</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causalinference, dowhy refuters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Balance, overlap, refutation tests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Panel / quasi-experiment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linearmodels, differences, pysyncon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IV/2SLS, modern DiD, synthetic control</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Experimentation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scipy.stats, statsmodels.power</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Power, tests, sequential analysis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bl>
          </a:graphicData>
        </a:graphic>
      </p:graphicFrame>
      <p:sp>
        <p:nvSpPr>
          <p:cNvPr id="4674" name="Google Shape;4674;p22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PRACTICE</a:t>
            </a:r>
            <a:endParaRPr sz="900"/>
          </a:p>
        </p:txBody>
      </p:sp>
      <p:sp>
        <p:nvSpPr>
          <p:cNvPr id="4675" name="Google Shape;4675;p22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255  /  268</a:t>
            </a:r>
            <a:endParaRPr sz="900"/>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80" name="Shape 4680"/>
        <p:cNvGrpSpPr/>
        <p:nvPr/>
      </p:nvGrpSpPr>
      <p:grpSpPr>
        <a:xfrm>
          <a:off x="0" y="0"/>
          <a:ext cx="0" cy="0"/>
          <a:chOff x="0" y="0"/>
          <a:chExt cx="0" cy="0"/>
        </a:xfrm>
      </p:grpSpPr>
      <p:sp>
        <p:nvSpPr>
          <p:cNvPr id="4681" name="Google Shape;4681;p22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NOTATION</a:t>
            </a:r>
            <a:endParaRPr sz="1200"/>
          </a:p>
        </p:txBody>
      </p:sp>
      <p:sp>
        <p:nvSpPr>
          <p:cNvPr id="4682" name="Google Shape;4682;p22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Notation Reference</a:t>
            </a:r>
            <a:endParaRPr sz="3400"/>
          </a:p>
        </p:txBody>
      </p:sp>
      <p:graphicFrame>
        <p:nvGraphicFramePr>
          <p:cNvPr id="4683" name="Google Shape;4683;p226"/>
          <p:cNvGraphicFramePr/>
          <p:nvPr/>
        </p:nvGraphicFramePr>
        <p:xfrm>
          <a:off x="566928" y="1783080"/>
          <a:ext cx="3000000" cy="3000000"/>
        </p:xfrm>
        <a:graphic>
          <a:graphicData uri="http://schemas.openxmlformats.org/drawingml/2006/table">
            <a:tbl>
              <a:tblPr>
                <a:noFill/>
                <a:tableStyleId>{B3C4230F-BFAA-4733-B5D7-E1172E9C1B61}</a:tableStyleId>
              </a:tblPr>
              <a:tblGrid>
                <a:gridCol w="2377450"/>
                <a:gridCol w="7781550"/>
              </a:tblGrid>
              <a:tr h="53150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Symbol</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Meaning</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3150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T (or 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Treatment / exposure indicator</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3150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Y, Y(1), Y(0)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Observed outcome; potential outcomes under treatment / control</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3150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X</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Pre-treatment covariates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3150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τᵢ, ATE, ATT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Individual effect; average effects (population / on treated)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3150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e(x)</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Propensity score P(T=1 | X=x)</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3150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Z</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Instrument; ⊥ denotes statistical independence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3150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do(·)</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The intervention operator (setting a variable)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bl>
          </a:graphicData>
        </a:graphic>
      </p:graphicFrame>
      <p:sp>
        <p:nvSpPr>
          <p:cNvPr id="4684" name="Google Shape;4684;p22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PRACTICE</a:t>
            </a:r>
            <a:endParaRPr sz="900"/>
          </a:p>
        </p:txBody>
      </p:sp>
      <p:sp>
        <p:nvSpPr>
          <p:cNvPr id="4685" name="Google Shape;4685;p22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256  /  268</a:t>
            </a:r>
            <a:endParaRPr sz="900"/>
          </a:p>
        </p:txBody>
      </p:sp>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0" name="Shape 4690"/>
        <p:cNvGrpSpPr/>
        <p:nvPr/>
      </p:nvGrpSpPr>
      <p:grpSpPr>
        <a:xfrm>
          <a:off x="0" y="0"/>
          <a:ext cx="0" cy="0"/>
          <a:chOff x="0" y="0"/>
          <a:chExt cx="0" cy="0"/>
        </a:xfrm>
      </p:grpSpPr>
      <p:sp>
        <p:nvSpPr>
          <p:cNvPr id="4691" name="Google Shape;4691;p22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GLOSSARY</a:t>
            </a:r>
            <a:endParaRPr sz="1200"/>
          </a:p>
        </p:txBody>
      </p:sp>
      <p:sp>
        <p:nvSpPr>
          <p:cNvPr id="4692" name="Google Shape;4692;p22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Glossary (1 of 3)</a:t>
            </a:r>
            <a:endParaRPr sz="3400"/>
          </a:p>
        </p:txBody>
      </p:sp>
      <p:graphicFrame>
        <p:nvGraphicFramePr>
          <p:cNvPr id="4693" name="Google Shape;4693;p227"/>
          <p:cNvGraphicFramePr/>
          <p:nvPr/>
        </p:nvGraphicFramePr>
        <p:xfrm>
          <a:off x="566928" y="1783080"/>
          <a:ext cx="3000000" cy="3000000"/>
        </p:xfrm>
        <a:graphic>
          <a:graphicData uri="http://schemas.openxmlformats.org/drawingml/2006/table">
            <a:tbl>
              <a:tblPr>
                <a:noFill/>
                <a:tableStyleId>{B3C4230F-BFAA-4733-B5D7-E1172E9C1B61}</a:tableStyleId>
              </a:tblPr>
              <a:tblGrid>
                <a:gridCol w="2743200"/>
                <a:gridCol w="7415775"/>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Term</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Definition</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Potential outcome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The outcome a unit would have under a specific treatment value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Counterfactual</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The unobserved potential outcome under the treatment not received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Estimand / estimator / estimate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Target quantity / procedure / resulting number</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SUTVA</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No interference and a single well-defined treatment version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Ignorability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Treatment independent of potential outcomes given covariates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Positivity / overlap</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Every covariate profile has a chance of either treatment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bl>
          </a:graphicData>
        </a:graphic>
      </p:graphicFrame>
      <p:sp>
        <p:nvSpPr>
          <p:cNvPr id="4694" name="Google Shape;4694;p22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GLOSSARY</a:t>
            </a:r>
            <a:endParaRPr sz="900"/>
          </a:p>
        </p:txBody>
      </p:sp>
      <p:sp>
        <p:nvSpPr>
          <p:cNvPr id="4695" name="Google Shape;4695;p22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257  /  268</a:t>
            </a:r>
            <a:endParaRPr sz="900"/>
          </a:p>
        </p:txBody>
      </p:sp>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00" name="Shape 4700"/>
        <p:cNvGrpSpPr/>
        <p:nvPr/>
      </p:nvGrpSpPr>
      <p:grpSpPr>
        <a:xfrm>
          <a:off x="0" y="0"/>
          <a:ext cx="0" cy="0"/>
          <a:chOff x="0" y="0"/>
          <a:chExt cx="0" cy="0"/>
        </a:xfrm>
      </p:grpSpPr>
      <p:sp>
        <p:nvSpPr>
          <p:cNvPr id="4701" name="Google Shape;4701;p228"/>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GLOSSARY</a:t>
            </a:r>
            <a:endParaRPr sz="1200"/>
          </a:p>
        </p:txBody>
      </p:sp>
      <p:sp>
        <p:nvSpPr>
          <p:cNvPr id="4702" name="Google Shape;4702;p228"/>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Glossary (2 of 3)</a:t>
            </a:r>
            <a:endParaRPr sz="3400"/>
          </a:p>
        </p:txBody>
      </p:sp>
      <p:graphicFrame>
        <p:nvGraphicFramePr>
          <p:cNvPr id="4703" name="Google Shape;4703;p228"/>
          <p:cNvGraphicFramePr/>
          <p:nvPr/>
        </p:nvGraphicFramePr>
        <p:xfrm>
          <a:off x="566928" y="1783080"/>
          <a:ext cx="3000000" cy="3000000"/>
        </p:xfrm>
        <a:graphic>
          <a:graphicData uri="http://schemas.openxmlformats.org/drawingml/2006/table">
            <a:tbl>
              <a:tblPr>
                <a:noFill/>
                <a:tableStyleId>{B3C4230F-BFAA-4733-B5D7-E1172E9C1B61}</a:tableStyleId>
              </a:tblPr>
              <a:tblGrid>
                <a:gridCol w="2743200"/>
                <a:gridCol w="7415775"/>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Term</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Definition</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Confounder</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A common cause of treatment and outcome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Collider</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A common effect of two variables; conditioning opens bias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Propensity score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Probability of treatment given covariates, e(x)</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IPW</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Inverse-probability weighting to rebalance the sample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Doubly robust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Consistent if the outcome OR the treatment model is correct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CUPED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Variance reduction using a pre-treatment covariate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bl>
          </a:graphicData>
        </a:graphic>
      </p:graphicFrame>
      <p:sp>
        <p:nvSpPr>
          <p:cNvPr id="4704" name="Google Shape;4704;p228"/>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GLOSSARY</a:t>
            </a:r>
            <a:endParaRPr sz="900"/>
          </a:p>
        </p:txBody>
      </p:sp>
      <p:sp>
        <p:nvSpPr>
          <p:cNvPr id="4705" name="Google Shape;4705;p228"/>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258  /  268</a:t>
            </a:r>
            <a:endParaRPr sz="900"/>
          </a:p>
        </p:txBody>
      </p:sp>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10" name="Shape 4710"/>
        <p:cNvGrpSpPr/>
        <p:nvPr/>
      </p:nvGrpSpPr>
      <p:grpSpPr>
        <a:xfrm>
          <a:off x="0" y="0"/>
          <a:ext cx="0" cy="0"/>
          <a:chOff x="0" y="0"/>
          <a:chExt cx="0" cy="0"/>
        </a:xfrm>
      </p:grpSpPr>
      <p:sp>
        <p:nvSpPr>
          <p:cNvPr id="4711" name="Google Shape;4711;p229"/>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GLOSSARY</a:t>
            </a:r>
            <a:endParaRPr sz="1200"/>
          </a:p>
        </p:txBody>
      </p:sp>
      <p:sp>
        <p:nvSpPr>
          <p:cNvPr id="4712" name="Google Shape;4712;p229"/>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Glossary (3 of 3)</a:t>
            </a:r>
            <a:endParaRPr sz="3400"/>
          </a:p>
        </p:txBody>
      </p:sp>
      <p:graphicFrame>
        <p:nvGraphicFramePr>
          <p:cNvPr id="4713" name="Google Shape;4713;p229"/>
          <p:cNvGraphicFramePr/>
          <p:nvPr/>
        </p:nvGraphicFramePr>
        <p:xfrm>
          <a:off x="566928" y="1783080"/>
          <a:ext cx="3000000" cy="3000000"/>
        </p:xfrm>
        <a:graphic>
          <a:graphicData uri="http://schemas.openxmlformats.org/drawingml/2006/table">
            <a:tbl>
              <a:tblPr>
                <a:noFill/>
                <a:tableStyleId>{B3C4230F-BFAA-4733-B5D7-E1172E9C1B61}</a:tableStyleId>
              </a:tblPr>
              <a:tblGrid>
                <a:gridCol w="2743200"/>
                <a:gridCol w="7415775"/>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Term</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Definition</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DiD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Difference-in-differences; compares before/after changes across groups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Parallel trends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Groups would have moved together absent treatment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Synthetic control</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A weighted blend of controls matching the treated unit's history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IV / LATE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Instrumental variables; the local effect on compliers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RDD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Regression discontinuity; the local effect at a threshold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E-value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Confounding strength needed to explain away an effect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bl>
          </a:graphicData>
        </a:graphic>
      </p:graphicFrame>
      <p:sp>
        <p:nvSpPr>
          <p:cNvPr id="4714" name="Google Shape;4714;p229"/>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GLOSSARY</a:t>
            </a:r>
            <a:endParaRPr sz="900"/>
          </a:p>
        </p:txBody>
      </p:sp>
      <p:sp>
        <p:nvSpPr>
          <p:cNvPr id="4715" name="Google Shape;4715;p229"/>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259  /  268</a:t>
            </a:r>
            <a:endParaRPr sz="900"/>
          </a:p>
        </p:txBody>
      </p:sp>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4720" name="Shape 4720"/>
        <p:cNvGrpSpPr/>
        <p:nvPr/>
      </p:nvGrpSpPr>
      <p:grpSpPr>
        <a:xfrm>
          <a:off x="0" y="0"/>
          <a:ext cx="0" cy="0"/>
          <a:chOff x="0" y="0"/>
          <a:chExt cx="0" cy="0"/>
        </a:xfrm>
      </p:grpSpPr>
      <p:sp>
        <p:nvSpPr>
          <p:cNvPr id="4721" name="Google Shape;4721;p230"/>
          <p:cNvSpPr/>
          <p:nvPr/>
        </p:nvSpPr>
        <p:spPr>
          <a:xfrm>
            <a:off x="566928" y="233172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REFERENCE · DELIVERY</a:t>
            </a:r>
            <a:endParaRPr sz="1300"/>
          </a:p>
        </p:txBody>
      </p:sp>
      <p:sp>
        <p:nvSpPr>
          <p:cNvPr id="4722" name="Google Shape;4722;p230"/>
          <p:cNvSpPr/>
          <p:nvPr/>
        </p:nvSpPr>
        <p:spPr>
          <a:xfrm>
            <a:off x="566928" y="2788920"/>
            <a:ext cx="10058400" cy="13716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Course Toolkit &amp; Facilitator Notes</a:t>
            </a:r>
            <a:endParaRPr sz="4000"/>
          </a:p>
        </p:txBody>
      </p:sp>
      <p:sp>
        <p:nvSpPr>
          <p:cNvPr id="4723" name="Google Shape;4723;p230"/>
          <p:cNvSpPr/>
          <p:nvPr/>
        </p:nvSpPr>
        <p:spPr>
          <a:xfrm>
            <a:off x="566928" y="4160520"/>
            <a:ext cx="932688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Competency mapping, assessment blueprint, timing, and delivery guidance for instructors.</a:t>
            </a:r>
            <a:endParaRPr sz="1500"/>
          </a:p>
        </p:txBody>
      </p:sp>
      <p:cxnSp>
        <p:nvCxnSpPr>
          <p:cNvPr id="4724" name="Google Shape;4724;p230"/>
          <p:cNvCxnSpPr/>
          <p:nvPr/>
        </p:nvCxnSpPr>
        <p:spPr>
          <a:xfrm>
            <a:off x="566928" y="3931920"/>
            <a:ext cx="1645920" cy="0"/>
          </a:xfrm>
          <a:prstGeom prst="straightConnector1">
            <a:avLst/>
          </a:prstGeom>
          <a:noFill/>
          <a:ln cap="flat" cmpd="sng" w="25400">
            <a:solidFill>
              <a:srgbClr val="3FA9E0"/>
            </a:solidFill>
            <a:prstDash val="solid"/>
            <a:round/>
            <a:headEnd len="sm" w="sm" type="none"/>
            <a:tailEnd len="sm" w="sm" type="none"/>
          </a:ln>
        </p:spPr>
      </p:cxnSp>
      <p:sp>
        <p:nvSpPr>
          <p:cNvPr id="4725" name="Google Shape;4725;p230"/>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C9DAF0"/>
                </a:solidFill>
                <a:latin typeface="Calibri"/>
                <a:ea typeface="Calibri"/>
                <a:cs typeface="Calibri"/>
                <a:sym typeface="Calibri"/>
              </a:rPr>
              <a:t>REFERENCE</a:t>
            </a:r>
            <a:endParaRPr sz="900"/>
          </a:p>
        </p:txBody>
      </p:sp>
      <p:sp>
        <p:nvSpPr>
          <p:cNvPr id="4726" name="Google Shape;4726;p230"/>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C8"/>
              </a:buClr>
              <a:buSzPts val="900"/>
              <a:buFont typeface="Calibri"/>
              <a:buNone/>
            </a:pPr>
            <a:r>
              <a:rPr lang="en-US" sz="900">
                <a:solidFill>
                  <a:srgbClr val="9FB0C8"/>
                </a:solidFill>
                <a:latin typeface="Calibri"/>
                <a:ea typeface="Calibri"/>
                <a:cs typeface="Calibri"/>
                <a:sym typeface="Calibri"/>
              </a:rPr>
              <a:t>260  /  268</a:t>
            </a:r>
            <a:endParaRPr sz="900"/>
          </a:p>
        </p:txBody>
      </p:sp>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31" name="Shape 4731"/>
        <p:cNvGrpSpPr/>
        <p:nvPr/>
      </p:nvGrpSpPr>
      <p:grpSpPr>
        <a:xfrm>
          <a:off x="0" y="0"/>
          <a:ext cx="0" cy="0"/>
          <a:chOff x="0" y="0"/>
          <a:chExt cx="0" cy="0"/>
        </a:xfrm>
      </p:grpSpPr>
      <p:sp>
        <p:nvSpPr>
          <p:cNvPr id="4732" name="Google Shape;4732;p231"/>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DELIVERY · MAPPING</a:t>
            </a:r>
            <a:endParaRPr sz="1200"/>
          </a:p>
        </p:txBody>
      </p:sp>
      <p:sp>
        <p:nvSpPr>
          <p:cNvPr id="4733" name="Google Shape;4733;p231"/>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Outcomes → Competency → Content</a:t>
            </a:r>
            <a:endParaRPr sz="3400"/>
          </a:p>
        </p:txBody>
      </p:sp>
      <p:sp>
        <p:nvSpPr>
          <p:cNvPr id="4734" name="Google Shape;4734;p231"/>
          <p:cNvSpPr/>
          <p:nvPr/>
        </p:nvSpPr>
        <p:spPr>
          <a:xfrm>
            <a:off x="566928" y="1783080"/>
            <a:ext cx="11057839"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350"/>
              <a:buFont typeface="Calibri"/>
              <a:buNone/>
            </a:pPr>
            <a:r>
              <a:rPr lang="en-US" sz="1350">
                <a:solidFill>
                  <a:srgbClr val="566581"/>
                </a:solidFill>
                <a:latin typeface="Calibri"/>
                <a:ea typeface="Calibri"/>
                <a:cs typeface="Calibri"/>
                <a:sym typeface="Calibri"/>
              </a:rPr>
              <a:t>Traceability from each learning outcome to the DSC-C04 competency and the day that delivers it.</a:t>
            </a:r>
            <a:endParaRPr sz="1350"/>
          </a:p>
        </p:txBody>
      </p:sp>
      <p:graphicFrame>
        <p:nvGraphicFramePr>
          <p:cNvPr id="4735" name="Google Shape;4735;p231"/>
          <p:cNvGraphicFramePr/>
          <p:nvPr/>
        </p:nvGraphicFramePr>
        <p:xfrm>
          <a:off x="566928" y="2331720"/>
          <a:ext cx="3000000" cy="3000000"/>
        </p:xfrm>
        <a:graphic>
          <a:graphicData uri="http://schemas.openxmlformats.org/drawingml/2006/table">
            <a:tbl>
              <a:tblPr>
                <a:noFill/>
                <a:tableStyleId>{B3C4230F-BFAA-4733-B5D7-E1172E9C1B61}</a:tableStyleId>
              </a:tblPr>
              <a:tblGrid>
                <a:gridCol w="3291850"/>
                <a:gridCol w="4206250"/>
                <a:gridCol w="2660900"/>
              </a:tblGrid>
              <a:tr h="5290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Outcome</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DSC-C04 element</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Primary day(s)</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290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LO1 Formalise questions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Potential outcomes, estimands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Day 1</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290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LO2 Defend assumptions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Identification, SUTVA, ignorability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Day 1, Day 3</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290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LO3–LO4 Experiments &amp; A/B</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Design, randomization, testing</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Day 2</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290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LO5 Observational effects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Adjustment, DR estimation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Day 3</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290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LO6 Quasi-experiments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DiD, IV, RDD, synthetic control</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Day 3</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290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LO7–LO8 Uncertainty &amp; bias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Inference, sensitivity, validity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Day 4</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bl>
          </a:graphicData>
        </a:graphic>
      </p:graphicFrame>
      <p:sp>
        <p:nvSpPr>
          <p:cNvPr id="4736" name="Google Shape;4736;p231"/>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DELIVERY</a:t>
            </a:r>
            <a:endParaRPr sz="900"/>
          </a:p>
        </p:txBody>
      </p:sp>
      <p:sp>
        <p:nvSpPr>
          <p:cNvPr id="4737" name="Google Shape;4737;p231"/>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261  /  268</a:t>
            </a:r>
            <a:endParaRPr sz="900"/>
          </a:p>
        </p:txBody>
      </p:sp>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42" name="Shape 4742"/>
        <p:cNvGrpSpPr/>
        <p:nvPr/>
      </p:nvGrpSpPr>
      <p:grpSpPr>
        <a:xfrm>
          <a:off x="0" y="0"/>
          <a:ext cx="0" cy="0"/>
          <a:chOff x="0" y="0"/>
          <a:chExt cx="0" cy="0"/>
        </a:xfrm>
      </p:grpSpPr>
      <p:sp>
        <p:nvSpPr>
          <p:cNvPr id="4743" name="Google Shape;4743;p232"/>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DELIVERY · ASSESSMENT</a:t>
            </a:r>
            <a:endParaRPr sz="1200"/>
          </a:p>
        </p:txBody>
      </p:sp>
      <p:sp>
        <p:nvSpPr>
          <p:cNvPr id="4744" name="Google Shape;4744;p232"/>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Assessment Blueprint</a:t>
            </a:r>
            <a:endParaRPr sz="3400"/>
          </a:p>
        </p:txBody>
      </p:sp>
      <p:graphicFrame>
        <p:nvGraphicFramePr>
          <p:cNvPr id="4745" name="Google Shape;4745;p232"/>
          <p:cNvGraphicFramePr/>
          <p:nvPr/>
        </p:nvGraphicFramePr>
        <p:xfrm>
          <a:off x="566928" y="1783080"/>
          <a:ext cx="3000000" cy="3000000"/>
        </p:xfrm>
        <a:graphic>
          <a:graphicData uri="http://schemas.openxmlformats.org/drawingml/2006/table">
            <a:tbl>
              <a:tblPr>
                <a:noFill/>
                <a:tableStyleId>{B3C4230F-BFAA-4733-B5D7-E1172E9C1B61}</a:tableStyleId>
              </a:tblPr>
              <a:tblGrid>
                <a:gridCol w="2560325"/>
                <a:gridCol w="3108950"/>
                <a:gridCol w="1280150"/>
                <a:gridCol w="3209550"/>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Instrument</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Items / form</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Weight</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Aligned outcomes</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Pre-test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10 MCQ (diagnostic)</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Baseline across LO1–LO8</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Daily checks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4 sets, MCQ + applied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20%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LO of that day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Labs 1–4</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Rubric-scored notebooks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30%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LO3–LO7</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Capstone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Design + memo + defense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40%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LO1–LO8 integrated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Post-test</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20 MCQ (summative)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10%</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LO1–LO8</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bl>
          </a:graphicData>
        </a:graphic>
      </p:graphicFrame>
      <p:sp>
        <p:nvSpPr>
          <p:cNvPr id="4746" name="Google Shape;4746;p232"/>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DELIVERY</a:t>
            </a:r>
            <a:endParaRPr sz="900"/>
          </a:p>
        </p:txBody>
      </p:sp>
      <p:sp>
        <p:nvSpPr>
          <p:cNvPr id="4747" name="Google Shape;4747;p232"/>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262  /  268</a:t>
            </a:r>
            <a:endParaRPr sz="900"/>
          </a:p>
        </p:txBody>
      </p:sp>
    </p:spTree>
  </p:cSld>
  <p:clrMapOvr>
    <a:masterClrMapping/>
  </p:clrMapOvr>
</p:sld>
</file>

<file path=ppt/slides/slide2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52" name="Shape 4752"/>
        <p:cNvGrpSpPr/>
        <p:nvPr/>
      </p:nvGrpSpPr>
      <p:grpSpPr>
        <a:xfrm>
          <a:off x="0" y="0"/>
          <a:ext cx="0" cy="0"/>
          <a:chOff x="0" y="0"/>
          <a:chExt cx="0" cy="0"/>
        </a:xfrm>
      </p:grpSpPr>
      <p:sp>
        <p:nvSpPr>
          <p:cNvPr id="4753" name="Google Shape;4753;p233"/>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DELIVERY · TIMING</a:t>
            </a:r>
            <a:endParaRPr sz="1200"/>
          </a:p>
        </p:txBody>
      </p:sp>
      <p:sp>
        <p:nvSpPr>
          <p:cNvPr id="4754" name="Google Shape;4754;p233"/>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Master Timetable (Days 1–2)</a:t>
            </a:r>
            <a:endParaRPr sz="3400"/>
          </a:p>
        </p:txBody>
      </p:sp>
      <p:graphicFrame>
        <p:nvGraphicFramePr>
          <p:cNvPr id="4755" name="Google Shape;4755;p233"/>
          <p:cNvGraphicFramePr/>
          <p:nvPr/>
        </p:nvGraphicFramePr>
        <p:xfrm>
          <a:off x="566928" y="1783080"/>
          <a:ext cx="3000000" cy="3000000"/>
        </p:xfrm>
        <a:graphic>
          <a:graphicData uri="http://schemas.openxmlformats.org/drawingml/2006/table">
            <a:tbl>
              <a:tblPr>
                <a:noFill/>
                <a:tableStyleId>{B3C4230F-BFAA-4733-B5D7-E1172E9C1B61}</a:tableStyleId>
              </a:tblPr>
              <a:tblGrid>
                <a:gridCol w="1463050"/>
                <a:gridCol w="4343400"/>
                <a:gridCol w="4352550"/>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Hour</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Day 1</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Day 2</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1</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Causal thinking &amp; workflow</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Design of experiments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2</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Potential outcomes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Inference for experiments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3</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Identification assumptions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Regression, CUPED, CATE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4</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Randomization &amp; inference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A/B testing in production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5</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Lab 1 + discussion + wrap</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Lab 2 + discussion + wrap</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bl>
          </a:graphicData>
        </a:graphic>
      </p:graphicFrame>
      <p:sp>
        <p:nvSpPr>
          <p:cNvPr id="4756" name="Google Shape;4756;p233"/>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DELIVERY</a:t>
            </a:r>
            <a:endParaRPr sz="900"/>
          </a:p>
        </p:txBody>
      </p:sp>
      <p:sp>
        <p:nvSpPr>
          <p:cNvPr id="4757" name="Google Shape;4757;p233"/>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263  /  268</a:t>
            </a:r>
            <a:endParaRPr sz="900"/>
          </a:p>
        </p:txBody>
      </p:sp>
    </p:spTree>
  </p:cSld>
  <p:clrMapOvr>
    <a:masterClrMapping/>
  </p:clrMapOvr>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62" name="Shape 4762"/>
        <p:cNvGrpSpPr/>
        <p:nvPr/>
      </p:nvGrpSpPr>
      <p:grpSpPr>
        <a:xfrm>
          <a:off x="0" y="0"/>
          <a:ext cx="0" cy="0"/>
          <a:chOff x="0" y="0"/>
          <a:chExt cx="0" cy="0"/>
        </a:xfrm>
      </p:grpSpPr>
      <p:sp>
        <p:nvSpPr>
          <p:cNvPr id="4763" name="Google Shape;4763;p234"/>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DELIVERY · TIMING</a:t>
            </a:r>
            <a:endParaRPr sz="1200"/>
          </a:p>
        </p:txBody>
      </p:sp>
      <p:sp>
        <p:nvSpPr>
          <p:cNvPr id="4764" name="Google Shape;4764;p234"/>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Master Timetable (Days 3–4)</a:t>
            </a:r>
            <a:endParaRPr sz="3400"/>
          </a:p>
        </p:txBody>
      </p:sp>
      <p:graphicFrame>
        <p:nvGraphicFramePr>
          <p:cNvPr id="4765" name="Google Shape;4765;p234"/>
          <p:cNvGraphicFramePr/>
          <p:nvPr/>
        </p:nvGraphicFramePr>
        <p:xfrm>
          <a:off x="566928" y="1783080"/>
          <a:ext cx="3000000" cy="3000000"/>
        </p:xfrm>
        <a:graphic>
          <a:graphicData uri="http://schemas.openxmlformats.org/drawingml/2006/table">
            <a:tbl>
              <a:tblPr>
                <a:noFill/>
                <a:tableStyleId>{B3C4230F-BFAA-4733-B5D7-E1172E9C1B61}</a:tableStyleId>
              </a:tblPr>
              <a:tblGrid>
                <a:gridCol w="1463050"/>
                <a:gridCol w="4343400"/>
                <a:gridCol w="4352550"/>
              </a:tblGrid>
              <a:tr h="5486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Hour</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Day 3</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Day 4</a:t>
                      </a:r>
                      <a:endParaRPr sz="120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16233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1</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Confounding &amp; DAGs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Uncertainty quantification</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2</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Adjustment estimators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Bias, validity &amp; sensitivity</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3</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DiD &amp; synthetic control</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Real-world case studies</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4</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IV &amp; RDD</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Capstone lab</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4F7FB"/>
                    </a:solidFill>
                  </a:tcPr>
                </a:tc>
              </a:tr>
              <a:tr h="548650">
                <a:tc>
                  <a:txBody>
                    <a:bodyPr/>
                    <a:lstStyle/>
                    <a:p>
                      <a:pPr indent="0" lvl="0" marL="0" marR="0" rtl="0" algn="l">
                        <a:spcBef>
                          <a:spcPts val="0"/>
                        </a:spcBef>
                        <a:spcAft>
                          <a:spcPts val="0"/>
                        </a:spcAft>
                        <a:buClr>
                          <a:srgbClr val="16233F"/>
                        </a:buClr>
                        <a:buSzPts val="1150"/>
                        <a:buFont typeface="Calibri"/>
                        <a:buNone/>
                      </a:pPr>
                      <a:r>
                        <a:rPr b="1" lang="en-US" sz="1150" u="none" cap="none" strike="noStrike">
                          <a:solidFill>
                            <a:srgbClr val="16233F"/>
                          </a:solidFill>
                          <a:latin typeface="Calibri"/>
                          <a:ea typeface="Calibri"/>
                          <a:cs typeface="Calibri"/>
                          <a:sym typeface="Calibri"/>
                        </a:rPr>
                        <a:t>5</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Lab 3 + discussion + wrap</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581"/>
                        </a:buClr>
                        <a:buSzPts val="1150"/>
                        <a:buFont typeface="Calibri"/>
                        <a:buNone/>
                      </a:pPr>
                      <a:r>
                        <a:rPr lang="en-US" sz="1150" u="none" cap="none" strike="noStrike">
                          <a:solidFill>
                            <a:srgbClr val="566581"/>
                          </a:solidFill>
                          <a:latin typeface="Calibri"/>
                          <a:ea typeface="Calibri"/>
                          <a:cs typeface="Calibri"/>
                          <a:sym typeface="Calibri"/>
                        </a:rPr>
                        <a:t>Defense + post-test + close</a:t>
                      </a:r>
                      <a:endParaRPr sz="1150" u="none" cap="none" strike="noStrike">
                        <a:latin typeface="Calibri"/>
                        <a:ea typeface="Calibri"/>
                        <a:cs typeface="Calibri"/>
                        <a:sym typeface="Calibri"/>
                      </a:endParaRPr>
                    </a:p>
                  </a:txBody>
                  <a:tcPr marT="50800" marB="50800" marR="76200" marL="76200" anchor="ctr">
                    <a:lnL cap="flat" cmpd="sng" w="12700">
                      <a:solidFill>
                        <a:srgbClr val="D9E2F0"/>
                      </a:solidFill>
                      <a:prstDash val="solid"/>
                      <a:round/>
                      <a:headEnd len="sm" w="sm" type="none"/>
                      <a:tailEnd len="sm" w="sm" type="none"/>
                    </a:lnL>
                    <a:lnR cap="flat" cmpd="sng" w="12700">
                      <a:solidFill>
                        <a:srgbClr val="D9E2F0"/>
                      </a:solidFill>
                      <a:prstDash val="solid"/>
                      <a:round/>
                      <a:headEnd len="sm" w="sm" type="none"/>
                      <a:tailEnd len="sm" w="sm" type="none"/>
                    </a:lnR>
                    <a:lnT cap="flat" cmpd="sng" w="12700">
                      <a:solidFill>
                        <a:srgbClr val="D9E2F0"/>
                      </a:solidFill>
                      <a:prstDash val="solid"/>
                      <a:round/>
                      <a:headEnd len="sm" w="sm" type="none"/>
                      <a:tailEnd len="sm" w="sm" type="none"/>
                    </a:lnT>
                    <a:lnB cap="flat" cmpd="sng" w="12700">
                      <a:solidFill>
                        <a:srgbClr val="D9E2F0"/>
                      </a:solidFill>
                      <a:prstDash val="solid"/>
                      <a:round/>
                      <a:headEnd len="sm" w="sm" type="none"/>
                      <a:tailEnd len="sm" w="sm" type="none"/>
                    </a:lnB>
                    <a:solidFill>
                      <a:srgbClr val="FFFFFF"/>
                    </a:solidFill>
                  </a:tcPr>
                </a:tc>
              </a:tr>
            </a:tbl>
          </a:graphicData>
        </a:graphic>
      </p:graphicFrame>
      <p:sp>
        <p:nvSpPr>
          <p:cNvPr id="4766" name="Google Shape;4766;p234"/>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DELIVERY</a:t>
            </a:r>
            <a:endParaRPr sz="900"/>
          </a:p>
        </p:txBody>
      </p:sp>
      <p:sp>
        <p:nvSpPr>
          <p:cNvPr id="4767" name="Google Shape;4767;p234"/>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264  /  268</a:t>
            </a:r>
            <a:endParaRPr sz="900"/>
          </a:p>
        </p:txBody>
      </p:sp>
    </p:spTree>
  </p:cSld>
  <p:clrMapOvr>
    <a:masterClrMapping/>
  </p:clrMapOvr>
</p:sld>
</file>

<file path=ppt/slides/slide2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2" name="Shape 4772"/>
        <p:cNvGrpSpPr/>
        <p:nvPr/>
      </p:nvGrpSpPr>
      <p:grpSpPr>
        <a:xfrm>
          <a:off x="0" y="0"/>
          <a:ext cx="0" cy="0"/>
          <a:chOff x="0" y="0"/>
          <a:chExt cx="0" cy="0"/>
        </a:xfrm>
      </p:grpSpPr>
      <p:sp>
        <p:nvSpPr>
          <p:cNvPr id="4773" name="Google Shape;4773;p235"/>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DELIVERY · FACILITATION</a:t>
            </a:r>
            <a:endParaRPr sz="1200"/>
          </a:p>
        </p:txBody>
      </p:sp>
      <p:sp>
        <p:nvSpPr>
          <p:cNvPr id="4774" name="Google Shape;4774;p235"/>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Facilitator Delivery Notes</a:t>
            </a:r>
            <a:endParaRPr sz="3400"/>
          </a:p>
        </p:txBody>
      </p:sp>
      <p:sp>
        <p:nvSpPr>
          <p:cNvPr id="4775" name="Google Shape;4775;p235"/>
          <p:cNvSpPr/>
          <p:nvPr/>
        </p:nvSpPr>
        <p:spPr>
          <a:xfrm>
            <a:off x="566928" y="1737360"/>
            <a:ext cx="11057839" cy="7315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How to run this deck for maximum retention with an expert audience.</a:t>
            </a:r>
            <a:endParaRPr sz="1450"/>
          </a:p>
        </p:txBody>
      </p:sp>
      <p:sp>
        <p:nvSpPr>
          <p:cNvPr id="4776" name="Google Shape;4776;p235"/>
          <p:cNvSpPr/>
          <p:nvPr/>
        </p:nvSpPr>
        <p:spPr>
          <a:xfrm>
            <a:off x="566928" y="2615184"/>
            <a:ext cx="146304" cy="146304"/>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7" name="Google Shape;4777;p235"/>
          <p:cNvSpPr/>
          <p:nvPr/>
        </p:nvSpPr>
        <p:spPr>
          <a:xfrm>
            <a:off x="859536" y="256032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Lead with the failure</a:t>
            </a:r>
            <a:endParaRPr sz="1500"/>
          </a:p>
        </p:txBody>
      </p:sp>
      <p:sp>
        <p:nvSpPr>
          <p:cNvPr id="4778" name="Google Shape;4778;p235"/>
          <p:cNvSpPr/>
          <p:nvPr/>
        </p:nvSpPr>
        <p:spPr>
          <a:xfrm>
            <a:off x="859536" y="283464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Open each method by showing where the naive approach breaks; the fix then feels necessary, not academic.</a:t>
            </a:r>
            <a:endParaRPr sz="1250"/>
          </a:p>
        </p:txBody>
      </p:sp>
      <p:sp>
        <p:nvSpPr>
          <p:cNvPr id="4779" name="Google Shape;4779;p235"/>
          <p:cNvSpPr/>
          <p:nvPr/>
        </p:nvSpPr>
        <p:spPr>
          <a:xfrm>
            <a:off x="566928" y="3506724"/>
            <a:ext cx="146304" cy="146304"/>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235"/>
          <p:cNvSpPr/>
          <p:nvPr/>
        </p:nvSpPr>
        <p:spPr>
          <a:xfrm>
            <a:off x="859536" y="345186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Code every concept</a:t>
            </a:r>
            <a:endParaRPr sz="1500"/>
          </a:p>
        </p:txBody>
      </p:sp>
      <p:sp>
        <p:nvSpPr>
          <p:cNvPr id="4781" name="Google Shape;4781;p235"/>
          <p:cNvSpPr/>
          <p:nvPr/>
        </p:nvSpPr>
        <p:spPr>
          <a:xfrm>
            <a:off x="859536" y="372618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Move to the notebook within minutes of each idea; abstract discussion loses expert practitioners fast.</a:t>
            </a:r>
            <a:endParaRPr sz="1250"/>
          </a:p>
        </p:txBody>
      </p:sp>
      <p:sp>
        <p:nvSpPr>
          <p:cNvPr id="4782" name="Google Shape;4782;p235"/>
          <p:cNvSpPr/>
          <p:nvPr/>
        </p:nvSpPr>
        <p:spPr>
          <a:xfrm>
            <a:off x="566928" y="4398264"/>
            <a:ext cx="146304" cy="146304"/>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235"/>
          <p:cNvSpPr/>
          <p:nvPr/>
        </p:nvSpPr>
        <p:spPr>
          <a:xfrm>
            <a:off x="859536" y="434340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Make assumptions the star</a:t>
            </a:r>
            <a:endParaRPr sz="1500"/>
          </a:p>
        </p:txBody>
      </p:sp>
      <p:sp>
        <p:nvSpPr>
          <p:cNvPr id="4784" name="Google Shape;4784;p235"/>
          <p:cNvSpPr/>
          <p:nvPr/>
        </p:nvSpPr>
        <p:spPr>
          <a:xfrm>
            <a:off x="859536" y="461772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Return relentlessly to ‘which assumption is doing the work?’ — it is the course's throughline.</a:t>
            </a:r>
            <a:endParaRPr sz="1250"/>
          </a:p>
        </p:txBody>
      </p:sp>
      <p:sp>
        <p:nvSpPr>
          <p:cNvPr id="4785" name="Google Shape;4785;p235"/>
          <p:cNvSpPr/>
          <p:nvPr/>
        </p:nvSpPr>
        <p:spPr>
          <a:xfrm>
            <a:off x="566928" y="5289804"/>
            <a:ext cx="146304" cy="146304"/>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6" name="Google Shape;4786;p235"/>
          <p:cNvSpPr/>
          <p:nvPr/>
        </p:nvSpPr>
        <p:spPr>
          <a:xfrm>
            <a:off x="859536" y="5234940"/>
            <a:ext cx="1069207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F"/>
              </a:buClr>
              <a:buSzPts val="1500"/>
              <a:buFont typeface="Cambria"/>
              <a:buNone/>
            </a:pPr>
            <a:r>
              <a:rPr b="1" lang="en-US" sz="1500">
                <a:solidFill>
                  <a:srgbClr val="16233F"/>
                </a:solidFill>
                <a:latin typeface="Cambria"/>
                <a:ea typeface="Cambria"/>
                <a:cs typeface="Cambria"/>
                <a:sym typeface="Cambria"/>
              </a:rPr>
              <a:t>Debate, do not lecture</a:t>
            </a:r>
            <a:endParaRPr sz="1500"/>
          </a:p>
        </p:txBody>
      </p:sp>
      <p:sp>
        <p:nvSpPr>
          <p:cNvPr id="4787" name="Google Shape;4787;p235"/>
          <p:cNvSpPr/>
          <p:nvPr/>
        </p:nvSpPr>
        <p:spPr>
          <a:xfrm>
            <a:off x="859536" y="5509260"/>
            <a:ext cx="10692079" cy="5989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66581"/>
              </a:buClr>
              <a:buSzPts val="1250"/>
              <a:buFont typeface="Calibri"/>
              <a:buNone/>
            </a:pPr>
            <a:r>
              <a:rPr lang="en-US" sz="1250">
                <a:solidFill>
                  <a:srgbClr val="566581"/>
                </a:solidFill>
                <a:latin typeface="Calibri"/>
                <a:ea typeface="Calibri"/>
                <a:cs typeface="Calibri"/>
                <a:sym typeface="Calibri"/>
              </a:rPr>
              <a:t>Use the discussions to surface disagreement; expert cohorts learn most by defending design choices.</a:t>
            </a:r>
            <a:endParaRPr sz="1250"/>
          </a:p>
        </p:txBody>
      </p:sp>
      <p:sp>
        <p:nvSpPr>
          <p:cNvPr id="4788" name="Google Shape;4788;p235"/>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DELIVERY</a:t>
            </a:r>
            <a:endParaRPr sz="900"/>
          </a:p>
        </p:txBody>
      </p:sp>
      <p:sp>
        <p:nvSpPr>
          <p:cNvPr id="4789" name="Google Shape;4789;p235"/>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265  /  268</a:t>
            </a:r>
            <a:endParaRPr sz="900"/>
          </a:p>
        </p:txBody>
      </p:sp>
    </p:spTree>
  </p:cSld>
  <p:clrMapOvr>
    <a:masterClrMapping/>
  </p:clrMapOvr>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94" name="Shape 4794"/>
        <p:cNvGrpSpPr/>
        <p:nvPr/>
      </p:nvGrpSpPr>
      <p:grpSpPr>
        <a:xfrm>
          <a:off x="0" y="0"/>
          <a:ext cx="0" cy="0"/>
          <a:chOff x="0" y="0"/>
          <a:chExt cx="0" cy="0"/>
        </a:xfrm>
      </p:grpSpPr>
      <p:sp>
        <p:nvSpPr>
          <p:cNvPr id="4795" name="Google Shape;4795;p236"/>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DELIVERY · LOGISTICS</a:t>
            </a:r>
            <a:endParaRPr sz="1200"/>
          </a:p>
        </p:txBody>
      </p:sp>
      <p:sp>
        <p:nvSpPr>
          <p:cNvPr id="4796" name="Google Shape;4796;p236"/>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Materials &amp; Environment</a:t>
            </a:r>
            <a:endParaRPr sz="3400"/>
          </a:p>
        </p:txBody>
      </p:sp>
      <p:sp>
        <p:nvSpPr>
          <p:cNvPr id="4797" name="Google Shape;4797;p236"/>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What learners and facilitators need in place before Day 1.</a:t>
            </a:r>
            <a:endParaRPr sz="1450"/>
          </a:p>
        </p:txBody>
      </p:sp>
      <p:sp>
        <p:nvSpPr>
          <p:cNvPr id="4798" name="Google Shape;4798;p236"/>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9" name="Google Shape;4799;p236"/>
          <p:cNvSpPr/>
          <p:nvPr/>
        </p:nvSpPr>
        <p:spPr>
          <a:xfrm>
            <a:off x="841248" y="2514600"/>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Compute: Python 3.11+ with the toolkit libraries, or a hosted notebook environment (Colab / JupyterHub).</a:t>
            </a:r>
            <a:endParaRPr sz="1400"/>
          </a:p>
        </p:txBody>
      </p:sp>
      <p:sp>
        <p:nvSpPr>
          <p:cNvPr id="4800" name="Google Shape;4800;p236"/>
          <p:cNvSpPr/>
          <p:nvPr/>
        </p:nvSpPr>
        <p:spPr>
          <a:xfrm>
            <a:off x="566928" y="3300984"/>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1" name="Google Shape;4801;p236"/>
          <p:cNvSpPr/>
          <p:nvPr/>
        </p:nvSpPr>
        <p:spPr>
          <a:xfrm>
            <a:off x="841248" y="3236976"/>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Datasets: four lab datasets plus one capstone dataset with a documented data dictionary and known ground truth where used.</a:t>
            </a:r>
            <a:endParaRPr sz="1400"/>
          </a:p>
        </p:txBody>
      </p:sp>
      <p:sp>
        <p:nvSpPr>
          <p:cNvPr id="4802" name="Google Shape;4802;p236"/>
          <p:cNvSpPr/>
          <p:nvPr/>
        </p:nvSpPr>
        <p:spPr>
          <a:xfrm>
            <a:off x="566928" y="4023360"/>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236"/>
          <p:cNvSpPr/>
          <p:nvPr/>
        </p:nvSpPr>
        <p:spPr>
          <a:xfrm>
            <a:off x="841248" y="3959352"/>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Access: pre-test link, daily-check forms, lab notebooks (starter + solution), and the capstone rubric.</a:t>
            </a:r>
            <a:endParaRPr sz="1400"/>
          </a:p>
        </p:txBody>
      </p:sp>
      <p:sp>
        <p:nvSpPr>
          <p:cNvPr id="4804" name="Google Shape;4804;p236"/>
          <p:cNvSpPr/>
          <p:nvPr/>
        </p:nvSpPr>
        <p:spPr>
          <a:xfrm>
            <a:off x="566928" y="4745736"/>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236"/>
          <p:cNvSpPr/>
          <p:nvPr/>
        </p:nvSpPr>
        <p:spPr>
          <a:xfrm>
            <a:off x="841248" y="4681728"/>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Delivery: remote-friendly; discussions run in breakout groups with a shared review at the end of each hour.</a:t>
            </a:r>
            <a:endParaRPr sz="1400"/>
          </a:p>
        </p:txBody>
      </p:sp>
      <p:sp>
        <p:nvSpPr>
          <p:cNvPr id="4806" name="Google Shape;4806;p236"/>
          <p:cNvSpPr/>
          <p:nvPr/>
        </p:nvSpPr>
        <p:spPr>
          <a:xfrm>
            <a:off x="566928" y="5468112"/>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236"/>
          <p:cNvSpPr/>
          <p:nvPr/>
        </p:nvSpPr>
        <p:spPr>
          <a:xfrm>
            <a:off x="841248" y="5404104"/>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Pre-work: confirm SF-3 and DS-1 prerequisites; share a 30-minute Python/stats refresher for borderline learners.</a:t>
            </a:r>
            <a:endParaRPr sz="1400"/>
          </a:p>
        </p:txBody>
      </p:sp>
      <p:sp>
        <p:nvSpPr>
          <p:cNvPr id="4808" name="Google Shape;4808;p236"/>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DELIVERY</a:t>
            </a:r>
            <a:endParaRPr sz="900"/>
          </a:p>
        </p:txBody>
      </p:sp>
      <p:sp>
        <p:nvSpPr>
          <p:cNvPr id="4809" name="Google Shape;4809;p236"/>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266  /  268</a:t>
            </a:r>
            <a:endParaRPr sz="900"/>
          </a:p>
        </p:txBody>
      </p:sp>
    </p:spTree>
  </p:cSld>
  <p:clrMapOvr>
    <a:masterClrMapping/>
  </p:clrMapOvr>
</p:sld>
</file>

<file path=ppt/slides/slide2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4" name="Shape 4814"/>
        <p:cNvGrpSpPr/>
        <p:nvPr/>
      </p:nvGrpSpPr>
      <p:grpSpPr>
        <a:xfrm>
          <a:off x="0" y="0"/>
          <a:ext cx="0" cy="0"/>
          <a:chOff x="0" y="0"/>
          <a:chExt cx="0" cy="0"/>
        </a:xfrm>
      </p:grpSpPr>
      <p:sp>
        <p:nvSpPr>
          <p:cNvPr id="4815" name="Google Shape;4815;p237"/>
          <p:cNvSpPr/>
          <p:nvPr/>
        </p:nvSpPr>
        <p:spPr>
          <a:xfrm>
            <a:off x="566928" y="457200"/>
            <a:ext cx="110578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200"/>
              <a:buFont typeface="Calibri"/>
              <a:buNone/>
            </a:pPr>
            <a:r>
              <a:rPr b="1" lang="en-US" sz="1200">
                <a:solidFill>
                  <a:srgbClr val="3FA9E0"/>
                </a:solidFill>
                <a:latin typeface="Calibri"/>
                <a:ea typeface="Calibri"/>
                <a:cs typeface="Calibri"/>
                <a:sym typeface="Calibri"/>
              </a:rPr>
              <a:t>REFERENCE · FURTHER STUDY</a:t>
            </a:r>
            <a:endParaRPr sz="1200"/>
          </a:p>
        </p:txBody>
      </p:sp>
      <p:sp>
        <p:nvSpPr>
          <p:cNvPr id="4816" name="Google Shape;4816;p237"/>
          <p:cNvSpPr/>
          <p:nvPr/>
        </p:nvSpPr>
        <p:spPr>
          <a:xfrm>
            <a:off x="566928" y="713232"/>
            <a:ext cx="1105783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233F"/>
              </a:buClr>
              <a:buSzPts val="3400"/>
              <a:buFont typeface="Cambria"/>
              <a:buNone/>
            </a:pPr>
            <a:r>
              <a:rPr b="1" lang="en-US" sz="3400">
                <a:solidFill>
                  <a:srgbClr val="16233F"/>
                </a:solidFill>
                <a:latin typeface="Cambria"/>
                <a:ea typeface="Cambria"/>
                <a:cs typeface="Cambria"/>
                <a:sym typeface="Cambria"/>
              </a:rPr>
              <a:t>Canonical References for Deeper Study</a:t>
            </a:r>
            <a:endParaRPr sz="3400"/>
          </a:p>
        </p:txBody>
      </p:sp>
      <p:sp>
        <p:nvSpPr>
          <p:cNvPr id="4817" name="Google Shape;4817;p237"/>
          <p:cNvSpPr/>
          <p:nvPr/>
        </p:nvSpPr>
        <p:spPr>
          <a:xfrm>
            <a:off x="566928" y="1737360"/>
            <a:ext cx="11057839" cy="6400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66581"/>
              </a:buClr>
              <a:buSzPts val="1450"/>
              <a:buFont typeface="Calibri"/>
              <a:buNone/>
            </a:pPr>
            <a:r>
              <a:rPr lang="en-US" sz="1450">
                <a:solidFill>
                  <a:srgbClr val="566581"/>
                </a:solidFill>
                <a:latin typeface="Calibri"/>
                <a:ea typeface="Calibri"/>
                <a:cs typeface="Calibri"/>
                <a:sym typeface="Calibri"/>
              </a:rPr>
              <a:t>Where to go after the course, by theme (author-level pointers, not required reading).</a:t>
            </a:r>
            <a:endParaRPr sz="1450"/>
          </a:p>
        </p:txBody>
      </p:sp>
      <p:sp>
        <p:nvSpPr>
          <p:cNvPr id="4818" name="Google Shape;4818;p237"/>
          <p:cNvSpPr/>
          <p:nvPr/>
        </p:nvSpPr>
        <p:spPr>
          <a:xfrm>
            <a:off x="566928" y="2578608"/>
            <a:ext cx="137160" cy="137160"/>
          </a:xfrm>
          <a:prstGeom prst="ellipse">
            <a:avLst/>
          </a:prstGeom>
          <a:solidFill>
            <a:srgbClr val="3FA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237"/>
          <p:cNvSpPr/>
          <p:nvPr/>
        </p:nvSpPr>
        <p:spPr>
          <a:xfrm>
            <a:off x="841248" y="2514600"/>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Foundations &amp; potential outcomes — Imbens &amp; Rubin; Hernán &amp; Robins (‘What If’).</a:t>
            </a:r>
            <a:endParaRPr sz="1400"/>
          </a:p>
        </p:txBody>
      </p:sp>
      <p:sp>
        <p:nvSpPr>
          <p:cNvPr id="4820" name="Google Shape;4820;p237"/>
          <p:cNvSpPr/>
          <p:nvPr/>
        </p:nvSpPr>
        <p:spPr>
          <a:xfrm>
            <a:off x="566928" y="3300984"/>
            <a:ext cx="137160" cy="137160"/>
          </a:xfrm>
          <a:prstGeom prst="ellipse">
            <a:avLst/>
          </a:prstGeom>
          <a:solidFill>
            <a:srgbClr val="5A5B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1" name="Google Shape;4821;p237"/>
          <p:cNvSpPr/>
          <p:nvPr/>
        </p:nvSpPr>
        <p:spPr>
          <a:xfrm>
            <a:off x="841248" y="3236976"/>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Graphical causal models — Pearl; Pearl, Glymour &amp; Jewell primer.</a:t>
            </a:r>
            <a:endParaRPr sz="1400"/>
          </a:p>
        </p:txBody>
      </p:sp>
      <p:sp>
        <p:nvSpPr>
          <p:cNvPr id="4822" name="Google Shape;4822;p237"/>
          <p:cNvSpPr/>
          <p:nvPr/>
        </p:nvSpPr>
        <p:spPr>
          <a:xfrm>
            <a:off x="566928" y="4023360"/>
            <a:ext cx="137160" cy="137160"/>
          </a:xfrm>
          <a:prstGeom prst="ellipse">
            <a:avLst/>
          </a:prstGeom>
          <a:solidFill>
            <a:srgbClr val="EA7B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3" name="Google Shape;4823;p237"/>
          <p:cNvSpPr/>
          <p:nvPr/>
        </p:nvSpPr>
        <p:spPr>
          <a:xfrm>
            <a:off x="841248" y="3959352"/>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Applied / econometric designs — Angrist &amp; Pischke; Cunningham (‘Causal Inference: The Mixtape’).</a:t>
            </a:r>
            <a:endParaRPr sz="1400"/>
          </a:p>
        </p:txBody>
      </p:sp>
      <p:sp>
        <p:nvSpPr>
          <p:cNvPr id="4824" name="Google Shape;4824;p237"/>
          <p:cNvSpPr/>
          <p:nvPr/>
        </p:nvSpPr>
        <p:spPr>
          <a:xfrm>
            <a:off x="566928" y="4745736"/>
            <a:ext cx="137160" cy="137160"/>
          </a:xfrm>
          <a:prstGeom prst="ellipse">
            <a:avLst/>
          </a:prstGeom>
          <a:solidFill>
            <a:srgbClr val="3E9B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5" name="Google Shape;4825;p237"/>
          <p:cNvSpPr/>
          <p:nvPr/>
        </p:nvSpPr>
        <p:spPr>
          <a:xfrm>
            <a:off x="841248" y="4681728"/>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Experimentation — Gerber &amp; Green (field experiments); Kohavi, Tang &amp; Xu (online experiments).</a:t>
            </a:r>
            <a:endParaRPr sz="1400"/>
          </a:p>
        </p:txBody>
      </p:sp>
      <p:sp>
        <p:nvSpPr>
          <p:cNvPr id="4826" name="Google Shape;4826;p237"/>
          <p:cNvSpPr/>
          <p:nvPr/>
        </p:nvSpPr>
        <p:spPr>
          <a:xfrm>
            <a:off x="566928" y="5468112"/>
            <a:ext cx="137160" cy="137160"/>
          </a:xfrm>
          <a:prstGeom prst="ellipse">
            <a:avLst/>
          </a:prstGeom>
          <a:solidFill>
            <a:srgbClr val="73BB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237"/>
          <p:cNvSpPr/>
          <p:nvPr/>
        </p:nvSpPr>
        <p:spPr>
          <a:xfrm>
            <a:off x="841248" y="5404104"/>
            <a:ext cx="10783519" cy="7223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66581"/>
              </a:buClr>
              <a:buSzPts val="1400"/>
              <a:buFont typeface="Calibri"/>
              <a:buNone/>
            </a:pPr>
            <a:r>
              <a:rPr lang="en-US" sz="1400">
                <a:solidFill>
                  <a:srgbClr val="566581"/>
                </a:solidFill>
                <a:latin typeface="Calibri"/>
                <a:ea typeface="Calibri"/>
                <a:cs typeface="Calibri"/>
                <a:sym typeface="Calibri"/>
              </a:rPr>
              <a:t>Modern ML for effects — double/debiased ML and causal forests literature (Chernozhukov et al.; Athey &amp; Wager).</a:t>
            </a:r>
            <a:endParaRPr sz="1400"/>
          </a:p>
        </p:txBody>
      </p:sp>
      <p:sp>
        <p:nvSpPr>
          <p:cNvPr id="4828" name="Google Shape;4828;p237"/>
          <p:cNvSpPr/>
          <p:nvPr/>
        </p:nvSpPr>
        <p:spPr>
          <a:xfrm>
            <a:off x="566928" y="6419088"/>
            <a:ext cx="774048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ACADEMY OF EXCELLENCE</a:t>
            </a:r>
            <a:r>
              <a:rPr lang="en-US" sz="900">
                <a:solidFill>
                  <a:srgbClr val="3FA9E0"/>
                </a:solidFill>
                <a:latin typeface="Calibri"/>
                <a:ea typeface="Calibri"/>
                <a:cs typeface="Calibri"/>
                <a:sym typeface="Calibri"/>
              </a:rPr>
              <a:t>   ·   </a:t>
            </a:r>
            <a:r>
              <a:rPr b="1" lang="en-US" sz="900">
                <a:solidFill>
                  <a:srgbClr val="566581"/>
                </a:solidFill>
                <a:latin typeface="Calibri"/>
                <a:ea typeface="Calibri"/>
                <a:cs typeface="Calibri"/>
                <a:sym typeface="Calibri"/>
              </a:rPr>
              <a:t>REFERENCE · DELIVERY</a:t>
            </a:r>
            <a:endParaRPr sz="900"/>
          </a:p>
        </p:txBody>
      </p:sp>
      <p:sp>
        <p:nvSpPr>
          <p:cNvPr id="4829" name="Google Shape;4829;p237"/>
          <p:cNvSpPr/>
          <p:nvPr/>
        </p:nvSpPr>
        <p:spPr>
          <a:xfrm>
            <a:off x="9795967" y="6419088"/>
            <a:ext cx="18288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E"/>
              </a:buClr>
              <a:buSzPts val="900"/>
              <a:buFont typeface="Calibri"/>
              <a:buNone/>
            </a:pPr>
            <a:r>
              <a:rPr lang="en-US" sz="900">
                <a:solidFill>
                  <a:srgbClr val="8A98AE"/>
                </a:solidFill>
                <a:latin typeface="Calibri"/>
                <a:ea typeface="Calibri"/>
                <a:cs typeface="Calibri"/>
                <a:sym typeface="Calibri"/>
              </a:rPr>
              <a:t>267  /  268</a:t>
            </a:r>
            <a:endParaRPr sz="900"/>
          </a:p>
        </p:txBody>
      </p:sp>
    </p:spTree>
  </p:cSld>
  <p:clrMapOvr>
    <a:masterClrMapping/>
  </p:clrMapOvr>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F"/>
        </a:solidFill>
      </p:bgPr>
    </p:bg>
    <p:spTree>
      <p:nvGrpSpPr>
        <p:cNvPr id="4834" name="Shape 4834"/>
        <p:cNvGrpSpPr/>
        <p:nvPr/>
      </p:nvGrpSpPr>
      <p:grpSpPr>
        <a:xfrm>
          <a:off x="0" y="0"/>
          <a:ext cx="0" cy="0"/>
          <a:chOff x="0" y="0"/>
          <a:chExt cx="0" cy="0"/>
        </a:xfrm>
      </p:grpSpPr>
      <p:sp>
        <p:nvSpPr>
          <p:cNvPr id="4835" name="Google Shape;4835;p238"/>
          <p:cNvSpPr/>
          <p:nvPr/>
        </p:nvSpPr>
        <p:spPr>
          <a:xfrm>
            <a:off x="566928" y="201168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9E0"/>
              </a:buClr>
              <a:buSzPts val="1300"/>
              <a:buFont typeface="Calibri"/>
              <a:buNone/>
            </a:pPr>
            <a:r>
              <a:rPr b="1" lang="en-US" sz="1300">
                <a:solidFill>
                  <a:srgbClr val="3FA9E0"/>
                </a:solidFill>
                <a:latin typeface="Calibri"/>
                <a:ea typeface="Calibri"/>
                <a:cs typeface="Calibri"/>
                <a:sym typeface="Calibri"/>
              </a:rPr>
              <a:t>SDAIA ACADEMY</a:t>
            </a:r>
            <a:endParaRPr sz="1300"/>
          </a:p>
        </p:txBody>
      </p:sp>
      <p:sp>
        <p:nvSpPr>
          <p:cNvPr id="4836" name="Google Shape;4836;p238"/>
          <p:cNvSpPr/>
          <p:nvPr/>
        </p:nvSpPr>
        <p:spPr>
          <a:xfrm>
            <a:off x="566928" y="2560320"/>
            <a:ext cx="100584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lang="en-US" sz="4400">
                <a:solidFill>
                  <a:srgbClr val="FFFFFF"/>
                </a:solidFill>
                <a:latin typeface="Cambria"/>
                <a:ea typeface="Cambria"/>
                <a:cs typeface="Cambria"/>
                <a:sym typeface="Cambria"/>
              </a:rPr>
              <a:t>Thank You</a:t>
            </a:r>
            <a:endParaRPr sz="4400"/>
          </a:p>
        </p:txBody>
      </p:sp>
      <p:sp>
        <p:nvSpPr>
          <p:cNvPr id="4837" name="Google Shape;4837;p238"/>
          <p:cNvSpPr/>
          <p:nvPr/>
        </p:nvSpPr>
        <p:spPr>
          <a:xfrm>
            <a:off x="566928" y="3749040"/>
            <a:ext cx="960120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9DAF0"/>
              </a:buClr>
              <a:buSzPts val="1500"/>
              <a:buFont typeface="Calibri"/>
              <a:buNone/>
            </a:pPr>
            <a:r>
              <a:rPr lang="en-US" sz="1500">
                <a:solidFill>
                  <a:srgbClr val="C9DAF0"/>
                </a:solidFill>
                <a:latin typeface="Calibri"/>
                <a:ea typeface="Calibri"/>
                <a:cs typeface="Calibri"/>
                <a:sym typeface="Calibri"/>
              </a:rPr>
              <a:t>You can now formalise causal questions, design and analyse experiments, draw effects from observational data, quantify uncertainty at both layers, and communicate a decision whose risk is owned.</a:t>
            </a:r>
            <a:endParaRPr sz="1500"/>
          </a:p>
        </p:txBody>
      </p:sp>
      <p:cxnSp>
        <p:nvCxnSpPr>
          <p:cNvPr id="4838" name="Google Shape;4838;p238"/>
          <p:cNvCxnSpPr/>
          <p:nvPr/>
        </p:nvCxnSpPr>
        <p:spPr>
          <a:xfrm>
            <a:off x="566928" y="4937760"/>
            <a:ext cx="1828800" cy="0"/>
          </a:xfrm>
          <a:prstGeom prst="straightConnector1">
            <a:avLst/>
          </a:prstGeom>
          <a:noFill/>
          <a:ln cap="flat" cmpd="sng" w="25400">
            <a:solidFill>
              <a:srgbClr val="3FA9E0"/>
            </a:solidFill>
            <a:prstDash val="solid"/>
            <a:round/>
            <a:headEnd len="sm" w="sm" type="none"/>
            <a:tailEnd len="sm" w="sm" type="none"/>
          </a:ln>
        </p:spPr>
      </p:cxnSp>
      <p:sp>
        <p:nvSpPr>
          <p:cNvPr id="4839" name="Google Shape;4839;p238"/>
          <p:cNvSpPr/>
          <p:nvPr/>
        </p:nvSpPr>
        <p:spPr>
          <a:xfrm>
            <a:off x="566928" y="5120640"/>
            <a:ext cx="11057839"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C8"/>
              </a:buClr>
              <a:buSzPts val="1200"/>
              <a:buFont typeface="Calibri"/>
              <a:buNone/>
            </a:pPr>
            <a:r>
              <a:rPr lang="en-US" sz="1200">
                <a:solidFill>
                  <a:srgbClr val="9FB0C8"/>
                </a:solidFill>
                <a:latin typeface="Calibri"/>
                <a:ea typeface="Calibri"/>
                <a:cs typeface="Calibri"/>
                <a:sym typeface="Calibri"/>
              </a:rPr>
              <a:t>Experimentation &amp; Causal Inference · P6.1.04 · DSC-C04 · SDAIA Academy</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