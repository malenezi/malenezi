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Set the frame in one sentence before anything else: this course is not 'more machine learning, but on dates'. It is a discipline about one thing — never letting the future touch the past. Everything for three days advances one artefact, a national load-forecasting service called Tayyar.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this as a story, not a slide. Ask the room: has anyone shipped a model whose live accuracy did not match its validation accuracy? Almost every hand goes up. Then name the mechanism. Do NOT yet explain what .shift(1) does — Module 4 earns that. Right now they only need to believe the problem is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'exchangeable' with a physical demo: shuffle a deck of cards and ask whether anything was lost, then shuffle a sentence's words. The three consequences are the spine of the whole course — Module 2 attacks autocorrelation and non-stationarity, Modules 4 and 6 attack leakage.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that this is operational, not statistical. A 1% day-ahead error on a 55,000 MW peak is about 550 MW — a mid-size gas turbine held spinning for nothing, or missing when needed. Every lab advances THIS service; nobody builds a throwaway airline-passengers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LO4 and LO5 aloud slowly — those two are what distinguish this course from a modelling tutorial. Point out that LO2 and LO3 are only half the grade between them; the evidence is the other half.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Day 3 and say plainly: the backtest report is the deliverable and the thesis made visible. If a cohort falls behind, compress Module 6 theory — never the backtest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1 has no forecasting in it at all, and that is deliberate. Say so — participants who expect to fit a model in hour 2 need to know why they are not going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relevance in one line: a demand planner who cannot separate 'sales are trending up' from 'it is simply summer' will over-order every June and blame the model. Decomposition is the shared vocabulary between the data scientist and the decision-maker.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live: plot the summer week and the winter week from the previous figure on the same axis. The amplitude difference is the whole argument for multiplicative. Then show that the level/swing correlation makes it a measurement rather than an opinion.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card-sort activity fits here (10 min): give pairs cards reading temperature, hour-of-day, Ramadan, economic growth, sensor noise, and have them sort into seasonal component / trend / exogenous covariate / remainder. The argument about temperature is the productive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a pair discover the silent row loss themselves — do not pre-warn them. It is the highest-value teachable moment on Day 1. sim-gap removes 48 hours of telemetry without a marker.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Circulate. The pairs who skip task 1 and go straight to the clean loader are the ones who will not understand why asfreq matters — let them hit it, then ask them to count their rows.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4 is the one to protect time for — it plants Module 6. Under-forecasting risks load-shedding, a headline; over-forecasting burns fuel, merely expensive. Symmetric MAE does not know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Tayyar has all three sources of non-stationarity: a growth trend, multi-period seasonality, and summer-amplified variance. Fix order matters: stabilise variance first (the log from Module 1), then difference.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verdict-reconciliation drill here (10 min): call out p-value pairs and have the room say the reconciled verdict aloud. Quiz them cold — the nulls being backwards is the single most common error on Day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ACF/PACF speed round: six anonymised correlogram pairs, 30 seconds each, teams call the model class and order. It is the fastest way to make the fingerprint table stick.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Watch for pairs who difference until ADF is happy and stop thinking. Ask them to look at the lag-1 ACF. Also warn about the statsmodels 'p-value greater than 0.1' KPSS warning — it is expected, and means p &gt; 0.1.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Pair rotation today: put a strong-statistics participant with a strong-ML participant. The M3 to M4 bridge is exactly where that skill transfer pays 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Flag the practical constraint early: m = 24 (let alone 168) makes the state space large and estimation slow. Practitioners model a daily-aggregated series with m = 7 and leave sub-daily structure to the ML route. That wall is deliberate and teachable.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hide the failing Ljung-Box. Participants trust a course that shows its own model failing a test it taught. Explain that a daily-max series compresses away the sub-daily structure that would satisfy the diagnostic.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interactive here is 'explain it to the control room' (10 min): each participant writes ONE sentence explaining the SARIMAX forecast to a non-statistician, then reads it aloud. Ruthlessly cut any sentence containing the word 'parameter'.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this module by putting the leakage-smell poster on the wall and telling the room you will point at it every time a shuffle appears. Everything else in Module 4 is technique; this is ethics.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'what does this feature see?' (10 min): show eight candidate features one at a time, class votes leak or safe with thumbs. Include one genuinely ambiguous case — temperature — and let the argument happen.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importance-by-family roll-up is the useful version for a control room: rolling statistics 33%, lags 29%, Fourier terms 26%, calendar 7%, weather 5%. That is a sentence an engineer can act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important slide in the course. Do not rush it. Ask the room which of the four numbers they have personally reported in a project. Then ask what would have caught it. Practical Assessment 2 is exactly this exercise, unassisted.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this as a race: first pair to find both leaks and name them precisely wins. It converts a dry debugging task into the moment they will remember six months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two-forecasts-same-mean example on the whiteboard before any slide content. Ask which one the control room should act on. The answer — 'you cannot tell from the mean' — is the module in one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elicitation drill (10 min): three decisions — reserve margin, SKU stocking, staff roster — each with a stated cost asymmetry. Teams name the quantile each decision should consume and defend it. Nobody picks the mean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exchangeability point concretely: we deliberately calibrate on October and test on November-December. If you calibrate on peak summer and test in winter the interval over-covers to 0.99 and is useless. That is a real failure mode, not a footnote.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'coverage courtroom' (15 min): one pair defends their interval's 90% claim, another cross-examines using the held-out conditional numbers. It teaches the difference between marginal and conditional better than any slide 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lab is deliberately split across the day boundary. End Day 2 after task 3 — with the room holding an interval that visibly under-covers. They will think about it overnight, and the CQR fix on Day 3 morning lands much harder.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3 afternoon is deliberately light on new theory so the backtest and capstone get uninterrupted build time. Guard that. Cut discussion, never build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real-world walkthrough for this module: a team celebrated a 0.3-point MAPE win, then a 90-origin backtest showed MASE 0.98 and Diebold-Mariano p = 0.41. The 'win' was noise — and the per-origin breakdown showed the ML model lost on every Eid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'baseline first' (10 min): every pair hand-computes the seasonal-naive error for one day before touching a model. That single number is what everything else must beat, and computing it by hand makes MASE intuitive rather than formulaic.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'significance debate' (15 min): show two models' per-origin errors, have the class predict the DM verdict by eye, then run it. They are wrong often enough to make the point permanently.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shared leaderboard for this lab — MASE, coverage and pinball on a projector. The competitive element gets pairs to the finish line, and the leaderboard becomes the Module 7 discussion material.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walkthrough: a unit ran a bake-off, LightGBM won on MASE, promoted full stop. Two months later a control-room engineer refused to act on a forecast he could not interrogate during an unusual load event, and the team fell back to spreadsheets. The failure was not the model — it was a selection that weighted accuracy 100% and explainability 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room which constraint they have personally seen override a model choice. Nearly everyone names either the deadline or the explainability one, and that shared experience is what makes the decision record feel necessary rather than bureaucratic.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7 is exactly this slide, done by the participants with their own backtest numbers. If a cohort is running behind, reduce it to two scenarios and demo the third — but never drop the decision record.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communication drill (10 min): give them the jargon version on the left and have them rewrite it in two decision-language sentences. Read the best one aloud. Then ask a participant to play the control-room engineer and push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they built in Labs 1 to 7 is a component. The capstone is the integration plus one extension of their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requirement 4's coverage band aloud and mean it — 0.88 to 0.92 is a gate, not guidance. It is the single requirement most submissions miss, because they calibrate on the wrong window.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Reward candour explicitly. A submission that names where the model loses and ships a fallback should outscore a silent, marginally sharper one. Say this to the room before they start, so it changes what they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 repository URLs at the END of Day 3 Hour 4, not Hour 5 — that gives you the gap to spot-check backtest results before the demos begin.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thesis one last time, then the forward pointer. The five discussion prompts in the instructor guide are good material if you finish early — prompt 5 in particular: 'if the repository is the audit evidence for an accuracy claim, what does YOUR current backtest testify?'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room, then hand back the one thing they take away: not a model, a protocol.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-1371600"/>
            <a:ext cx="5852160" cy="5852160"/>
          </a:xfrm>
          <a:prstGeom prst="ellipse">
            <a:avLst/>
          </a:prstGeom>
          <a:solidFill>
            <a:srgbClr val="1349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2834640"/>
            <a:ext cx="3840480" cy="38404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777240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  ·  DATA SCIENTIST TRACK  ·  SDA-DSC-212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554480"/>
            <a:ext cx="7863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Series Analysis</a:t>
            </a:r>
            <a:endParaRPr lang="en-US" sz="46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Forecasting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FB8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تحليل السلاسل الزمنية والتنبؤ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11480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9DB2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Respect the arrow of time — so every accuracy number you report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9DB2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would survive contact with the future.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0749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2286000" y="507492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34924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2286000" y="534924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 × 5 hours = 15 hours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62356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2286000" y="562356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scientists &amp; analysts working with temporal data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89788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2286000" y="589788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SDA-DSC-111 · SDA-DSC-211 recommended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61722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2286000" y="617220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project with backtest report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· WHY THIS COURSE EXISTS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model that was right until it mattered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44752"/>
            <a:ext cx="5394960" cy="3246120"/>
          </a:xfrm>
          <a:prstGeom prst="roundRect">
            <a:avLst>
              <a:gd name="adj" fmla="val 1690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64592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A1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report said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066544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gradient-boosted model scored 0.6% MAPE in validation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beat the incumbent by a wide margin on every chart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promoted to production the following week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accuracy collapsed to roughly 4% within days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36208" y="1444752"/>
            <a:ext cx="5394960" cy="3246120"/>
          </a:xfrm>
          <a:prstGeom prst="roundRect">
            <a:avLst>
              <a:gd name="adj" fmla="val 1690"/>
            </a:avLst>
          </a:prstGeom>
          <a:solidFill>
            <a:srgbClr val="EAF2EC"/>
          </a:solidFill>
          <a:ln w="12700">
            <a:solidFill>
              <a:srgbClr val="EAF2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10528" y="164592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had actually happened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10528" y="2066544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rolling-mean feature used a CENTRED window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average of the past 24 hours" silently contained the target hour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.shift(1) fixed it — honest accuracy rose to 2.1%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Worse on paper. Real in production.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4965192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E7EFF7"/>
          </a:solidFill>
          <a:ln w="12700">
            <a:solidFill>
              <a:srgbClr val="E7EF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4965192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i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failure has a thousand faces and one cause: information from the future reached a model that will never have it. Detecting, preventing and measuring that is the entire content of the next three days.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1 · WHAT MAKES A TIME SERIES DIFFERENT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is the signal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447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ordinary supervised-learning row is exchangeable — shuffle the dataset and nothing is lost. A time series is the opposite. Three consequences follow, and each of them bites anyone who treats a series like a normal table.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176272"/>
            <a:ext cx="3520440" cy="3063240"/>
          </a:xfrm>
          <a:prstGeom prst="roundRect">
            <a:avLst>
              <a:gd name="adj" fmla="val 179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404872"/>
            <a:ext cx="502920" cy="502920"/>
          </a:xfrm>
          <a:prstGeom prst="ellipse">
            <a:avLst/>
          </a:prstGeom>
          <a:solidFill>
            <a:srgbClr val="13497B"/>
          </a:solidFill>
          <a:ln w="12700">
            <a:solidFill>
              <a:srgbClr val="13497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404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449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49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Autocorrelation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456432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is correlated with yesterday. Observations are not independent, so error bars, CV folds and significance tests computed under an i.i.d. assumption are simply wrong.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2176272"/>
            <a:ext cx="3520440" cy="3063240"/>
          </a:xfrm>
          <a:prstGeom prst="roundRect">
            <a:avLst>
              <a:gd name="adj" fmla="val 179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9432" y="2404872"/>
            <a:ext cx="502920" cy="502920"/>
          </a:xfrm>
          <a:prstGeom prst="ellipse">
            <a:avLst/>
          </a:prstGeom>
          <a:solidFill>
            <a:srgbClr val="A11B2A"/>
          </a:solidFill>
          <a:ln w="12700">
            <a:solidFill>
              <a:srgbClr val="A11B2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99432" y="2404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99432" y="30449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1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Temporal leakage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599432" y="3456432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information from the future — a random-split test point, a global mean, a peeking feature — inflates measured accuracy and evaporates in production. This is THE recurring failure of the field.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19872" y="2176272"/>
            <a:ext cx="3520440" cy="3063240"/>
          </a:xfrm>
          <a:prstGeom prst="roundRect">
            <a:avLst>
              <a:gd name="adj" fmla="val 179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75904" y="2404872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75904" y="2404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375904" y="30449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Non-stationarity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375904" y="3456432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variance and seasonal shape drift. A model trained on last year's level will confidently forecast a level that no longer exists.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5422392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DF3E3"/>
          </a:solidFill>
          <a:ln w="12700">
            <a:solidFill>
              <a:srgbClr val="FDF3E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1248" y="542239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i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 non-negotiable rule of this course: every feature, every split, every scaler must be computable using only data that existed at the forecast origin.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GOLDEN THREAD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04672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Tayyar (تيّار)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72768"/>
            <a:ext cx="5577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national day-ahead load-forecasting service for the Central Operating Area of the Saudi grid. Three years of hourly demand, and one series that carries every lesson in this course.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788920"/>
            <a:ext cx="310896" cy="31089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2788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27706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trend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788920" y="277063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expansion, ≈ +3% a year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3355848"/>
            <a:ext cx="310896" cy="31089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87552" y="33375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cycle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788920" y="33375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air-conditioning load, period 24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3922776"/>
            <a:ext cx="310896" cy="31089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39227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" y="39044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rhythm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788920" y="390448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Friday–Saturday weekend dip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4489704"/>
            <a:ext cx="310896" cy="31089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" y="4489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87552" y="447141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peak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788920" y="447141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fierce Riyadh summer, 47 °C afternoons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6928" y="5056632"/>
            <a:ext cx="310896" cy="31089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66928" y="5056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87552" y="503834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shocks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2788920" y="503834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Ramadan, the two Eids, National Day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66928" y="5623560"/>
            <a:ext cx="310896" cy="31089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66928" y="5623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87552" y="56052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break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2788920" y="560527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industrial customer connects</a:t>
            </a:r>
            <a:endParaRPr lang="en-US" sz="1250" dirty="0"/>
          </a:p>
        </p:txBody>
      </p:sp>
      <p:pic>
        <p:nvPicPr>
          <p:cNvPr id="29" name="Image 0" descr="/home/claude/tayyar/figures/01_series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914400"/>
            <a:ext cx="5349240" cy="3337560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6400800" y="4526280"/>
            <a:ext cx="5349240" cy="1600200"/>
          </a:xfrm>
          <a:prstGeom prst="roundRect">
            <a:avLst>
              <a:gd name="adj" fmla="val 3429"/>
            </a:avLst>
          </a:prstGeom>
          <a:solidFill>
            <a:srgbClr val="12365A"/>
          </a:solidFill>
          <a:ln w="12700">
            <a:solidFill>
              <a:srgbClr val="12365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656832" y="46634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the service exists to answer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6656832" y="498348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“At 14:00 today, how much generation capacity should the operator prepare for each hour tomorrow?”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LEARNING OUTCOMES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will be able to do on Thursday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44752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563624"/>
            <a:ext cx="713232" cy="384048"/>
          </a:xfrm>
          <a:prstGeom prst="roundRect">
            <a:avLst>
              <a:gd name="adj" fmla="val 11905"/>
            </a:avLst>
          </a:prstGeom>
          <a:solidFill>
            <a:srgbClr val="1349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63624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LO1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444752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trend, seasonality and autocorrelation structure in time series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0" y="1444752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· M2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2167128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2286000"/>
            <a:ext cx="713232" cy="384048"/>
          </a:xfrm>
          <a:prstGeom prst="roundRect">
            <a:avLst>
              <a:gd name="adj" fmla="val 11905"/>
            </a:avLst>
          </a:prstGeom>
          <a:solidFill>
            <a:srgbClr val="1349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2286000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LO2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2167128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classical forecasting models including ARIMA and exponential smoothing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0" y="2167128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2889504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3008376"/>
            <a:ext cx="713232" cy="384048"/>
          </a:xfrm>
          <a:prstGeom prst="roundRect">
            <a:avLst>
              <a:gd name="adj" fmla="val 11905"/>
            </a:avLst>
          </a:prstGeom>
          <a:solidFill>
            <a:srgbClr val="1349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008376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LO3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2889504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ML and gradient-boosting approaches with engineered temporal features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0" y="2889504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3611880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" y="3730752"/>
            <a:ext cx="713232" cy="384048"/>
          </a:xfrm>
          <a:prstGeom prst="roundRect">
            <a:avLst>
              <a:gd name="adj" fmla="val 11905"/>
            </a:avLst>
          </a:prstGeom>
          <a:solidFill>
            <a:srgbClr val="1349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3730752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LO4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3611880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backtesting frameworks with proper time-based validation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0" y="3611880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4334256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" y="4453128"/>
            <a:ext cx="713232" cy="384048"/>
          </a:xfrm>
          <a:prstGeom prst="roundRect">
            <a:avLst>
              <a:gd name="adj" fmla="val 11905"/>
            </a:avLst>
          </a:prstGeom>
          <a:solidFill>
            <a:srgbClr val="1349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13232" y="4453128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LO5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1600200" y="4334256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forecasts using scale-appropriate accuracy and uncertainty metrics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058400" y="4334256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· M6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66928" y="5056632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3232" y="5175504"/>
            <a:ext cx="713232" cy="384048"/>
          </a:xfrm>
          <a:prstGeom prst="roundRect">
            <a:avLst>
              <a:gd name="adj" fmla="val 11905"/>
            </a:avLst>
          </a:prstGeom>
          <a:solidFill>
            <a:srgbClr val="1349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13232" y="5175504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LO6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1600200" y="5056632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model families to select the right approach per use case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0058400" y="5056632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60167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by: 7 lab checkpoints (30%) · two practical assessments (20%) · a 10-question quiz (10%) · the capstone backtest report (40%).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PLAN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days, one deliverable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44752"/>
            <a:ext cx="3520440" cy="4224528"/>
          </a:xfrm>
          <a:prstGeom prst="roundRect">
            <a:avLst>
              <a:gd name="adj" fmla="val 155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444752"/>
            <a:ext cx="3520440" cy="841248"/>
          </a:xfrm>
          <a:prstGeom prst="roundRect">
            <a:avLst>
              <a:gd name="adj" fmla="val 6522"/>
            </a:avLst>
          </a:prstGeom>
          <a:solidFill>
            <a:srgbClr val="1349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5361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79222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Seeing the signal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6888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 Structure &amp; decomposition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 Stationarity &amp; autocorrelation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764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theory / 50% lab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18795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DAY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416552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hourly series + decomposition panel + stationarity report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43400" y="1444752"/>
            <a:ext cx="3520440" cy="4224528"/>
          </a:xfrm>
          <a:prstGeom prst="roundRect">
            <a:avLst>
              <a:gd name="adj" fmla="val 155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1444752"/>
            <a:ext cx="3520440" cy="841248"/>
          </a:xfrm>
          <a:prstGeom prst="roundRect">
            <a:avLst>
              <a:gd name="adj" fmla="val 6522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99432" y="15361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599432" y="179222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forecasts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599432" y="246888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 ARIMA &amp; exponential smoothing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 Feature-based ML forecasting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 Probabilistic forecasting (start)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599432" y="37764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 theory / 55% lab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99432" y="418795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DAY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99432" y="4416552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SARIMAX, ETS and a LightGBM forecaster, all producing 24 h forecasts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19872" y="1444752"/>
            <a:ext cx="3520440" cy="4224528"/>
          </a:xfrm>
          <a:prstGeom prst="roundRect">
            <a:avLst>
              <a:gd name="adj" fmla="val 155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19872" y="1444752"/>
            <a:ext cx="3520440" cy="841248"/>
          </a:xfrm>
          <a:prstGeom prst="roundRect">
            <a:avLst>
              <a:gd name="adj" fmla="val 6522"/>
            </a:avLst>
          </a:prstGeom>
          <a:solidFill>
            <a:srgbClr val="0B2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75904" y="15361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375904" y="179222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and selection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8375904" y="246888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 Intervals &amp; calibration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  Backtesting &amp; evaluation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  Case study + capstone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8375904" y="37764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theory / 65% lab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375904" y="418795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DAY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8375904" y="4416552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Rolling-origin backtest report, calibrated intervals, model decision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63825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hour = 50 minutes of instruction + 10 minutes buffer. The long break is scheduled around Dhuhr.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8686800" y="63825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SDA-DSC-212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3840480"/>
            <a:ext cx="4572000" cy="4572000"/>
          </a:xfrm>
          <a:prstGeom prst="ellipse">
            <a:avLst/>
          </a:prstGeom>
          <a:solidFill>
            <a:srgbClr val="1349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4173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HOURS 1–5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8308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Seeing the Signal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611880"/>
            <a:ext cx="9692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anyone fits a model, they must see the series. Module 1 teaches what a series is made of; Module 2 teaches how to test whether a classical model may touch it.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8920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1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2286000" y="489204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Structure and Decomposition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046720" y="48920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2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2760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2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2286000" y="527608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Stationarity and Autocorrelation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046720" y="52760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2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LO1 · LO2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8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822960"/>
            <a:ext cx="11064240" cy="5212080"/>
          </a:xfrm>
          <a:prstGeom prst="roundRect">
            <a:avLst>
              <a:gd name="adj" fmla="val 1404"/>
            </a:avLst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234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 ·  DAY 1, HOURS 2–3  ·  LO1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55448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0E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Time-Series Structure</a:t>
            </a:r>
            <a:endParaRPr lang="en-US" sz="34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0E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Decomposition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01752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anyone fits a model, they must see the series. Decomposition is both a diagnostic — what structure exists? — and a modelling strategy: forecast the parts, recombine.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406908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536192" y="406908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a correct, gap-free DatetimeIndex with explicit frequency and timezone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443484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1536192" y="443484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trend, seasonal and remainder; choose additive vs multiplicative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480060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1536192" y="480060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STL and classical decomposition, including multiple seasonalities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516636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1536192" y="516636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Resample and aggregate without introducing temporal artefacts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553212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536192" y="553212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decomposition to specify what a downstream model must capture</a:t>
            </a:r>
            <a:endParaRPr lang="en-US" sz="1250" dirty="0"/>
          </a:p>
        </p:txBody>
      </p:sp>
      <p:pic>
        <p:nvPicPr>
          <p:cNvPr id="17" name="Image 0" descr="/home/claude/tayyar/figures/D6_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2377440"/>
            <a:ext cx="3246120" cy="74066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8092440" y="2057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module sits in the pipeline you will build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· THE ADDITIVE MODEL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series is three things at once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44752"/>
            <a:ext cx="5257800" cy="1874520"/>
          </a:xfrm>
          <a:prstGeom prst="roundRect">
            <a:avLst>
              <a:gd name="adj" fmla="val 2927"/>
            </a:avLst>
          </a:prstGeom>
          <a:solidFill>
            <a:srgbClr val="0D2136"/>
          </a:solidFill>
          <a:ln w="12700">
            <a:solidFill>
              <a:srgbClr val="0D213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0078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pPr indent="0" marL="0">
              <a:buNone/>
            </a:pPr>
            <a:r>
              <a:rPr lang="en-US" sz="1400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pPr indent="0" marL="0">
              <a:buNone/>
            </a:pPr>
            <a:r>
              <a:rPr lang="en-US" sz="2600" dirty="0">
                <a:solidFill>
                  <a:srgbClr val="9DB2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=  </a:t>
            </a:r>
            <a:pPr indent="0" marL="0">
              <a:buNone/>
            </a:pPr>
            <a:r>
              <a:rPr lang="en-US" sz="2600" b="1" dirty="0">
                <a:solidFill>
                  <a:srgbClr val="F08A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pPr indent="0" marL="0">
              <a:buNone/>
            </a:pPr>
            <a:r>
              <a:rPr lang="en-US" sz="1400" baseline="-40000" dirty="0">
                <a:solidFill>
                  <a:srgbClr val="F08A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pPr indent="0" marL="0">
              <a:buNone/>
            </a:pPr>
            <a:r>
              <a:rPr lang="en-US" sz="2600" dirty="0">
                <a:solidFill>
                  <a:srgbClr val="9DB2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+  </a:t>
            </a:r>
            <a:pPr indent="0" marL="0">
              <a:buNone/>
            </a:pPr>
            <a:r>
              <a:rPr lang="en-US" sz="2600" b="1" dirty="0">
                <a:solidFill>
                  <a:srgbClr val="6BCB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pPr indent="0" marL="0">
              <a:buNone/>
            </a:pPr>
            <a:r>
              <a:rPr lang="en-US" sz="1400" baseline="-40000" dirty="0">
                <a:solidFill>
                  <a:srgbClr val="6BCB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pPr indent="0" marL="0">
              <a:buNone/>
            </a:pPr>
            <a:r>
              <a:rPr lang="en-US" sz="2600" dirty="0">
                <a:solidFill>
                  <a:srgbClr val="9DB2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+  </a:t>
            </a:r>
            <a:pPr indent="0" marL="0">
              <a:buNone/>
            </a:pPr>
            <a:r>
              <a:rPr lang="en-US" sz="2600" b="1" dirty="0">
                <a:solidFill>
                  <a:srgbClr val="8FB8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pPr indent="0" marL="0">
              <a:buNone/>
            </a:pPr>
            <a:r>
              <a:rPr lang="en-US" sz="1400" baseline="-40000" dirty="0">
                <a:solidFill>
                  <a:srgbClr val="8FB8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13432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08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the long-run level
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6BC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the repeating pattern of known period
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F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remainder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what neither explains — where a covariate hides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3502152"/>
            <a:ext cx="5257800" cy="2148840"/>
          </a:xfrm>
          <a:prstGeom prst="roundRect">
            <a:avLst>
              <a:gd name="adj" fmla="val 255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365760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Multiplicative when the swing grows with the level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98678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4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T × S × R    ⟺    log y = log T + log S + log R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370832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on evidence, not on taste: correlate the per-cycle level with the per-cycle amplitude. On Tayyar that correlation is 0.937, so the series is modelled multiplicatively — as log(demand).</a:t>
            </a:r>
            <a:endParaRPr lang="en-US" sz="1250" dirty="0"/>
          </a:p>
        </p:txBody>
      </p:sp>
      <p:pic>
        <p:nvPicPr>
          <p:cNvPr id="11" name="Image 0" descr="/home/claude/tayyar/figures/02_mstl_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353312"/>
            <a:ext cx="5504688" cy="4178808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6126480" y="5577840"/>
            <a:ext cx="5504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MSTL on log(demand), summer 2023 — the observed line separated into trend, the daily and weekly seasonal components, and the remainder.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566928" y="63825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or negative values must be inspected before any log transform — a sensor dropout will silently produce NaN.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8686800" y="63825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· SEASONAL AND TREND STRENGTH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Decomposition is a measurement, not a picture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44752"/>
            <a:ext cx="5029200" cy="1417320"/>
          </a:xfrm>
          <a:prstGeom prst="roundRect">
            <a:avLst>
              <a:gd name="adj" fmla="val 3871"/>
            </a:avLst>
          </a:prstGeom>
          <a:solidFill>
            <a:srgbClr val="0D2136"/>
          </a:solidFill>
          <a:ln w="12700">
            <a:solidFill>
              <a:srgbClr val="0D213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27632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Fₛ  =  1  −  Var(R) / Var(S + R)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Fₜ  =  1  −  Var(R) / Var(T + R)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9456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Hyndman's strength measures, both in [0, 1]. Near 1 means the component dominates what a model must capture; near 0 means you can ignore it.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3090672"/>
            <a:ext cx="5029200" cy="841248"/>
          </a:xfrm>
          <a:prstGeom prst="roundRect">
            <a:avLst>
              <a:gd name="adj" fmla="val 652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145536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49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1828800" y="31638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(m = 24)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341985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air-conditioning cycle. The dominant structure — any model that misses it is not a candidate.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4050792"/>
            <a:ext cx="5029200" cy="841248"/>
          </a:xfrm>
          <a:prstGeom prst="roundRect">
            <a:avLst>
              <a:gd name="adj" fmla="val 652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105656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0.61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1828800" y="41239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(m = 168)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828800" y="437997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Friday–Saturday weekend dip. Real, but secondary — a calendar feature can carry it.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5010912"/>
            <a:ext cx="5029200" cy="841248"/>
          </a:xfrm>
          <a:prstGeom prst="roundRect">
            <a:avLst>
              <a:gd name="adj" fmla="val 652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5065776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0" y="50840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828800" y="534009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growth plus a step change when a large industrial customer connected.</a:t>
            </a:r>
            <a:endParaRPr lang="en-US" sz="1050" dirty="0"/>
          </a:p>
        </p:txBody>
      </p:sp>
      <p:pic>
        <p:nvPicPr>
          <p:cNvPr id="19" name="Image 0" descr="/home/claude/tayyar/figures/09_calen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536192"/>
            <a:ext cx="5760720" cy="2432304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5897880" y="414223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remainder is telling you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5897880" y="4462272"/>
            <a:ext cx="576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evening peak shifts later through Ramadan — a fasting-and-Iftar pattern no fixed 24-hour seasonal shape can absorb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Eid produces a deep multi-day trough that looks, to a naive model, exactly like a weekend that will not end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summer heatwave shows up as remainder, not seasonality — that is the signature of a missing covariate: temperature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· INDEXING, FREQUENCY AND GAPS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 line that turns a silent gap into a visible one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44752"/>
            <a:ext cx="6766560" cy="2369820"/>
          </a:xfrm>
          <a:prstGeom prst="roundRect">
            <a:avLst>
              <a:gd name="adj" fmla="val 1929"/>
            </a:avLst>
          </a:prstGeom>
          <a:solidFill>
            <a:srgbClr val="0D2136"/>
          </a:solidFill>
          <a:ln w="12700">
            <a:solidFill>
              <a:srgbClr val="0D213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63624"/>
            <a:ext cx="6455664" cy="2132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pd.read_csv(path, parse_dates=["timestamp"])</a:t>
            </a:r>
            <a:endParaRPr lang="en-US" sz="1100" dirty="0"/>
          </a:p>
          <a:p>
            <a:pPr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df.drop_duplicates(subset="timestamp", keep="last")   # 19 duplicates</a:t>
            </a:r>
            <a:endParaRPr lang="en-US" sz="1100" dirty="0"/>
          </a:p>
          <a:p>
            <a:pPr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df.sort_values("timestamp").set_index("timestamp")</a:t>
            </a:r>
            <a:endParaRPr lang="en-US" sz="1100" dirty="0"/>
          </a:p>
          <a:p>
            <a:pPr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df.index = df.index.tz_localize("Asia/Riyadh",</a:t>
            </a:r>
            <a:endParaRPr lang="en-US" sz="1100" dirty="0"/>
          </a:p>
          <a:p>
            <a:pPr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ambiguous="infer", nonexistent="shift_forward")</a:t>
            </a:r>
            <a:endParaRPr lang="en-US" sz="1100" dirty="0"/>
          </a:p>
          <a:p>
            <a:pPr indent="0" marL="0">
              <a:lnSpc>
                <a:spcPts val="1562"/>
              </a:lnSpc>
              <a:buNone/>
            </a:pPr>
            <a:r>
              <a:rPr lang="en-US" sz="1100" b="1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df.asfreq("h")        # &lt;- the line that reveals the gaps</a:t>
            </a:r>
            <a:endParaRPr lang="en-US" sz="1100" dirty="0"/>
          </a:p>
          <a:p>
            <a:pPr indent="0" marL="0">
              <a:lnSpc>
                <a:spcPts val="1562"/>
              </a:lnSpc>
              <a:buNone/>
            </a:pPr>
            <a:endParaRPr lang="en-US" sz="1100" dirty="0"/>
          </a:p>
          <a:p>
            <a:pPr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df.loc[df["demand_mw"] == 0, "demand_mw"] = pd.NA   # sensor dropouts</a:t>
            </a:r>
            <a:endParaRPr lang="en-US" sz="1100" dirty="0"/>
          </a:p>
          <a:p>
            <a:pPr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df.index.is_monotonic_increasing and df.index.is_unique</a:t>
            </a:r>
            <a:endParaRPr lang="en-US" sz="1100" dirty="0"/>
          </a:p>
          <a:p>
            <a:pPr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6BC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df.index.freq is not None    # frequency must be DECLARED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543800" y="1444752"/>
            <a:ext cx="4087368" cy="2651760"/>
          </a:xfrm>
          <a:prstGeom prst="roundRect">
            <a:avLst>
              <a:gd name="adj" fmla="val 2069"/>
            </a:avLst>
          </a:prstGeom>
          <a:solidFill>
            <a:srgbClr val="0D2136"/>
          </a:solidFill>
          <a:ln w="12700">
            <a:solidFill>
              <a:srgbClr val="0D213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0" y="16093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cleaned load reports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772400" y="201168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in the raw file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287000" y="201168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C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26,235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0" y="237744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after asfreq("h")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287000" y="237744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C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26,280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0" y="274320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hours materialised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287000" y="274320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C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0" y="310896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 single gap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287000" y="310896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C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hours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0" y="347472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gaps interpolated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0287000" y="347472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C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66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4233672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DF3E3"/>
          </a:solidFill>
          <a:ln w="12700">
            <a:solidFill>
              <a:srgbClr val="FDF3E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1248" y="4233672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i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raw file contains 26,235 rows and the clean series contains 26,280. The missing hours were never in the file — absent, not null. Skip asfreq and every seasonal index downstream is quietly misaligned, and the STL seasonal shape smears.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526694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 this slide prevents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5541264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Resampling with .sum() where the question needs .mean() — the trend inflates 24×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period = 12 for the daily cycle of an hourly series (it is 24 — observations per cycle)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Log-transforming a series containing a zero from a sensor dropout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523951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1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demo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5541264"/>
            <a:ext cx="5303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and decompose live in under 8 minutes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SKIP asfreq once; show the seasonal shape smear on branch sim-gap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fix it — the fix is one line, and that is the point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 1  ·  50 MINUTES  ·  PAIRS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2296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Load, index and decompose the Tayyar series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9418320" y="868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C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lab1-start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746504"/>
            <a:ext cx="438912" cy="438912"/>
          </a:xfrm>
          <a:prstGeom prst="ellipse">
            <a:avLst/>
          </a:prstGeom>
          <a:solidFill>
            <a:srgbClr val="13497B"/>
          </a:solidFill>
          <a:ln w="12700">
            <a:solidFill>
              <a:srgbClr val="13497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7465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691640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raw CSV. Confirm the duplicate and out-of-order timestamps. Note the row count BEFORE cleaning.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404872"/>
            <a:ext cx="438912" cy="438912"/>
          </a:xfrm>
          <a:prstGeom prst="ellipse">
            <a:avLst/>
          </a:prstGeom>
          <a:solidFill>
            <a:srgbClr val="13497B"/>
          </a:solidFill>
          <a:ln w="12700">
            <a:solidFill>
              <a:srgbClr val="13497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24048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350008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load_demand: de-duplicate, sort, localise to Asia/Riyadh, asfreq("h"). Report gap rows and the longest gap.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3063240"/>
            <a:ext cx="438912" cy="43891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" y="3063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008376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gaps ≤ 3 h by time interpolation; flag longer gaps. Plot one summer week and one winter week; describe each in a sentence.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721608"/>
            <a:ext cx="438912" cy="43891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6928" y="37216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666744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additive vs multiplicative with additive_or_multiplicative. Justify from the amplitude plot. Log-transform if multiplicative.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4379976"/>
            <a:ext cx="438912" cy="43891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" y="43799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432511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MSTL for daily + weekly seasonality. Compute seasonal_strength for each. Produce the four-panel figure.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5038344"/>
            <a:ext cx="438912" cy="43891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50383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4983480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three bullets in FINDINGS.md: dominant seasonality, trend direction, remainder behaviour. Commit.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452360" y="1691640"/>
            <a:ext cx="4178808" cy="2265045"/>
          </a:xfrm>
          <a:prstGeom prst="roundRect">
            <a:avLst>
              <a:gd name="adj" fmla="val 2019"/>
            </a:avLst>
          </a:prstGeom>
          <a:solidFill>
            <a:srgbClr val="0D2136"/>
          </a:solidFill>
          <a:ln w="12700">
            <a:solidFill>
              <a:srgbClr val="0D213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616952" y="1810512"/>
            <a:ext cx="3867912" cy="202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-m tayyar.analysis.run_decompose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Loaded 26,280 hourly rows | 71 missing hours materialised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(longest gap: 5h)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Imputed 66 short gaps; 1 long gap (5h) flagged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Transform: multiplicative (level/swing corr = 0.94)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-&gt; modelling log(demand)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6BC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Seasonal strength  daily=0.97  weekly=0.61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6BC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Trend strength 0.97 | growth +3.4% then +5.5% YoY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Wrote decomposition_panel.png, FINDINGS.md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7452360" y="13716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7452360" y="42245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452360" y="4526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2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not monotonic in STL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9601200" y="45262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D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drop_duplicates + sort before set_index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7452360" y="49103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2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ValueError: freq not set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9601200" y="491032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D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skipped asfreq("h")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7452360" y="529437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2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NaNs after log transform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9601200" y="5294376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D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zero demand — inspect the dropout first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7452360" y="567842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2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component looks flat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9601200" y="5678424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D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period: hourly daily cycle = 24, not 12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566928" y="580644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8F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finishers: overlay the annual seasonal shape for 2021 against 2023 and observe the deepening summer peak — the motivation for STL's evolving seasonality.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· CASE STUDY  ·  FACILITATE, DON'T LECTURE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planning at a national grid operator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44752"/>
            <a:ext cx="5532120" cy="4160520"/>
          </a:xfrm>
          <a:prstGeom prst="roundRect">
            <a:avLst>
              <a:gd name="adj" fmla="val 131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2763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situation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47672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“Shabakah”, the operations-planning unit of a national grid operator, must publish a day-ahead load forecast every afternoon. Reserve margins — how much spare generation to keep spinning — are sized off that forecast.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953512"/>
            <a:ext cx="5029200" cy="868680"/>
          </a:xfrm>
          <a:prstGeom prst="roundRect">
            <a:avLst>
              <a:gd name="adj" fmla="val 6316"/>
            </a:avLst>
          </a:prstGeom>
          <a:solidFill>
            <a:srgbClr val="FDF3E3"/>
          </a:solidFill>
          <a:ln w="12700">
            <a:solidFill>
              <a:srgbClr val="FDF3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24128" y="2953512"/>
            <a:ext cx="4626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C260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1% day-ahead error on a 55,000 MW peak is about 550 MW — a mid-size gas turbine held in reserve for nothing, or missing when needed.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9867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that shape every later decision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297680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telemetry with occasional sensor gaps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strict afternoon publication deadline — the pipeline must run in minutes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forecast must be explainable to control-room engineers who distrust black boxes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Friday–Saturday weekend and Hijri holidays handled correctly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1444752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1901952"/>
            <a:ext cx="365760" cy="36576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1901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931152" y="1828800"/>
            <a:ext cx="47000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might daily-max and daily-mean forecasts need different models?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0" y="2834640"/>
            <a:ext cx="365760" cy="36576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931152" y="2761488"/>
            <a:ext cx="47000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structure should be a model component, and which an exogenous covariate?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0" y="3767328"/>
            <a:ext cx="365760" cy="36576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0" y="3767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931152" y="3694176"/>
            <a:ext cx="47000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detect that this year's summer seasonality is deepening rather than a one-off heatwave?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0" y="4700016"/>
            <a:ext cx="365760" cy="36576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0" y="4700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931152" y="4626864"/>
            <a:ext cx="47000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cost asymmetry of over- versus under-forecasting here — and how should it shape evaluation?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0" y="5422392"/>
            <a:ext cx="5230368" cy="777240"/>
          </a:xfrm>
          <a:prstGeom prst="roundRect">
            <a:avLst>
              <a:gd name="adj" fmla="val 7059"/>
            </a:avLst>
          </a:prstGeom>
          <a:solidFill>
            <a:srgbClr val="E7EFF7"/>
          </a:solidFill>
          <a:ln w="12700">
            <a:solidFill>
              <a:srgbClr val="E7EFF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20256" y="5422392"/>
            <a:ext cx="4791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before Module 2: every pair should hold a tz-aware hourly series with a declared frequency, a documented gap policy, and an MSTL panel with reported strengths.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822960"/>
            <a:ext cx="11064240" cy="5212080"/>
          </a:xfrm>
          <a:prstGeom prst="roundRect">
            <a:avLst>
              <a:gd name="adj" fmla="val 1404"/>
            </a:avLst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1234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 ·  DAY 1, HOURS 4–5  ·  LO1 · LO2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155448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0E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Stationarity and</a:t>
            </a:r>
            <a:endParaRPr lang="en-US" sz="34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0E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Autocorrelation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3017520"/>
            <a:ext cx="6766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models assume stationarity. Diagnose it, transform to it, then read autocorrelation to fingerprint the model. Mistaking a trend for a stationary mean is the single most expensive analytical error in demand and economic forecasting.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11480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536192" y="411480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weak stationarity and identify sources of non-stationarity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48056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536192" y="448056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and reconcile ADF and KPSS tests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484632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536192" y="484632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regular and seasonal differencing to achieve stationarity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521208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536192" y="521208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and interpret ACF and PACF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557784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536192" y="557784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ACF/PACF signatures into candidate ARIMA orders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83880" y="2194560"/>
            <a:ext cx="3154680" cy="2606040"/>
          </a:xfrm>
          <a:prstGeom prst="roundRect">
            <a:avLst>
              <a:gd name="adj" fmla="val 2105"/>
            </a:avLst>
          </a:prstGeom>
          <a:solidFill>
            <a:srgbClr val="0D2136"/>
          </a:solidFill>
          <a:ln w="12700">
            <a:solidFill>
              <a:srgbClr val="0D213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0" y="2331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stationarity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26334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constant over time: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the mean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33101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the variance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412480" y="369417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the autocovariance at each lag k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(depends on the gap, not the position)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412480" y="4251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8F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estimates ONE parameter set and assumes it holds throughout.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· TESTING STATIONARITY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tests, opposite nulls — and the disagreement is the information</a:t>
            </a:r>
            <a:endParaRPr lang="en-US" sz="2700" dirty="0"/>
          </a:p>
        </p:txBody>
      </p:sp>
      <p:pic>
        <p:nvPicPr>
          <p:cNvPr id="4" name="Image 0" descr="/home/claude/tayyar/figures/D2_adf_kp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99032"/>
            <a:ext cx="630936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086600" y="1399032"/>
            <a:ext cx="4544568" cy="2084070"/>
          </a:xfrm>
          <a:prstGeom prst="roundRect">
            <a:avLst>
              <a:gd name="adj" fmla="val 2194"/>
            </a:avLst>
          </a:prstGeom>
          <a:solidFill>
            <a:srgbClr val="0D2136"/>
          </a:solidFill>
          <a:ln w="12700">
            <a:solidFill>
              <a:srgbClr val="0D213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251192" y="1517904"/>
            <a:ext cx="4233672" cy="1846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adf_stat, adf_p, *_ = adfuller(s, autolag="AIC")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kpss_stat, kpss_p, *_ = kpss(s, regression="c", nlags="auto")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6BC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adf_stationary  = adf_p  &lt; 0.05   # reject the unit root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6BC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kpss_stationary = kpss_p &gt; 0.05   # fail to reject stationarity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verdict, action = RECONCILE[(adf_stationary, kpss_stationary)]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7086600" y="3136392"/>
            <a:ext cx="4544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Tayyar reports</a:t>
            </a:r>
            <a:endParaRPr lang="en-US" sz="12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3456432"/>
          <a:ext cx="4544568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777240"/>
                <a:gridCol w="868680"/>
                <a:gridCol w="1298448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ADF 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KPSS 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log(demand), level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0.0263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difference-stationary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D = 1, m = 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stationary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C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7086600" y="4553712"/>
            <a:ext cx="4544568" cy="1417320"/>
          </a:xfrm>
          <a:prstGeom prst="roundRect">
            <a:avLst>
              <a:gd name="adj" fmla="val 387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296912" y="4663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26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that surprises people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7296912" y="4965192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SEASONAL difference at lag 24 was enough. No regular difference was needed at all: D = 1, d = 0. Difference as little as possible — over-differencing injects artificial negative autocorrelation and inflates variance.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566928" y="5193792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to plant and catch:  reading ADF's null backwards ("p &gt; 0.05 so it's stationary") · differencing before stabilising variance · reading the ACF of a non-stationary series and calling its slow decay a high AR order.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· READING ACF AND PACF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correlogram is a fingerprint, not a decoration</a:t>
            </a:r>
            <a:endParaRPr lang="en-US" sz="3000" dirty="0"/>
          </a:p>
        </p:txBody>
      </p:sp>
      <p:pic>
        <p:nvPicPr>
          <p:cNvPr id="4" name="Image 0" descr="/home/claude/tayyar/figures/D7_fingerpr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353312"/>
            <a:ext cx="9692640" cy="3520440"/>
          </a:xfrm>
          <a:prstGeom prst="rect">
            <a:avLst/>
          </a:prstGeom>
        </p:spPr>
      </p:pic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992624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377440"/>
                <a:gridCol w="2194560"/>
                <a:gridCol w="36576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practice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tails off (geometric decay)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cuts off after lag 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AR(p)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PACF gives the order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cuts off after lag q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tails off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MA(q)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ACF gives the order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tails off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tails off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ARMA(p, q)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AICc / BIC to choose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26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slow, near-linear decay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26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spike at lag 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26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stationary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26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difference before reading further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spikes at m, 2m, 3m …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spike at lag 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seasonal terms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P, Q and 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66928" y="679399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“Cuts off” means it drops inside the ±1.96/√n band. Default lags = 20 never reaches lag 24 — set lags ≥ 2m or the seasonal spike is invisible.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 2  ·  50 MINUTES  ·  PAIRS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8229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stationarity report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9418320" y="868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C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lab2-start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438912" cy="438912"/>
          </a:xfrm>
          <a:prstGeom prst="ellipse">
            <a:avLst/>
          </a:prstGeom>
          <a:solidFill>
            <a:srgbClr val="13497B"/>
          </a:solidFill>
          <a:ln w="12700">
            <a:solidFill>
              <a:srgbClr val="13497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737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64592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stationarity_report on raw log-demand. Interpret ADF and KPSS TOGETHER. Record the verdict and predict the differencing needed.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496312"/>
            <a:ext cx="438912" cy="438912"/>
          </a:xfrm>
          <a:prstGeom prst="ellipse">
            <a:avLst/>
          </a:prstGeom>
          <a:solidFill>
            <a:srgbClr val="13497B"/>
          </a:solidFill>
          <a:ln w="12700">
            <a:solidFill>
              <a:srgbClr val="13497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24963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404872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choose_differencing(m=24) — seasonal FIRST, then regular. Re-run the report to confirm stationarity was actually reached.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3255264"/>
            <a:ext cx="438912" cy="43891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" y="32552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163824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before and after. Check the lag-1 ACF for the over-differencing signature (strongly negative, &lt; −0.5). Reduce d if you see it.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4014216"/>
            <a:ext cx="438912" cy="43891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6928" y="40142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922776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ACF/PACF with lags ≥ 60. Annotate the seasonal spike at lag 24. Read candidate (p, q) and seasonal (P, Q).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4773168"/>
            <a:ext cx="438912" cy="43891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" y="47731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4681728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STATIONARITY.md: verdict, chosen (d, D), and 2–3 candidate SARIMA orders with justification. Commit.</a:t>
            </a:r>
            <a:endParaRPr lang="en-US" sz="1250" dirty="0"/>
          </a:p>
        </p:txBody>
      </p:sp>
      <p:pic>
        <p:nvPicPr>
          <p:cNvPr id="20" name="Image 0" descr="/home/claude/tayyar/figures/03_acf_pac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481328"/>
            <a:ext cx="4800600" cy="2688336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6858000" y="4315968"/>
            <a:ext cx="4800600" cy="1817370"/>
          </a:xfrm>
          <a:prstGeom prst="roundRect">
            <a:avLst>
              <a:gd name="adj" fmla="val 2516"/>
            </a:avLst>
          </a:prstGeom>
          <a:solidFill>
            <a:srgbClr val="0D2136"/>
          </a:solidFill>
          <a:ln w="12700">
            <a:solidFill>
              <a:srgbClr val="0D213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022592" y="4434840"/>
            <a:ext cx="4489704" cy="1579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-m tayyar.analysis.run_stationarity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 log-demand : ADF p=0.026  KPSS p=0.01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-&gt; difference-stationary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Suggested       : seasonal first, m=24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6BC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D=1, d=0 : ADF p=0.00  KPSS p=0.10 -&gt; stationary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ACF/PACF        : PACF cuts near lag 2-5; ACF spike at 24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Candidates      : SARIMA(2,0,1)(1,1,1)[24]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SARIMA(1,0,2)(0,1,1)[24]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Wrote acf_pacf.png, STATIONARITY.md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557784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8F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branch  sim-overdiff  differences twice where once suffices. Diagnose it from the lag-1 ACF near −0.6, then fix it.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4023360"/>
            <a:ext cx="4206240" cy="42062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4173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HOURS 1–5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8308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Forecasts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611880"/>
            <a:ext cx="9692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model families, in the order a practitioner should try them: the free baseline, the classical models a control room will accept, and the feature-based ML model that wins when the covariates are rich.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70916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3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2286000" y="470916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and Exponential Smoothing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406640" y="470916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2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LO2 · LO3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09320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4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2286000" y="509320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Feature-Based ML Forecasting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406640" y="509320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2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LO3 · LO4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47725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5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286000" y="547725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Forecasts and Intervals (starts)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406640" y="547725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2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LO5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822960"/>
            <a:ext cx="11064240" cy="5212080"/>
          </a:xfrm>
          <a:prstGeom prst="roundRect">
            <a:avLst>
              <a:gd name="adj" fmla="val 1404"/>
            </a:avLst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1234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 ·  DAY 2, HOURS 1–2  ·  LO2 · LO3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155448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0E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ARIMA and</a:t>
            </a:r>
            <a:endParaRPr lang="en-US" sz="34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0E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Exponential Smoothing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301752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classical families remain the model to beat in regulated and safety-critical settings — because they can be explained. “The forecast rose because the level term updated and the summer seasonal factor kicked in” is accepted by a control-room engineer. “The gradient boosting said so” is not.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22452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536192" y="422452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and fit ARIMA/SARIMA models with justified orders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59028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536192" y="459028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exogenous regressors with SARIMAX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495604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536192" y="495604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an exponential-smoothing / ETS specification from the taxonomy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532180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536192" y="532180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model adequacy from residuals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56875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536192" y="568756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ARIMA and ETS and choose per situation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83880" y="2194560"/>
            <a:ext cx="3154680" cy="2514600"/>
          </a:xfrm>
          <a:prstGeom prst="roundRect">
            <a:avLst>
              <a:gd name="adj" fmla="val 2182"/>
            </a:avLst>
          </a:prstGeom>
          <a:solidFill>
            <a:srgbClr val="0D2136"/>
          </a:solidFill>
          <a:ln w="12700">
            <a:solidFill>
              <a:srgbClr val="0D213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0" y="23591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SARIMA(p, d, q)(P, D, Q)ₘ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2761488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C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AR(p)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9326880" y="276148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depends on its own p past values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3218688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C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I(d)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9326880" y="321868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differences to reach stationarity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412480" y="3675888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C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MA(q)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9326880" y="367588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depends on the last q shocks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412480" y="4133088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C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(P,D,Q)ₘ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9326880" y="413308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three, at the seasonal period m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· ORDER SELECTION AND THE m = 24 WALL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classical methods strain — and what to do about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44752"/>
            <a:ext cx="3566160" cy="1965960"/>
          </a:xfrm>
          <a:prstGeom prst="roundRect">
            <a:avLst>
              <a:gd name="adj" fmla="val 2791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59105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1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wall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1901952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auto_arima with m = 24 on 26,000 hourly points runs for minutes and may never converge. This is not a bug in your code.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74320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A1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Model the DAILY series with m = 7.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A1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Leave sub-daily structure to Module 4.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15968" y="1444752"/>
            <a:ext cx="3566160" cy="1965960"/>
          </a:xfrm>
          <a:prstGeom prst="roundRect">
            <a:avLst>
              <a:gd name="adj" fmla="val 279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53712" y="159105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selection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53712" y="1901952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order from the PACF cut-off, MA from the ACF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 AICc (small samples) or BIC (parsimony)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auto_arima proposes; the analyst disposes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compare AIC across different d — different targets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65008" y="1444752"/>
            <a:ext cx="3566160" cy="1965960"/>
          </a:xfrm>
          <a:prstGeom prst="roundRect">
            <a:avLst>
              <a:gd name="adj" fmla="val 279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02752" y="159105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 taxonomy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302752" y="19019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(Error, Trend, Seasonal), each ∈ {None, Additive, Multiplicative}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302752" y="23774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34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 → level only, flat forecast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34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Holt → + trend  (damp it)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34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Holt-Winters → + seasonality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302752" y="3017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Damped trend is almost always the safer production choice.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35295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Exogenous regressors must be known at forecast time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" y="3913632"/>
            <a:ext cx="5486400" cy="1912620"/>
          </a:xfrm>
          <a:prstGeom prst="roundRect">
            <a:avLst>
              <a:gd name="adj" fmla="val 2390"/>
            </a:avLst>
          </a:prstGeom>
          <a:solidFill>
            <a:srgbClr val="0D2136"/>
          </a:solidFill>
          <a:ln w="12700">
            <a:solidFill>
              <a:srgbClr val="0D213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4032504"/>
            <a:ext cx="5175504" cy="1674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21"/>
              </a:lnSpc>
              <a:buNone/>
            </a:pPr>
            <a:r>
              <a:rPr lang="en-US" sz="86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make_exog(df):</a:t>
            </a:r>
            <a:endParaRPr lang="en-US" sz="860" dirty="0"/>
          </a:p>
          <a:p>
            <a:pPr indent="0" marL="0">
              <a:lnSpc>
                <a:spcPts val="1221"/>
              </a:lnSpc>
              <a:buNone/>
            </a:pPr>
            <a:r>
              <a:rPr lang="en-US" sz="86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out["cdd"] = np.clip(df["temp_c"] - 21.0, 0, None)  # cooling</a:t>
            </a:r>
            <a:endParaRPr lang="en-US" sz="860" dirty="0"/>
          </a:p>
          <a:p>
            <a:pPr indent="0" marL="0">
              <a:lnSpc>
                <a:spcPts val="1221"/>
              </a:lnSpc>
              <a:buNone/>
            </a:pPr>
            <a:r>
              <a:rPr lang="en-US" sz="86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out["hdd"] = np.clip(14.0 - df["temp_c"], 0, None)</a:t>
            </a:r>
            <a:endParaRPr lang="en-US" sz="860" dirty="0"/>
          </a:p>
          <a:p>
            <a:pPr indent="0" marL="0">
              <a:lnSpc>
                <a:spcPts val="1221"/>
              </a:lnSpc>
              <a:buNone/>
            </a:pPr>
            <a:r>
              <a:rPr lang="en-US" sz="86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c in ("is_weekend", "is_ramadan", "is_eid"):</a:t>
            </a:r>
            <a:endParaRPr lang="en-US" sz="860" dirty="0"/>
          </a:p>
          <a:p>
            <a:pPr indent="0" marL="0">
              <a:lnSpc>
                <a:spcPts val="1221"/>
              </a:lnSpc>
              <a:buNone/>
            </a:pPr>
            <a:r>
              <a:rPr lang="en-US" sz="86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out[c] = df[c].astype(int)</a:t>
            </a:r>
            <a:endParaRPr lang="en-US" sz="860" dirty="0"/>
          </a:p>
          <a:p>
            <a:pPr indent="0" marL="0">
              <a:lnSpc>
                <a:spcPts val="1221"/>
              </a:lnSpc>
              <a:buNone/>
            </a:pPr>
            <a:endParaRPr lang="en-US" sz="860" dirty="0"/>
          </a:p>
          <a:p>
            <a:pPr indent="0" marL="0">
              <a:lnSpc>
                <a:spcPts val="1221"/>
              </a:lnSpc>
              <a:buNone/>
            </a:pPr>
            <a:r>
              <a:rPr lang="en-US" sz="86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 = fit_sarimax(y, exog, order=(2,1,1),</a:t>
            </a:r>
            <a:endParaRPr lang="en-US" sz="860" dirty="0"/>
          </a:p>
          <a:p>
            <a:pPr indent="0" marL="0">
              <a:lnSpc>
                <a:spcPts val="1221"/>
              </a:lnSpc>
              <a:buNone/>
            </a:pPr>
            <a:r>
              <a:rPr lang="en-US" sz="86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seasonal_order=(1,1,1,7))</a:t>
            </a:r>
            <a:endParaRPr lang="en-US" sz="860" dirty="0"/>
          </a:p>
          <a:p>
            <a:pPr indent="0" marL="0">
              <a:lnSpc>
                <a:spcPts val="1221"/>
              </a:lnSpc>
              <a:buNone/>
            </a:pPr>
            <a:r>
              <a:rPr lang="en-US" sz="86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  = res.get_forecast(steps=28, exog=exog_future)</a:t>
            </a:r>
            <a:endParaRPr lang="en-US" sz="860" dirty="0"/>
          </a:p>
          <a:p>
            <a:pPr indent="0" marL="0">
              <a:lnSpc>
                <a:spcPts val="1221"/>
              </a:lnSpc>
              <a:buNone/>
            </a:pPr>
            <a:r>
              <a:rPr lang="en-US" sz="86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# exog_future is REQUIRED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566928" y="5954268"/>
            <a:ext cx="5486400" cy="731520"/>
          </a:xfrm>
          <a:prstGeom prst="roundRect">
            <a:avLst>
              <a:gd name="adj" fmla="val 7500"/>
            </a:avLst>
          </a:prstGeom>
          <a:solidFill>
            <a:srgbClr val="FDF3E3"/>
          </a:solidFill>
          <a:ln w="12700">
            <a:solidFill>
              <a:srgbClr val="FDF3E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86384" y="5954268"/>
            <a:ext cx="5047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C26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qualifies only because a day-ahead weather forecast exists. Use the FORECAST, not the realised value — otherwise you have built a leak that looks like skill.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3529584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diagnostics are mandatory, not optional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3895344"/>
            <a:ext cx="5303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Ljung-Box: H₀ = residuals independent. p &lt; 0.05 means autocorrelation remains and the model is under-specified — raise an order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mean ≈ 0 (no bias) and roughly constant variance (the transform worked)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normality — matters for INTERVAL validity more than for the point forecast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un-diagnosed auto_arima result is a liability, not a model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09360" y="5954268"/>
            <a:ext cx="5321808" cy="731520"/>
          </a:xfrm>
          <a:prstGeom prst="roundRect">
            <a:avLst>
              <a:gd name="adj" fmla="val 7500"/>
            </a:avLst>
          </a:prstGeom>
          <a:solidFill>
            <a:srgbClr val="E7EFF7"/>
          </a:solidFill>
          <a:ln w="12700">
            <a:solidFill>
              <a:srgbClr val="E7EFF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28816" y="5954268"/>
            <a:ext cx="4882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Tayyar's daily-max series the fitted SARIMAX still shows Ljung-Box p ≈ 0.00 — structure remains. Say so out loud: this is what an honest diagnostic looks like, and it is why the ML route exists.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· LAB 3 AND THE ANSWER IT PRODUCES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the temperature regressor actually pay for itself?</a:t>
            </a:r>
            <a:endParaRPr lang="en-US" sz="3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44752"/>
          <a:ext cx="1106424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1234440"/>
                <a:gridCol w="1051560"/>
                <a:gridCol w="1005840"/>
                <a:gridCol w="1188720"/>
                <a:gridCol w="28346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(daily peak, 28-day hold-out)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(MW)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Bias (MW)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SARIMAX + temperature + calendar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point accuracy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SARIMA, no exogenous regressors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+142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 is worth ≈ 20 MW of MAE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ETS(A, Ad, A) — damped trend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+782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covariates, fits in seconds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Seasonal-naive (the free baseline)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2609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+2534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everything must beat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" y="3364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bias column, not only the error column. The no-exogenous model drifts +142 MW high; adding temperature pulls that to +37 MW. A biased forecast is a systematic reserve error every single day.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66928" y="3867912"/>
            <a:ext cx="5486400" cy="2743200"/>
          </a:xfrm>
          <a:prstGeom prst="roundRect">
            <a:avLst>
              <a:gd name="adj" fmla="val 2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4023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  ·  50 min  ·  git checkout lab3-start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29768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Classical baselines: SARIMAX and ETS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690872"/>
            <a:ext cx="49560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5′  Aggregate to daily; build the exog frame from ksa_calendar.csv; hold out the last 28 days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12′  Select the SARIMA order at m = 7; confirm Ljung-Box; raise the order and refit if it fails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10′  Fit ETS with damped trend; read the smoothing parameters from the summary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10′  Forecast 28 days both ways with 90% intervals; SARIMAX needs the FUTURE exog rows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8′  Compute MAE / MAPE / MASE and coverage; run plot_diagnostics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5′  Commit the baselines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355080" y="3867912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</a:t>
            </a:r>
            <a:endParaRPr lang="en-US" sz="1300" dirty="0"/>
          </a:p>
        </p:txBody>
      </p:sp>
      <p:graphicFrame>
        <p:nvGraphicFramePr>
          <p:cNvPr id="4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4187952"/>
          <a:ext cx="5276088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3127248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Symptom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really 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auto_arima runs for minutes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 = 24 on hourly — switch to the daily series, m = 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Ljung-Box p &lt; 0.05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under-specified; raise an order and refit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Forecast diverges to absurd values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un-damped Holt trend — set damped_trend=True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get_forecast raises on exog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supply exactly `steps` rows of future regressors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Multiplicative ETS fails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series contains a zero (a sensor dropout)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822960"/>
            <a:ext cx="11064240" cy="5212080"/>
          </a:xfrm>
          <a:prstGeom prst="roundRect">
            <a:avLst>
              <a:gd name="adj" fmla="val 1404"/>
            </a:avLst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1234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 ·  DAY 2, HOURS 3–4  ·  LO3 · LO4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155448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0E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Feature-Based</a:t>
            </a:r>
            <a:endParaRPr lang="en-US" sz="34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0E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Forecasting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301752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forecasting to supervised learning and a great deal becomes easy: nonlinear weather response, interactions, many covariates, many series. The catch — hammered throughout this module — is that every convenience of ML forecasting is also a fresh way to leak the future.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22452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536192" y="422452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a forecasting task to a supervised feature matrix without leakage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59028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536192" y="459028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lag, rolling-window, calendar and Fourier features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495604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536192" y="495604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tune gradient-boosting models for forecasting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532180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536192" y="532180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recursive versus direct multi-step strategies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56875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536192" y="568756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feature importance and compare against classical baselines</a:t>
            </a:r>
            <a:endParaRPr lang="en-US" sz="1250" dirty="0"/>
          </a:p>
        </p:txBody>
      </p:sp>
      <p:pic>
        <p:nvPicPr>
          <p:cNvPr id="16" name="Image 0" descr="/home/claude/tayyar/figures/D1_leakage_spl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2331720"/>
            <a:ext cx="3291840" cy="1243584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092440" y="20116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A1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SPLIT THAT MEANS ANYTHING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· LEAKAGE-SAFE FEATURE ENGINEERING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families, one rule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4475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must be computable at the forecast origin using only the past. That single rule generates all five families and rejects everything else.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901952"/>
            <a:ext cx="59893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020824"/>
            <a:ext cx="182880" cy="420624"/>
          </a:xfrm>
          <a:prstGeom prst="roundRect">
            <a:avLst>
              <a:gd name="adj" fmla="val 15000"/>
            </a:avLst>
          </a:prstGeom>
          <a:solidFill>
            <a:srgbClr val="1349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194767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22199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at 1, 2, 3, 24, 25, 48, 168, 336 hours ago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19476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them from the ACF, not from a guess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" y="2660904"/>
            <a:ext cx="598932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2779776"/>
            <a:ext cx="182880" cy="420624"/>
          </a:xfrm>
          <a:prstGeom prst="roundRect">
            <a:avLst>
              <a:gd name="adj" fmla="val 15000"/>
            </a:avLst>
          </a:prstGeom>
          <a:solidFill>
            <a:srgbClr val="A11B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270662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1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windows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298094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· std · min · max over the past 24 h and 168 h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270662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 must END before the target — .shift(1) first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3419856"/>
            <a:ext cx="59893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" y="3538728"/>
            <a:ext cx="182880" cy="420624"/>
          </a:xfrm>
          <a:prstGeom prst="roundRect">
            <a:avLst>
              <a:gd name="adj" fmla="val 15000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5840" y="346557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373989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hour, day-of-week, month, is_weekend, Ramadan, Eid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2743200" y="346557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KSA weekend is Fri(4) + Sat(5) in pandas dayofweek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4178808"/>
            <a:ext cx="598932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" y="4297680"/>
            <a:ext cx="182880" cy="420624"/>
          </a:xfrm>
          <a:prstGeom prst="roundRect">
            <a:avLst>
              <a:gd name="adj" fmla="val 15000"/>
            </a:avLst>
          </a:prstGeom>
          <a:solidFill>
            <a:srgbClr val="D9A4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05840" y="422452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Fourier terms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449884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sin/cos pairs per period: 24, 168, 8766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2743200" y="42245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Encodes daily + weekly + annual jointly, in few columns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" y="4937760"/>
            <a:ext cx="59893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3232" y="5056632"/>
            <a:ext cx="182880" cy="420624"/>
          </a:xfrm>
          <a:prstGeom prst="roundRect">
            <a:avLst>
              <a:gd name="adj" fmla="val 15000"/>
            </a:avLst>
          </a:prstGeom>
          <a:solidFill>
            <a:srgbClr val="1E7A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05840" y="498348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Exogenous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005840" y="52578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 and heating degrees, temp interactions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2743200" y="49834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a FORECAST of it exists at origin time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812280" y="1901952"/>
            <a:ext cx="4818888" cy="2331720"/>
          </a:xfrm>
          <a:prstGeom prst="roundRect">
            <a:avLst>
              <a:gd name="adj" fmla="val 1961"/>
            </a:avLst>
          </a:prstGeom>
          <a:solidFill>
            <a:srgbClr val="0D2136"/>
          </a:solidFill>
          <a:ln w="12700">
            <a:solidFill>
              <a:srgbClr val="0D213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976872" y="2020824"/>
            <a:ext cx="4507992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add_rolling_features(df, col, windows=(24, 168)):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b="1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base = out[col].shift(1)        # &lt;-- the leakage guard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w in windows: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 = base.rolling(w, center=False)  # NEVER center=True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out[f"{col}_rmean{w}"] = r.mean()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out[f"{col}_rstd{w}"]  = r.std()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assert_no_leakage(df, target="demand_mw"):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"""A. no feature correlates ~1.0 with the target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B. shuffling the FUTURE must not change any past feature"""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6BC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  -&gt; assert_no_leakage: PASS (44 features checked)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812280" y="4572000"/>
            <a:ext cx="4818888" cy="1371600"/>
          </a:xfrm>
          <a:prstGeom prst="roundRect">
            <a:avLst>
              <a:gd name="adj" fmla="val 4000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040880" y="46908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1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cannot extrapolate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040880" y="4992624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gradient-boosted model can never forecast a demand higher than any it has seen. Mitigate by modelling a differenced or relative target so the level trend is handled outside the trees — or accept it and keep a classical model in the candidate set.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· MULTI-STEP STRATEGY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Twenty-four models, or one model twenty-four times?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44752"/>
            <a:ext cx="5394960" cy="2103120"/>
          </a:xfrm>
          <a:prstGeom prst="roundRect">
            <a:avLst>
              <a:gd name="adj" fmla="val 260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5910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1883664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for one step. Feed its own predictions back in as lags.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267712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— a single model to train, tune and serve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compound: by h = 24 the lags are predictions of predictions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lags have a different distribution from real lags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36208" y="1444752"/>
            <a:ext cx="5394960" cy="2103120"/>
          </a:xfrm>
          <a:prstGeom prst="roundRect">
            <a:avLst>
              <a:gd name="adj" fmla="val 2609"/>
            </a:avLst>
          </a:prstGeom>
          <a:solidFill>
            <a:srgbClr val="EAF2EC"/>
          </a:solidFill>
          <a:ln w="12700">
            <a:solidFill>
              <a:srgbClr val="EAF2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73952" y="15910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 ·  what Tayyar uses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73952" y="1883664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per horizon h, each trained on the target y shifted −h.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73952" y="2267712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compounding — h = 24 is predicted directly from origin features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models to train, and no guarantee of coherence across horizons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24-hour day-ahead horizon this is where recursive chains fall apart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3730752"/>
            <a:ext cx="5577840" cy="1541145"/>
          </a:xfrm>
          <a:prstGeom prst="roundRect">
            <a:avLst>
              <a:gd name="adj" fmla="val 2967"/>
            </a:avLst>
          </a:prstGeom>
          <a:solidFill>
            <a:srgbClr val="0D2136"/>
          </a:solidFill>
          <a:ln w="12700">
            <a:solidFill>
              <a:srgbClr val="0D213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849624"/>
            <a:ext cx="5266944" cy="1303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DirectLGBMForecaster: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fit(self, X, y):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h in range(1, self.horizon + 1):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yh = y.shift(-h)          # the target is h steps AHEAD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ok = yh.notna() &amp; X.notna().all(axis=1)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self.models_[h] = lgb.LGBMRegressor(**self.params)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.fit(X[ok], yh[ok])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5399913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rule:  short horizons with strong autocorrelation → recursive.  Longer horizons, or any compounding risk → direct.</a:t>
            </a:r>
            <a:endParaRPr lang="en-US" sz="1150" dirty="0"/>
          </a:p>
        </p:txBody>
      </p:sp>
      <p:pic>
        <p:nvPicPr>
          <p:cNvPr id="15" name="Image 0" descr="/home/claude/tayyar/figures/04_feature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3730752"/>
            <a:ext cx="5321808" cy="1993392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6309360" y="5788152"/>
            <a:ext cx="5321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is associational, never causal. “hour_of_day is 9% of the gain” is a description of the model, not a claim about the grid.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· THE MEASUREMENT THAT MATTERS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model. One dataset. One target. Four evaluation designs.</a:t>
            </a:r>
            <a:endParaRPr lang="en-US" sz="2900" dirty="0"/>
          </a:p>
        </p:txBody>
      </p:sp>
      <p:pic>
        <p:nvPicPr>
          <p:cNvPr id="4" name="Image 0" descr="/home/claude/tayyar/figures/08_leak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17320"/>
            <a:ext cx="6903720" cy="32095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0" y="1508760"/>
            <a:ext cx="384048" cy="384048"/>
          </a:xfrm>
          <a:prstGeom prst="ellipse">
            <a:avLst/>
          </a:prstGeom>
          <a:solidFill>
            <a:srgbClr val="A11B2A"/>
          </a:solidFill>
          <a:ln w="12700">
            <a:solidFill>
              <a:srgbClr val="A11B2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275320" y="14173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 split + leaky features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0698480" y="141732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2A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1.61%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275320" y="1728216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centred rolling window and a "known" exogenous value that is not. This is the number that gets a model promoted.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772400" y="2377440"/>
            <a:ext cx="384048" cy="384048"/>
          </a:xfrm>
          <a:prstGeom prst="ellipse">
            <a:avLst/>
          </a:prstGeom>
          <a:solidFill>
            <a:srgbClr val="C2601B"/>
          </a:solidFill>
          <a:ln w="12700">
            <a:solidFill>
              <a:srgbClr val="C2601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275320" y="22860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 split, clean features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0698480" y="228600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2C1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2.00%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275320" y="2596896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split alone still leaks: test hours sit between training hours.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772400" y="3246120"/>
            <a:ext cx="384048" cy="384048"/>
          </a:xfrm>
          <a:prstGeom prst="ellipse">
            <a:avLst/>
          </a:prstGeom>
          <a:solidFill>
            <a:srgbClr val="C2601B"/>
          </a:solidFill>
          <a:ln w="12700">
            <a:solidFill>
              <a:srgbClr val="C2601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7240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275320" y="31546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Time-ordered split, clean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0698480" y="315468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8D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3.54%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8275320" y="3465576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Honest, but a single split is a sample of one.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772400" y="4114800"/>
            <a:ext cx="384048" cy="384048"/>
          </a:xfrm>
          <a:prstGeom prst="ellipse">
            <a:avLst/>
          </a:prstGeom>
          <a:solidFill>
            <a:srgbClr val="1E7A4D"/>
          </a:solidFill>
          <a:ln w="12700">
            <a:solidFill>
              <a:srgbClr val="1E7A4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7240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8275320" y="40233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Rolling-origin backtest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0698480" y="402336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9DD9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3.66%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8275320" y="4334256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origins, refit at each. This is the only number you could defend.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66928" y="498348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12365A"/>
          </a:solidFill>
          <a:ln w="12700">
            <a:solidFill>
              <a:srgbClr val="12365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8680" y="4983480"/>
            <a:ext cx="104607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leaked design reports a model that is 2.3× more accurate than the same model actually is. Nothing in the code errored. Nothing in the notebook looked wrong. The only defence is a measurement protocol that makes it structurally impossible — which is Module 6.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· HANDS-ON LAB 4  ·  50 MINUTES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forecaster — and find the two planted leaks first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44752"/>
            <a:ext cx="5577840" cy="3794760"/>
          </a:xfrm>
          <a:prstGeom prst="roundRect">
            <a:avLst>
              <a:gd name="adj" fmla="val 144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5819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7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lab4-start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04672" y="1993392"/>
            <a:ext cx="384048" cy="384048"/>
          </a:xfrm>
          <a:prstGeom prst="ellipse">
            <a:avLst/>
          </a:prstGeom>
          <a:solidFill>
            <a:srgbClr val="A11B2A"/>
          </a:solidFill>
          <a:ln w="12700">
            <a:solidFill>
              <a:srgbClr val="A11B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298448" y="194767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starter ships a train_test_split(shuffle=True) AND a centred rolling feature. Find both before writing any new code. Record them in LEAKS.md.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04672" y="2542032"/>
            <a:ext cx="384048" cy="384048"/>
          </a:xfrm>
          <a:prstGeom prst="ellipse">
            <a:avLst/>
          </a:prstGeom>
          <a:solidFill>
            <a:srgbClr val="13497B"/>
          </a:solidFill>
          <a:ln w="12700">
            <a:solidFill>
              <a:srgbClr val="13497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4672" y="2542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298448" y="249631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lags (chosen from the Lab 2 ACF), rolling windows with .shift(1), calendar flags, and Fourier terms for daily + weekly. Verify with assert_no_leakage.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4672" y="3090672"/>
            <a:ext cx="384048" cy="384048"/>
          </a:xfrm>
          <a:prstGeom prst="ellipse">
            <a:avLst/>
          </a:prstGeom>
          <a:solidFill>
            <a:srgbClr val="13497B"/>
          </a:solidFill>
          <a:ln w="12700">
            <a:solidFill>
              <a:srgbClr val="13497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4672" y="3090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298448" y="304495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targets for H = 24. Split BY TIME — last 28 days is test. Train one LightGBM per horizon.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4672" y="3639312"/>
            <a:ext cx="384048" cy="384048"/>
          </a:xfrm>
          <a:prstGeom prst="ellipse">
            <a:avLst/>
          </a:prstGeom>
          <a:solidFill>
            <a:srgbClr val="13497B"/>
          </a:solidFill>
          <a:ln w="12700">
            <a:solidFill>
              <a:srgbClr val="13497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4672" y="3639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298448" y="359359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the test window day by day. Compute MAE and MAPE. Overlay the actuals and the Lab 3 SARIMAX baseline.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4672" y="4187952"/>
            <a:ext cx="384048" cy="384048"/>
          </a:xfrm>
          <a:prstGeom prst="ellipse">
            <a:avLst/>
          </a:prstGeom>
          <a:solidFill>
            <a:srgbClr val="13497B"/>
          </a:solidFill>
          <a:ln w="12700">
            <a:solidFill>
              <a:srgbClr val="13497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4187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298448" y="414223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feature-importance table and interpret the top five aloud.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04672" y="4736592"/>
            <a:ext cx="384048" cy="384048"/>
          </a:xfrm>
          <a:prstGeom prst="ellipse">
            <a:avLst/>
          </a:prstGeom>
          <a:solidFill>
            <a:srgbClr val="13497B"/>
          </a:solidFill>
          <a:ln w="12700">
            <a:solidFill>
              <a:srgbClr val="13497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4672" y="4736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298448" y="469087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Commit: feat(models): leakage-safe LightGBM direct forecaster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0" y="1444752"/>
            <a:ext cx="5230368" cy="1584960"/>
          </a:xfrm>
          <a:prstGeom prst="roundRect">
            <a:avLst>
              <a:gd name="adj" fmla="val 2885"/>
            </a:avLst>
          </a:prstGeom>
          <a:solidFill>
            <a:srgbClr val="0D2136"/>
          </a:solidFill>
          <a:ln w="12700">
            <a:solidFill>
              <a:srgbClr val="0D213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65392" y="1563624"/>
            <a:ext cx="4919472" cy="1347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21"/>
              </a:lnSpc>
              <a:buNone/>
            </a:pPr>
            <a:r>
              <a:rPr lang="en-US" sz="86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-m tayyar.models.run_lgbm</a:t>
            </a:r>
            <a:endParaRPr lang="en-US" sz="860" dirty="0"/>
          </a:p>
          <a:p>
            <a:pPr indent="0" marL="0">
              <a:lnSpc>
                <a:spcPts val="1221"/>
              </a:lnSpc>
              <a:buNone/>
            </a:pPr>
            <a:r>
              <a:rPr lang="en-US" sz="860" dirty="0">
                <a:solidFill>
                  <a:srgbClr val="6BC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Leak check: PASS (44 features, none reference t or the future)</a:t>
            </a:r>
            <a:endParaRPr lang="en-US" sz="860" dirty="0"/>
          </a:p>
          <a:p>
            <a:pPr indent="0" marL="0">
              <a:lnSpc>
                <a:spcPts val="1221"/>
              </a:lnSpc>
              <a:buNone/>
            </a:pPr>
            <a:r>
              <a:rPr lang="en-US" sz="86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 H=24 trained (24 models) in 11.4s</a:t>
            </a:r>
            <a:endParaRPr lang="en-US" sz="860" dirty="0"/>
          </a:p>
          <a:p>
            <a:pPr indent="0" marL="0">
              <a:lnSpc>
                <a:spcPts val="1221"/>
              </a:lnSpc>
              <a:buNone/>
            </a:pPr>
            <a:r>
              <a:rPr lang="en-US" sz="86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(28d, hourly)  LightGBM: MAE=719 MW  MAPE=2.33%</a:t>
            </a:r>
            <a:endParaRPr lang="en-US" sz="860" dirty="0"/>
          </a:p>
          <a:p>
            <a:pPr indent="0" marL="0">
              <a:lnSpc>
                <a:spcPts val="1221"/>
              </a:lnSpc>
              <a:buNone/>
            </a:pPr>
            <a:r>
              <a:rPr lang="en-US" sz="86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Baseline compare    seasonal-naive: MAE=1244 MW  MAPE=4.12%</a:t>
            </a:r>
            <a:endParaRPr lang="en-US" sz="860" dirty="0"/>
          </a:p>
          <a:p>
            <a:pPr indent="0" marL="0">
              <a:lnSpc>
                <a:spcPts val="1221"/>
              </a:lnSpc>
              <a:buNone/>
            </a:pPr>
            <a:r>
              <a:rPr lang="en-US" sz="86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 features: demand_lag3, d_cos1, roll_mean_168, hour, roll_mean_24</a:t>
            </a:r>
            <a:endParaRPr lang="en-US" sz="860" dirty="0"/>
          </a:p>
          <a:p>
            <a:pPr indent="0" marL="0">
              <a:lnSpc>
                <a:spcPts val="1221"/>
              </a:lnSpc>
              <a:buNone/>
            </a:pPr>
            <a:r>
              <a:rPr lang="en-US" sz="86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 family: rolling 33% | lags 29% | fourier 26% | calendar 7% | weather 5%</a:t>
            </a:r>
            <a:endParaRPr lang="en-US" sz="860" dirty="0"/>
          </a:p>
          <a:p>
            <a:pPr indent="0" marL="0">
              <a:lnSpc>
                <a:spcPts val="1221"/>
              </a:lnSpc>
              <a:buNone/>
            </a:pPr>
            <a:r>
              <a:rPr lang="en-US" sz="86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Wrote forecast_lgbm.png, importance.png, LEAKS.md</a:t>
            </a:r>
            <a:endParaRPr lang="en-US" sz="860" dirty="0"/>
          </a:p>
        </p:txBody>
      </p:sp>
      <p:sp>
        <p:nvSpPr>
          <p:cNvPr id="26" name="Text 24"/>
          <p:cNvSpPr txBox="1"/>
          <p:nvPr/>
        </p:nvSpPr>
        <p:spPr>
          <a:xfrm>
            <a:off x="6400800" y="3383280"/>
            <a:ext cx="523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</a:t>
            </a:r>
            <a:endParaRPr lang="en-US" sz="12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3712464"/>
          <a:ext cx="5230368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035808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Symptom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1B2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 suspiciously below 0.7%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leak survives — re-run assert_no_leakage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under-forecasts a heat spike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trees cannot extrapolate — model a differenced target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rows dropped, tiny training set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lags create leading NaNs; expected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Weekend flag on wrong days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KSA weekend is Fri(4) / Sat(5), Mon = 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Shape 25"/>
          <p:cNvSpPr/>
          <p:nvPr/>
        </p:nvSpPr>
        <p:spPr>
          <a:xfrm>
            <a:off x="566928" y="5486400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FDF3E3"/>
          </a:solidFill>
          <a:ln w="12700">
            <a:solidFill>
              <a:srgbClr val="FDF3E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22960" y="5486400"/>
            <a:ext cx="105521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26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this lab's full 50 minutes. It and Lab 6 are the two most overrun-prone sessions in the course — and they carry the two ideas the whole course exists to teach.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822960"/>
            <a:ext cx="11064240" cy="5212080"/>
          </a:xfrm>
          <a:prstGeom prst="roundRect">
            <a:avLst>
              <a:gd name="adj" fmla="val 1404"/>
            </a:avLst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1234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 ·  DAY 2 HOUR 5 → DAY 3 HOUR 1  ·  LO5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155448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0E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Probabilistic Forecasts</a:t>
            </a:r>
            <a:endParaRPr lang="en-US" sz="34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0E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Intervals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301752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point forecast is a lie by omission. Two forecasts can share a mean of 50,000 MW while one is near-certain and the other spans ±8,000 MW — completely different reserve decisions. Forecast the distribution, and let the decision pick the quantile it needs.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22452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536192" y="422452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decisions as quantile problems, not mean problems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59028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536192" y="459028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prediction intervals from classical and ML models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495604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536192" y="495604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quantile models with the pinball loss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532180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536192" y="532180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split-conformal prediction for distribution-free coverage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56875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536192" y="568756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on coverage, sharpness and pinball — and diagnose miscalibration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83880" y="2331720"/>
            <a:ext cx="3154680" cy="2194560"/>
          </a:xfrm>
          <a:prstGeom prst="roundRect">
            <a:avLst>
              <a:gd name="adj" fmla="val 2500"/>
            </a:avLst>
          </a:prstGeom>
          <a:solidFill>
            <a:srgbClr val="0D2136"/>
          </a:solidFill>
          <a:ln w="12700">
            <a:solidFill>
              <a:srgbClr val="0D213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0" y="2487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module ethic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27889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uncertainty —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then prove it is honest.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35204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reserve margin is sized off the UPPER bound of the day-ahead forecast, not the mean. The interval is not a caveat attached to the product. The interval IS the product.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· PINBALL LOSS AND THE TWO KINDS OF INTERVAL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loss that produces a quantile</a:t>
            </a:r>
            <a:endParaRPr lang="en-US" sz="3000" dirty="0"/>
          </a:p>
        </p:txBody>
      </p:sp>
      <p:pic>
        <p:nvPicPr>
          <p:cNvPr id="4" name="Image 0" descr="/home/claude/tayyar/figures/D4_pinb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99032"/>
            <a:ext cx="5394960" cy="31912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17920" y="1399032"/>
            <a:ext cx="5413248" cy="1508760"/>
          </a:xfrm>
          <a:prstGeom prst="roundRect">
            <a:avLst>
              <a:gd name="adj" fmla="val 3636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46520" y="151790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1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interval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6446520" y="182880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about a PARAMETER — where the mean level sits. Narrower. Almost never what a forecast decision needs, and shipping one where a prediction interval belongs is the most common interval bug in production.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17920" y="3072384"/>
            <a:ext cx="5413248" cy="1517904"/>
          </a:xfrm>
          <a:prstGeom prst="roundRect">
            <a:avLst>
              <a:gd name="adj" fmla="val 3614"/>
            </a:avLst>
          </a:prstGeom>
          <a:solidFill>
            <a:srgbClr val="EAF2EC"/>
          </a:solidFill>
          <a:ln w="12700">
            <a:solidFill>
              <a:srgbClr val="EAF2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46520" y="319125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interval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6446520" y="3502152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about a future OBSERVATION — parameter uncertainty plus irreducible noise. Always wider. This is what forecasting wants, every time.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446520" y="41879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models give these analytically — but on the assumption of constant variance. Tayyar's summer heteroskedasticity breaks exactly that assumption.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66928" y="4572000"/>
            <a:ext cx="11064240" cy="1722120"/>
          </a:xfrm>
          <a:prstGeom prst="roundRect">
            <a:avLst>
              <a:gd name="adj" fmla="val 2655"/>
            </a:avLst>
          </a:prstGeom>
          <a:solidFill>
            <a:srgbClr val="0D2136"/>
          </a:solidFill>
          <a:ln w="12700">
            <a:solidFill>
              <a:srgbClr val="0D213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4690872"/>
            <a:ext cx="10753344" cy="1484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pinball_loss(y_true, q_pred, tau):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 = np.asarray(y_true) - np.asarray(q_pred)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6BC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np.mean(np.maximum(tau * d, (tau - 1) * d))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LightGBM fits it directly, one model per quantile: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lgb.LGBMRegressor(objective="quantile", alpha=0.95)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out[qcols] = np.sort(out[qcols].to_numpy(), axis=1)  # de-cross q95 &lt; q50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566928" y="63672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i="1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Independently-fitted quantile models can cross — a predicted q95 below the q50 is an incoherent distribution. Repair by sorting per row, or fit with a monotone constraint. Never by ignoring it.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· SPLIT-CONFORMAL PREDICTION AND CQR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 you can actually promise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44752"/>
            <a:ext cx="2606040" cy="1965960"/>
          </a:xfrm>
          <a:prstGeom prst="roundRect">
            <a:avLst>
              <a:gd name="adj" fmla="val 279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" y="1645920"/>
            <a:ext cx="457200" cy="457200"/>
          </a:xfrm>
          <a:prstGeom prst="ellipse">
            <a:avLst/>
          </a:prstGeom>
          <a:solidFill>
            <a:srgbClr val="13497B"/>
          </a:solidFill>
          <a:ln w="12700">
            <a:solidFill>
              <a:srgbClr val="13497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95528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344168" y="170078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9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2221992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out a calibration window the model never trained on — respecting time.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191256" y="2221992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92424" y="1444752"/>
            <a:ext cx="2606040" cy="1965960"/>
          </a:xfrm>
          <a:prstGeom prst="roundRect">
            <a:avLst>
              <a:gd name="adj" fmla="val 279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21024" y="164592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21024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169664" y="170078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621024" y="2221992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calibration, compute the nonconformity score. For CQR that is max(lo − y, y − hi): how far the truth fell OUTSIDE the band.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016752" y="2221992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17920" y="1444752"/>
            <a:ext cx="2606040" cy="1965960"/>
          </a:xfrm>
          <a:prstGeom prst="roundRect">
            <a:avLst>
              <a:gd name="adj" fmla="val 279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6520" y="1645920"/>
            <a:ext cx="457200" cy="45720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4652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995160" y="170078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Quantile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2221992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q̂ = the ⌈(n+1)(1−α)⌉-th smallest score. The finite-sample correction is the +1.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842248" y="2221992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043416" y="1444752"/>
            <a:ext cx="2606040" cy="1965960"/>
          </a:xfrm>
          <a:prstGeom prst="roundRect">
            <a:avLst>
              <a:gd name="adj" fmla="val 279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72016" y="1645920"/>
            <a:ext cx="457200" cy="457200"/>
          </a:xfrm>
          <a:prstGeom prst="ellipse">
            <a:avLst/>
          </a:prstGeom>
          <a:solidFill>
            <a:srgbClr val="1E7A4D"/>
          </a:solidFill>
          <a:ln w="12700">
            <a:solidFill>
              <a:srgbClr val="1E7A4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272016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9820656" y="170078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7A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Widen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272016" y="2221992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[lo − q̂, hi + q̂]. Marginal coverage ≥ 1 − α is then guaranteed under exchangeability.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6928" y="3593592"/>
            <a:ext cx="5577840" cy="2265045"/>
          </a:xfrm>
          <a:prstGeom prst="roundRect">
            <a:avLst>
              <a:gd name="adj" fmla="val 2019"/>
            </a:avLst>
          </a:prstGeom>
          <a:solidFill>
            <a:srgbClr val="0D2136"/>
          </a:solidFill>
          <a:ln w="12700">
            <a:solidFill>
              <a:srgbClr val="0D213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1520" y="3712464"/>
            <a:ext cx="5266944" cy="202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conformal_quantile(scores, alpha=0.10):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 = len(scores)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 = int(np.ceil((n + 1) * (1 - alpha)))   # the finite-sample +1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float(np.sort(scores)[min(max(k, 1), n) - 1])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CQR: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calibrate(self, y_cal, lo_cal, hi_cal):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6BC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self.qhat_ = conformal_quantile(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6BC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np.maximum(lo_cal - y_cal, y_cal - hi_cal))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interval(self, lo, hi):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lo - self.qhat_, hi + self.qhat_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309360" y="3593592"/>
            <a:ext cx="5321808" cy="2194560"/>
          </a:xfrm>
          <a:prstGeom prst="roundRect">
            <a:avLst>
              <a:gd name="adj" fmla="val 2500"/>
            </a:avLst>
          </a:prstGeom>
          <a:solidFill>
            <a:srgbClr val="FDF3E3"/>
          </a:solidFill>
          <a:ln w="12700">
            <a:solidFill>
              <a:srgbClr val="FDF3E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37960" y="373075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6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conformal does NOT give you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6537960" y="4023360"/>
            <a:ext cx="4846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coverage. The guarantee is marginal — 90% on average across all hours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when exchangeability fails. Calibrating on July and testing in December over-covers, because the residuals are not exchangeable across regimes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 on monitoring. Coverage drifts; recalibrate on a rolling recent window and persist q̂ with the model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66928" y="5986653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strongly autocorrelated series use adaptive conformal (ACI) or EnbPI, which update q̂ online as coverage errors accumulate.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· THE RESULT THAT CHANGES A DECISION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 on average can hide 85% on the afternoons that matter</a:t>
            </a:r>
            <a:endParaRPr lang="en-US" sz="2800" dirty="0"/>
          </a:p>
        </p:txBody>
      </p:sp>
      <p:pic>
        <p:nvPicPr>
          <p:cNvPr id="4" name="Image 0" descr="/home/claude/tayyar/figures/06_cover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17320"/>
            <a:ext cx="5806440" cy="2980944"/>
          </a:xfrm>
          <a:prstGeom prst="rect">
            <a:avLst/>
          </a:prstGeom>
        </p:spPr>
      </p:pic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417320"/>
          <a:ext cx="4956048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868680"/>
                <a:gridCol w="932688"/>
                <a:gridCol w="1371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9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9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width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9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97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Quantile model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1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2418 MW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1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under-covers by 11 points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└ peak hours 12:00–18:00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1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3046 MW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1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exactly where it matters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CQR calibration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7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3235 MW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7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hits nominal 90%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└ peak hours 12:00–18:00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26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3863 MW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260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STILL 5 points short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└ all other hours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7A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2976 MW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over-covers, subsidising the peak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6675120" y="4114800"/>
            <a:ext cx="4956048" cy="1920240"/>
          </a:xfrm>
          <a:prstGeom prst="roundRect">
            <a:avLst>
              <a:gd name="adj" fmla="val 2857"/>
            </a:avLst>
          </a:prstGeom>
          <a:solidFill>
            <a:srgbClr val="12365A"/>
          </a:solidFill>
          <a:ln w="12700">
            <a:solidFill>
              <a:srgbClr val="12365A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903720" y="42519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tell operations</a:t>
            </a:r>
            <a:endParaRPr lang="en-US" sz="1150" dirty="0"/>
          </a:p>
        </p:txBody>
      </p:sp>
      <p:sp>
        <p:nvSpPr>
          <p:cNvPr id="8" name="Text 4"/>
          <p:cNvSpPr txBox="1"/>
          <p:nvPr/>
        </p:nvSpPr>
        <p:spPr>
          <a:xfrm>
            <a:off x="6903720" y="4553712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90% interval holds 90% of the time overall, and 85% of the time on summer afternoons — the hours you actually size reserve for. Here is the adaptive-conformal fix, and here is the margin to add until it ships.”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4572000"/>
            <a:ext cx="5806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marginal AND conditional coverage. Ship both, or ship neither.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66928" y="4937760"/>
            <a:ext cx="5806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is the FIRST metric to drift when a model goes stale — before point error degrades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calibrated methods, the sharper interval wins. Among un-calibrated ones, sharpness is meaningless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Winkler / interval score combines both: width plus a penalty for every miss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· HANDS-ON LAB 5  ·  50 MINUTES  ·  SPANS DAY 2 → DAY 3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Calibrated day-ahead intervals</a:t>
            </a:r>
            <a:endParaRPr lang="en-US" sz="3000" dirty="0"/>
          </a:p>
        </p:txBody>
      </p:sp>
      <p:pic>
        <p:nvPicPr>
          <p:cNvPr id="4" name="Image 0" descr="/home/claude/tayyar/figures/05_interv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44752"/>
            <a:ext cx="4892040" cy="22768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" y="3776472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band is not decoration — it is the number operations sizes reserve from.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6629400" y="1444752"/>
            <a:ext cx="5001768" cy="2743200"/>
          </a:xfrm>
          <a:prstGeom prst="roundRect">
            <a:avLst>
              <a:gd name="adj" fmla="val 2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0" y="15819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C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lab5-start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858000" y="1856232"/>
            <a:ext cx="329184" cy="329184"/>
          </a:xfrm>
          <a:prstGeom prst="ellipse">
            <a:avLst/>
          </a:prstGeom>
          <a:solidFill>
            <a:srgbClr val="A11B2A"/>
          </a:solidFill>
          <a:ln w="12700">
            <a:solidFill>
              <a:srgbClr val="A11B2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0" y="1856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296912" y="182880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2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starter reports a CONFIDENCE interval and estimates coverage on the training set. Find both bugs.</a:t>
            </a:r>
            <a:endParaRPr lang="en-US" sz="920" dirty="0"/>
          </a:p>
        </p:txBody>
      </p:sp>
      <p:sp>
        <p:nvSpPr>
          <p:cNvPr id="11" name="Shape 8"/>
          <p:cNvSpPr/>
          <p:nvPr/>
        </p:nvSpPr>
        <p:spPr>
          <a:xfrm>
            <a:off x="6858000" y="2240280"/>
            <a:ext cx="329184" cy="3291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0" y="2240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296912" y="221284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2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the Lab 4 features. Split train / calibration / test by time. Fit quantiles τ ∈ {0.05, 0.50, 0.95}. Repair crossing.</a:t>
            </a:r>
            <a:endParaRPr lang="en-US" sz="920" dirty="0"/>
          </a:p>
        </p:txBody>
      </p:sp>
      <p:sp>
        <p:nvSpPr>
          <p:cNvPr id="14" name="Shape 11"/>
          <p:cNvSpPr/>
          <p:nvPr/>
        </p:nvSpPr>
        <p:spPr>
          <a:xfrm>
            <a:off x="6858000" y="2624328"/>
            <a:ext cx="329184" cy="3291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0" y="2624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296912" y="2596896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2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and mean width of the raw band on test. Expect it BELOW 90%.</a:t>
            </a:r>
            <a:endParaRPr lang="en-US" sz="920" dirty="0"/>
          </a:p>
        </p:txBody>
      </p:sp>
      <p:sp>
        <p:nvSpPr>
          <p:cNvPr id="17" name="Shape 14"/>
          <p:cNvSpPr/>
          <p:nvPr/>
        </p:nvSpPr>
        <p:spPr>
          <a:xfrm>
            <a:off x="6858000" y="3008376"/>
            <a:ext cx="329184" cy="3291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0" y="30083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296912" y="2980944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2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with CQR on the held-out window; re-apply; coverage should snap to ≈ 0.90.</a:t>
            </a:r>
            <a:endParaRPr lang="en-US" sz="920" dirty="0"/>
          </a:p>
        </p:txBody>
      </p:sp>
      <p:sp>
        <p:nvSpPr>
          <p:cNvPr id="20" name="Shape 17"/>
          <p:cNvSpPr/>
          <p:nvPr/>
        </p:nvSpPr>
        <p:spPr>
          <a:xfrm>
            <a:off x="6858000" y="3392424"/>
            <a:ext cx="329184" cy="3291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858000" y="3392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296912" y="336499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2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analytic SARIMAX interval. Build the method × coverage × width × pinball table. Plot all three over one hot week.</a:t>
            </a:r>
            <a:endParaRPr lang="en-US" sz="920" dirty="0"/>
          </a:p>
        </p:txBody>
      </p:sp>
      <p:sp>
        <p:nvSpPr>
          <p:cNvPr id="23" name="Shape 20"/>
          <p:cNvSpPr/>
          <p:nvPr/>
        </p:nvSpPr>
        <p:spPr>
          <a:xfrm>
            <a:off x="6858000" y="3776472"/>
            <a:ext cx="329184" cy="32918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858000" y="3776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7296912" y="37490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2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one method in INTERVALS.md and commit.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566928" y="4233672"/>
            <a:ext cx="11064240" cy="1714500"/>
          </a:xfrm>
          <a:prstGeom prst="roundRect">
            <a:avLst>
              <a:gd name="adj" fmla="val 2667"/>
            </a:avLst>
          </a:prstGeom>
          <a:solidFill>
            <a:srgbClr val="0D2136"/>
          </a:solidFill>
          <a:ln w="12700">
            <a:solidFill>
              <a:srgbClr val="0D213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31520" y="4352544"/>
            <a:ext cx="10753344" cy="1476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93"/>
              </a:lnSpc>
              <a:buNone/>
            </a:pPr>
            <a:r>
              <a:rPr lang="en-US" sz="84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-m tayyar.models.run_intervals</a:t>
            </a:r>
            <a:endParaRPr lang="en-US" sz="840" dirty="0"/>
          </a:p>
          <a:p>
            <a:pPr indent="0" marL="0">
              <a:lnSpc>
                <a:spcPts val="1193"/>
              </a:lnSpc>
              <a:buNone/>
            </a:pPr>
            <a:r>
              <a:rPr lang="en-US" sz="84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window: 61 days hourly | calibration: the 31 days before it</a:t>
            </a:r>
            <a:endParaRPr lang="en-US" sz="840" dirty="0"/>
          </a:p>
          <a:p>
            <a:pPr indent="0" marL="0">
              <a:lnSpc>
                <a:spcPts val="1193"/>
              </a:lnSpc>
              <a:buNone/>
            </a:pPr>
            <a:r>
              <a:rPr lang="en-US" sz="840" dirty="0">
                <a:solidFill>
                  <a:srgbClr val="F2A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LGBM quantile raw  : coverage=0.786  width=2418 MW  pinball=190</a:t>
            </a:r>
            <a:endParaRPr lang="en-US" sz="840" dirty="0"/>
          </a:p>
          <a:p>
            <a:pPr indent="0" marL="0">
              <a:lnSpc>
                <a:spcPts val="1193"/>
              </a:lnSpc>
              <a:buNone/>
            </a:pPr>
            <a:r>
              <a:rPr lang="en-US" sz="840" dirty="0">
                <a:solidFill>
                  <a:srgbClr val="6BC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LGBM quantile + CQR: coverage=0.902  width=3235 MW  pinball=181</a:t>
            </a:r>
            <a:endParaRPr lang="en-US" sz="840" dirty="0"/>
          </a:p>
          <a:p>
            <a:pPr indent="0" marL="0">
              <a:lnSpc>
                <a:spcPts val="1193"/>
              </a:lnSpc>
              <a:buNone/>
            </a:pPr>
            <a:r>
              <a:rPr lang="en-US" sz="840" dirty="0">
                <a:solidFill>
                  <a:srgbClr val="6BC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q-hat = 409 MW  (the calibration correction)</a:t>
            </a:r>
            <a:endParaRPr lang="en-US" sz="840" dirty="0"/>
          </a:p>
          <a:p>
            <a:pPr indent="0" marL="0">
              <a:lnSpc>
                <a:spcPts val="1193"/>
              </a:lnSpc>
              <a:buNone/>
            </a:pPr>
            <a:r>
              <a:rPr lang="en-US" sz="84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Conditional (12:00-18:00): 0.845   &lt;- report this, always</a:t>
            </a:r>
            <a:endParaRPr lang="en-US" sz="840" dirty="0"/>
          </a:p>
          <a:p>
            <a:pPr indent="0" marL="0">
              <a:lnSpc>
                <a:spcPts val="1193"/>
              </a:lnSpc>
              <a:buNone/>
            </a:pPr>
            <a:r>
              <a:rPr lang="en-US" sz="84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Recommendation: CQR — the only method reaching nominal coverage;</a:t>
            </a:r>
            <a:endParaRPr lang="en-US" sz="840" dirty="0"/>
          </a:p>
          <a:p>
            <a:pPr indent="0" marL="0">
              <a:lnSpc>
                <a:spcPts val="1193"/>
              </a:lnSpc>
              <a:buNone/>
            </a:pPr>
            <a:r>
              <a:rPr lang="en-US" sz="84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flag the peak-hour gap and propose ACI as the fix</a:t>
            </a:r>
            <a:endParaRPr lang="en-US" sz="840" dirty="0"/>
          </a:p>
          <a:p>
            <a:pPr indent="0" marL="0">
              <a:lnSpc>
                <a:spcPts val="1193"/>
              </a:lnSpc>
              <a:buNone/>
            </a:pPr>
            <a:r>
              <a:rPr lang="en-US" sz="84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Wrote intervals_hotweek.png, coverage_table.csv, INTERVALS.md</a:t>
            </a:r>
            <a:endParaRPr lang="en-US" sz="840" dirty="0"/>
          </a:p>
        </p:txBody>
      </p:sp>
      <p:sp>
        <p:nvSpPr>
          <p:cNvPr id="28" name="Shape 25"/>
          <p:cNvSpPr/>
          <p:nvPr/>
        </p:nvSpPr>
        <p:spPr>
          <a:xfrm>
            <a:off x="566928" y="6039612"/>
            <a:ext cx="11064240" cy="530352"/>
          </a:xfrm>
          <a:prstGeom prst="roundRect">
            <a:avLst>
              <a:gd name="adj" fmla="val 10345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22960" y="6039612"/>
            <a:ext cx="10552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1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Troubleshooting:  coverage ≈ 1.0 with a huge width → alpha confused (0.10 is the tail, not 0.90) · q95 &lt; q50 → crossing, sort the row · CQR barely changes anything → you calibrated on the training set · coverage fine but the decision still fails on hot days → marginal, not conditional.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035040" cy="6035040"/>
          </a:xfrm>
          <a:prstGeom prst="ellipse">
            <a:avLst/>
          </a:prstGeom>
          <a:solidFill>
            <a:srgbClr val="1349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4173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HOURS 1–5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8308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and Selection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611880"/>
            <a:ext cx="9692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days of building produce candidate models. Today produces the only thing anyone outside the room will read: evidence that one of them deserves to run tomorrow afternoon.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6177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5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2286000" y="461772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Intervals and calibration (finish)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406640" y="46177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2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LO5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00176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6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2286000" y="500176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Backtesting and Forecast Evaluation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406640" y="500176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2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LO4 · LO5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38581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7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286000" y="538581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Case Study and Selection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406640" y="538581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2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LO6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76986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CAPSTONE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2286000" y="576986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Tayyar — a backtested day-ahead service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406640" y="576986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2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40%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822960"/>
            <a:ext cx="11064240" cy="5212080"/>
          </a:xfrm>
          <a:prstGeom prst="roundRect">
            <a:avLst>
              <a:gd name="adj" fmla="val 1404"/>
            </a:avLst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1234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 ·  DAY 3, HOURS 2–3  ·  LO4 · LO5 · LO6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155448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0E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Backtesting and</a:t>
            </a:r>
            <a:endParaRPr lang="en-US" sz="34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0E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 Evaluation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301752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“respect the arrow of time” stops being a principle and becomes a measurement protocol. The backtest report is this course's headline artefact — the deliverable a grid operator, a demand planner or a workforce planner actually commissions.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22452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536192" y="422452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rolling-origin and expanding-window backtests without temporal leakage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59028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536192" y="459028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scale-appropriate point metrics and explain each one's failure mode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495604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536192" y="495604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probabilistic forecasts with pinball loss and empirical coverage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532180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536192" y="532180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models statistically with the Diebold-Mariano test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56875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536192" y="568756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a reproducible backtest report driving a model-selection decision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83880" y="2331720"/>
            <a:ext cx="3154680" cy="2148840"/>
          </a:xfrm>
          <a:prstGeom prst="roundRect">
            <a:avLst>
              <a:gd name="adj" fmla="val 2553"/>
            </a:avLst>
          </a:prstGeom>
          <a:solidFill>
            <a:srgbClr val="0D2136"/>
          </a:solidFill>
          <a:ln w="12700">
            <a:solidFill>
              <a:srgbClr val="0D213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0" y="2487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one split is not evidence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2816352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split estimates skill from ONE realisation of the future. Test-week luck flips rankings.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backtest repeats the evaluation over many origins and yields a distribution of skill, not a point estimate.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 · HOW TO MEASURE A FORECAST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schemes, five metrics, one protocol</a:t>
            </a:r>
            <a:endParaRPr lang="en-US" sz="3000" dirty="0"/>
          </a:p>
        </p:txBody>
      </p:sp>
      <p:pic>
        <p:nvPicPr>
          <p:cNvPr id="4" name="Image 0" descr="/home/claude/tayyar/figures/D3_rolling_ori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53312"/>
            <a:ext cx="5760720" cy="2331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0" y="1353312"/>
            <a:ext cx="5047488" cy="2331720"/>
          </a:xfrm>
          <a:prstGeom prst="roundRect">
            <a:avLst>
              <a:gd name="adj" fmla="val 235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12280" y="149047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rules that make it a backtest rather than theatre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6812280" y="2048256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REFIT at every origin. A fit-once loop scores points the model already trained on — the tell is MASE ≈ 0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at origin t uses only data ≤ t. Leave a GAP if any feature straddles the boundary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when the process is stable and more data always helps; sliding when it drifts (a new industrial load, a tariff change)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sktime's ExpandingWindowSplitter with strategy="refit" does this correctly — hand-rolled loops are where leaks creep back in</a:t>
            </a:r>
            <a:endParaRPr lang="en-US" sz="10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749040"/>
          <a:ext cx="1106424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2286000"/>
                <a:gridCol w="2880360"/>
                <a:gridCol w="47548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Fails when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|y − ŷ|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units, robust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comparable across series of different scale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√ mean (y − ŷ)²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penalises large misses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dominated by outliers; scale-bound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|y − ŷ| / |y|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scale-free, intuitive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explodes near zero; asymmetric — over-forecasts capped at 100%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symmetric percentage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still unstable near zero; awkward to interpret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/ MAE of seasonal-naive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scale-free, symmetric, defined at zero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a sensible baseline period 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Pinball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quantile loss, averaged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PROPER score — rewards honest calibration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meaningful for a probabilistic forecast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66928" y="5925312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E7EFF7"/>
          </a:solidFill>
          <a:ln w="12700">
            <a:solidFill>
              <a:srgbClr val="E7EFF7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41248" y="5925312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i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MASE &lt; 1 beats the free seasonal-naive baseline · MASE = 1 ties it · MASE &gt; 1 means you should have shipped the baseline. Always report MASE alongside a percentage metric — the percentage is what a planner feels, the MASE is what makes it comparable.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 · THE TAYYAR BACKTEST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Sixty origins, refit at each — this is what evidence looks like</a:t>
            </a:r>
            <a:endParaRPr lang="en-US" sz="2700" dirty="0"/>
          </a:p>
        </p:txBody>
      </p:sp>
      <p:pic>
        <p:nvPicPr>
          <p:cNvPr id="4" name="Image 0" descr="/home/claude/tayyar/figures/07_back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99032"/>
            <a:ext cx="6949440" cy="2532888"/>
          </a:xfrm>
          <a:prstGeom prst="rect">
            <a:avLst/>
          </a:prstGeom>
        </p:spPr>
      </p:pic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26680" y="1399032"/>
          <a:ext cx="3904488" cy="914400"/>
        </p:xfrm>
        <a:graphic>
          <a:graphicData uri="http://schemas.openxmlformats.org/drawingml/2006/table">
            <a:tbl>
              <a:tblPr/>
              <a:tblGrid>
                <a:gridCol w="1298448"/>
                <a:gridCol w="566928"/>
                <a:gridCol w="731520"/>
                <a:gridCol w="576072"/>
                <a:gridCol w="731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(MW)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baseline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LightGBM, direct H = 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−42% error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 quantile, q50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−41% error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Seasonal-naive (free)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baseline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7726680" y="3227832"/>
            <a:ext cx="3904488" cy="777240"/>
          </a:xfrm>
          <a:prstGeom prst="roundRect">
            <a:avLst>
              <a:gd name="adj" fmla="val 7059"/>
            </a:avLst>
          </a:prstGeom>
          <a:solidFill>
            <a:srgbClr val="E7EFF7"/>
          </a:solidFill>
          <a:ln w="12700">
            <a:solidFill>
              <a:srgbClr val="E7EFF7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909560" y="3227832"/>
            <a:ext cx="3538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denominator. Seasonal-naive scores MASE 0.77, not 1.00, because the MASE scale is its in-sample error over a full year — including volatile summer — while these origins are autumn. Know what you divide by.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566928" y="41422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difference real, or did it get lucky?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566928" y="4462272"/>
            <a:ext cx="6949440" cy="1541145"/>
          </a:xfrm>
          <a:prstGeom prst="roundRect">
            <a:avLst>
              <a:gd name="adj" fmla="val 2967"/>
            </a:avLst>
          </a:prstGeom>
          <a:solidFill>
            <a:srgbClr val="0D2136"/>
          </a:solidFill>
          <a:ln w="12700">
            <a:solidFill>
              <a:srgbClr val="0D213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31520" y="4581144"/>
            <a:ext cx="6638544" cy="1303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|e_A| − |e_B|                     # the loss differential series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lrv = Newey-West long-run variance of d (h−1 autocovariance lags)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DM  = mean(d) / sqrt(lrv / n), then the Harvey-Leybourne-Newbold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small-sample correction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6BC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LightGBM vs seasonal-naive : DM = -6.75  p = 0.000  -&gt; SIGNIFICANT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LightGBM vs quantile q50   : DM = -1.901  p = 0.058  -&gt; NOT significant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7726680" y="4142232"/>
            <a:ext cx="3904488" cy="1828800"/>
          </a:xfrm>
          <a:prstGeom prst="roundRect">
            <a:avLst>
              <a:gd name="adj" fmla="val 3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955280" y="42793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rule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7955280" y="4599432"/>
            <a:ext cx="3474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non-significant Diebold-Mariano result tells you to ship the SIMPLER or CHEAPER model — you cannot distinguish them.</a:t>
            </a: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the two LightGBM variants are statistically indistinguishable (p = 0.058), so the quantile model wins on grounds that have nothing to do with accuracy: it also produces the interval.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566928" y="6131433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significance gates model promotion. A 0.1% MAE “win” that fails DM does not justify shipping the added complexity — and the per-origin breakdown is what tells you WHICH weeks the champion loses.</a:t>
            </a:r>
            <a:endParaRPr lang="en-US" sz="11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 6  ·  50 MINUTES  ·  THE COURSE'S HEADLINE DELIVERABLE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772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rolling-origin backtest report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9418320" y="8229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C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lab6-start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420624" cy="420624"/>
          </a:xfrm>
          <a:prstGeom prst="ellipse">
            <a:avLst/>
          </a:prstGeom>
          <a:solidFill>
            <a:srgbClr val="A11B2A"/>
          </a:solidFill>
          <a:ln w="12700">
            <a:solidFill>
              <a:srgbClr val="A11B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600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170432" y="15544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starter “backtests” by fitting once on all data and then scoring past points. Find the leak. Note it in BACKTEST.md.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2221992"/>
            <a:ext cx="420624" cy="420624"/>
          </a:xfrm>
          <a:prstGeom prst="ellipse">
            <a:avLst/>
          </a:prstGeom>
          <a:solidFill>
            <a:srgbClr val="13497B"/>
          </a:solidFill>
          <a:ln w="12700">
            <a:solidFill>
              <a:srgbClr val="13497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2221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70432" y="2176272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the splitter: initial window 1 year, step 1 week, horizon 24 h. Run all four families. Confirm ≥ 50 origins.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843784"/>
            <a:ext cx="420624" cy="420624"/>
          </a:xfrm>
          <a:prstGeom prst="ellipse">
            <a:avLst/>
          </a:prstGeom>
          <a:solidFill>
            <a:srgbClr val="13497B"/>
          </a:solidFill>
          <a:ln w="12700">
            <a:solidFill>
              <a:srgbClr val="13497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" y="2843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170432" y="2798064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per-origin errors: mean AND spread of MAE, MAPE, MASE. Every model reported relative to seasonal-naive.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3465576"/>
            <a:ext cx="420624" cy="420624"/>
          </a:xfrm>
          <a:prstGeom prst="ellipse">
            <a:avLst/>
          </a:prstGeom>
          <a:solidFill>
            <a:srgbClr val="13497B"/>
          </a:solidFill>
          <a:ln w="12700">
            <a:solidFill>
              <a:srgbClr val="13497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6928" y="3465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170432" y="341985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probabilistic scoring for the two interval models — mean pinball and empirical coverage across origins.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4087368"/>
            <a:ext cx="420624" cy="420624"/>
          </a:xfrm>
          <a:prstGeom prst="ellipse">
            <a:avLst/>
          </a:prstGeom>
          <a:solidFill>
            <a:srgbClr val="1E7A4D"/>
          </a:solidFill>
          <a:ln w="12700">
            <a:solidFill>
              <a:srgbClr val="1E7A4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" y="4087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170432" y="404164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Diebold-Mariano on the top two point models. Record the significance. Decide the champion and state the rule you applied.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709160"/>
            <a:ext cx="420624" cy="420624"/>
          </a:xfrm>
          <a:prstGeom prst="ellipse">
            <a:avLst/>
          </a:prstGeom>
          <a:solidFill>
            <a:srgbClr val="1E7A4D"/>
          </a:solidFill>
          <a:ln w="12700">
            <a:solidFill>
              <a:srgbClr val="1E7A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4709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170432" y="466344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BACKTEST.md: table, DM verdict, champion, and the conditions under which the champion loses. Commit.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949440" y="1554480"/>
            <a:ext cx="4681728" cy="2788920"/>
          </a:xfrm>
          <a:prstGeom prst="roundRect">
            <a:avLst>
              <a:gd name="adj" fmla="val 1639"/>
            </a:avLst>
          </a:prstGeom>
          <a:solidFill>
            <a:srgbClr val="0D2136"/>
          </a:solidFill>
          <a:ln w="12700">
            <a:solidFill>
              <a:srgbClr val="0D213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14032" y="1673352"/>
            <a:ext cx="4370832" cy="2551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88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-m tayyar.eval.run_backtest</a:t>
            </a:r>
            <a:endParaRPr lang="en-US" sz="88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8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Backtest: expanding window, 60 origins, fh=24h, refit each origin</a:t>
            </a:r>
            <a:endParaRPr lang="en-US" sz="880" dirty="0"/>
          </a:p>
          <a:p>
            <a:pPr indent="0" marL="0">
              <a:lnSpc>
                <a:spcPts val="1250"/>
              </a:lnSpc>
              <a:buNone/>
            </a:pPr>
            <a:endParaRPr lang="en-US" sz="88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8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               MASE   MAE(MW)  MAPE   coverage  pinball</a:t>
            </a:r>
            <a:endParaRPr lang="en-US" sz="88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8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seasonal-naive       0.77    1244    4.12%     -        -</a:t>
            </a:r>
            <a:endParaRPr lang="en-US" sz="88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8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ETS(A,Ad,A)          0.62     998    3.24%    0.87     221</a:t>
            </a:r>
            <a:endParaRPr lang="en-US" sz="88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8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SARIMAX + temp       0.55     889    2.86%    0.90     198</a:t>
            </a:r>
            <a:endParaRPr lang="en-US" sz="88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80" dirty="0">
                <a:solidFill>
                  <a:srgbClr val="6BC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LightGBM + CQR       0.45     719    2.33%    0.90     181  &lt;- champion</a:t>
            </a:r>
            <a:endParaRPr lang="en-US" sz="880" dirty="0"/>
          </a:p>
          <a:p>
            <a:pPr indent="0" marL="0">
              <a:lnSpc>
                <a:spcPts val="1250"/>
              </a:lnSpc>
              <a:buNone/>
            </a:pPr>
            <a:endParaRPr lang="en-US" sz="88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8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DM (LightGBM vs SARIMAX): dm=-6.75  p=0.000 -&gt; significant</a:t>
            </a:r>
            <a:endParaRPr lang="en-US" sz="88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8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Champion: LightGBM + CQR. Loses on Eid origins -&gt; naive fallback.</a:t>
            </a:r>
            <a:endParaRPr lang="en-US" sz="880" dirty="0"/>
          </a:p>
          <a:p>
            <a:pPr indent="0" marL="0">
              <a:lnSpc>
                <a:spcPts val="1250"/>
              </a:lnSpc>
              <a:buNone/>
            </a:pPr>
            <a:r>
              <a:rPr lang="en-US" sz="88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Wrote backtest_table.csv, error_by_origin.png, BACKTEST.md</a:t>
            </a:r>
            <a:endParaRPr lang="en-US" sz="880" dirty="0"/>
          </a:p>
        </p:txBody>
      </p:sp>
      <p:sp>
        <p:nvSpPr>
          <p:cNvPr id="25" name="Text 23"/>
          <p:cNvSpPr txBox="1"/>
          <p:nvPr/>
        </p:nvSpPr>
        <p:spPr>
          <a:xfrm>
            <a:off x="6949440" y="4590288"/>
            <a:ext cx="4681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4882896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2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MASE ≈ 0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9162288" y="488289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D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in-sample — use strategy="refit"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949440" y="5248656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2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= 4000% on one origin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9162288" y="524865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D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demand; prefer MASE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6949440" y="5614416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2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three origins produced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9162288" y="561441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D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too large or initial window too big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6949440" y="5980176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2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 runs for minutes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9162288" y="598017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D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— cache naive/ETS, parallelise folds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534924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8FB8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backtest is the product. Fixed splits, fixed seeds, pinned dependencies — that is what makes the report evidence rather than anecdote.</a:t>
            </a:r>
            <a:endParaRPr lang="en-US" sz="13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822960"/>
            <a:ext cx="11064240" cy="5212080"/>
          </a:xfrm>
          <a:prstGeom prst="roundRect">
            <a:avLst>
              <a:gd name="adj" fmla="val 1404"/>
            </a:avLst>
          </a:prstGeom>
          <a:solidFill>
            <a:srgbClr val="F1F5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1234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 ·  DAY 3, HOUR 4  ·  LO6 (INTEGRATES LO1–LO5)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155448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0E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Forecasting Case Study</a:t>
            </a:r>
            <a:endParaRPr lang="en-US" sz="34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0E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Model Selection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301752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of this module is not a model. It is a recommendation with evidence — and its own stated limits. Model selection is a function of the use case, not a leaderboard.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06908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536192" y="4069080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decomposition, models, intervals and backtesting into one reproducible pipeline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45312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536192" y="4453128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model family under multi-dimensional real-world constraints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483717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536192" y="4837176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 accuracy against explainability, latency, compute and maintenance cost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522122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536192" y="5221224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 a recommendation from backtest and significance evidence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560527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3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536192" y="5605272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a forecast and its uncertainty to non-technical decision-makers</a:t>
            </a:r>
            <a:endParaRPr lang="en-US" sz="1250" dirty="0"/>
          </a:p>
        </p:txBody>
      </p:sp>
      <p:pic>
        <p:nvPicPr>
          <p:cNvPr id="16" name="Image 0" descr="/home/claude/tayyar/figures/D5_tradeoff_ra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371600"/>
            <a:ext cx="310896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 · THE MODEL-FAMILY TRADE-OFF SPACE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row dominates</a:t>
            </a:r>
            <a:endParaRPr lang="en-US" sz="30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44752"/>
          <a:ext cx="1106424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234440"/>
                <a:gridCol w="1828800"/>
                <a:gridCol w="1600200"/>
                <a:gridCol w="1737360"/>
                <a:gridCol w="1371600"/>
                <a:gridCol w="169164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Interval quality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 / latency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when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Seasonal-naive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(add conformal)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trivial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baseline, or a stable calendar-driven series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analytic, decent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fast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(automated)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 series, no covariates, interpretability needed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SARIMAX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medium-high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— a component story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analytic, native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(slow at large 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covariates plus explainability required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 + CQR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— importance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calibrated and sharp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to train, needs a feature store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(a pipeline)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rich covariates, scale, nonlinear interactions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" y="3840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constraints that override accuracy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66928" y="4187952"/>
            <a:ext cx="5440680" cy="768096"/>
          </a:xfrm>
          <a:prstGeom prst="roundRect">
            <a:avLst>
              <a:gd name="adj" fmla="val 714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68096" y="425196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/ latency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68096" y="448056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afternoon publication window caps fit + forecast time — this alone rules out refitting a large-m SARIMA per origin at serve time.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327648" y="4187952"/>
            <a:ext cx="5440680" cy="768096"/>
          </a:xfrm>
          <a:prstGeom prst="roundRect">
            <a:avLst>
              <a:gd name="adj" fmla="val 714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28816" y="425196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528816" y="448056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or control-room acceptance can require a component story, promoting SARIMAX or ETS at a real accuracy cost.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66928" y="5029200"/>
            <a:ext cx="5440680" cy="768096"/>
          </a:xfrm>
          <a:prstGeom prst="roundRect">
            <a:avLst>
              <a:gd name="adj" fmla="val 714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68096" y="509320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asymmetry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68096" y="5321808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under-forecasting is far costlier, selection should optimise a quantile or asymmetric loss — not symmetric MAE.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327648" y="5029200"/>
            <a:ext cx="5440680" cy="768096"/>
          </a:xfrm>
          <a:prstGeom prst="roundRect">
            <a:avLst>
              <a:gd name="adj" fmla="val 714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528816" y="509320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528816" y="5321808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feature pipeline is a standing liability. A thin accuracy gain loses on total cost of ownership.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66928" y="5870448"/>
            <a:ext cx="5440680" cy="768096"/>
          </a:xfrm>
          <a:prstGeom prst="roundRect">
            <a:avLst>
              <a:gd name="adj" fmla="val 714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68096" y="593445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Serve-time data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768096" y="6163056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covariate model needs FUTURE covariates. No temperature forecast, no SARIMAX-with-temperature.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327648" y="5870448"/>
            <a:ext cx="5440680" cy="768096"/>
          </a:xfrm>
          <a:prstGeom prst="roundRect">
            <a:avLst>
              <a:gd name="adj" fmla="val 7143"/>
            </a:avLst>
          </a:prstGeom>
          <a:solidFill>
            <a:srgbClr val="E7EFF7"/>
          </a:solidFill>
          <a:ln w="12700">
            <a:solidFill>
              <a:srgbClr val="E7EFF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28816" y="593445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528816" y="6163056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winning model is the one people will actually use during an unusual event at 02:00.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 · CONSTRAINT-DRIVEN SELECTION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series, same backtest, three different champions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44752"/>
            <a:ext cx="3520440" cy="3108960"/>
          </a:xfrm>
          <a:prstGeom prst="roundRect">
            <a:avLst>
              <a:gd name="adj" fmla="val 176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444752"/>
            <a:ext cx="3520440" cy="685800"/>
          </a:xfrm>
          <a:prstGeom prst="roundRect">
            <a:avLst>
              <a:gd name="adj" fmla="val 8000"/>
            </a:avLst>
          </a:prstGeom>
          <a:solidFill>
            <a:srgbClr val="1349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95528" y="150876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FE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95528" y="173736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2249424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 acc / explain / latency / maint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245059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4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 / 0.4 / 0.2 / 0.1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95528" y="2816352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795528" y="301752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SARIMAX + temperature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338328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3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Decisive constraint:  explainability + deadline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373075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published number must be defensible component by component. LightGBM is disqualified on serve-time feature-store dependency.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43400" y="1444752"/>
            <a:ext cx="3520440" cy="3108960"/>
          </a:xfrm>
          <a:prstGeom prst="roundRect">
            <a:avLst>
              <a:gd name="adj" fmla="val 176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43400" y="1444752"/>
            <a:ext cx="3520440" cy="685800"/>
          </a:xfrm>
          <a:prstGeom prst="roundRect">
            <a:avLst>
              <a:gd name="adj" fmla="val 8000"/>
            </a:avLst>
          </a:prstGeom>
          <a:solidFill>
            <a:srgbClr val="1E7A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0" y="150876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FE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B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173736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dispatch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2249424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 acc / explain / latency / maint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245059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7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 / 0.1 / 0.2 / 0.1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0" y="2816352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0" y="301752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LightGBM + CQR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338328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Decisive constraint:  accuracy, DM-significant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373075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MASE 0.45, significantly better than the runner-up. Nobody outside the team reads the number.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19872" y="1444752"/>
            <a:ext cx="3520440" cy="3108960"/>
          </a:xfrm>
          <a:prstGeom prst="roundRect">
            <a:avLst>
              <a:gd name="adj" fmla="val 176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19872" y="1444752"/>
            <a:ext cx="3520440" cy="6858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348472" y="150876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FE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C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8348472" y="173736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operating areas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8348472" y="2249424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 acc / explain / latency / maint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8348472" y="245059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 / 0.1 / 0.2 / 0.4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348472" y="2816352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8348472" y="301752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LightGBM or ETS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8348472" y="338328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Decisive constraint:  maintenance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8348472" y="373075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hand-tuned models is four standing liabilities. A 0.2% accuracy loss buys three fewer models to maintain.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468172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record is six things, and none of them is a leaderboard position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66928" y="4974336"/>
            <a:ext cx="329184" cy="329184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66928" y="4974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1024128" y="49560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and its cost function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343400" y="4974336"/>
            <a:ext cx="329184" cy="329184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343400" y="4974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4800600" y="49560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candidates and the constraints applied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8119872" y="4974336"/>
            <a:ext cx="329184" cy="329184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119872" y="4974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8577072" y="49560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stated weights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66928" y="5468112"/>
            <a:ext cx="329184" cy="329184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66928" y="54681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1024128" y="544982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recommendation with its DM evidence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4343400" y="5468112"/>
            <a:ext cx="329184" cy="329184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343400" y="54681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4800600" y="544982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FLIP-CONDITIONS — what would have to change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8119872" y="5468112"/>
            <a:ext cx="329184" cy="329184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119872" y="54681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8577072" y="544982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monitoring contract and the fallback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566928" y="5998464"/>
            <a:ext cx="11064240" cy="676656"/>
          </a:xfrm>
          <a:prstGeom prst="roundRect">
            <a:avLst>
              <a:gd name="adj" fmla="val 8108"/>
            </a:avLst>
          </a:prstGeom>
          <a:solidFill>
            <a:srgbClr val="FDF3E3"/>
          </a:solidFill>
          <a:ln w="12700">
            <a:solidFill>
              <a:srgbClr val="FDF3E3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22960" y="5998464"/>
            <a:ext cx="105521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26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recommendation includes its own limits. State where the model loses and what you monitor — that candour is what earns adoption. A report that names the Eid weeks and ships a fallback should score above a silent, marginally sharper submission.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 · COMMUNICATING THE FORECAST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315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with the decision, not the model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5349240" cy="1874520"/>
          </a:xfrm>
          <a:prstGeom prst="roundRect">
            <a:avLst>
              <a:gd name="adj" fmla="val 2927"/>
            </a:avLst>
          </a:prstGeom>
          <a:solidFill>
            <a:srgbClr val="3A1F26"/>
          </a:solidFill>
          <a:ln w="12700">
            <a:solidFill>
              <a:srgbClr val="3A1F2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64592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2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NOT TO SEND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193852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2C9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“The p95 is 52,400 MW. MASE is 0.45 and marginal coverage is 0.90 on the held-out window.”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788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F2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is correct. Not one of them is a decision.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508760"/>
            <a:ext cx="5349240" cy="1874520"/>
          </a:xfrm>
          <a:prstGeom prst="roundRect">
            <a:avLst>
              <a:gd name="adj" fmla="val 2927"/>
            </a:avLst>
          </a:prstGeom>
          <a:solidFill>
            <a:srgbClr val="17352A"/>
          </a:solidFill>
          <a:ln w="12700">
            <a:solidFill>
              <a:srgbClr val="1735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01384" y="164592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D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SEND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501384" y="1938528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6EF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“Set spinning reserve to 52,400 MW. Expected peak is 49,900 MW at 15:00; the 2,500 MW gap is the honest uncertainty and it is widest on hot days. This covers all but about 5% of afternoons.”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3474720"/>
            <a:ext cx="7223760" cy="2834640"/>
          </a:xfrm>
          <a:prstGeom prst="roundRect">
            <a:avLst>
              <a:gd name="adj" fmla="val 1613"/>
            </a:avLst>
          </a:prstGeom>
          <a:solidFill>
            <a:srgbClr val="0D2136"/>
          </a:solidFill>
          <a:ln w="12700">
            <a:solidFill>
              <a:srgbClr val="0D213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593592"/>
            <a:ext cx="6912864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93"/>
              </a:lnSpc>
              <a:buNone/>
            </a:pPr>
            <a:r>
              <a:rPr lang="en-US" sz="84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RESERVE BRIEF — Tayyar day-ahead load forecast</a:t>
            </a:r>
            <a:endParaRPr lang="en-US" sz="840" dirty="0"/>
          </a:p>
          <a:p>
            <a:pPr indent="0" marL="0">
              <a:lnSpc>
                <a:spcPts val="1193"/>
              </a:lnSpc>
              <a:buNone/>
            </a:pPr>
            <a:r>
              <a:rPr lang="en-US" sz="84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Issued 2023-11-14 14:00 for the 24 hours beginning 2023-11-15 00:00</a:t>
            </a:r>
            <a:endParaRPr lang="en-US" sz="840" dirty="0"/>
          </a:p>
          <a:p>
            <a:pPr indent="0" marL="0">
              <a:lnSpc>
                <a:spcPts val="1193"/>
              </a:lnSpc>
              <a:buNone/>
            </a:pPr>
            <a:endParaRPr lang="en-US" sz="840" dirty="0"/>
          </a:p>
          <a:p>
            <a:pPr indent="0" marL="0">
              <a:lnSpc>
                <a:spcPts val="1193"/>
              </a:lnSpc>
              <a:buNone/>
            </a:pPr>
            <a:r>
              <a:rPr lang="en-US" sz="84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Expected peak demand          41,850 MW at 15:00</a:t>
            </a:r>
            <a:endParaRPr lang="en-US" sz="840" dirty="0"/>
          </a:p>
          <a:p>
            <a:pPr indent="0" marL="0">
              <a:lnSpc>
                <a:spcPts val="1193"/>
              </a:lnSpc>
              <a:buNone/>
            </a:pPr>
            <a:r>
              <a:rPr lang="en-US" sz="84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90% upper bound (p95)         43,470 MW</a:t>
            </a:r>
            <a:endParaRPr lang="en-US" sz="840" dirty="0"/>
          </a:p>
          <a:p>
            <a:pPr indent="0" marL="0">
              <a:lnSpc>
                <a:spcPts val="1193"/>
              </a:lnSpc>
              <a:buNone/>
            </a:pPr>
            <a:r>
              <a:rPr lang="en-US" sz="840" dirty="0">
                <a:solidFill>
                  <a:srgbClr val="6BC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Recommended spinning reserve   1,620 MW</a:t>
            </a:r>
            <a:endParaRPr lang="en-US" sz="840" dirty="0"/>
          </a:p>
          <a:p>
            <a:pPr indent="0" marL="0">
              <a:lnSpc>
                <a:spcPts val="1193"/>
              </a:lnSpc>
              <a:buNone/>
            </a:pPr>
            <a:r>
              <a:rPr lang="en-US" sz="84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= the p95 peak minus the expected peak: what we would need</a:t>
            </a:r>
            <a:endParaRPr lang="en-US" sz="840" dirty="0"/>
          </a:p>
          <a:p>
            <a:pPr indent="0" marL="0">
              <a:lnSpc>
                <a:spcPts val="1193"/>
              </a:lnSpc>
              <a:buNone/>
            </a:pPr>
            <a:r>
              <a:rPr lang="en-US" sz="84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tomorrow lands at the top of the interval.</a:t>
            </a:r>
            <a:endParaRPr lang="en-US" sz="840" dirty="0"/>
          </a:p>
          <a:p>
            <a:pPr indent="0" marL="0">
              <a:lnSpc>
                <a:spcPts val="1193"/>
              </a:lnSpc>
              <a:buNone/>
            </a:pPr>
            <a:endParaRPr lang="en-US" sz="840" dirty="0"/>
          </a:p>
          <a:p>
            <a:pPr indent="0" marL="0">
              <a:lnSpc>
                <a:spcPts val="1193"/>
              </a:lnSpc>
              <a:buNone/>
            </a:pPr>
            <a:r>
              <a:rPr lang="en-US" sz="84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Confidence: over the last 60 backtested days this interval</a:t>
            </a:r>
            <a:endParaRPr lang="en-US" sz="840" dirty="0"/>
          </a:p>
          <a:p>
            <a:pPr indent="0" marL="0">
              <a:lnSpc>
                <a:spcPts val="1193"/>
              </a:lnSpc>
              <a:buNone/>
            </a:pPr>
            <a:r>
              <a:rPr lang="en-US" sz="840" dirty="0">
                <a:solidFill>
                  <a:srgbClr val="CF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contained the actual demand 90% of the time (target 90%).</a:t>
            </a:r>
            <a:endParaRPr lang="en-US" sz="840" dirty="0"/>
          </a:p>
          <a:p>
            <a:pPr indent="0" marL="0">
              <a:lnSpc>
                <a:spcPts val="1193"/>
              </a:lnSpc>
              <a:buNone/>
            </a:pPr>
            <a:endParaRPr lang="en-US" sz="840" dirty="0"/>
          </a:p>
          <a:p>
            <a:pPr indent="0" marL="0">
              <a:lnSpc>
                <a:spcPts val="1193"/>
              </a:lnSpc>
              <a:buNone/>
            </a:pPr>
            <a:r>
              <a:rPr lang="en-US" sz="84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this forecast is weakest: Eid weeks, and summer</a:t>
            </a:r>
            <a:endParaRPr lang="en-US" sz="840" dirty="0"/>
          </a:p>
          <a:p>
            <a:pPr indent="0" marL="0">
              <a:lnSpc>
                <a:spcPts val="1193"/>
              </a:lnSpc>
              <a:buNone/>
            </a:pPr>
            <a:r>
              <a:rPr lang="en-US" sz="84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afternoons where conditional coverage falls to 0.85.</a:t>
            </a:r>
            <a:endParaRPr lang="en-US" sz="840" dirty="0"/>
          </a:p>
          <a:p>
            <a:pPr indent="0" marL="0">
              <a:lnSpc>
                <a:spcPts val="1193"/>
              </a:lnSpc>
              <a:buNone/>
            </a:pPr>
            <a:r>
              <a:rPr lang="en-US" sz="84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Fallback: the seasonal-naive forecast, which handles the</a:t>
            </a:r>
            <a:endParaRPr lang="en-US" sz="840" dirty="0"/>
          </a:p>
          <a:p>
            <a:pPr indent="0" marL="0">
              <a:lnSpc>
                <a:spcPts val="1193"/>
              </a:lnSpc>
              <a:buNone/>
            </a:pPr>
            <a:r>
              <a:rPr lang="en-US" sz="840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holiday shift correctly. Monitored weekly on MASE + coverage.</a:t>
            </a:r>
            <a:endParaRPr lang="en-US" sz="840" dirty="0"/>
          </a:p>
        </p:txBody>
      </p:sp>
      <p:sp>
        <p:nvSpPr>
          <p:cNvPr id="13" name="Text 11"/>
          <p:cNvSpPr txBox="1"/>
          <p:nvPr/>
        </p:nvSpPr>
        <p:spPr>
          <a:xfrm>
            <a:off x="8001000" y="3566160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rules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001000" y="3858768"/>
            <a:ext cx="363016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the decision, not the model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interval as risk, not as hedging — its width IS the honest uncertainty, and narrowing it dishonestly costs load-shedding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known weaknesses and the fallback. Trust survives the first miss only if you predicted it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is a story, never a causal claim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645920"/>
            <a:ext cx="5486400" cy="54864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4173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CAPSTONE PROJECT · 40% OF THE COURSE GRADE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78308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Tayyar — a backtested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day-ahead forecasting service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611880"/>
            <a:ext cx="9692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operations-planning unit has asked for a production-ready day-ahead pipeline for the Central Operating Area, plus a backtest report it can put in front of the regulator and the control room.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0749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i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repository IS the evidence: a stranger should clone it, run one command, and reproduce every number in your report.</a:t>
            </a:r>
            <a:endParaRPr lang="en-US" sz="1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· SCOPE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mandatory requirements, one extension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44752"/>
            <a:ext cx="795528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545336"/>
            <a:ext cx="384048" cy="384048"/>
          </a:xfrm>
          <a:prstGeom prst="ellipse">
            <a:avLst/>
          </a:prstGeom>
          <a:solidFill>
            <a:srgbClr val="13497B"/>
          </a:solidFill>
          <a:ln w="12700">
            <a:solidFill>
              <a:srgbClr val="13497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45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4813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reproducible pipeline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174650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LO1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146304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src/tayyar package running end to end from a committed config. Fixed splits and seeds, pinned dependencies, one command regenerates every reported number.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6928" y="2084832"/>
            <a:ext cx="7955280" cy="585216"/>
          </a:xfrm>
          <a:prstGeom prst="roundRect">
            <a:avLst>
              <a:gd name="adj" fmla="val 937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2185416"/>
            <a:ext cx="384048" cy="384048"/>
          </a:xfrm>
          <a:prstGeom prst="ellipse">
            <a:avLst/>
          </a:prstGeom>
          <a:solidFill>
            <a:srgbClr val="13497B"/>
          </a:solidFill>
          <a:ln w="12700">
            <a:solidFill>
              <a:srgbClr val="13497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3232" y="2185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207008" y="21214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 &amp; diagnostics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207008" y="238658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LO1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3611880" y="210312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tz-aware hourly index with explicit frequency and gap policy. MSTL with reported daily and weekly strengths. Stationarity report with (d, D) justified.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66928" y="2724912"/>
            <a:ext cx="795528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2825496"/>
            <a:ext cx="384048" cy="384048"/>
          </a:xfrm>
          <a:prstGeom prst="ellipse">
            <a:avLst/>
          </a:prstGeom>
          <a:solidFill>
            <a:srgbClr val="13497B"/>
          </a:solidFill>
          <a:ln w="12700">
            <a:solidFill>
              <a:srgbClr val="13497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3232" y="2825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207008" y="27614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three model families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207008" y="302666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LO2 LO3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3611880" y="274320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Seasonal-naive baseline, one classical model (SARIMAX with temperature, or ETS), one feature-based ML model. All leakage-safe and reproducible.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66928" y="3364992"/>
            <a:ext cx="7955280" cy="585216"/>
          </a:xfrm>
          <a:prstGeom prst="roundRect">
            <a:avLst>
              <a:gd name="adj" fmla="val 937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465576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3232" y="3465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207008" y="34015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probabilistic forecast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207008" y="366674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LO5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3611880" y="338328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90% day-ahead interval with empirical coverage in 0.88–0.92 on the held-out window. Coverage reported marginally AND by hour-of-day.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66928" y="4005072"/>
            <a:ext cx="795528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3232" y="4105656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13232" y="4105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207008" y="40416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Rolling-origin backtest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207008" y="430682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LO4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3611880" y="40233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50 origins, refit each origin, 24 h horizon, no leakage. MASE, a % metric, coverage and pinball per model, with a per-origin breakdown flagging Eid and heatwave weeks.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66928" y="4645152"/>
            <a:ext cx="7955280" cy="585216"/>
          </a:xfrm>
          <a:prstGeom prst="roundRect">
            <a:avLst>
              <a:gd name="adj" fmla="val 937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3232" y="4745736"/>
            <a:ext cx="384048" cy="384048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13232" y="4745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1207008" y="46817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Model-selection decision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1207008" y="494690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LO6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3611880" y="466344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DECISION_RECORD.md: one production model recommended with a Diebold-Mariano test over the runner-up, stated constraints and weights, flip-conditions, a fallback, and a monitoring contract.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66928" y="5285232"/>
            <a:ext cx="795528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13232" y="5385816"/>
            <a:ext cx="384048" cy="384048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13232" y="5385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1207008" y="53218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&amp; communication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1207008" y="558698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LO5 LO6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3611880" y="530352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BACKTEST_REPORT.md an operator would accept — the table, the decision, the known limits — plus a decision-language reserve brief with no unexplained jargon.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778240" y="1444752"/>
            <a:ext cx="2852928" cy="4617720"/>
          </a:xfrm>
          <a:prstGeom prst="roundRect">
            <a:avLst>
              <a:gd name="adj" fmla="val 1923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006840" y="15819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EXTENSION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9006840" y="194767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Multi-area global model across all four operating areas, backtested per area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9006840" y="277063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Adaptive conformal (ACI / EnbPI) — show improved CONDITIONAL summer-afternoon coverage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9006840" y="359359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Weather-uncertainty propagation: widen the interval for temperature-forecast error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9006840" y="441655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Automated retraining trigger, with a test proving it fires on injected drift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9006840" y="523951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Champion / challenger harness that continuously re-evaluates against the incumbent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66928" y="6062472"/>
            <a:ext cx="7955280" cy="548640"/>
          </a:xfrm>
          <a:prstGeom prst="roundRect">
            <a:avLst>
              <a:gd name="adj" fmla="val 10000"/>
            </a:avLst>
          </a:prstGeom>
          <a:solidFill>
            <a:srgbClr val="FDF3E3"/>
          </a:solidFill>
          <a:ln w="12700">
            <a:solidFill>
              <a:srgbClr val="FDF3E3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04672" y="606247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26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extension adds up to +5 bonus, capped at 100, and only if mandatory scope scores ≥ 80. Pass ≥ 70. Distinction ≥ 90.</a:t>
            </a:r>
            <a:endParaRPr lang="en-US" sz="11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· RUBRIC AND ANTI-PATTERN FLAGS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is graded — and what caps a criterion at 70%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44752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57200"/>
                <a:gridCol w="4434840"/>
                <a:gridCol w="38862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90–100%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70%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Data, index &amp; decomposition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tz-aware frequency, gap policy, MSTL with justified strengths and transform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Broken index, silent gaps, wrong period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Stationarity &amp; modelling rigour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ADF + KPSS reconciled, minimal differencing, ≥ 3 families all leak-safe and diagnosed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Leakage present, no baseline, or invalid AIC comparisons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engineering (leakage-safe)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assert_no_leakage PASS; lags from the ACF; .shift(1) rolling; Hijri calendar correct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Shuffle split or centred window survives; future exog used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Probabilistic calibration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 0.88–0.92 marginal AND conditional; CQR justified; sharpest at target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 where a prediction interval belongs; coverage off target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Backtesting validity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50 origins, refit each, no leak, MASE + coverage + pinball + breakdown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Fit-once or in-sample scoring; a single split; no baseline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E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selection &amp; evidence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DM-significant choice, weights stated, flip-conditions + fallback + monitoring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Lowest-MAE pick with no significance test and no stated limits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Report, brief &amp; reproducibility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One-command reproduction; decision-language brief; auditor-ready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E1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Irreproducible; jargon-only; numbers not regenerable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" y="4901184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1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Anti-pattern flags — any one of these caps its criterion at 70%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66928" y="5221224"/>
            <a:ext cx="3566160" cy="475488"/>
          </a:xfrm>
          <a:prstGeom prst="roundRect">
            <a:avLst>
              <a:gd name="adj" fmla="val 11538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221224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1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 train_test_split(shuffle=True), anywhere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343400" y="5221224"/>
            <a:ext cx="3566160" cy="475488"/>
          </a:xfrm>
          <a:prstGeom prst="roundRect">
            <a:avLst>
              <a:gd name="adj" fmla="val 11538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07992" y="5221224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1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 a centred rolling feature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119872" y="5221224"/>
            <a:ext cx="3566160" cy="475488"/>
          </a:xfrm>
          <a:prstGeom prst="roundRect">
            <a:avLst>
              <a:gd name="adj" fmla="val 11538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84464" y="5221224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1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 a "backtest" that scores in-sample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66928" y="5724144"/>
            <a:ext cx="3566160" cy="475488"/>
          </a:xfrm>
          <a:prstGeom prst="roundRect">
            <a:avLst>
              <a:gd name="adj" fmla="val 11538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5724144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1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 MAPE reported without MASE or a baseline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343400" y="5724144"/>
            <a:ext cx="3566160" cy="475488"/>
          </a:xfrm>
          <a:prstGeom prst="roundRect">
            <a:avLst>
              <a:gd name="adj" fmla="val 11538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07992" y="5724144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1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 a champion declared on a sub-1% gap with no Diebold-Mariano test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119872" y="5724144"/>
            <a:ext cx="3566160" cy="475488"/>
          </a:xfrm>
          <a:prstGeom prst="roundRect">
            <a:avLst>
              <a:gd name="adj" fmla="val 11538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84464" y="5724144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1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 a confidence interval where a prediction interval is required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66928" y="629107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E7EFF7"/>
          </a:solidFill>
          <a:ln w="12700">
            <a:solidFill>
              <a:srgbClr val="E7EFF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04672" y="6291072"/>
            <a:ext cx="10552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from the repository and its reproducibility FIRST — clone it, run the one command, check the numbers regenerate — then the demo. Verify one calibration claim live: ask for empirical coverage on the held-out window, broken down by hour-of-day.</a:t>
            </a:r>
            <a:endParaRPr lang="en-US" sz="1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PACKAGE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Milestones, gates and the rest of the grade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4475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milestones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810512"/>
            <a:ext cx="548640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956816"/>
            <a:ext cx="566928" cy="384048"/>
          </a:xfrm>
          <a:prstGeom prst="roundRect">
            <a:avLst>
              <a:gd name="adj" fmla="val 11905"/>
            </a:avLst>
          </a:prstGeom>
          <a:solidFill>
            <a:srgbClr val="1349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956816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M-A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389888" y="186537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series + decomposition + stationarity report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389888" y="21488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 index / gaps / strengths spot-check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1810512"/>
            <a:ext cx="12070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Day 1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2560320"/>
            <a:ext cx="5486400" cy="676656"/>
          </a:xfrm>
          <a:prstGeom prst="roundRect">
            <a:avLst>
              <a:gd name="adj" fmla="val 810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" y="2706624"/>
            <a:ext cx="566928" cy="384048"/>
          </a:xfrm>
          <a:prstGeom prst="roundRect">
            <a:avLst>
              <a:gd name="adj" fmla="val 11905"/>
            </a:avLst>
          </a:prstGeom>
          <a:solidFill>
            <a:srgbClr val="1349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2706624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M-B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1389888" y="261518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+ ML models producing 24 h forecasts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389888" y="28986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 leak check PASS; forecast vs actual plotted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709160" y="2560320"/>
            <a:ext cx="12070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Day 2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3310128"/>
            <a:ext cx="548640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3456432"/>
            <a:ext cx="566928" cy="384048"/>
          </a:xfrm>
          <a:prstGeom prst="roundRect">
            <a:avLst>
              <a:gd name="adj" fmla="val 11905"/>
            </a:avLst>
          </a:prstGeom>
          <a:solidFill>
            <a:srgbClr val="1349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3232" y="345643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M-C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1389888" y="336499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90% interval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1389888" y="364845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 coverage 0.88–0.92 on the held-out window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709160" y="3310128"/>
            <a:ext cx="12070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H1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66928" y="4059936"/>
            <a:ext cx="5486400" cy="676656"/>
          </a:xfrm>
          <a:prstGeom prst="roundRect">
            <a:avLst>
              <a:gd name="adj" fmla="val 810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" y="4206240"/>
            <a:ext cx="566928" cy="384048"/>
          </a:xfrm>
          <a:prstGeom prst="roundRect">
            <a:avLst>
              <a:gd name="adj" fmla="val 11905"/>
            </a:avLst>
          </a:prstGeom>
          <a:solidFill>
            <a:srgbClr val="1349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3232" y="420624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M-D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1389888" y="411480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Rolling-origin backtest + DM selection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1389888" y="439826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 ≥ 50 origins, no leak, champion chosen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4709160" y="4059936"/>
            <a:ext cx="12070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H3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66928" y="4809744"/>
            <a:ext cx="548640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3232" y="4956048"/>
            <a:ext cx="566928" cy="384048"/>
          </a:xfrm>
          <a:prstGeom prst="roundRect">
            <a:avLst>
              <a:gd name="adj" fmla="val 11905"/>
            </a:avLst>
          </a:prstGeom>
          <a:solidFill>
            <a:srgbClr val="0B2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13232" y="495604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M-E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389888" y="486460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record + extension + demo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1389888" y="514807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 rubric scoring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4709160" y="4809744"/>
            <a:ext cx="12070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H5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6309360" y="144475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 of the grade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6309360" y="1810512"/>
            <a:ext cx="5321808" cy="676656"/>
          </a:xfrm>
          <a:prstGeom prst="roundRect">
            <a:avLst>
              <a:gd name="adj" fmla="val 810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92240" y="1810512"/>
            <a:ext cx="868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49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2200" dirty="0"/>
          </a:p>
        </p:txBody>
      </p:sp>
      <p:sp>
        <p:nvSpPr>
          <p:cNvPr id="38" name="Text 36"/>
          <p:cNvSpPr txBox="1"/>
          <p:nvPr/>
        </p:nvSpPr>
        <p:spPr>
          <a:xfrm>
            <a:off x="7452360" y="18745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completion (7 labs)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7452360" y="2148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commits + expected outputs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309360" y="2560320"/>
            <a:ext cx="5321808" cy="676656"/>
          </a:xfrm>
          <a:prstGeom prst="roundRect">
            <a:avLst>
              <a:gd name="adj" fmla="val 810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92240" y="2560320"/>
            <a:ext cx="868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2200" dirty="0"/>
          </a:p>
        </p:txBody>
      </p:sp>
      <p:sp>
        <p:nvSpPr>
          <p:cNvPr id="42" name="Text 40"/>
          <p:cNvSpPr txBox="1"/>
          <p:nvPr/>
        </p:nvSpPr>
        <p:spPr>
          <a:xfrm>
            <a:off x="7452360" y="26243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PA-1 + PA-2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7452360" y="28986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artefacts + diagnosis notes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309360" y="3310128"/>
            <a:ext cx="5321808" cy="676656"/>
          </a:xfrm>
          <a:prstGeom prst="roundRect">
            <a:avLst>
              <a:gd name="adj" fmla="val 810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492240" y="3310128"/>
            <a:ext cx="868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2200" dirty="0"/>
          </a:p>
        </p:txBody>
      </p:sp>
      <p:sp>
        <p:nvSpPr>
          <p:cNvPr id="46" name="Text 44"/>
          <p:cNvSpPr txBox="1"/>
          <p:nvPr/>
        </p:nvSpPr>
        <p:spPr>
          <a:xfrm>
            <a:off x="7452360" y="337413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(10 of 20 questions)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7452360" y="364845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minutes, closed book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309360" y="4059936"/>
            <a:ext cx="5321808" cy="676656"/>
          </a:xfrm>
          <a:prstGeom prst="roundRect">
            <a:avLst>
              <a:gd name="adj" fmla="val 810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492240" y="4059936"/>
            <a:ext cx="868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2200" dirty="0"/>
          </a:p>
        </p:txBody>
      </p:sp>
      <p:sp>
        <p:nvSpPr>
          <p:cNvPr id="50" name="Text 48"/>
          <p:cNvSpPr txBox="1"/>
          <p:nvPr/>
        </p:nvSpPr>
        <p:spPr>
          <a:xfrm>
            <a:off x="7452360" y="412394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7452360" y="439826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rubric, repository-first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309360" y="4809744"/>
            <a:ext cx="5321808" cy="914400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 w="12700">
            <a:solidFill>
              <a:srgbClr val="FDF3E3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528816" y="4809744"/>
            <a:ext cx="4882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26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PA-1 (Day 1, 30 min): clean a messy CSV and fix a broken decompose script.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26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PA-2 (Day 2, 30 min): a notebook reports 0.6% MAPE. Find and fix BOTH planted leaks, then report the honest post-fix accuracy.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566928" y="5879592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822960" y="5879592"/>
            <a:ext cx="105521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badge requires ≥ 70 overall AND capstone ≥ 70 AND zero academic-integrity flags. Identical backtest tables or decision records across repositories are checked — the backtest must reproduce from each repository's own config.</a:t>
            </a:r>
            <a:endParaRPr lang="en-US" sz="11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· DAY 3, FINAL 15 MINUTES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capstone requirement traces to a module</a:t>
            </a:r>
            <a:endParaRPr lang="en-US" sz="3000" dirty="0"/>
          </a:p>
        </p:txBody>
      </p:sp>
      <p:pic>
        <p:nvPicPr>
          <p:cNvPr id="4" name="Image 0" descr="/home/claude/tayyar/figures/D6_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335024"/>
            <a:ext cx="9692640" cy="22037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" y="3657600"/>
            <a:ext cx="1463040" cy="749808"/>
          </a:xfrm>
          <a:prstGeom prst="roundRect">
            <a:avLst>
              <a:gd name="adj" fmla="val 731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66928" y="37307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76656" y="3986784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167128" y="3657600"/>
            <a:ext cx="1463040" cy="749808"/>
          </a:xfrm>
          <a:prstGeom prst="roundRect">
            <a:avLst>
              <a:gd name="adj" fmla="val 731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167128" y="37307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2276856" y="3986784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Stationarity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767328" y="3657600"/>
            <a:ext cx="1463040" cy="749808"/>
          </a:xfrm>
          <a:prstGeom prst="roundRect">
            <a:avLst>
              <a:gd name="adj" fmla="val 731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767328" y="37307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3877056" y="3986784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models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367528" y="3657600"/>
            <a:ext cx="1463040" cy="749808"/>
          </a:xfrm>
          <a:prstGeom prst="roundRect">
            <a:avLst>
              <a:gd name="adj" fmla="val 731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367528" y="37307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5477256" y="3986784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Leakage-safe features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967728" y="3657600"/>
            <a:ext cx="1463040" cy="749808"/>
          </a:xfrm>
          <a:prstGeom prst="roundRect">
            <a:avLst>
              <a:gd name="adj" fmla="val 731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967728" y="37307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077456" y="3986784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intervals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8567928" y="3657600"/>
            <a:ext cx="1463040" cy="749808"/>
          </a:xfrm>
          <a:prstGeom prst="roundRect">
            <a:avLst>
              <a:gd name="adj" fmla="val 731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567928" y="37307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8677656" y="3986784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Rolling-origin backtest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10168128" y="3657600"/>
            <a:ext cx="1463040" cy="749808"/>
          </a:xfrm>
          <a:prstGeom prst="roundRect">
            <a:avLst>
              <a:gd name="adj" fmla="val 731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0168128" y="37307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277856" y="3986784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&amp; decision record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566928" y="4572000"/>
            <a:ext cx="11064240" cy="896112"/>
          </a:xfrm>
          <a:prstGeom prst="roundRect">
            <a:avLst>
              <a:gd name="adj" fmla="val 6122"/>
            </a:avLst>
          </a:prstGeom>
          <a:solidFill>
            <a:srgbClr val="E7EFF7"/>
          </a:solidFill>
          <a:ln w="12700">
            <a:solidFill>
              <a:srgbClr val="E7EFF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41248" y="4572000"/>
            <a:ext cx="10515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i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Respect the arrow of time, so every reported accuracy number would survive contact with the future. The leakage-safe features, the time-aware backtest and the calibrated intervals are three faces of that one discipline.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563270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goes next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5852160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SDA-DSC-311 builds directly on this pipeline</a:t>
            </a:r>
            <a:endParaRPr lang="en-US" sz="10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SDA-DSC-213 Experimentation &amp; Causal Inference is the sibling skill — what actually WORKS, which forecasting alone cannot answer</a:t>
            </a:r>
            <a:endParaRPr lang="en-US" sz="10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Forecasting badge is issued within 5 working days of collecting the repositories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6309360" y="5632704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1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before anyone leaves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6309360" y="5852160"/>
            <a:ext cx="5303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URLs</a:t>
            </a:r>
            <a:endParaRPr lang="en-US" sz="10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BACKTEST_REPORT.md</a:t>
            </a:r>
            <a:endParaRPr lang="en-US" sz="10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DECISION_RECORD.md</a:t>
            </a:r>
            <a:endParaRPr lang="en-US" sz="10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E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BENCHMARKS.md filled from their own runs</a:t>
            </a:r>
            <a:endParaRPr lang="en-US" sz="10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828800"/>
            <a:ext cx="6766560" cy="6766560"/>
          </a:xfrm>
          <a:prstGeom prst="ellipse">
            <a:avLst/>
          </a:prstGeom>
          <a:solidFill>
            <a:srgbClr val="1349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828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SDA-DSC-212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286000"/>
            <a:ext cx="8686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forecast's accuracy claim</a:t>
            </a:r>
            <a:endParaRPr lang="en-US" sz="38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must survive contact</a:t>
            </a:r>
            <a:endParaRPr lang="en-US" sz="38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the future.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4805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FB8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backtest is that survival, made auditable.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80644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Academy  ·  Capacity Building Sector  ·  Data Scientist Track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Saudi Data and Artificial Intelligence Authority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SDA-DSC-212 — Time Series Analysis and Forecasting</dc:title>
  <dc:subject>Instructor training deck, 3 days / 15 hours</dc:subject>
  <dc:creator>SDAIA Academy</dc:creator>
  <cp:lastModifiedBy>SDAIA Academy</cp:lastModifiedBy>
  <cp:revision>1</cp:revision>
  <dcterms:created xsi:type="dcterms:W3CDTF">2026-09-02T08:04:46Z</dcterms:created>
  <dcterms:modified xsi:type="dcterms:W3CDTF">2026-09-02T08:04:46Z</dcterms:modified>
</cp:coreProperties>
</file>