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slides/charts/chart2.xml" ContentType="application/vnd.openxmlformats-officedocument.drawingml.chart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slides/charts/chart3.xml" ContentType="application/vnd.openxmlformats-officedocument.drawingml.chart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slides/charts/chart4.xml" ContentType="application/vnd.openxmlformats-officedocument.drawingml.chart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slides/charts/chart5.xml" ContentType="application/vnd.openxmlformats-officedocument.drawingml.chart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slides/charts/chart6.xml" ContentType="application/vnd.openxmlformats-officedocument.drawingml.chart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d15bec80734e8c" /><Relationship Type="http://schemas.openxmlformats.org/officeDocument/2006/relationships/extended-properties" Target="/docProps/app.xml" Id="Ref0092c1cb0342f8" /><Relationship Type="http://schemas.openxmlformats.org/officeDocument/2006/relationships/officeDocument" Target="/ppt/presentation.xml" Id="R9887675d6dbb49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5a6fa645b84601"/>
  </p:sldMasterIdLst>
  <p:notesMasterIdLst>
    <p:notesMasterId xmlns:r="http://schemas.openxmlformats.org/officeDocument/2006/relationships" r:id="Ra2b4d50e916d4c47"/>
  </p:notesMasterIdLst>
  <p:sldIdLst>
    <p:sldId xmlns:r="http://schemas.openxmlformats.org/officeDocument/2006/relationships" id="256" r:id="Ra1e4b0c430f742c5"/>
    <p:sldId xmlns:r="http://schemas.openxmlformats.org/officeDocument/2006/relationships" id="257" r:id="R46b8cc3705374aef"/>
    <p:sldId xmlns:r="http://schemas.openxmlformats.org/officeDocument/2006/relationships" id="258" r:id="R1f97e00db738431a"/>
    <p:sldId xmlns:r="http://schemas.openxmlformats.org/officeDocument/2006/relationships" id="259" r:id="R0e879e9900034718"/>
    <p:sldId xmlns:r="http://schemas.openxmlformats.org/officeDocument/2006/relationships" id="260" r:id="R92873c24de4c48a4"/>
    <p:sldId xmlns:r="http://schemas.openxmlformats.org/officeDocument/2006/relationships" id="261" r:id="R49d407d853e5494c"/>
    <p:sldId xmlns:r="http://schemas.openxmlformats.org/officeDocument/2006/relationships" id="262" r:id="Raee7b7a2c4544e4c"/>
    <p:sldId xmlns:r="http://schemas.openxmlformats.org/officeDocument/2006/relationships" id="263" r:id="R7d592bb3bd95463b"/>
    <p:sldId xmlns:r="http://schemas.openxmlformats.org/officeDocument/2006/relationships" id="264" r:id="R9929d1bed79443fd"/>
    <p:sldId xmlns:r="http://schemas.openxmlformats.org/officeDocument/2006/relationships" id="265" r:id="R9059ae3cce1042fc"/>
    <p:sldId xmlns:r="http://schemas.openxmlformats.org/officeDocument/2006/relationships" id="266" r:id="R2da1e65f645d46e0"/>
    <p:sldId xmlns:r="http://schemas.openxmlformats.org/officeDocument/2006/relationships" id="267" r:id="R90e8259eb76d4c29"/>
    <p:sldId xmlns:r="http://schemas.openxmlformats.org/officeDocument/2006/relationships" id="268" r:id="R3e7908ee7b874922"/>
    <p:sldId xmlns:r="http://schemas.openxmlformats.org/officeDocument/2006/relationships" id="269" r:id="R40ebdcef325044bb"/>
    <p:sldId xmlns:r="http://schemas.openxmlformats.org/officeDocument/2006/relationships" id="270" r:id="Rf34452ecb08944ae"/>
    <p:sldId xmlns:r="http://schemas.openxmlformats.org/officeDocument/2006/relationships" id="271" r:id="Rff592e5cb43e4638"/>
    <p:sldId xmlns:r="http://schemas.openxmlformats.org/officeDocument/2006/relationships" id="272" r:id="R21827c63fb73478d"/>
    <p:sldId xmlns:r="http://schemas.openxmlformats.org/officeDocument/2006/relationships" id="273" r:id="Refe2e3ad3a1a4997"/>
    <p:sldId xmlns:r="http://schemas.openxmlformats.org/officeDocument/2006/relationships" id="274" r:id="R3b0c1797b7da4476"/>
    <p:sldId xmlns:r="http://schemas.openxmlformats.org/officeDocument/2006/relationships" id="275" r:id="Rebfcfab46727442e"/>
    <p:sldId xmlns:r="http://schemas.openxmlformats.org/officeDocument/2006/relationships" id="276" r:id="Rd591ba9b26b94d87"/>
    <p:sldId xmlns:r="http://schemas.openxmlformats.org/officeDocument/2006/relationships" id="277" r:id="Rf28bfaf080f440dd"/>
    <p:sldId xmlns:r="http://schemas.openxmlformats.org/officeDocument/2006/relationships" id="278" r:id="R11dc3d1e753542ca"/>
    <p:sldId xmlns:r="http://schemas.openxmlformats.org/officeDocument/2006/relationships" id="279" r:id="R827af6ffbea74421"/>
    <p:sldId xmlns:r="http://schemas.openxmlformats.org/officeDocument/2006/relationships" id="280" r:id="Rda0f9d5de94c409c"/>
    <p:sldId xmlns:r="http://schemas.openxmlformats.org/officeDocument/2006/relationships" id="281" r:id="R06c629081ca1493e"/>
    <p:sldId xmlns:r="http://schemas.openxmlformats.org/officeDocument/2006/relationships" id="282" r:id="R107d0e8c491d44f4"/>
    <p:sldId xmlns:r="http://schemas.openxmlformats.org/officeDocument/2006/relationships" id="283" r:id="R36b601700d79434a"/>
    <p:sldId xmlns:r="http://schemas.openxmlformats.org/officeDocument/2006/relationships" id="284" r:id="R08eda91fef114646"/>
    <p:sldId xmlns:r="http://schemas.openxmlformats.org/officeDocument/2006/relationships" id="285" r:id="Rfdc9cdfc7ce04928"/>
    <p:sldId xmlns:r="http://schemas.openxmlformats.org/officeDocument/2006/relationships" id="286" r:id="Re9bc2f2c29c945ac"/>
    <p:sldId xmlns:r="http://schemas.openxmlformats.org/officeDocument/2006/relationships" id="287" r:id="Re07e92f732b14bea"/>
    <p:sldId xmlns:r="http://schemas.openxmlformats.org/officeDocument/2006/relationships" id="288" r:id="Rb25a86a968e34827"/>
    <p:sldId xmlns:r="http://schemas.openxmlformats.org/officeDocument/2006/relationships" id="289" r:id="R01ce2b1113dc4dfe"/>
    <p:sldId xmlns:r="http://schemas.openxmlformats.org/officeDocument/2006/relationships" id="290" r:id="R91ffd89024764d3a"/>
    <p:sldId xmlns:r="http://schemas.openxmlformats.org/officeDocument/2006/relationships" id="291" r:id="Rf6313526e44a4270"/>
    <p:sldId xmlns:r="http://schemas.openxmlformats.org/officeDocument/2006/relationships" id="292" r:id="R2a57206855954988"/>
    <p:sldId xmlns:r="http://schemas.openxmlformats.org/officeDocument/2006/relationships" id="293" r:id="R993d910588f149dc"/>
    <p:sldId xmlns:r="http://schemas.openxmlformats.org/officeDocument/2006/relationships" id="294" r:id="Rd362efc2fc05451e"/>
    <p:sldId xmlns:r="http://schemas.openxmlformats.org/officeDocument/2006/relationships" id="295" r:id="R6add59757e7b47c7"/>
    <p:sldId xmlns:r="http://schemas.openxmlformats.org/officeDocument/2006/relationships" id="296" r:id="R94c495040b9c41c4"/>
    <p:sldId xmlns:r="http://schemas.openxmlformats.org/officeDocument/2006/relationships" id="297" r:id="R29e4f2ee704141ce"/>
    <p:sldId xmlns:r="http://schemas.openxmlformats.org/officeDocument/2006/relationships" id="298" r:id="R5f971c1369564f92"/>
    <p:sldId xmlns:r="http://schemas.openxmlformats.org/officeDocument/2006/relationships" id="299" r:id="R4ca65d12d6d046c8"/>
    <p:sldId xmlns:r="http://schemas.openxmlformats.org/officeDocument/2006/relationships" id="300" r:id="Rba298d3e55a54769"/>
    <p:sldId xmlns:r="http://schemas.openxmlformats.org/officeDocument/2006/relationships" id="301" r:id="Rd1a94b35ebf94431"/>
    <p:sldId xmlns:r="http://schemas.openxmlformats.org/officeDocument/2006/relationships" id="302" r:id="R05b7193e3713422f"/>
    <p:sldId xmlns:r="http://schemas.openxmlformats.org/officeDocument/2006/relationships" id="303" r:id="R305dbcb0884746a3"/>
    <p:sldId xmlns:r="http://schemas.openxmlformats.org/officeDocument/2006/relationships" id="304" r:id="Rc74946b95f464a63"/>
    <p:sldId xmlns:r="http://schemas.openxmlformats.org/officeDocument/2006/relationships" id="305" r:id="R179fd4f5c065428d"/>
    <p:sldId xmlns:r="http://schemas.openxmlformats.org/officeDocument/2006/relationships" id="306" r:id="R1b75c6e01f174f5c"/>
    <p:sldId xmlns:r="http://schemas.openxmlformats.org/officeDocument/2006/relationships" id="307" r:id="R52ac5da79f434b13"/>
    <p:sldId xmlns:r="http://schemas.openxmlformats.org/officeDocument/2006/relationships" id="308" r:id="R55608873b7c149d4"/>
    <p:sldId xmlns:r="http://schemas.openxmlformats.org/officeDocument/2006/relationships" id="309" r:id="R3b0a7b09e4674374"/>
    <p:sldId xmlns:r="http://schemas.openxmlformats.org/officeDocument/2006/relationships" id="310" r:id="Rc9e05a4f7f6c441f"/>
    <p:sldId xmlns:r="http://schemas.openxmlformats.org/officeDocument/2006/relationships" id="311" r:id="R5d66009c4ac44e7a"/>
    <p:sldId xmlns:r="http://schemas.openxmlformats.org/officeDocument/2006/relationships" id="312" r:id="Rf0db9975f1854986"/>
    <p:sldId xmlns:r="http://schemas.openxmlformats.org/officeDocument/2006/relationships" id="313" r:id="R1cc11e2a8ac94dd0"/>
    <p:sldId xmlns:r="http://schemas.openxmlformats.org/officeDocument/2006/relationships" id="314" r:id="R8b9354968d7145c1"/>
    <p:sldId xmlns:r="http://schemas.openxmlformats.org/officeDocument/2006/relationships" id="315" r:id="R0b74bce28f1f4252"/>
    <p:sldId xmlns:r="http://schemas.openxmlformats.org/officeDocument/2006/relationships" id="316" r:id="R5dd59e8c00dc4121"/>
    <p:sldId xmlns:r="http://schemas.openxmlformats.org/officeDocument/2006/relationships" id="317" r:id="R0ce79beba0534077"/>
    <p:sldId xmlns:r="http://schemas.openxmlformats.org/officeDocument/2006/relationships" id="318" r:id="Rbe8ffaf164f34579"/>
    <p:sldId xmlns:r="http://schemas.openxmlformats.org/officeDocument/2006/relationships" id="319" r:id="R2ea07cf4729845f4"/>
    <p:sldId xmlns:r="http://schemas.openxmlformats.org/officeDocument/2006/relationships" id="320" r:id="R7a5584bf31694206"/>
    <p:sldId xmlns:r="http://schemas.openxmlformats.org/officeDocument/2006/relationships" id="321" r:id="Rf646ba050fe84005"/>
    <p:sldId xmlns:r="http://schemas.openxmlformats.org/officeDocument/2006/relationships" id="322" r:id="R7b936caebb5341b5"/>
    <p:sldId xmlns:r="http://schemas.openxmlformats.org/officeDocument/2006/relationships" id="323" r:id="R8d1e26a257a4471d"/>
    <p:sldId xmlns:r="http://schemas.openxmlformats.org/officeDocument/2006/relationships" id="324" r:id="R6f8bed2bcc4e41fa"/>
    <p:sldId xmlns:r="http://schemas.openxmlformats.org/officeDocument/2006/relationships" id="325" r:id="R23621d72eef94209"/>
    <p:sldId xmlns:r="http://schemas.openxmlformats.org/officeDocument/2006/relationships" id="326" r:id="R7a07174aebae46fc"/>
    <p:sldId xmlns:r="http://schemas.openxmlformats.org/officeDocument/2006/relationships" id="327" r:id="Rb5d29e77e9b0475e"/>
    <p:sldId xmlns:r="http://schemas.openxmlformats.org/officeDocument/2006/relationships" id="328" r:id="Rf8f13eb9da8648ed"/>
    <p:sldId xmlns:r="http://schemas.openxmlformats.org/officeDocument/2006/relationships" id="329" r:id="Rd20d02fa034d4ccb"/>
    <p:sldId xmlns:r="http://schemas.openxmlformats.org/officeDocument/2006/relationships" id="330" r:id="R35c913e6182f48bc"/>
    <p:sldId xmlns:r="http://schemas.openxmlformats.org/officeDocument/2006/relationships" id="331" r:id="Rf2bd789cfada42a6"/>
    <p:sldId xmlns:r="http://schemas.openxmlformats.org/officeDocument/2006/relationships" id="332" r:id="Rac686faf36fb44ec"/>
    <p:sldId xmlns:r="http://schemas.openxmlformats.org/officeDocument/2006/relationships" id="333" r:id="Ree6ba2b0a3aa4fe7"/>
    <p:sldId xmlns:r="http://schemas.openxmlformats.org/officeDocument/2006/relationships" id="334" r:id="R08287ef5f7f7410b"/>
    <p:sldId xmlns:r="http://schemas.openxmlformats.org/officeDocument/2006/relationships" id="335" r:id="R03e4b602407c48d3"/>
    <p:sldId xmlns:r="http://schemas.openxmlformats.org/officeDocument/2006/relationships" id="336" r:id="Ra637275476cf4c12"/>
    <p:sldId xmlns:r="http://schemas.openxmlformats.org/officeDocument/2006/relationships" id="337" r:id="R07df2c0c2c804b0f"/>
    <p:sldId xmlns:r="http://schemas.openxmlformats.org/officeDocument/2006/relationships" id="338" r:id="R27f2ed1572ed4afe"/>
    <p:sldId xmlns:r="http://schemas.openxmlformats.org/officeDocument/2006/relationships" id="339" r:id="R86c1c37370814709"/>
    <p:sldId xmlns:r="http://schemas.openxmlformats.org/officeDocument/2006/relationships" id="340" r:id="R628caa0772b24429"/>
    <p:sldId xmlns:r="http://schemas.openxmlformats.org/officeDocument/2006/relationships" id="341" r:id="R1a763233add14f62"/>
    <p:sldId xmlns:r="http://schemas.openxmlformats.org/officeDocument/2006/relationships" id="342" r:id="R46f6cf8b9b2b4d0e"/>
    <p:sldId xmlns:r="http://schemas.openxmlformats.org/officeDocument/2006/relationships" id="343" r:id="R86587a5d3bb24a05"/>
    <p:sldId xmlns:r="http://schemas.openxmlformats.org/officeDocument/2006/relationships" id="344" r:id="Rc410b20f3d454bc6"/>
    <p:sldId xmlns:r="http://schemas.openxmlformats.org/officeDocument/2006/relationships" id="345" r:id="Rc3128c0895b34812"/>
    <p:sldId xmlns:r="http://schemas.openxmlformats.org/officeDocument/2006/relationships" id="346" r:id="R6027c060e6e840d0"/>
    <p:sldId xmlns:r="http://schemas.openxmlformats.org/officeDocument/2006/relationships" id="347" r:id="R1113590ee2404bab"/>
    <p:sldId xmlns:r="http://schemas.openxmlformats.org/officeDocument/2006/relationships" id="348" r:id="Raca5db5f3fb04f33"/>
    <p:sldId xmlns:r="http://schemas.openxmlformats.org/officeDocument/2006/relationships" id="349" r:id="Rf56cf8feef554dd0"/>
    <p:sldId xmlns:r="http://schemas.openxmlformats.org/officeDocument/2006/relationships" id="350" r:id="R490c9ca596c24225"/>
    <p:sldId xmlns:r="http://schemas.openxmlformats.org/officeDocument/2006/relationships" id="351" r:id="R3a56ad5471a14e81"/>
    <p:sldId xmlns:r="http://schemas.openxmlformats.org/officeDocument/2006/relationships" id="352" r:id="R3ca4dc7da67c40f0"/>
    <p:sldId xmlns:r="http://schemas.openxmlformats.org/officeDocument/2006/relationships" id="353" r:id="Rd503380e7a644851"/>
    <p:sldId xmlns:r="http://schemas.openxmlformats.org/officeDocument/2006/relationships" id="354" r:id="R5e55384ebbc248bb"/>
    <p:sldId xmlns:r="http://schemas.openxmlformats.org/officeDocument/2006/relationships" id="355" r:id="R4d314cb44b5c4b55"/>
    <p:sldId xmlns:r="http://schemas.openxmlformats.org/officeDocument/2006/relationships" id="356" r:id="R3461c8335c934842"/>
    <p:sldId xmlns:r="http://schemas.openxmlformats.org/officeDocument/2006/relationships" id="357" r:id="Reb248c71cbc748bf"/>
    <p:sldId xmlns:r="http://schemas.openxmlformats.org/officeDocument/2006/relationships" id="358" r:id="R37cd1425748f4f99"/>
    <p:sldId xmlns:r="http://schemas.openxmlformats.org/officeDocument/2006/relationships" id="359" r:id="R4ca16f77b27843d6"/>
    <p:sldId xmlns:r="http://schemas.openxmlformats.org/officeDocument/2006/relationships" id="360" r:id="Reacd024ff1804e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d085e11b684f73" /><Relationship Type="http://schemas.openxmlformats.org/officeDocument/2006/relationships/slideMaster" Target="/ppt/slideMasters/slideMaster1.xml" Id="R9d5a6fa645b84601" /><Relationship Type="http://schemas.openxmlformats.org/officeDocument/2006/relationships/notesMaster" Target="/ppt/notesMasters/notesMaster1.xml" Id="Ra2b4d50e916d4c47" /><Relationship Type="http://schemas.openxmlformats.org/officeDocument/2006/relationships/presProps" Target="/ppt/presProps.xml" Id="Ra7c168e50d4340c4" /><Relationship Type="http://schemas.openxmlformats.org/officeDocument/2006/relationships/tableStyles" Target="/ppt/tableStyles.xml" Id="R212579988e104c45" /><Relationship Type="http://schemas.openxmlformats.org/officeDocument/2006/relationships/slide" Target="/ppt/slides/slide1.xml" Id="Ra1e4b0c430f742c5" /><Relationship Type="http://schemas.openxmlformats.org/officeDocument/2006/relationships/slide" Target="/ppt/slides/slide2.xml" Id="R46b8cc3705374aef" /><Relationship Type="http://schemas.openxmlformats.org/officeDocument/2006/relationships/slide" Target="/ppt/slides/slide3.xml" Id="R1f97e00db738431a" /><Relationship Type="http://schemas.openxmlformats.org/officeDocument/2006/relationships/slide" Target="/ppt/slides/slide4.xml" Id="R0e879e9900034718" /><Relationship Type="http://schemas.openxmlformats.org/officeDocument/2006/relationships/slide" Target="/ppt/slides/slide5.xml" Id="R92873c24de4c48a4" /><Relationship Type="http://schemas.openxmlformats.org/officeDocument/2006/relationships/slide" Target="/ppt/slides/slide6.xml" Id="R49d407d853e5494c" /><Relationship Type="http://schemas.openxmlformats.org/officeDocument/2006/relationships/slide" Target="/ppt/slides/slide7.xml" Id="Raee7b7a2c4544e4c" /><Relationship Type="http://schemas.openxmlformats.org/officeDocument/2006/relationships/slide" Target="/ppt/slides/slide8.xml" Id="R7d592bb3bd95463b" /><Relationship Type="http://schemas.openxmlformats.org/officeDocument/2006/relationships/slide" Target="/ppt/slides/slide9.xml" Id="R9929d1bed79443fd" /><Relationship Type="http://schemas.openxmlformats.org/officeDocument/2006/relationships/slide" Target="/ppt/slides/slide10.xml" Id="R9059ae3cce1042fc" /><Relationship Type="http://schemas.openxmlformats.org/officeDocument/2006/relationships/slide" Target="/ppt/slides/slide11.xml" Id="R2da1e65f645d46e0" /><Relationship Type="http://schemas.openxmlformats.org/officeDocument/2006/relationships/slide" Target="/ppt/slides/slide12.xml" Id="R90e8259eb76d4c29" /><Relationship Type="http://schemas.openxmlformats.org/officeDocument/2006/relationships/slide" Target="/ppt/slides/slide13.xml" Id="R3e7908ee7b874922" /><Relationship Type="http://schemas.openxmlformats.org/officeDocument/2006/relationships/slide" Target="/ppt/slides/slide14.xml" Id="R40ebdcef325044bb" /><Relationship Type="http://schemas.openxmlformats.org/officeDocument/2006/relationships/slide" Target="/ppt/slides/slide15.xml" Id="Rf34452ecb08944ae" /><Relationship Type="http://schemas.openxmlformats.org/officeDocument/2006/relationships/slide" Target="/ppt/slides/slide16.xml" Id="Rff592e5cb43e4638" /><Relationship Type="http://schemas.openxmlformats.org/officeDocument/2006/relationships/slide" Target="/ppt/slides/slide17.xml" Id="R21827c63fb73478d" /><Relationship Type="http://schemas.openxmlformats.org/officeDocument/2006/relationships/slide" Target="/ppt/slides/slide18.xml" Id="Refe2e3ad3a1a4997" /><Relationship Type="http://schemas.openxmlformats.org/officeDocument/2006/relationships/slide" Target="/ppt/slides/slide19.xml" Id="R3b0c1797b7da4476" /><Relationship Type="http://schemas.openxmlformats.org/officeDocument/2006/relationships/slide" Target="/ppt/slides/slide20.xml" Id="Rebfcfab46727442e" /><Relationship Type="http://schemas.openxmlformats.org/officeDocument/2006/relationships/slide" Target="/ppt/slides/slide21.xml" Id="Rd591ba9b26b94d87" /><Relationship Type="http://schemas.openxmlformats.org/officeDocument/2006/relationships/slide" Target="/ppt/slides/slide22.xml" Id="Rf28bfaf080f440dd" /><Relationship Type="http://schemas.openxmlformats.org/officeDocument/2006/relationships/slide" Target="/ppt/slides/slide23.xml" Id="R11dc3d1e753542ca" /><Relationship Type="http://schemas.openxmlformats.org/officeDocument/2006/relationships/slide" Target="/ppt/slides/slide24.xml" Id="R827af6ffbea74421" /><Relationship Type="http://schemas.openxmlformats.org/officeDocument/2006/relationships/slide" Target="/ppt/slides/slide25.xml" Id="Rda0f9d5de94c409c" /><Relationship Type="http://schemas.openxmlformats.org/officeDocument/2006/relationships/slide" Target="/ppt/slides/slide26.xml" Id="R06c629081ca1493e" /><Relationship Type="http://schemas.openxmlformats.org/officeDocument/2006/relationships/slide" Target="/ppt/slides/slide27.xml" Id="R107d0e8c491d44f4" /><Relationship Type="http://schemas.openxmlformats.org/officeDocument/2006/relationships/slide" Target="/ppt/slides/slide28.xml" Id="R36b601700d79434a" /><Relationship Type="http://schemas.openxmlformats.org/officeDocument/2006/relationships/slide" Target="/ppt/slides/slide29.xml" Id="R08eda91fef114646" /><Relationship Type="http://schemas.openxmlformats.org/officeDocument/2006/relationships/slide" Target="/ppt/slides/slide30.xml" Id="Rfdc9cdfc7ce04928" /><Relationship Type="http://schemas.openxmlformats.org/officeDocument/2006/relationships/slide" Target="/ppt/slides/slide31.xml" Id="Re9bc2f2c29c945ac" /><Relationship Type="http://schemas.openxmlformats.org/officeDocument/2006/relationships/slide" Target="/ppt/slides/slide32.xml" Id="Re07e92f732b14bea" /><Relationship Type="http://schemas.openxmlformats.org/officeDocument/2006/relationships/slide" Target="/ppt/slides/slide33.xml" Id="Rb25a86a968e34827" /><Relationship Type="http://schemas.openxmlformats.org/officeDocument/2006/relationships/slide" Target="/ppt/slides/slide34.xml" Id="R01ce2b1113dc4dfe" /><Relationship Type="http://schemas.openxmlformats.org/officeDocument/2006/relationships/slide" Target="/ppt/slides/slide35.xml" Id="R91ffd89024764d3a" /><Relationship Type="http://schemas.openxmlformats.org/officeDocument/2006/relationships/slide" Target="/ppt/slides/slide36.xml" Id="Rf6313526e44a4270" /><Relationship Type="http://schemas.openxmlformats.org/officeDocument/2006/relationships/slide" Target="/ppt/slides/slide37.xml" Id="R2a57206855954988" /><Relationship Type="http://schemas.openxmlformats.org/officeDocument/2006/relationships/slide" Target="/ppt/slides/slide38.xml" Id="R993d910588f149dc" /><Relationship Type="http://schemas.openxmlformats.org/officeDocument/2006/relationships/slide" Target="/ppt/slides/slide39.xml" Id="Rd362efc2fc05451e" /><Relationship Type="http://schemas.openxmlformats.org/officeDocument/2006/relationships/slide" Target="/ppt/slides/slide40.xml" Id="R6add59757e7b47c7" /><Relationship Type="http://schemas.openxmlformats.org/officeDocument/2006/relationships/slide" Target="/ppt/slides/slide41.xml" Id="R94c495040b9c41c4" /><Relationship Type="http://schemas.openxmlformats.org/officeDocument/2006/relationships/slide" Target="/ppt/slides/slide42.xml" Id="R29e4f2ee704141ce" /><Relationship Type="http://schemas.openxmlformats.org/officeDocument/2006/relationships/slide" Target="/ppt/slides/slide43.xml" Id="R5f971c1369564f92" /><Relationship Type="http://schemas.openxmlformats.org/officeDocument/2006/relationships/slide" Target="/ppt/slides/slide44.xml" Id="R4ca65d12d6d046c8" /><Relationship Type="http://schemas.openxmlformats.org/officeDocument/2006/relationships/slide" Target="/ppt/slides/slide45.xml" Id="Rba298d3e55a54769" /><Relationship Type="http://schemas.openxmlformats.org/officeDocument/2006/relationships/slide" Target="/ppt/slides/slide46.xml" Id="Rd1a94b35ebf94431" /><Relationship Type="http://schemas.openxmlformats.org/officeDocument/2006/relationships/slide" Target="/ppt/slides/slide47.xml" Id="R05b7193e3713422f" /><Relationship Type="http://schemas.openxmlformats.org/officeDocument/2006/relationships/slide" Target="/ppt/slides/slide48.xml" Id="R305dbcb0884746a3" /><Relationship Type="http://schemas.openxmlformats.org/officeDocument/2006/relationships/slide" Target="/ppt/slides/slide49.xml" Id="Rc74946b95f464a63" /><Relationship Type="http://schemas.openxmlformats.org/officeDocument/2006/relationships/slide" Target="/ppt/slides/slide50.xml" Id="R179fd4f5c065428d" /><Relationship Type="http://schemas.openxmlformats.org/officeDocument/2006/relationships/slide" Target="/ppt/slides/slide51.xml" Id="R1b75c6e01f174f5c" /><Relationship Type="http://schemas.openxmlformats.org/officeDocument/2006/relationships/slide" Target="/ppt/slides/slide52.xml" Id="R52ac5da79f434b13" /><Relationship Type="http://schemas.openxmlformats.org/officeDocument/2006/relationships/slide" Target="/ppt/slides/slide53.xml" Id="R55608873b7c149d4" /><Relationship Type="http://schemas.openxmlformats.org/officeDocument/2006/relationships/slide" Target="/ppt/slides/slide54.xml" Id="R3b0a7b09e4674374" /><Relationship Type="http://schemas.openxmlformats.org/officeDocument/2006/relationships/slide" Target="/ppt/slides/slide55.xml" Id="Rc9e05a4f7f6c441f" /><Relationship Type="http://schemas.openxmlformats.org/officeDocument/2006/relationships/slide" Target="/ppt/slides/slide56.xml" Id="R5d66009c4ac44e7a" /><Relationship Type="http://schemas.openxmlformats.org/officeDocument/2006/relationships/slide" Target="/ppt/slides/slide57.xml" Id="Rf0db9975f1854986" /><Relationship Type="http://schemas.openxmlformats.org/officeDocument/2006/relationships/slide" Target="/ppt/slides/slide58.xml" Id="R1cc11e2a8ac94dd0" /><Relationship Type="http://schemas.openxmlformats.org/officeDocument/2006/relationships/slide" Target="/ppt/slides/slide59.xml" Id="R8b9354968d7145c1" /><Relationship Type="http://schemas.openxmlformats.org/officeDocument/2006/relationships/slide" Target="/ppt/slides/slide60.xml" Id="R0b74bce28f1f4252" /><Relationship Type="http://schemas.openxmlformats.org/officeDocument/2006/relationships/slide" Target="/ppt/slides/slide61.xml" Id="R5dd59e8c00dc4121" /><Relationship Type="http://schemas.openxmlformats.org/officeDocument/2006/relationships/slide" Target="/ppt/slides/slide62.xml" Id="R0ce79beba0534077" /><Relationship Type="http://schemas.openxmlformats.org/officeDocument/2006/relationships/slide" Target="/ppt/slides/slide63.xml" Id="Rbe8ffaf164f34579" /><Relationship Type="http://schemas.openxmlformats.org/officeDocument/2006/relationships/slide" Target="/ppt/slides/slide64.xml" Id="R2ea07cf4729845f4" /><Relationship Type="http://schemas.openxmlformats.org/officeDocument/2006/relationships/slide" Target="/ppt/slides/slide65.xml" Id="R7a5584bf31694206" /><Relationship Type="http://schemas.openxmlformats.org/officeDocument/2006/relationships/slide" Target="/ppt/slides/slide66.xml" Id="Rf646ba050fe84005" /><Relationship Type="http://schemas.openxmlformats.org/officeDocument/2006/relationships/slide" Target="/ppt/slides/slide67.xml" Id="R7b936caebb5341b5" /><Relationship Type="http://schemas.openxmlformats.org/officeDocument/2006/relationships/slide" Target="/ppt/slides/slide68.xml" Id="R8d1e26a257a4471d" /><Relationship Type="http://schemas.openxmlformats.org/officeDocument/2006/relationships/slide" Target="/ppt/slides/slide69.xml" Id="R6f8bed2bcc4e41fa" /><Relationship Type="http://schemas.openxmlformats.org/officeDocument/2006/relationships/slide" Target="/ppt/slides/slide70.xml" Id="R23621d72eef94209" /><Relationship Type="http://schemas.openxmlformats.org/officeDocument/2006/relationships/slide" Target="/ppt/slides/slide71.xml" Id="R7a07174aebae46fc" /><Relationship Type="http://schemas.openxmlformats.org/officeDocument/2006/relationships/slide" Target="/ppt/slides/slide72.xml" Id="Rb5d29e77e9b0475e" /><Relationship Type="http://schemas.openxmlformats.org/officeDocument/2006/relationships/slide" Target="/ppt/slides/slide73.xml" Id="Rf8f13eb9da8648ed" /><Relationship Type="http://schemas.openxmlformats.org/officeDocument/2006/relationships/slide" Target="/ppt/slides/slide74.xml" Id="Rd20d02fa034d4ccb" /><Relationship Type="http://schemas.openxmlformats.org/officeDocument/2006/relationships/slide" Target="/ppt/slides/slide75.xml" Id="R35c913e6182f48bc" /><Relationship Type="http://schemas.openxmlformats.org/officeDocument/2006/relationships/slide" Target="/ppt/slides/slide76.xml" Id="Rf2bd789cfada42a6" /><Relationship Type="http://schemas.openxmlformats.org/officeDocument/2006/relationships/slide" Target="/ppt/slides/slide77.xml" Id="Rac686faf36fb44ec" /><Relationship Type="http://schemas.openxmlformats.org/officeDocument/2006/relationships/slide" Target="/ppt/slides/slide78.xml" Id="Ree6ba2b0a3aa4fe7" /><Relationship Type="http://schemas.openxmlformats.org/officeDocument/2006/relationships/slide" Target="/ppt/slides/slide79.xml" Id="R08287ef5f7f7410b" /><Relationship Type="http://schemas.openxmlformats.org/officeDocument/2006/relationships/slide" Target="/ppt/slides/slide80.xml" Id="R03e4b602407c48d3" /><Relationship Type="http://schemas.openxmlformats.org/officeDocument/2006/relationships/slide" Target="/ppt/slides/slide81.xml" Id="Ra637275476cf4c12" /><Relationship Type="http://schemas.openxmlformats.org/officeDocument/2006/relationships/slide" Target="/ppt/slides/slide82.xml" Id="R07df2c0c2c804b0f" /><Relationship Type="http://schemas.openxmlformats.org/officeDocument/2006/relationships/slide" Target="/ppt/slides/slide83.xml" Id="R27f2ed1572ed4afe" /><Relationship Type="http://schemas.openxmlformats.org/officeDocument/2006/relationships/slide" Target="/ppt/slides/slide84.xml" Id="R86c1c37370814709" /><Relationship Type="http://schemas.openxmlformats.org/officeDocument/2006/relationships/slide" Target="/ppt/slides/slide85.xml" Id="R628caa0772b24429" /><Relationship Type="http://schemas.openxmlformats.org/officeDocument/2006/relationships/slide" Target="/ppt/slides/slide86.xml" Id="R1a763233add14f62" /><Relationship Type="http://schemas.openxmlformats.org/officeDocument/2006/relationships/slide" Target="/ppt/slides/slide87.xml" Id="R46f6cf8b9b2b4d0e" /><Relationship Type="http://schemas.openxmlformats.org/officeDocument/2006/relationships/slide" Target="/ppt/slides/slide88.xml" Id="R86587a5d3bb24a05" /><Relationship Type="http://schemas.openxmlformats.org/officeDocument/2006/relationships/slide" Target="/ppt/slides/slide89.xml" Id="Rc410b20f3d454bc6" /><Relationship Type="http://schemas.openxmlformats.org/officeDocument/2006/relationships/slide" Target="/ppt/slides/slide90.xml" Id="Rc3128c0895b34812" /><Relationship Type="http://schemas.openxmlformats.org/officeDocument/2006/relationships/slide" Target="/ppt/slides/slide91.xml" Id="R6027c060e6e840d0" /><Relationship Type="http://schemas.openxmlformats.org/officeDocument/2006/relationships/slide" Target="/ppt/slides/slide92.xml" Id="R1113590ee2404bab" /><Relationship Type="http://schemas.openxmlformats.org/officeDocument/2006/relationships/slide" Target="/ppt/slides/slide93.xml" Id="Raca5db5f3fb04f33" /><Relationship Type="http://schemas.openxmlformats.org/officeDocument/2006/relationships/slide" Target="/ppt/slides/slide94.xml" Id="Rf56cf8feef554dd0" /><Relationship Type="http://schemas.openxmlformats.org/officeDocument/2006/relationships/slide" Target="/ppt/slides/slide95.xml" Id="R490c9ca596c24225" /><Relationship Type="http://schemas.openxmlformats.org/officeDocument/2006/relationships/slide" Target="/ppt/slides/slide96.xml" Id="R3a56ad5471a14e81" /><Relationship Type="http://schemas.openxmlformats.org/officeDocument/2006/relationships/slide" Target="/ppt/slides/slide97.xml" Id="R3ca4dc7da67c40f0" /><Relationship Type="http://schemas.openxmlformats.org/officeDocument/2006/relationships/slide" Target="/ppt/slides/slide98.xml" Id="Rd503380e7a644851" /><Relationship Type="http://schemas.openxmlformats.org/officeDocument/2006/relationships/slide" Target="/ppt/slides/slide99.xml" Id="R5e55384ebbc248bb" /><Relationship Type="http://schemas.openxmlformats.org/officeDocument/2006/relationships/slide" Target="/ppt/slides/slide100.xml" Id="R4d314cb44b5c4b55" /><Relationship Type="http://schemas.openxmlformats.org/officeDocument/2006/relationships/slide" Target="/ppt/slides/slide101.xml" Id="R3461c8335c934842" /><Relationship Type="http://schemas.openxmlformats.org/officeDocument/2006/relationships/slide" Target="/ppt/slides/slide102.xml" Id="Reb248c71cbc748bf" /><Relationship Type="http://schemas.openxmlformats.org/officeDocument/2006/relationships/slide" Target="/ppt/slides/slide103.xml" Id="R37cd1425748f4f99" /><Relationship Type="http://schemas.openxmlformats.org/officeDocument/2006/relationships/slide" Target="/ppt/slides/slide104.xml" Id="R4ca16f77b27843d6" /><Relationship Type="http://schemas.openxmlformats.org/officeDocument/2006/relationships/slide" Target="/ppt/slides/slide105.xml" Id="Reacd024ff1804e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d24ca8ae884f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011e3b29f7426d" /><Relationship Type="http://schemas.openxmlformats.org/officeDocument/2006/relationships/notesMaster" Target="/ppt/notesMasters/notesMaster1.xml" Id="R77eebbadfb2d41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44ac1eb1c24d96" /><Relationship Type="http://schemas.openxmlformats.org/officeDocument/2006/relationships/notesMaster" Target="/ppt/notesMasters/notesMaster1.xml" Id="R05ba322948ef49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2386ddf9324708" /><Relationship Type="http://schemas.openxmlformats.org/officeDocument/2006/relationships/notesMaster" Target="/ppt/notesMasters/notesMaster1.xml" Id="R752d7da73f8648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56cfd938d9486e" /><Relationship Type="http://schemas.openxmlformats.org/officeDocument/2006/relationships/notesMaster" Target="/ppt/notesMasters/notesMaster1.xml" Id="R420d10ff55db4e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929226680246fb" /><Relationship Type="http://schemas.openxmlformats.org/officeDocument/2006/relationships/notesMaster" Target="/ppt/notesMasters/notesMaster1.xml" Id="R832dd3778c3845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bbe61952094584" /><Relationship Type="http://schemas.openxmlformats.org/officeDocument/2006/relationships/notesMaster" Target="/ppt/notesMasters/notesMaster1.xml" Id="Re77a2ae5f0c540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52c8d316d94905" /><Relationship Type="http://schemas.openxmlformats.org/officeDocument/2006/relationships/notesMaster" Target="/ppt/notesMasters/notesMaster1.xml" Id="R3aedcbfd159b45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776ab5ac8f488c" /><Relationship Type="http://schemas.openxmlformats.org/officeDocument/2006/relationships/notesMaster" Target="/ppt/notesMasters/notesMaster1.xml" Id="R1ad1eac601a44a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d430bcacf2412b" /><Relationship Type="http://schemas.openxmlformats.org/officeDocument/2006/relationships/notesMaster" Target="/ppt/notesMasters/notesMaster1.xml" Id="R71f3015179964b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72d805b7b34927" /><Relationship Type="http://schemas.openxmlformats.org/officeDocument/2006/relationships/notesMaster" Target="/ppt/notesMasters/notesMaster1.xml" Id="R5ef3d55531f14e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33bbfcf1cf4197" /><Relationship Type="http://schemas.openxmlformats.org/officeDocument/2006/relationships/notesMaster" Target="/ppt/notesMasters/notesMaster1.xml" Id="R5fa6f2daffd64e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976edd4b0a4507" /><Relationship Type="http://schemas.openxmlformats.org/officeDocument/2006/relationships/notesMaster" Target="/ppt/notesMasters/notesMaster1.xml" Id="R784c220ee1d444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4255e1ae7b4210" /><Relationship Type="http://schemas.openxmlformats.org/officeDocument/2006/relationships/notesMaster" Target="/ppt/notesMasters/notesMaster1.xml" Id="R8c2184e234b1486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1f4de91d034fb7" /><Relationship Type="http://schemas.openxmlformats.org/officeDocument/2006/relationships/notesMaster" Target="/ppt/notesMasters/notesMaster1.xml" Id="R38fe03c1bcc647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539807928d74a7a" /><Relationship Type="http://schemas.openxmlformats.org/officeDocument/2006/relationships/notesMaster" Target="/ppt/notesMasters/notesMaster1.xml" Id="R07599c15f0964c4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805a851a6614146" /><Relationship Type="http://schemas.openxmlformats.org/officeDocument/2006/relationships/notesMaster" Target="/ppt/notesMasters/notesMaster1.xml" Id="R097dfb61fe79409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32aa488ae7a473f" /><Relationship Type="http://schemas.openxmlformats.org/officeDocument/2006/relationships/notesMaster" Target="/ppt/notesMasters/notesMaster1.xml" Id="R6271dbe2505f42f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4ea31bad0ee4c58" /><Relationship Type="http://schemas.openxmlformats.org/officeDocument/2006/relationships/notesMaster" Target="/ppt/notesMasters/notesMaster1.xml" Id="R95cb88b48f594c3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940ed0ad4f44874" /><Relationship Type="http://schemas.openxmlformats.org/officeDocument/2006/relationships/notesMaster" Target="/ppt/notesMasters/notesMaster1.xml" Id="R23e453b97b7c41b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56cbc637609474f" /><Relationship Type="http://schemas.openxmlformats.org/officeDocument/2006/relationships/notesMaster" Target="/ppt/notesMasters/notesMaster1.xml" Id="Rfca7cd321c1745f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81ed10f31d8411f" /><Relationship Type="http://schemas.openxmlformats.org/officeDocument/2006/relationships/notesMaster" Target="/ppt/notesMasters/notesMaster1.xml" Id="R3dacf7c481a4415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be684330e6e4e4c" /><Relationship Type="http://schemas.openxmlformats.org/officeDocument/2006/relationships/notesMaster" Target="/ppt/notesMasters/notesMaster1.xml" Id="R99ac4d246cee487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3cfe5ea1bae468b" /><Relationship Type="http://schemas.openxmlformats.org/officeDocument/2006/relationships/notesMaster" Target="/ppt/notesMasters/notesMaster1.xml" Id="Rf706f502bd87482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0b62282c7b046ef" /><Relationship Type="http://schemas.openxmlformats.org/officeDocument/2006/relationships/notesMaster" Target="/ppt/notesMasters/notesMaster1.xml" Id="Reda918db152643a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2406f8ca69d4994" /><Relationship Type="http://schemas.openxmlformats.org/officeDocument/2006/relationships/notesMaster" Target="/ppt/notesMasters/notesMaster1.xml" Id="Rb14cebf897d4417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ea1713017874858" /><Relationship Type="http://schemas.openxmlformats.org/officeDocument/2006/relationships/notesMaster" Target="/ppt/notesMasters/notesMaster1.xml" Id="R6129b95896ec406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91e22e37e4f456c" /><Relationship Type="http://schemas.openxmlformats.org/officeDocument/2006/relationships/notesMaster" Target="/ppt/notesMasters/notesMaster1.xml" Id="R2d5374172b8d4d7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64aaeba5ae74a30" /><Relationship Type="http://schemas.openxmlformats.org/officeDocument/2006/relationships/notesMaster" Target="/ppt/notesMasters/notesMaster1.xml" Id="R7d5f8c3a3a74429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12a82519e4942f8" /><Relationship Type="http://schemas.openxmlformats.org/officeDocument/2006/relationships/notesMaster" Target="/ppt/notesMasters/notesMaster1.xml" Id="R8cd6b243e7a4491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2722ef1c2ac4498" /><Relationship Type="http://schemas.openxmlformats.org/officeDocument/2006/relationships/notesMaster" Target="/ppt/notesMasters/notesMaster1.xml" Id="R9b42b31379674df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820f568ae494d75" /><Relationship Type="http://schemas.openxmlformats.org/officeDocument/2006/relationships/notesMaster" Target="/ppt/notesMasters/notesMaster1.xml" Id="Rb77a92eb9205459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1e25206e80d4220" /><Relationship Type="http://schemas.openxmlformats.org/officeDocument/2006/relationships/notesMaster" Target="/ppt/notesMasters/notesMaster1.xml" Id="Rc975637cacf5401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e38becca0d345ec" /><Relationship Type="http://schemas.openxmlformats.org/officeDocument/2006/relationships/notesMaster" Target="/ppt/notesMasters/notesMaster1.xml" Id="Rc9ab8f67ae1b446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489e6da9f5044a3" /><Relationship Type="http://schemas.openxmlformats.org/officeDocument/2006/relationships/notesMaster" Target="/ppt/notesMasters/notesMaster1.xml" Id="Re10e29c19683451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fce74e38dca4561" /><Relationship Type="http://schemas.openxmlformats.org/officeDocument/2006/relationships/notesMaster" Target="/ppt/notesMasters/notesMaster1.xml" Id="R678008657e464b2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5cf04d3602945a0" /><Relationship Type="http://schemas.openxmlformats.org/officeDocument/2006/relationships/notesMaster" Target="/ppt/notesMasters/notesMaster1.xml" Id="Re00375fb1f0d4cb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325b53cb96945e6" /><Relationship Type="http://schemas.openxmlformats.org/officeDocument/2006/relationships/notesMaster" Target="/ppt/notesMasters/notesMaster1.xml" Id="R83f601869195470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8f0cdbcf3604e1e" /><Relationship Type="http://schemas.openxmlformats.org/officeDocument/2006/relationships/notesMaster" Target="/ppt/notesMasters/notesMaster1.xml" Id="Ra95ad3440154413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2d372e2a60a4718" /><Relationship Type="http://schemas.openxmlformats.org/officeDocument/2006/relationships/notesMaster" Target="/ppt/notesMasters/notesMaster1.xml" Id="Rf49cc8533c12412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45e186ba6524af7" /><Relationship Type="http://schemas.openxmlformats.org/officeDocument/2006/relationships/notesMaster" Target="/ppt/notesMasters/notesMaster1.xml" Id="R085bfb4b5b56485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118615c16614365" /><Relationship Type="http://schemas.openxmlformats.org/officeDocument/2006/relationships/notesMaster" Target="/ppt/notesMasters/notesMaster1.xml" Id="R319f998be6e34c7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1c398344bf2429c" /><Relationship Type="http://schemas.openxmlformats.org/officeDocument/2006/relationships/notesMaster" Target="/ppt/notesMasters/notesMaster1.xml" Id="Rb3cf48007b1b4d3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2abc33ffbdf444f5" /><Relationship Type="http://schemas.openxmlformats.org/officeDocument/2006/relationships/notesMaster" Target="/ppt/notesMasters/notesMaster1.xml" Id="R83a21acf3a2a4a2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d3d6dd3339247d9" /><Relationship Type="http://schemas.openxmlformats.org/officeDocument/2006/relationships/notesMaster" Target="/ppt/notesMasters/notesMaster1.xml" Id="Rb9d2def75e23479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7d9a3680fad451f" /><Relationship Type="http://schemas.openxmlformats.org/officeDocument/2006/relationships/notesMaster" Target="/ppt/notesMasters/notesMaster1.xml" Id="R3f310bd4c4bf47d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2a5531982c04014" /><Relationship Type="http://schemas.openxmlformats.org/officeDocument/2006/relationships/notesMaster" Target="/ppt/notesMasters/notesMaster1.xml" Id="R387a310b50be4f82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8200b6b5b6be4694" /><Relationship Type="http://schemas.openxmlformats.org/officeDocument/2006/relationships/notesMaster" Target="/ppt/notesMasters/notesMaster1.xml" Id="R12e16fd15f3f4b15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7d4ee9ad67c4111" /><Relationship Type="http://schemas.openxmlformats.org/officeDocument/2006/relationships/notesMaster" Target="/ppt/notesMasters/notesMaster1.xml" Id="R52e4ccf1981d4c3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c8bef112b4841e3" /><Relationship Type="http://schemas.openxmlformats.org/officeDocument/2006/relationships/notesMaster" Target="/ppt/notesMasters/notesMaster1.xml" Id="Rdc162bdcd693472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c0a42c92db5b40d8" /><Relationship Type="http://schemas.openxmlformats.org/officeDocument/2006/relationships/notesMaster" Target="/ppt/notesMasters/notesMaster1.xml" Id="Rd16a4934e6e1409d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56c166dfc944063" /><Relationship Type="http://schemas.openxmlformats.org/officeDocument/2006/relationships/notesMaster" Target="/ppt/notesMasters/notesMaster1.xml" Id="R8636dbfe6be64768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928419e68cf14654" /><Relationship Type="http://schemas.openxmlformats.org/officeDocument/2006/relationships/notesMaster" Target="/ppt/notesMasters/notesMaster1.xml" Id="R2bc294e569054058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9a3c80bf83b4e1c" /><Relationship Type="http://schemas.openxmlformats.org/officeDocument/2006/relationships/notesMaster" Target="/ppt/notesMasters/notesMaster1.xml" Id="Rdb6eb8ee56c846e2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f1980d0e3ffe4a1f" /><Relationship Type="http://schemas.openxmlformats.org/officeDocument/2006/relationships/notesMaster" Target="/ppt/notesMasters/notesMaster1.xml" Id="R2126aa439dcd4f5f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0a7c6bd4c9034935" /><Relationship Type="http://schemas.openxmlformats.org/officeDocument/2006/relationships/notesMaster" Target="/ppt/notesMasters/notesMaster1.xml" Id="R62925ca6f62a4498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679ce33b606a4a55" /><Relationship Type="http://schemas.openxmlformats.org/officeDocument/2006/relationships/notesMaster" Target="/ppt/notesMasters/notesMaster1.xml" Id="Re4ee355085f943c8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07c326608c3c430d" /><Relationship Type="http://schemas.openxmlformats.org/officeDocument/2006/relationships/notesMaster" Target="/ppt/notesMasters/notesMaster1.xml" Id="R67fbf37d29244a64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ac3f90d96d1e4a9a" /><Relationship Type="http://schemas.openxmlformats.org/officeDocument/2006/relationships/notesMaster" Target="/ppt/notesMasters/notesMaster1.xml" Id="R965230ad471347ef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7b05d9d3409e4f02" /><Relationship Type="http://schemas.openxmlformats.org/officeDocument/2006/relationships/notesMaster" Target="/ppt/notesMasters/notesMaster1.xml" Id="R6205b9ff30fb424b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2eb34b265a1349f6" /><Relationship Type="http://schemas.openxmlformats.org/officeDocument/2006/relationships/notesMaster" Target="/ppt/notesMasters/notesMaster1.xml" Id="R7dc5a5291ff64f1b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dcf4b4509202481f" /><Relationship Type="http://schemas.openxmlformats.org/officeDocument/2006/relationships/notesMaster" Target="/ppt/notesMasters/notesMaster1.xml" Id="R36bd75e2eaa64c07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83205c1a67c4487d" /><Relationship Type="http://schemas.openxmlformats.org/officeDocument/2006/relationships/notesMaster" Target="/ppt/notesMasters/notesMaster1.xml" Id="R39264dec6caa496f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42fb7ae1ba2642e7" /><Relationship Type="http://schemas.openxmlformats.org/officeDocument/2006/relationships/notesMaster" Target="/ppt/notesMasters/notesMaster1.xml" Id="R1f12a19a6a6947eb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cfbc341d241547bc" /><Relationship Type="http://schemas.openxmlformats.org/officeDocument/2006/relationships/notesMaster" Target="/ppt/notesMasters/notesMaster1.xml" Id="R4f771f2869024901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a70624ff905743c2" /><Relationship Type="http://schemas.openxmlformats.org/officeDocument/2006/relationships/notesMaster" Target="/ppt/notesMasters/notesMaster1.xml" Id="R018086edcdd542b2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362224718fed45fb" /><Relationship Type="http://schemas.openxmlformats.org/officeDocument/2006/relationships/notesMaster" Target="/ppt/notesMasters/notesMaster1.xml" Id="Rf70c51feb4584a6c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92ca984bba274418" /><Relationship Type="http://schemas.openxmlformats.org/officeDocument/2006/relationships/notesMaster" Target="/ppt/notesMasters/notesMaster1.xml" Id="R02f39631f50d4c8c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d26beacaf87144ac" /><Relationship Type="http://schemas.openxmlformats.org/officeDocument/2006/relationships/notesMaster" Target="/ppt/notesMasters/notesMaster1.xml" Id="Rc2d5eb753c7a4298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7835ef28c7c945fc" /><Relationship Type="http://schemas.openxmlformats.org/officeDocument/2006/relationships/notesMaster" Target="/ppt/notesMasters/notesMaster1.xml" Id="Re38df9e6e2dd401d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2aac7cd14b9842a2" /><Relationship Type="http://schemas.openxmlformats.org/officeDocument/2006/relationships/notesMaster" Target="/ppt/notesMasters/notesMaster1.xml" Id="R22463f8796504868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d6f02ce3214e442c" /><Relationship Type="http://schemas.openxmlformats.org/officeDocument/2006/relationships/notesMaster" Target="/ppt/notesMasters/notesMaster1.xml" Id="R17911fff0a0743ec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35b0ff7aba624a91" /><Relationship Type="http://schemas.openxmlformats.org/officeDocument/2006/relationships/notesMaster" Target="/ppt/notesMasters/notesMaster1.xml" Id="Raaa5080669d64a34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c49f077373a745cd" /><Relationship Type="http://schemas.openxmlformats.org/officeDocument/2006/relationships/notesMaster" Target="/ppt/notesMasters/notesMaster1.xml" Id="Rb433b4c4be5f4ded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45e7ffc425a0474b" /><Relationship Type="http://schemas.openxmlformats.org/officeDocument/2006/relationships/notesMaster" Target="/ppt/notesMasters/notesMaster1.xml" Id="Re86ea46ac63c4cfa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aaab68b5752f4190" /><Relationship Type="http://schemas.openxmlformats.org/officeDocument/2006/relationships/notesMaster" Target="/ppt/notesMasters/notesMaster1.xml" Id="Rb751346455404f2b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f89bb94a99834db4" /><Relationship Type="http://schemas.openxmlformats.org/officeDocument/2006/relationships/notesMaster" Target="/ppt/notesMasters/notesMaster1.xml" Id="R951dca1a0d054c44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6ec6ba58d0d34c27" /><Relationship Type="http://schemas.openxmlformats.org/officeDocument/2006/relationships/notesMaster" Target="/ppt/notesMasters/notesMaster1.xml" Id="R4e4bfba8af824942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5a217b6b23804e0c" /><Relationship Type="http://schemas.openxmlformats.org/officeDocument/2006/relationships/notesMaster" Target="/ppt/notesMasters/notesMaster1.xml" Id="Rf8de868f5c644144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53d8a674c3954c83" /><Relationship Type="http://schemas.openxmlformats.org/officeDocument/2006/relationships/notesMaster" Target="/ppt/notesMasters/notesMaster1.xml" Id="R1aaf39059e404564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df02d76fca234a86" /><Relationship Type="http://schemas.openxmlformats.org/officeDocument/2006/relationships/notesMaster" Target="/ppt/notesMasters/notesMaster1.xml" Id="Redcb3223b4354e9b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1021a02522dc4d7d" /><Relationship Type="http://schemas.openxmlformats.org/officeDocument/2006/relationships/notesMaster" Target="/ppt/notesMasters/notesMaster1.xml" Id="Rdcf5e7f0f48d4f7c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09fd12e45f094003" /><Relationship Type="http://schemas.openxmlformats.org/officeDocument/2006/relationships/notesMaster" Target="/ppt/notesMasters/notesMaster1.xml" Id="R99a6027cecf448a1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2c7221bb8f6b46fc" /><Relationship Type="http://schemas.openxmlformats.org/officeDocument/2006/relationships/notesMaster" Target="/ppt/notesMasters/notesMaster1.xml" Id="Rbb8be61d30294240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977d330c0cbd4a7a" /><Relationship Type="http://schemas.openxmlformats.org/officeDocument/2006/relationships/notesMaster" Target="/ppt/notesMasters/notesMaster1.xml" Id="Rdfc99106d0bb4e81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b404a5bcedf34220" /><Relationship Type="http://schemas.openxmlformats.org/officeDocument/2006/relationships/notesMaster" Target="/ppt/notesMasters/notesMaster1.xml" Id="R698ae49444eb4e29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41e46b39a5634b46" /><Relationship Type="http://schemas.openxmlformats.org/officeDocument/2006/relationships/notesMaster" Target="/ppt/notesMasters/notesMaster1.xml" Id="Rc167ecd462324c40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919b501e34ca4e92" /><Relationship Type="http://schemas.openxmlformats.org/officeDocument/2006/relationships/notesMaster" Target="/ppt/notesMasters/notesMaster1.xml" Id="R80b0e3f038e444f5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16d3536acee94e72" /><Relationship Type="http://schemas.openxmlformats.org/officeDocument/2006/relationships/notesMaster" Target="/ppt/notesMasters/notesMaster1.xml" Id="Rbc0cbdd7fbbb4783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763bad86f2554795" /><Relationship Type="http://schemas.openxmlformats.org/officeDocument/2006/relationships/notesMaster" Target="/ppt/notesMasters/notesMaster1.xml" Id="R1b6c869a95a34791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1febbff8d6d14b7d" /><Relationship Type="http://schemas.openxmlformats.org/officeDocument/2006/relationships/notesMaster" Target="/ppt/notesMasters/notesMaster1.xml" Id="R87db60a9a12b436b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e1e21fe747c9479d" /><Relationship Type="http://schemas.openxmlformats.org/officeDocument/2006/relationships/notesMaster" Target="/ppt/notesMasters/notesMaster1.xml" Id="R67e9f3090166463c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fdc4fa223f6b421e" /><Relationship Type="http://schemas.openxmlformats.org/officeDocument/2006/relationships/notesMaster" Target="/ppt/notesMasters/notesMaster1.xml" Id="R12337cb635314cb2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c8888836acf342bc" /><Relationship Type="http://schemas.openxmlformats.org/officeDocument/2006/relationships/notesMaster" Target="/ppt/notesMasters/notesMaster1.xml" Id="R2a9037cc5d62429c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354cae141fa74c9e" /><Relationship Type="http://schemas.openxmlformats.org/officeDocument/2006/relationships/notesMaster" Target="/ppt/notesMasters/notesMaster1.xml" Id="Rc86f02c55bcf4e59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21c60a2209124881" /><Relationship Type="http://schemas.openxmlformats.org/officeDocument/2006/relationships/notesMaster" Target="/ppt/notesMasters/notesMaster1.xml" Id="Rd1a18e858ead4ba3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50c801635d9b4fe1" /><Relationship Type="http://schemas.openxmlformats.org/officeDocument/2006/relationships/notesMaster" Target="/ppt/notesMasters/notesMaster1.xml" Id="R66220a5718e247bd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7bde8fe8d5c540c5" /><Relationship Type="http://schemas.openxmlformats.org/officeDocument/2006/relationships/notesMaster" Target="/ppt/notesMasters/notesMaster1.xml" Id="R0207fcebee524bad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dc77890aae0046ce" /><Relationship Type="http://schemas.openxmlformats.org/officeDocument/2006/relationships/notesMaster" Target="/ppt/notesMasters/notesMaster1.xml" Id="R03be1220e5cb4687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93065389da0349ab" /><Relationship Type="http://schemas.openxmlformats.org/officeDocument/2006/relationships/notesMaster" Target="/ppt/notesMasters/notesMaster1.xml" Id="R0c0415dc478b4060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4ea14f498c044a1f" /><Relationship Type="http://schemas.openxmlformats.org/officeDocument/2006/relationships/notesMaster" Target="/ppt/notesMasters/notesMaster1.xml" Id="Rabb52bffe7f44a66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d07f72582c854fef" /><Relationship Type="http://schemas.openxmlformats.org/officeDocument/2006/relationships/notesMaster" Target="/ppt/notesMasters/notesMaster1.xml" Id="R19fd1a601c384eb6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6ad804c57a0146ef" /><Relationship Type="http://schemas.openxmlformats.org/officeDocument/2006/relationships/notesMaster" Target="/ppt/notesMasters/notesMaster1.xml" Id="Rf258d65e8d0140ab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24b55c71dfb34e5c" /><Relationship Type="http://schemas.openxmlformats.org/officeDocument/2006/relationships/notesMaster" Target="/ppt/notesMasters/notesMaster1.xml" Id="R589778ee4e1f4034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4c108861633e49a3" /><Relationship Type="http://schemas.openxmlformats.org/officeDocument/2006/relationships/notesMaster" Target="/ppt/notesMasters/notesMaster1.xml" Id="R3e15f96ac39441e9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f6c9852a40164a39" /><Relationship Type="http://schemas.openxmlformats.org/officeDocument/2006/relationships/notesMaster" Target="/ppt/notesMasters/notesMaster1.xml" Id="R8b8d84c8720442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packing-house problem: a camera, nine date varieties, and a production line that cannot pause. Explain that every lab advances the same Tamr Vision artefact. Suggested time: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ImageGen — original course cover visual generated for this presentation, 2026-08-26.</a:t>
            </a:r>
          </a:p>
          <a:p xmlns:a="http://schemas.openxmlformats.org/drawingml/2006/main">
            <a:r>
              <a:t>- User-provided INSTRUCTOR_PACKAGE.md — Cover Page and Course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golden thread and ask participants what makes a training run trustworthy. Suggested time: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Course Description and Learning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each day's evidence to the next day's work. Emphasize that the validation split never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Course Delivery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participants to name the artefact produced at each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Course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dual pass rule and the academic-integrity checks. Keep the sealed test labels instructor-controlled.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Assessment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Reset the room around this day's promise. Preview the end-of-day artefact and the lab ratio.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Course Delivery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one local use case where depth is justified and one where it is not.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1 — Module Overview.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Derive the composition on the board. Have participants explain why a wide linear stack gains no capacity.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1 — Technical Content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shapes for a batch and reinforce that inputs are a⁽⁰⁾.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1 — Technical Content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participants which derivative they would want across 20 layers and why.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1 — Technical Content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conceptual upper-bound illustration, not a measured training run. Use it to motivate the gradient autopsy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1 — Technical Content 2 and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both versions on the same micro-batch and compare gradient norms.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1 — Technical Content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the class to diagnose losses of 2.20, 7.8, and NaN before revealing the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1 — Technical Content 2 and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chain-rule relay. Each team owns one local derivative and passes the incoming gradient backward.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1 — Technical Content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Ask: why does training use more memory than inference? Link the answer to stored activations.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1 — Technical Content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PyTorch defaults, then break them intentionally with large random weights.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1 — Technical Content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flash rounds: show a curve, allow 60 seconds for a first check, then ask for a competing diagnosis.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1 — Technical Content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participants predict each gradient shape before running the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1 — Code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Break the graph with detach and no_grad, then ask participants why .grad disappears.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1 — Code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Pair strong Python with strong maths. Protect the derivation time; it is the course foundation.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1 — Hands-on Lab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lab sign-off checklist. Capture one misconception for the debrief.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1 — Hands-on Lab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Reset the room around this day's promise. Preview the end-of-day artefact and the lab ratio.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Course Delivery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Triage six real errors by property before proposing the fix.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2 — Technical Content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participants predict three broadcast results before running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2 — Technical Content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this mental model to the hand-derived graph from Day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2 — Technical Content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pairs predict whether .grad will exist in four short examples.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2 — Technical Content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what gets registered when a raw tensor is stored instead of nn.Parameter.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2 — Technical Content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loop-order card scramble and reject distractors explicitly.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2 — Technical Content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Delete zero_grad live, run the self-test, restore it, and compare.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2 — Code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gradient norm doubling when zero_grad is omitted.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2 — Technical Content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participants to diagnose a validation run with dropout still active.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2 — Technical Content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the portability issue with Windows/macOS workers and importable transforms.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2 — Technical Content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how re-randomising across restarts turns the reported best epoch into cherry-picking.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2 — Technical Content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Kill a run mid-epoch and resume it. Inspect the checkpoint dictionary before loading.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2 — Technical Content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this as the mandatory preflight for every later 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2 — Technical Content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Pair work. Days 1–2 must remain CPU-friendly. Fast-forward with the lab2-solution tag only after a documented blocker.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2 — Hands-on Lab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lab troubleshooting slide; ask the student to state the violated contract before giving the fix.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2 — Common Issues.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date-skin wrinkle example: the cue matters wherever it appears.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3 — Technical Content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 three examples before showing the formula. Include one stride-2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3 — Technical Content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receptive-field auction using a ~40 px date-skin cue.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3 — Technical Content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history functional: each architecture solves a concrete limitation.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3 — Technical Content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Draw the shortcut behind the residual branch and connect it to Day 1 vanishing gradients.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3 — Technical Content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batch-grid ritual and ask whether each transform preserves the date-variety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3 — Technical Content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pairs annotate B×C×H×W after every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3 — Code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torchinfo and compare the reported shapes to the handwritten calculation.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3 — Code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a pair defend one confusion hypothesis and name the next diagnostic they would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3 — Benchmarks and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augmentation courtroom: keep, tune, or reject each transform.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3 — Technical Content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conveyor vibration sequence as the concrete input: 200 steps × 3 axes.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3 — Technical Content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which gate behaviour is useful for a brief bearing-fault impulse.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3 — Technical Content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seq-first failure and have participants identify why it trains without an exception.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3 — Code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overrun-prone. Use lab3-start/solution checkpoints; never skip the batch-grid ritual.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3 — Hands-on Lab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Reset the room around this day's promise. Preview the end-of-day artefact and the lab ratio.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Course Delivery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curve-atlas CSV for six rapid triage rounds.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4 — Technical Content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red curve only after participants identify the best checkpoint from the blue curve and validation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4 — Technical Content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knob auction: each team gets three runs and must spend them in expected-value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4 — Technical Content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participants to connect each tool to a visible curve signature.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4 — Technical Content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 what axes each method normalises.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4 — Technical Content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batch-size-2 simulation and swap BatchNorm to GroupNorm.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4 — Technical Content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bridge to Module 5's frozen-backbone trap.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4 — Technical Content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why stepping OneCycle once per epoch compresses its intended trajectory.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4 — Technical Content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finder live and ask participants to identify the stable descent region.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4 — Technical Content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whether clipping fixes vanishing gradients—it does not.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4 — Technical Content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Values are synthetic teaching data. Ask which run supports each non-default setting.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4 — Hands-on Lab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Protect this full lab. The diagnosis skill transfers more widely than any single hyperparameter.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4 — Hands-on Lab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defects different from Lab 4. Score the reasoning trail, not just the final metric.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Assessment Package — Practical Assessment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which layers are most transferable from ImageNet to date fruit and why.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5 — Technical Content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Place Tamr-9, camera-trap IR, and X-ray examples in the quadrant.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5 — Technical Content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bit-identical frozen-backbone outputs across repeated forwards.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5 — Technical Content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sim-bn-drift variant and compare outputs to a correctly frozen twin.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5 — Technical Content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with the scramble: full unfreeze, one high LR, no warmup.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5 — Technical Content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what happens when fresh-head gradients hit the whole backbone at 3e-4 from step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5 — Technical Content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Break the contract with Tamr-9 stats and compare the accuracy delta. Treat the cited 4–6 pp as course reference, not a guarantee.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5 — Technical Content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licence courtroom and require a deploy/refuse verdict in one sentence.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5 — Technical Content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one team present the planted refusal and defend it as procurement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5 — Technical Content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Live-code the parameter groups and inspect their learning rates before training.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5 — Code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Clearly label these as course reference expectations. Do not present them as results from the delivered synthetic data pack.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5 — Benchmarks and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lab is overrun-prone. Pre-cache weights and use the checkpoint tag for environment blockers.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5 — Hands-on Lab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Reset the room around this day's promise. Preview the end-of-day artefact and the lab ratio.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Course Delivery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two-computers mental model for every device error and utilisation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6 — Technical Content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pairs find three hidden CPU tensor creation sites in a short snippet.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6 — Technical Content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 the DataLoader without the model before changing the network.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6 — Technical Content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bottleneck bingo using utilisation and timing traces.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6 — Technical Content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clear the values are illustrative. The course requires measured cohort-specific throughput tables.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6 — Benchmarks and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memory and throughput before/after on the same batch size.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6 — Technical Content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participants to locate the scaled-clip bug before revealing the correct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6 — Technical Content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the data version and git commit matter more than folklore about seeds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6 — Technical Content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reproducibility interrogation in pairs using another team's W&amp;B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6 — Technical Content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how a single click should trace the shipped model back to data and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6 — Technical Content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teams estimate run budget before launching: runs × epochs × time per epoch.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6 — Technical Content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values are synthetic. Use the slide only to practise reading a sweep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6 — Experiment Tracking.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the model card as an engineering interface, not marketing copy.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6 — Technical Content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capstone sweep must launch by the end of this hour so it can run during the break.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Module 6 — Hands-on Lab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Reset the room around this day's promise. Preview the end-of-day artefact and the lab ratio.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Course Delivery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Re-state the packing-house scenario and ask what management buys beyond an accuracy percentage.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Final Capstone Project — Project Scenario.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chain backward from the released model to the dataset hash.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Final Capstone Project —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Assign one owner per evidence object but require both partners to understand the whole chain.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Final Capstone Project —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 repository, W&amp;B, and Hub links before demos so evidence can be checked in advance.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Final Capstone Project — Milestones.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Grade from run evidence first. Accuracy without a reproducible pipeline cannot earn distinction.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Final Capstone Project — Grading Rubric.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criterion caps for test peeking, padded sweeps, incomplete cards, and unpinned revisions.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Final Capstone Project — Grading Rubric.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governance rationale explicit: test peeking turns the test set into another validation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Final Capstone Project —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 URLs at the end of Hour 4. Verify one random run's data version and commit.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Final Capstone Project —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 demos strictly. Ask one question that must be answered from tracking data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Final Capstone Project —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 each rubric criterion back to the module that taught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Instructor Guide — Wrap-up.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shipped artifact to the next learning path and the deep-learning badge.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Instructor Guide — Wrap-up.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each participant to name the habit that will save the most GPU time in their organisation.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INSTRUCTOR_PACKAGE.md — Instructor Guide — Wrap-up.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de244cd5fd4f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7782b60b414046" /><Relationship Type="http://schemas.openxmlformats.org/officeDocument/2006/relationships/slideLayout" Target="/ppt/slideLayouts/slideLayout1.xml" Id="Rd3cb092e64ec49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cb092e64ec49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8bff6f4c142fb" /><Relationship Type="http://schemas.openxmlformats.org/officeDocument/2006/relationships/image" Target="/ppt/media/image.png" Id="Rb4a81e9c30b2474e" /><Relationship Type="http://schemas.openxmlformats.org/officeDocument/2006/relationships/notesSlide" Target="/ppt/notesSlides/notesSlide1.xml" Id="Rb0185a63036e46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979b66da7489f" /><Relationship Type="http://schemas.openxmlformats.org/officeDocument/2006/relationships/notesSlide" Target="/ppt/notesSlides/notesSlide2.xml" Id="Rc851885922a243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b704107064d8f" /><Relationship Type="http://schemas.openxmlformats.org/officeDocument/2006/relationships/notesSlide" Target="/ppt/notesSlides/notesSlide3.xml" Id="R62ff574ffd8a46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f5e00a9734026" /><Relationship Type="http://schemas.openxmlformats.org/officeDocument/2006/relationships/notesSlide" Target="/ppt/notesSlides/notesSlide4.xml" Id="Rfbc1969770174d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3aa03fe904e62" /><Relationship Type="http://schemas.openxmlformats.org/officeDocument/2006/relationships/notesSlide" Target="/ppt/notesSlides/notesSlide5.xml" Id="Rf726ed1be03f48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0eafdea5a406e" /><Relationship Type="http://schemas.openxmlformats.org/officeDocument/2006/relationships/notesSlide" Target="/ppt/notesSlides/notesSlide6.xml" Id="R0f904c07534341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9679148b54d94" /><Relationship Type="http://schemas.openxmlformats.org/officeDocument/2006/relationships/notesSlide" Target="/ppt/notesSlides/notesSlide7.xml" Id="R2d47159bc1224a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c0f8e41174b79" /><Relationship Type="http://schemas.openxmlformats.org/officeDocument/2006/relationships/notesSlide" Target="/ppt/notesSlides/notesSlide8.xml" Id="R0cb4e50d573b49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e5fe29b9b4b25" /><Relationship Type="http://schemas.openxmlformats.org/officeDocument/2006/relationships/notesSlide" Target="/ppt/notesSlides/notesSlide9.xml" Id="R590f399a2db54e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65dbebae64025" /><Relationship Type="http://schemas.openxmlformats.org/officeDocument/2006/relationships/notesSlide" Target="/ppt/notesSlides/notesSlide10.xml" Id="Rc1397e75206d4c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288a7a6774986" /><Relationship Type="http://schemas.openxmlformats.org/officeDocument/2006/relationships/chart" Target="/ppt/slides/charts/chart1.xml" Id="R056bce9122aa4abf" /><Relationship Type="http://schemas.openxmlformats.org/officeDocument/2006/relationships/notesSlide" Target="/ppt/notesSlides/notesSlide11.xml" Id="Rc4f8c61ca00f43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4ad1631a94890" /><Relationship Type="http://schemas.openxmlformats.org/officeDocument/2006/relationships/notesSlide" Target="/ppt/notesSlides/notesSlide12.xml" Id="Rb7fb1dfa69c94b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7aa2c113a4606" /><Relationship Type="http://schemas.openxmlformats.org/officeDocument/2006/relationships/notesSlide" Target="/ppt/notesSlides/notesSlide13.xml" Id="R387c6aacd28d43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532f43d7844ef" /><Relationship Type="http://schemas.openxmlformats.org/officeDocument/2006/relationships/notesSlide" Target="/ppt/notesSlides/notesSlide14.xml" Id="Rd7e88d07001a49f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d692155d043a1" /><Relationship Type="http://schemas.openxmlformats.org/officeDocument/2006/relationships/notesSlide" Target="/ppt/notesSlides/notesSlide15.xml" Id="R0f2622483e59481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25240e6cd46ec" /><Relationship Type="http://schemas.openxmlformats.org/officeDocument/2006/relationships/notesSlide" Target="/ppt/notesSlides/notesSlide16.xml" Id="Rcbbf89729db847a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e7d14fe094da1" /><Relationship Type="http://schemas.openxmlformats.org/officeDocument/2006/relationships/notesSlide" Target="/ppt/notesSlides/notesSlide17.xml" Id="R35d3e4a2db574ed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54b4f4d244c82" /><Relationship Type="http://schemas.openxmlformats.org/officeDocument/2006/relationships/notesSlide" Target="/ppt/notesSlides/notesSlide18.xml" Id="R8b547c95b9ac41b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95621f54f4fb2" /><Relationship Type="http://schemas.openxmlformats.org/officeDocument/2006/relationships/notesSlide" Target="/ppt/notesSlides/notesSlide19.xml" Id="R313db843fcec43f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4b9ceb7a444d0" /><Relationship Type="http://schemas.openxmlformats.org/officeDocument/2006/relationships/notesSlide" Target="/ppt/notesSlides/notesSlide20.xml" Id="R40d6ba58ac6c44f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4b248e21f452d" /><Relationship Type="http://schemas.openxmlformats.org/officeDocument/2006/relationships/notesSlide" Target="/ppt/notesSlides/notesSlide21.xml" Id="Rfcf3ce9797fd4d1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ed589bfd14d66" /><Relationship Type="http://schemas.openxmlformats.org/officeDocument/2006/relationships/notesSlide" Target="/ppt/notesSlides/notesSlide22.xml" Id="R0069194aa6cc4b3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d398bd6664415" /><Relationship Type="http://schemas.openxmlformats.org/officeDocument/2006/relationships/notesSlide" Target="/ppt/notesSlides/notesSlide23.xml" Id="R8573e3497b64474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7c911a0b947f2" /><Relationship Type="http://schemas.openxmlformats.org/officeDocument/2006/relationships/notesSlide" Target="/ppt/notesSlides/notesSlide24.xml" Id="Rd39c6044ecfa494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fd9c450ce4065" /><Relationship Type="http://schemas.openxmlformats.org/officeDocument/2006/relationships/notesSlide" Target="/ppt/notesSlides/notesSlide25.xml" Id="R2bd163c4375f408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031c508c64849" /><Relationship Type="http://schemas.openxmlformats.org/officeDocument/2006/relationships/notesSlide" Target="/ppt/notesSlides/notesSlide26.xml" Id="R08ee7b7085ff493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fee72b5664e3c" /><Relationship Type="http://schemas.openxmlformats.org/officeDocument/2006/relationships/notesSlide" Target="/ppt/notesSlides/notesSlide27.xml" Id="R8d1b6b4ba0a54a3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0380003804362" /><Relationship Type="http://schemas.openxmlformats.org/officeDocument/2006/relationships/notesSlide" Target="/ppt/notesSlides/notesSlide28.xml" Id="R6b9ce599c3ae4c9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9602c8b5e4c1f" /><Relationship Type="http://schemas.openxmlformats.org/officeDocument/2006/relationships/notesSlide" Target="/ppt/notesSlides/notesSlide29.xml" Id="R833d6fd91e18430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c139dbab44ee2" /><Relationship Type="http://schemas.openxmlformats.org/officeDocument/2006/relationships/notesSlide" Target="/ppt/notesSlides/notesSlide30.xml" Id="Re1e978e5b7b246f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0af9e4a664438" /><Relationship Type="http://schemas.openxmlformats.org/officeDocument/2006/relationships/notesSlide" Target="/ppt/notesSlides/notesSlide31.xml" Id="Rb97fe9cc05a24de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e103ac0e64b7b" /><Relationship Type="http://schemas.openxmlformats.org/officeDocument/2006/relationships/notesSlide" Target="/ppt/notesSlides/notesSlide32.xml" Id="Rd209b19e7ac5403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e2e3e45174263" /><Relationship Type="http://schemas.openxmlformats.org/officeDocument/2006/relationships/notesSlide" Target="/ppt/notesSlides/notesSlide33.xml" Id="R5236097ceb974d6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0e5526d414d83" /><Relationship Type="http://schemas.openxmlformats.org/officeDocument/2006/relationships/notesSlide" Target="/ppt/notesSlides/notesSlide34.xml" Id="Re7ea813ccb12479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dab7955cf4e0b" /><Relationship Type="http://schemas.openxmlformats.org/officeDocument/2006/relationships/notesSlide" Target="/ppt/notesSlides/notesSlide35.xml" Id="R109a61c0bff848a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a39f0bd3f4257" /><Relationship Type="http://schemas.openxmlformats.org/officeDocument/2006/relationships/notesSlide" Target="/ppt/notesSlides/notesSlide36.xml" Id="Rb0f66a7be4fe49b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88ba849ac4a52" /><Relationship Type="http://schemas.openxmlformats.org/officeDocument/2006/relationships/notesSlide" Target="/ppt/notesSlides/notesSlide37.xml" Id="R1c5e4397865a435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49442112c48b0" /><Relationship Type="http://schemas.openxmlformats.org/officeDocument/2006/relationships/notesSlide" Target="/ppt/notesSlides/notesSlide38.xml" Id="R8981a3fc9d2d403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9ee3a3a0945f7" /><Relationship Type="http://schemas.openxmlformats.org/officeDocument/2006/relationships/notesSlide" Target="/ppt/notesSlides/notesSlide39.xml" Id="Rc247c4af0b754d3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ea540363144a9" /><Relationship Type="http://schemas.openxmlformats.org/officeDocument/2006/relationships/notesSlide" Target="/ppt/notesSlides/notesSlide40.xml" Id="R63b6272e6c2e4dc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0606f17e443ab" /><Relationship Type="http://schemas.openxmlformats.org/officeDocument/2006/relationships/notesSlide" Target="/ppt/notesSlides/notesSlide41.xml" Id="R0e9c6b25cea54b9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f250778974ec1" /><Relationship Type="http://schemas.openxmlformats.org/officeDocument/2006/relationships/notesSlide" Target="/ppt/notesSlides/notesSlide42.xml" Id="Rd2cdb13ec75b425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e930746634635" /><Relationship Type="http://schemas.openxmlformats.org/officeDocument/2006/relationships/notesSlide" Target="/ppt/notesSlides/notesSlide43.xml" Id="Re96d0c6d1e764cc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fdfb620c24145" /><Relationship Type="http://schemas.openxmlformats.org/officeDocument/2006/relationships/notesSlide" Target="/ppt/notesSlides/notesSlide44.xml" Id="R0c8f46304f274f6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174e6c0024838" /><Relationship Type="http://schemas.openxmlformats.org/officeDocument/2006/relationships/notesSlide" Target="/ppt/notesSlides/notesSlide45.xml" Id="Ra900dc4feda94b9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617489e294e03" /><Relationship Type="http://schemas.openxmlformats.org/officeDocument/2006/relationships/notesSlide" Target="/ppt/notesSlides/notesSlide46.xml" Id="Rc3b9b7c5d7a6428c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85701ec434cb7" /><Relationship Type="http://schemas.openxmlformats.org/officeDocument/2006/relationships/notesSlide" Target="/ppt/notesSlides/notesSlide47.xml" Id="R0e3eac5562594d4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f014de676458a" /><Relationship Type="http://schemas.openxmlformats.org/officeDocument/2006/relationships/notesSlide" Target="/ppt/notesSlides/notesSlide48.xml" Id="R7c058de147f64f9f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cd13fa38f4052" /><Relationship Type="http://schemas.openxmlformats.org/officeDocument/2006/relationships/notesSlide" Target="/ppt/notesSlides/notesSlide49.xml" Id="Ref5a6cd4c9724f1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30e66f44549e1" /><Relationship Type="http://schemas.openxmlformats.org/officeDocument/2006/relationships/notesSlide" Target="/ppt/notesSlides/notesSlide50.xml" Id="Re6cb55e0f30743ee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8e502ae684f4c" /><Relationship Type="http://schemas.openxmlformats.org/officeDocument/2006/relationships/notesSlide" Target="/ppt/notesSlides/notesSlide51.xml" Id="R38a2b1c81fa34df6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94c09e81e44b0" /><Relationship Type="http://schemas.openxmlformats.org/officeDocument/2006/relationships/notesSlide" Target="/ppt/notesSlides/notesSlide52.xml" Id="Re831284f171245d1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cccad0eda4bca" /><Relationship Type="http://schemas.openxmlformats.org/officeDocument/2006/relationships/notesSlide" Target="/ppt/notesSlides/notesSlide53.xml" Id="R09f4d42b713e451e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5c11a1c87419a" /><Relationship Type="http://schemas.openxmlformats.org/officeDocument/2006/relationships/chart" Target="/ppt/slides/charts/chart2.xml" Id="R8fee4d0713e245b2" /><Relationship Type="http://schemas.openxmlformats.org/officeDocument/2006/relationships/notesSlide" Target="/ppt/notesSlides/notesSlide54.xml" Id="R63fdae714e404524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7afc92d2545b4" /><Relationship Type="http://schemas.openxmlformats.org/officeDocument/2006/relationships/notesSlide" Target="/ppt/notesSlides/notesSlide55.xml" Id="Rb7743f10e9244272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82a4a6a57498d" /><Relationship Type="http://schemas.openxmlformats.org/officeDocument/2006/relationships/notesSlide" Target="/ppt/notesSlides/notesSlide56.xml" Id="R0dbb232173194a59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d3646c5144ad4" /><Relationship Type="http://schemas.openxmlformats.org/officeDocument/2006/relationships/notesSlide" Target="/ppt/notesSlides/notesSlide57.xml" Id="R02bdb10fe4cc479a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4cb1f50474a80" /><Relationship Type="http://schemas.openxmlformats.org/officeDocument/2006/relationships/notesSlide" Target="/ppt/notesSlides/notesSlide58.xml" Id="R88e002eaecd44b5e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9d3398eb04167" /><Relationship Type="http://schemas.openxmlformats.org/officeDocument/2006/relationships/notesSlide" Target="/ppt/notesSlides/notesSlide59.xml" Id="R6dde1ad2c5db49ea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a60a6a6754654" /><Relationship Type="http://schemas.openxmlformats.org/officeDocument/2006/relationships/chart" Target="/ppt/slides/charts/chart3.xml" Id="R61b4a1365cf24ad0" /><Relationship Type="http://schemas.openxmlformats.org/officeDocument/2006/relationships/notesSlide" Target="/ppt/notesSlides/notesSlide60.xml" Id="R313a87b5a12947cc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e74c2efd34a90" /><Relationship Type="http://schemas.openxmlformats.org/officeDocument/2006/relationships/notesSlide" Target="/ppt/notesSlides/notesSlide61.xml" Id="Rd90baf29a05b4f62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55cabcd6842b5" /><Relationship Type="http://schemas.openxmlformats.org/officeDocument/2006/relationships/notesSlide" Target="/ppt/notesSlides/notesSlide62.xml" Id="R67d05df34dc249ce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7a82f7be04ddb" /><Relationship Type="http://schemas.openxmlformats.org/officeDocument/2006/relationships/notesSlide" Target="/ppt/notesSlides/notesSlide63.xml" Id="R91e8714367464cd7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29ad6d8964627" /><Relationship Type="http://schemas.openxmlformats.org/officeDocument/2006/relationships/notesSlide" Target="/ppt/notesSlides/notesSlide64.xml" Id="R9d1a868de86c4a09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07b402f474766" /><Relationship Type="http://schemas.openxmlformats.org/officeDocument/2006/relationships/notesSlide" Target="/ppt/notesSlides/notesSlide65.xml" Id="R2041f33edba14cef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35b6f609a4994" /><Relationship Type="http://schemas.openxmlformats.org/officeDocument/2006/relationships/notesSlide" Target="/ppt/notesSlides/notesSlide66.xml" Id="Rf7c0309103d94873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2488edc4e408a" /><Relationship Type="http://schemas.openxmlformats.org/officeDocument/2006/relationships/notesSlide" Target="/ppt/notesSlides/notesSlide67.xml" Id="R282f330d3da748bb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d82732b43497a" /><Relationship Type="http://schemas.openxmlformats.org/officeDocument/2006/relationships/notesSlide" Target="/ppt/notesSlides/notesSlide68.xml" Id="R07ab1a98710242d8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03b3ef9494fd4" /><Relationship Type="http://schemas.openxmlformats.org/officeDocument/2006/relationships/notesSlide" Target="/ppt/notesSlides/notesSlide69.xml" Id="R30f5160b15204d78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52826917844c4" /><Relationship Type="http://schemas.openxmlformats.org/officeDocument/2006/relationships/notesSlide" Target="/ppt/notesSlides/notesSlide70.xml" Id="R8f2c86099a3c403d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2ada05bed455c" /><Relationship Type="http://schemas.openxmlformats.org/officeDocument/2006/relationships/notesSlide" Target="/ppt/notesSlides/notesSlide71.xml" Id="R62f13314ef46485c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a3e87d7a54326" /><Relationship Type="http://schemas.openxmlformats.org/officeDocument/2006/relationships/notesSlide" Target="/ppt/notesSlides/notesSlide72.xml" Id="Rc04ef3f836e74830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5ca56761f4df3" /><Relationship Type="http://schemas.openxmlformats.org/officeDocument/2006/relationships/notesSlide" Target="/ppt/notesSlides/notesSlide73.xml" Id="R8ea9822cf0b84e07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15d0430824682" /><Relationship Type="http://schemas.openxmlformats.org/officeDocument/2006/relationships/notesSlide" Target="/ppt/notesSlides/notesSlide74.xml" Id="Rc3c356688da54002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d4788abf9499e" /><Relationship Type="http://schemas.openxmlformats.org/officeDocument/2006/relationships/notesSlide" Target="/ppt/notesSlides/notesSlide75.xml" Id="R70d9b3a121d94cf8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16d45e3184836" /><Relationship Type="http://schemas.openxmlformats.org/officeDocument/2006/relationships/chart" Target="/ppt/slides/charts/chart4.xml" Id="R20ab66b3c9454e62" /><Relationship Type="http://schemas.openxmlformats.org/officeDocument/2006/relationships/notesSlide" Target="/ppt/notesSlides/notesSlide76.xml" Id="R93df35b8c7af49e3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2f32d02b34fbe" /><Relationship Type="http://schemas.openxmlformats.org/officeDocument/2006/relationships/notesSlide" Target="/ppt/notesSlides/notesSlide77.xml" Id="R068b583bfac447f0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8a4cf49db435a" /><Relationship Type="http://schemas.openxmlformats.org/officeDocument/2006/relationships/notesSlide" Target="/ppt/notesSlides/notesSlide78.xml" Id="R4216c264661048e7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2ac8bfcaf429a" /><Relationship Type="http://schemas.openxmlformats.org/officeDocument/2006/relationships/notesSlide" Target="/ppt/notesSlides/notesSlide79.xml" Id="Ra74d52371a3f496e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3038842c84f65" /><Relationship Type="http://schemas.openxmlformats.org/officeDocument/2006/relationships/notesSlide" Target="/ppt/notesSlides/notesSlide80.xml" Id="R619592d14c394b08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be14119d4469a" /><Relationship Type="http://schemas.openxmlformats.org/officeDocument/2006/relationships/notesSlide" Target="/ppt/notesSlides/notesSlide81.xml" Id="Rd784988f08034970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a6467cd284d7e" /><Relationship Type="http://schemas.openxmlformats.org/officeDocument/2006/relationships/notesSlide" Target="/ppt/notesSlides/notesSlide82.xml" Id="R8c6ea4a517754cb8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e0d0c9e8240a6" /><Relationship Type="http://schemas.openxmlformats.org/officeDocument/2006/relationships/chart" Target="/ppt/slides/charts/chart5.xml" Id="R83375fac713b4583" /><Relationship Type="http://schemas.openxmlformats.org/officeDocument/2006/relationships/notesSlide" Target="/ppt/notesSlides/notesSlide83.xml" Id="R7e2c72f445d24866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7ff8d89de467c" /><Relationship Type="http://schemas.openxmlformats.org/officeDocument/2006/relationships/notesSlide" Target="/ppt/notesSlides/notesSlide84.xml" Id="Rc635c5972816457f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55b0a9b5043ff" /><Relationship Type="http://schemas.openxmlformats.org/officeDocument/2006/relationships/notesSlide" Target="/ppt/notesSlides/notesSlide85.xml" Id="Red1de0cb6fdb4f6c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644544b8f48a9" /><Relationship Type="http://schemas.openxmlformats.org/officeDocument/2006/relationships/notesSlide" Target="/ppt/notesSlides/notesSlide86.xml" Id="Rbe5b549479ee469f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804b3dd0a4c4e" /><Relationship Type="http://schemas.openxmlformats.org/officeDocument/2006/relationships/notesSlide" Target="/ppt/notesSlides/notesSlide87.xml" Id="Rcb3d0d56c2f74dce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aff502b934c8f" /><Relationship Type="http://schemas.openxmlformats.org/officeDocument/2006/relationships/notesSlide" Target="/ppt/notesSlides/notesSlide88.xml" Id="Rebfdc716bd5e4958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9550f62df4528" /><Relationship Type="http://schemas.openxmlformats.org/officeDocument/2006/relationships/notesSlide" Target="/ppt/notesSlides/notesSlide89.xml" Id="R58da896f202843b8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0974024414ef9" /><Relationship Type="http://schemas.openxmlformats.org/officeDocument/2006/relationships/chart" Target="/ppt/slides/charts/chart6.xml" Id="R37bc80a7608643e5" /><Relationship Type="http://schemas.openxmlformats.org/officeDocument/2006/relationships/notesSlide" Target="/ppt/notesSlides/notesSlide90.xml" Id="Rf40703a78094413e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f5972707249c4" /><Relationship Type="http://schemas.openxmlformats.org/officeDocument/2006/relationships/notesSlide" Target="/ppt/notesSlides/notesSlide91.xml" Id="R94ae2e7f28a04e96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fe28f510245c2" /><Relationship Type="http://schemas.openxmlformats.org/officeDocument/2006/relationships/notesSlide" Target="/ppt/notesSlides/notesSlide92.xml" Id="Re3cbc6e264d04cd1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05049d3f2491c" /><Relationship Type="http://schemas.openxmlformats.org/officeDocument/2006/relationships/notesSlide" Target="/ppt/notesSlides/notesSlide93.xml" Id="R951ebb3dffef45df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e884dfd3845b0" /><Relationship Type="http://schemas.openxmlformats.org/officeDocument/2006/relationships/notesSlide" Target="/ppt/notesSlides/notesSlide94.xml" Id="R2809fb8c47e44fab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c32811f044a02" /><Relationship Type="http://schemas.openxmlformats.org/officeDocument/2006/relationships/notesSlide" Target="/ppt/notesSlides/notesSlide95.xml" Id="Rb02cb1e4b78243cd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7345f50274a9d" /><Relationship Type="http://schemas.openxmlformats.org/officeDocument/2006/relationships/notesSlide" Target="/ppt/notesSlides/notesSlide96.xml" Id="Rcd280a6c851940b8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a49a9e15e42f3" /><Relationship Type="http://schemas.openxmlformats.org/officeDocument/2006/relationships/notesSlide" Target="/ppt/notesSlides/notesSlide97.xml" Id="R9dccf378b7334451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6d0ce6c9b43e5" /><Relationship Type="http://schemas.openxmlformats.org/officeDocument/2006/relationships/notesSlide" Target="/ppt/notesSlides/notesSlide98.xml" Id="Re5f8f35565784f96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3a937eca04f47" /><Relationship Type="http://schemas.openxmlformats.org/officeDocument/2006/relationships/notesSlide" Target="/ppt/notesSlides/notesSlide99.xml" Id="R99db8ad1e5dc4665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9250bb635491f" /><Relationship Type="http://schemas.openxmlformats.org/officeDocument/2006/relationships/notesSlide" Target="/ppt/notesSlides/notesSlide100.xml" Id="R63300b79e1a246e0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7723393d24159" /><Relationship Type="http://schemas.openxmlformats.org/officeDocument/2006/relationships/notesSlide" Target="/ppt/notesSlides/notesSlide101.xml" Id="R1125641ddab74c5c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c556c3e764d9b" /><Relationship Type="http://schemas.openxmlformats.org/officeDocument/2006/relationships/notesSlide" Target="/ppt/notesSlides/notesSlide102.xml" Id="R2ec1a7a7e8db4d69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22191585d43bb" /><Relationship Type="http://schemas.openxmlformats.org/officeDocument/2006/relationships/notesSlide" Target="/ppt/notesSlides/notesSlide103.xml" Id="R85d5a0b05fe5443d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59b2cd22a4948" /><Relationship Type="http://schemas.openxmlformats.org/officeDocument/2006/relationships/notesSlide" Target="/ppt/notesSlides/notesSlide104.xml" Id="Rf8d48f3ea8714eb4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c980d324f4917" /><Relationship Type="http://schemas.openxmlformats.org/officeDocument/2006/relationships/notesSlide" Target="/ppt/notesSlides/notesSlide105.xml" Id="R667d8660e92d4ee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Sigmoid upper bound</c:v>
          </c:tx>
          <c:spPr>
            <a:ln xmlns:a="http://schemas.openxmlformats.org/drawingml/2006/main" w="28575">
              <a:solidFill>
                <a:srgbClr val="B91C1C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B91C1C"/>
              </a:solidFill>
            </c:spPr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0.000</c:formatCode>
              <c:ptCount val="8"/>
              <c:pt idx="0">
                <c:v>0.25</c:v>
              </c:pt>
              <c:pt idx="1">
                <c:v>0.0625</c:v>
              </c:pt>
              <c:pt idx="2">
                <c:v>0.0156</c:v>
              </c:pt>
              <c:pt idx="3">
                <c:v>0.0039</c:v>
              </c:pt>
              <c:pt idx="4">
                <c:v>0.001</c:v>
              </c:pt>
              <c:pt idx="5">
                <c:v>0.00024</c:v>
              </c:pt>
              <c:pt idx="6">
                <c:v>6.1E-05</c:v>
              </c:pt>
              <c:pt idx="7">
                <c:v>1.5E-05</c:v>
              </c:pt>
            </c:numLit>
          </c:val>
        </c:ser>
        <c:ser>
          <c:idx val="1"/>
          <c:order val="1"/>
          <c:tx>
            <c:v>Identity path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0.000</c:formatCode>
              <c:ptCount val="8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7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2F6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7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2607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Train loss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0"/>
              <c:pt idx="0">
                <c:v>1</c:v>
              </c:pt>
              <c:pt idx="1">
                <c:v>3</c:v>
              </c:pt>
              <c:pt idx="2">
                <c:v>5</c:v>
              </c:pt>
              <c:pt idx="3">
                <c:v>7</c:v>
              </c:pt>
              <c:pt idx="4">
                <c:v>9</c:v>
              </c:pt>
              <c:pt idx="5">
                <c:v>11</c:v>
              </c:pt>
              <c:pt idx="6">
                <c:v>13</c:v>
              </c:pt>
              <c:pt idx="7">
                <c:v>15</c:v>
              </c:pt>
              <c:pt idx="8">
                <c:v>17</c:v>
              </c:pt>
              <c:pt idx="9">
                <c:v>19</c:v>
              </c:pt>
            </c:numLit>
          </c:cat>
          <c:val>
            <c:numLit>
              <c:formatCode>0.0</c:formatCode>
              <c:ptCount val="10"/>
              <c:pt idx="0">
                <c:v>1.4</c:v>
              </c:pt>
              <c:pt idx="1">
                <c:v>0.95</c:v>
              </c:pt>
              <c:pt idx="2">
                <c:v>0.58</c:v>
              </c:pt>
              <c:pt idx="3">
                <c:v>0.35</c:v>
              </c:pt>
              <c:pt idx="4">
                <c:v>0.22</c:v>
              </c:pt>
              <c:pt idx="5">
                <c:v>0.15</c:v>
              </c:pt>
              <c:pt idx="6">
                <c:v>0.1</c:v>
              </c:pt>
              <c:pt idx="7">
                <c:v>0.08</c:v>
              </c:pt>
              <c:pt idx="8">
                <c:v>0.06</c:v>
              </c:pt>
              <c:pt idx="9">
                <c:v>0.05</c:v>
              </c:pt>
            </c:numLit>
          </c:val>
        </c:ser>
        <c:ser>
          <c:idx val="1"/>
          <c:order val="1"/>
          <c:tx>
            <c:v>Validation loss</c:v>
          </c:tx>
          <c:spPr>
            <a:ln xmlns:a="http://schemas.openxmlformats.org/drawingml/2006/main" w="28575">
              <a:solidFill>
                <a:srgbClr val="B91C1C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0"/>
              <c:pt idx="0">
                <c:v>1</c:v>
              </c:pt>
              <c:pt idx="1">
                <c:v>3</c:v>
              </c:pt>
              <c:pt idx="2">
                <c:v>5</c:v>
              </c:pt>
              <c:pt idx="3">
                <c:v>7</c:v>
              </c:pt>
              <c:pt idx="4">
                <c:v>9</c:v>
              </c:pt>
              <c:pt idx="5">
                <c:v>11</c:v>
              </c:pt>
              <c:pt idx="6">
                <c:v>13</c:v>
              </c:pt>
              <c:pt idx="7">
                <c:v>15</c:v>
              </c:pt>
              <c:pt idx="8">
                <c:v>17</c:v>
              </c:pt>
              <c:pt idx="9">
                <c:v>19</c:v>
              </c:pt>
            </c:numLit>
          </c:cat>
          <c:val>
            <c:numLit>
              <c:formatCode>0.0</c:formatCode>
              <c:ptCount val="10"/>
              <c:pt idx="0">
                <c:v>1.5</c:v>
              </c:pt>
              <c:pt idx="1">
                <c:v>1</c:v>
              </c:pt>
              <c:pt idx="2">
                <c:v>0.68</c:v>
              </c:pt>
              <c:pt idx="3">
                <c:v>0.48</c:v>
              </c:pt>
              <c:pt idx="4">
                <c:v>0.5</c:v>
              </c:pt>
              <c:pt idx="5">
                <c:v>0.61</c:v>
              </c:pt>
              <c:pt idx="6">
                <c:v>0.73</c:v>
              </c:pt>
              <c:pt idx="7">
                <c:v>0.86</c:v>
              </c:pt>
              <c:pt idx="8">
                <c:v>0.98</c:v>
              </c:pt>
              <c:pt idx="9">
                <c:v>1.1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7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2F6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7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2607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Cosine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1"/>
              <c:pt idx="0">
                <c:v>0</c:v>
              </c:pt>
              <c:pt idx="1">
                <c:v>10</c:v>
              </c:pt>
              <c:pt idx="2">
                <c:v>20</c:v>
              </c:pt>
              <c:pt idx="3">
                <c:v>30</c:v>
              </c:pt>
              <c:pt idx="4">
                <c:v>40</c:v>
              </c:pt>
              <c:pt idx="5">
                <c:v>50</c:v>
              </c:pt>
              <c:pt idx="6">
                <c:v>60</c:v>
              </c:pt>
              <c:pt idx="7">
                <c:v>70</c:v>
              </c:pt>
              <c:pt idx="8">
                <c:v>80</c:v>
              </c:pt>
              <c:pt idx="9">
                <c:v>90</c:v>
              </c:pt>
              <c:pt idx="10">
                <c:v>100</c:v>
              </c:pt>
            </c:numLit>
          </c:cat>
          <c:val>
            <c:numLit>
              <c:formatCode>0.0000</c:formatCode>
              <c:ptCount val="11"/>
              <c:pt idx="0">
                <c:v>0.003</c:v>
              </c:pt>
              <c:pt idx="1">
                <c:v>0.00293</c:v>
              </c:pt>
              <c:pt idx="2">
                <c:v>0.00271</c:v>
              </c:pt>
              <c:pt idx="3">
                <c:v>0.00238</c:v>
              </c:pt>
              <c:pt idx="4">
                <c:v>0.00196</c:v>
              </c:pt>
              <c:pt idx="5">
                <c:v>0.0015</c:v>
              </c:pt>
              <c:pt idx="6">
                <c:v>0.00104</c:v>
              </c:pt>
              <c:pt idx="7">
                <c:v>0.00062</c:v>
              </c:pt>
              <c:pt idx="8">
                <c:v>0.00029</c:v>
              </c:pt>
              <c:pt idx="9">
                <c:v>7E-05</c:v>
              </c:pt>
              <c:pt idx="10">
                <c:v>0</c:v>
              </c:pt>
            </c:numLit>
          </c:val>
        </c:ser>
        <c:ser>
          <c:idx val="1"/>
          <c:order val="1"/>
          <c:tx>
            <c:v>OneCycle</c:v>
          </c:tx>
          <c:spPr>
            <a:ln xmlns:a="http://schemas.openxmlformats.org/drawingml/2006/main" w="28575">
              <a:solidFill>
                <a:srgbClr val="D97706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1"/>
              <c:pt idx="0">
                <c:v>0</c:v>
              </c:pt>
              <c:pt idx="1">
                <c:v>10</c:v>
              </c:pt>
              <c:pt idx="2">
                <c:v>20</c:v>
              </c:pt>
              <c:pt idx="3">
                <c:v>30</c:v>
              </c:pt>
              <c:pt idx="4">
                <c:v>40</c:v>
              </c:pt>
              <c:pt idx="5">
                <c:v>50</c:v>
              </c:pt>
              <c:pt idx="6">
                <c:v>60</c:v>
              </c:pt>
              <c:pt idx="7">
                <c:v>70</c:v>
              </c:pt>
              <c:pt idx="8">
                <c:v>80</c:v>
              </c:pt>
              <c:pt idx="9">
                <c:v>90</c:v>
              </c:pt>
              <c:pt idx="10">
                <c:v>100</c:v>
              </c:pt>
            </c:numLit>
          </c:cat>
          <c:val>
            <c:numLit>
              <c:formatCode>0.0000</c:formatCode>
              <c:ptCount val="11"/>
              <c:pt idx="0">
                <c:v>0.0002</c:v>
              </c:pt>
              <c:pt idx="1">
                <c:v>0.0011</c:v>
              </c:pt>
              <c:pt idx="2">
                <c:v>0.0021</c:v>
              </c:pt>
              <c:pt idx="3">
                <c:v>0.003</c:v>
              </c:pt>
              <c:pt idx="4">
                <c:v>0.0028</c:v>
              </c:pt>
              <c:pt idx="5">
                <c:v>0.0024</c:v>
              </c:pt>
              <c:pt idx="6">
                <c:v>0.0019</c:v>
              </c:pt>
              <c:pt idx="7">
                <c:v>0.0013</c:v>
              </c:pt>
              <c:pt idx="8">
                <c:v>0.0007</c:v>
              </c:pt>
              <c:pt idx="9">
                <c:v>0.0002</c:v>
              </c:pt>
              <c:pt idx="10">
                <c:v>2E-05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7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00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2F6"/>
              </a:solidFill>
              <a:prstDash val="solid"/>
            </a:ln>
          </c:spPr>
        </c:majorGridlines>
        <c:numFmt formatCode="0.0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7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2607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Validation accuracy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Scratch · 100%</c:v>
              </c:pt>
              <c:pt idx="1">
                <c:v>Feature extract</c:v>
              </c:pt>
              <c:pt idx="2">
                <c:v>Fine-tune · 100%</c:v>
              </c:pt>
              <c:pt idx="3">
                <c:v>Scratch · 10%</c:v>
              </c:pt>
              <c:pt idx="4">
                <c:v>Fine-tune · 10%</c:v>
              </c:pt>
            </c:strLit>
          </c:cat>
          <c:val>
            <c:numLit>
              <c:formatCode>0%</c:formatCode>
              <c:ptCount val="5"/>
              <c:pt idx="0">
                <c:v>0.822</c:v>
              </c:pt>
              <c:pt idx="1">
                <c:v>0.89</c:v>
              </c:pt>
              <c:pt idx="2">
                <c:v>0.94</c:v>
              </c:pt>
              <c:pt idx="3">
                <c:v>0.55</c:v>
              </c:pt>
              <c:pt idx="4">
                <c:v>0.85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0B12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7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2F6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7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Images / second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Baseline</c:v>
              </c:pt>
              <c:pt idx="1">
                <c:v>+ workers</c:v>
              </c:pt>
              <c:pt idx="2">
                <c:v>+ pinned</c:v>
              </c:pt>
              <c:pt idx="3">
                <c:v>+ persistent</c:v>
              </c:pt>
              <c:pt idx="4">
                <c:v>+ AMP</c:v>
              </c:pt>
            </c:strLit>
          </c:cat>
          <c:val>
            <c:numLit>
              <c:formatCode>0</c:formatCode>
              <c:ptCount val="5"/>
              <c:pt idx="0">
                <c:v>180</c:v>
              </c:pt>
              <c:pt idx="1">
                <c:v>410</c:v>
              </c:pt>
              <c:pt idx="2">
                <c:v>505</c:v>
              </c:pt>
              <c:pt idx="3">
                <c:v>545</c:v>
              </c:pt>
              <c:pt idx="4">
                <c:v>780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0B12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7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9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2F6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7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Validation accuracy</c:v>
          </c:tx>
          <c:spPr>
            <a:solidFill xmlns:a="http://schemas.openxmlformats.org/drawingml/2006/main">
              <a:srgbClr val="2563EB"/>
            </a:solidFill>
          </c:spPr>
          <c:cat>
            <c:numLit>
              <c:formatCode>General</c:formatCode>
              <c:ptCount val="12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0%</c:formatCode>
              <c:ptCount val="12"/>
              <c:pt idx="0">
                <c:v>0.9168</c:v>
              </c:pt>
              <c:pt idx="1">
                <c:v>0.8716</c:v>
              </c:pt>
              <c:pt idx="2">
                <c:v>0.9167</c:v>
              </c:pt>
              <c:pt idx="3">
                <c:v>0.9184</c:v>
              </c:pt>
              <c:pt idx="4">
                <c:v>0.8904</c:v>
              </c:pt>
              <c:pt idx="5">
                <c:v>0.8828</c:v>
              </c:pt>
              <c:pt idx="6">
                <c:v>0.8849</c:v>
              </c:pt>
              <c:pt idx="7">
                <c:v>0.904</c:v>
              </c:pt>
              <c:pt idx="8">
                <c:v>0.881</c:v>
              </c:pt>
              <c:pt idx="9">
                <c:v>0.9044</c:v>
              </c:pt>
              <c:pt idx="10">
                <c:v>0.9065</c:v>
              </c:pt>
              <c:pt idx="11">
                <c:v>0.882</c:v>
              </c:pt>
            </c:numLit>
          </c:val>
        </c:ser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7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94"/>
          <c:min val="0.84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2F6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7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81e9c30b2474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1F660-CCB5-4612-9EBB-171D547C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5429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FFFFF"/>
                </a:solidFill>
              </a:defRPr>
            </a:pPr>
            <a:r>
              <a:rPr sz="4275" b="1">
                <a:solidFill>
                  <a:srgbClr val="FFFFFF"/>
                </a:solidFill>
              </a:rPr>
              <a:t>DEEP LEARNING ESSENTIALS</a:t>
            </a:r>
          </a:p>
          <a:p xmlns:a="http://schemas.openxmlformats.org/drawingml/2006/main">
            <a:pPr algn="l">
              <a:defRPr sz="4275" b="1">
                <a:solidFill>
                  <a:srgbClr val="FFFFFF"/>
                </a:solidFill>
              </a:defRPr>
            </a:pPr>
            <a:r>
              <a:rPr sz="4275" b="1">
                <a:solidFill>
                  <a:srgbClr val="FFFFFF"/>
                </a:solidFill>
              </a:rPr>
              <a:t>WITH PYTORCH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11D5F-55EB-46FE-A756-5F206811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07EB6-1EE3-4B8A-8A48-FE58AB21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529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SDA-AIE-112  ·  Practitioner  ·  20 hours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B7FB3-DCD5-4A42-99DF-875C2936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2E8F0"/>
                </a:solidFill>
              </a:defRPr>
            </a:pPr>
            <a:r>
              <a:rPr sz="1275" b="0">
                <a:solidFill>
                  <a:srgbClr val="E2E8F0"/>
                </a:solidFill>
              </a:rPr>
              <a:t>SDAIA Academy  |  AI Engineering Track</a:t>
            </a:r>
          </a:p>
        </p:txBody>
      </p:sp>
    </p:spTree>
    <p:extLst>
      <p:ext uri="{BB962C8B-B14F-4D97-AF65-F5344CB8AC3E}">
        <p14:creationId xmlns:p14="http://schemas.microsoft.com/office/powerpoint/2010/main" val="9482805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76C59-E498-477B-95F5-4346E7D2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21BD8-E9C9-46AE-AA0B-F2B26FD5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02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627E9B-105E-4C31-9A40-D914B8F5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One classifier carries the whole course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96CA2-FA20-4839-A781-7C9DE5A7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7048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Start with a gradient on paper. Finish with a tuned, tracked, GPU-trained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3AC85-2FC4-413C-AAFC-607CF3B8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47850"/>
            <a:ext cx="39147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CB22A-7A7F-440F-8B74-FFFE64DA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76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A1FED-291D-4A24-8DCD-904AB7DF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098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One evolving repository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6174A-9C96-4A56-A54D-8D673F31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24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B6627-249E-4E6E-B031-3E9AAA83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5755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Six labs, one capstone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B2E334-FBAE-4299-B65A-E78EAE35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71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F37B6-6C18-49C3-82BE-5ECCD63F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053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Evidence before intuition</a:t>
            </a:r>
          </a:p>
        </p:txBody>
      </p:sp>
    </p:spTree>
    <p:extLst>
      <p:ext uri="{BB962C8B-B14F-4D97-AF65-F5344CB8AC3E}">
        <p14:creationId xmlns:p14="http://schemas.microsoft.com/office/powerpoint/2010/main" val="2189700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67A90-78B0-4125-8DB4-5AD82C65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88B79-C8A5-4044-9D45-44FC4C84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03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3222B8-6028-4FC4-873B-9BED6DA5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The four-day learning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9E4EE-5B1A-4D82-9749-646DC643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Each day ends with a working component of Tamr Vision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981200"/>
          <a:ext xmlns:a="http://schemas.openxmlformats.org/drawingml/2006/main" cx="1139190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"/>
                <a:gridCol w="2381250"/>
                <a:gridCol w="3429000"/>
                <a:gridCol w="4914900"/>
              </a:tblGrid>
              <a:tr h="46863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Day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Theme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Core build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End-of-day evidence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How networks learn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Backprop + autograd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Gradient match within 1e-6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Training for real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Engine + CNN + GRU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First Tamr-9 baseline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Make training behave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Regularisation + transfer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Ablation-backed fine-tune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Scale, track, ship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GPU + W&amp;B + Hub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Reproducible final model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56332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C2E1A3-07BC-4318-BF0D-571AC18B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0B4E2-E3AE-4A3B-9880-C8AF02E5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04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022926-56D8-496A-AE88-157009F4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Tamr Vision grows one capability at a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C1FC5-5279-4410-B249-B1461209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170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C6C0D-917C-4597-BB9C-3794ED0C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840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1B873-2147-49E7-BBF4-5CE0DDF6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510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E439D-8496-466C-91BF-D77516EE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180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9B59F-7168-4D96-9B40-6697A00D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1ABE5-DD46-44F6-A195-D86297BC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AD837-64A0-4B3C-9DFE-BE72F697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Derive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B3509-0B8B-4462-86D6-C3DEE110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Understand the local gradients and failure signatures.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65A16-817C-433A-A358-846A4B5A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180975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731E6-1630-40BD-80F6-30CA741C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A843C-5367-4A7D-83ED-C8603704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55270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Build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0DDCA-90E1-4D87-B4B4-72511494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337185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Turn the mechanics into a reusable PyTorch engine.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F96E6-4E5F-4BBD-9597-10A17A7D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390" y="180975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67864B-BDA6-411E-8F12-19D649DD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CB6D98-FB56-4B88-821F-79C2DF78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55270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Stabilise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D66009-625A-4AC0-BDC2-05812468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337185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Use curves and ablations to choose interventions.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C060C3-BFC5-46DF-B090-58487E6E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180975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ABD94E-710B-46FD-BC3D-6319D0CA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37E6F5-7C15-4F39-B00E-7F651670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255270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Transfer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D57D0A-EAD0-4671-949D-5AA3368C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337185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Adapt pretrained features without breaking their contract.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0721F4-9F39-4129-8A26-F0AF4147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180975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DB0C2F-DE6D-4665-9A76-D28A4C46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872615-337E-4C4E-BE92-75144609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255270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Track + ship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58D069-AA2B-4E70-80C2-03C4D09E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337185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Make the winning model reproducible and reviewable.</a:t>
            </a:r>
          </a:p>
        </p:txBody>
      </p:sp>
    </p:spTree>
    <p:extLst>
      <p:ext uri="{BB962C8B-B14F-4D97-AF65-F5344CB8AC3E}">
        <p14:creationId xmlns:p14="http://schemas.microsoft.com/office/powerpoint/2010/main" val="21308843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B02FF-1DAF-4AA4-B975-0A2E932C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3DFC1-A927-4BCC-A2EA-AB70E4CB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05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3BFE00-B108-464E-B976-07BEC3EC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Assessment rewards evidence, not lucky accuracy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D55A1-A1C9-462A-880D-3D2515B2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Overall pass ≥ 70; capstone must also be ≥ 70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981200"/>
          <a:ext xmlns:a="http://schemas.openxmlformats.org/drawingml/2006/main" cx="1139190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428750"/>
                <a:gridCol w="7105650"/>
              </a:tblGrid>
              <a:tr h="46863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Primary evidence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Labs 1–6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45%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Commits, checkpoints, expected outputs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Practical assessments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Diagnosis and reproducibility artefacts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Quiz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5%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10-question closed-book selection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Capstone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40%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W&amp;B lineage, one test evaluation, model card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2473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7AADC8-94EA-4F98-8A83-A85DC7C6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</a:defRPr>
            </a:pPr>
            <a:r>
              <a:rPr sz="1200" b="1">
                <a:solidFill>
                  <a:srgbClr val="6DCBF4"/>
                </a:solidFill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BE5C3-DDD6-497F-9042-8F7CB51F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857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How networks 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A403F-4A3F-47D6-988B-F5A88F32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57002-F059-44D3-B3F0-97924261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790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Build mechanical confidence: forward pass, nonlinearities, chain rule, and autograd.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6B7A2-648B-4A00-9DF3-648D4C8C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6690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9AB05-2DE8-4868-9711-820A5B0A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66950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DE68A"/>
                </a:solidFill>
              </a:defRPr>
            </a:pPr>
            <a:r>
              <a:rPr sz="3900" b="1">
                <a:solidFill>
                  <a:srgbClr val="FDE68A"/>
                </a:solidFill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8D526-9800-4C0C-88F0-1273B893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575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learning hours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7C0C1-CBE6-440D-86F2-BF0B90FF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206430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A322EB-BC03-4691-B19A-3CE4E042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11140-FB48-437A-AB04-D5CA4E82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07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1557EB-A124-47F3-9EBF-19682FFF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Depth wins when structure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1F8A7-09E1-4DBA-9A7A-62ECDB57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5391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A8076-9C93-4E44-B61A-D26A274D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33550"/>
            <a:ext cx="5791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DF2D6-8A8C-45C0-82EE-D8329221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Classical ML remains strong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1AF43-1881-4505-88D6-D9138B97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Deep learning earns its cost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73D73-1766-464B-ABFC-CA1F9F27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2C142-D600-41D6-B0E0-754BE0F5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Tabular data with engineered features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D0AC3-818E-46F6-B7AA-16C315C2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BFFFD-36B8-46F3-A88A-B9379472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28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Small, clean datasets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56050-7EDC-4F20-895E-ADEA7F4F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F31744-1D8F-4BD4-87A4-4D4E42BA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815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Fast, interpretable baselines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AA6A9-4D06-4EB3-8118-CDB70211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11BFF5-7907-4B2A-A323-2F1FF741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Images and perception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461EDF-D882-4E5D-9CE4-FD4CF499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ED7520-0DD4-43D4-BBF4-70DFB977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528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Sequences and representation learning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D414FC-6ECE-47CD-9980-C30D1126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2E8594-A441-4ED7-B0FB-1BFF58D4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815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Large or transferable feature hierarchies</a:t>
            </a:r>
          </a:p>
        </p:txBody>
      </p:sp>
    </p:spTree>
    <p:extLst>
      <p:ext uri="{BB962C8B-B14F-4D97-AF65-F5344CB8AC3E}">
        <p14:creationId xmlns:p14="http://schemas.microsoft.com/office/powerpoint/2010/main" val="15036148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F26F4-F71C-469B-AE76-07E20B58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5A77D-7675-45A5-81CE-31CFAB5B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08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48DFDC-9C41-41A9-928A-761A009F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Without nonlinearities, depth collapses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B91B5-4CBE-4980-89D3-124E99A4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7048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W₂(W₁x) = (W₂W₁)x — stacked linear layers still draw a flat boundary.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BD6B4-64CF-41AC-896B-899AB6E5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47850"/>
            <a:ext cx="39147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6AE60-C699-430A-9915-67657794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76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9CDB7-EA0E-4723-A863-8E4A4B8A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098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Nonlinearity creates bends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347A9-1938-4906-8083-14147ACC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24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EB090-91AD-43EE-B590-4E6DFD0A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5755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Architecture encodes a prior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47795-C79F-46CC-B44C-6983175D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71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3B70D6-DA58-47FC-90A8-11713C2F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053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Depth builds feature hierarchies</a:t>
            </a:r>
          </a:p>
        </p:txBody>
      </p:sp>
    </p:spTree>
    <p:extLst>
      <p:ext uri="{BB962C8B-B14F-4D97-AF65-F5344CB8AC3E}">
        <p14:creationId xmlns:p14="http://schemas.microsoft.com/office/powerpoint/2010/main" val="11974269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0D8259-ACC5-4AE1-BE53-0CEC3D74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DFA3A-AA4D-42A3-8012-B702D53D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09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0FA012-2280-4C04-937D-97EDEB72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A layer repeats two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326D7-81F6-4D9B-9C7E-759B62C0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Keep this notation unchanged for all four days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89568-6C00-47DF-9E19-69A028C3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37147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05CDC-DF76-4DD7-91C2-F8775A5B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37147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9AF19-71A7-4F3B-9AD0-D9BD2C9E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68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49BA6-59A6-4819-A6CD-1C139EA2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92BF8-1263-40A7-A3E2-99074016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3263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Linear 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F74A8-E976-4293-985A-259E131E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32639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z⁽ˡ⁾ = W⁽ˡ⁾a⁽ˡ⁻¹⁾ + b⁽ˡ⁾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22276-3400-4B6A-8688-822B18BC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095500"/>
            <a:ext cx="368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E4C66-74A2-4BF9-889A-0D6683C1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305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C8556-3F84-4CF1-9A1D-C2479656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838450"/>
            <a:ext cx="3263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Activation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355A1-53EC-4F35-92DC-0D5FE9E4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3657600"/>
            <a:ext cx="32639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a⁽ˡ⁾ = φ(z⁽ˡ⁾)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016C4-79C4-41B4-9A22-416949A4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2095500"/>
            <a:ext cx="368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208AD-8E1D-4330-A077-C2D62666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305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1730D-7521-40EB-B4A0-9A4671D5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838450"/>
            <a:ext cx="3263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Logits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4ACC5C-19A2-4857-8503-C5B88D4D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3657600"/>
            <a:ext cx="32639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The final z is unnormalised class evidence.</a:t>
            </a:r>
          </a:p>
        </p:txBody>
      </p:sp>
    </p:spTree>
    <p:extLst>
      <p:ext uri="{BB962C8B-B14F-4D97-AF65-F5344CB8AC3E}">
        <p14:creationId xmlns:p14="http://schemas.microsoft.com/office/powerpoint/2010/main" val="19839226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A7C39-23A4-46A1-953E-8CCA5C0C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3080E-EC2F-4C99-AD37-5E52EBCC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10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BEAAF7-EF0E-4D20-9FA8-2FA0E2E4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Activation choice is gradient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0CA7A-90DA-460B-878F-F7E874D7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Know the derivative behaviour, not just the curve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981200"/>
          <a:ext xmlns:a="http://schemas.openxmlformats.org/drawingml/2006/main" cx="113919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762250"/>
                <a:gridCol w="3143250"/>
                <a:gridCol w="3486150"/>
              </a:tblGrid>
              <a:tr h="4667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Activation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Derivative behaviour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Failure mode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Typical use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Sigmoid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≤ 0.25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Both tails saturate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Binary output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Tanh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≤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Still saturates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RNN gates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ReLU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0 or 1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Dead units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CNN/MLP default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Leaky ReLU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α or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Adds α knob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Dead-ReLU alternative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GELU / SiLU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Smooth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Slight cost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Modern nets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7779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5BA666-EB39-4064-8117-29FAD87D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79F1A-18C2-4E34-A0D8-57F7DF9B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11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AE4FDB-DE09-4537-B86A-A98546F9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Saturation compounds across depth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BBEBE-8B10-48F2-9D7C-214BC88B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Illustrative gradient multiplier by layer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6953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6bce9122aa4ab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0E966-6B8F-4C15-B2BD-0036C6E2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809750"/>
            <a:ext cx="41052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69022-949F-4650-9D99-4E7F154A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The multiplying effect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D6C74-FE6E-4279-A219-7C2EE946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924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6DD99-F288-42A3-9825-8D3D3E40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57500"/>
            <a:ext cx="3314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Ten saturated layers can erase early gradients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4BC57-12B0-4F27-9D53-E9A565DC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810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D0FC6-BEC4-410C-B171-EBBFFD46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743325"/>
            <a:ext cx="3314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Residual paths preserve a direct 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37BAE-072F-48F4-A896-CD6C5806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695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CF779-BDF2-4440-B512-D7462389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629150"/>
            <a:ext cx="3314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Inspect per-layer norms; do not guess</a:t>
            </a:r>
          </a:p>
        </p:txBody>
      </p:sp>
    </p:spTree>
    <p:extLst>
      <p:ext uri="{BB962C8B-B14F-4D97-AF65-F5344CB8AC3E}">
        <p14:creationId xmlns:p14="http://schemas.microsoft.com/office/powerpoint/2010/main" val="13382157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A33B07-46FC-4A90-8D46-A98F9275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26F30-E4E9-480E-8AFA-9706711A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12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83B760-B16D-4DB6-8D7E-3D13F6A3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Cross-entropy wants logits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D5D4C-45E8-4E70-A7C6-F7363722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5391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C8A8F-4B59-4C81-ADF1-2F81496F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33550"/>
            <a:ext cx="5791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0BA7A-293C-4E52-92C8-AAAE2A26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Correct contract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F146B-F964-4440-8DAC-1C07EDB5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Silent near-correctness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6E542-6CA4-419F-B45C-1D47F68E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FF4FF-FE1D-4304-BB24-D48BEE47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Model outputs raw logits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AE1D2-649E-4F31-B689-4D0D49C5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1296B-4D32-4FE2-BB60-016733FF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28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CrossEntropyLoss applies stable log-softmax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7893FC-1F5A-432E-97FC-A2390230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F0F1A2-1701-4E6D-998D-061495B2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815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Gradient: predicted − true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03146-0431-4037-84D2-72D1B0CE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FC46A-D0DD-416B-A3E0-229C55CE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Applying softmax before the loss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86D81A-62E0-449E-91A4-88C1E300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22ECAB-77AB-4501-912A-75ED40E2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528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Gradients get crushed twice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CB95FD-13BA-4987-8362-2AB5FBFC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50820-2678-4FEA-9E76-17B525E6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815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Training continues—but caps low</a:t>
            </a:r>
          </a:p>
        </p:txBody>
      </p:sp>
    </p:spTree>
    <p:extLst>
      <p:ext uri="{BB962C8B-B14F-4D97-AF65-F5344CB8AC3E}">
        <p14:creationId xmlns:p14="http://schemas.microsoft.com/office/powerpoint/2010/main" val="14029655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C33BE-DF6D-4BE6-BAF9-7AA62BFD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FCFAE-D1C3-44E1-8204-9CC4265D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13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605031-481B-4146-8B94-7C628B7D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ln(C) is your first diagnostic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54600-E535-491B-B314-FED9CE84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7048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For nine classes, a healthy untrained loss starts near ln(9) = 2.197.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6FBDE-D7B7-426E-A62A-814D58B1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47850"/>
            <a:ext cx="39147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54169-9C77-45E2-A916-89621815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76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C47AB-1BC3-4D83-937B-AAB93CE1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098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Pinned there: learning is broken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8CEFD-E56A-49A7-9E4C-5FCF2E6D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24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B7217-FB0D-47C3-A219-620CC2B8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5755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Far above: inspect inputs and init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C0E1B-29E2-4A2B-9370-5BCA5F02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71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D20DB-F62D-4CB9-9DE3-C740310F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053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Falling below: signal is entering</a:t>
            </a:r>
          </a:p>
        </p:txBody>
      </p:sp>
    </p:spTree>
    <p:extLst>
      <p:ext uri="{BB962C8B-B14F-4D97-AF65-F5344CB8AC3E}">
        <p14:creationId xmlns:p14="http://schemas.microsoft.com/office/powerpoint/2010/main" val="21147616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0C0AC0-8895-4ED9-8C33-50C2DF2F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67606-9F90-40D5-9B49-F5C468EE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14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777D41-F5D6-403C-8CF9-D5BFE006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Backprop is cached chain-rule bookkeeping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EA46E-905E-42D3-9104-0E0516F5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170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433F4-22BB-4115-AB8E-24B770E7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840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B601D-C9DB-4EE0-BC37-967237C5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510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24510-1B89-4049-B05A-89EE39AF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180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1E470-C698-4AFE-AE68-F7FFAF48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AE5D6-0896-4376-8FA5-2408C7A4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AB34C-1C85-44D9-A77B-C6DEE477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Forward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18A21E-7A94-49CF-A025-9ABA4602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Store x, z₁, a₁, z₂.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27FA7-1CEF-4F1A-92E7-E0BAC1BD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180975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8583F-C998-465A-875C-D9A31909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5A0205-72C7-498C-8F8D-A1C0EC99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55270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Output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9F580-E970-4F27-89F5-8607076F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337185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δ₂ = softmax(z₂) − onehot(y).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29A7E-9B33-4ED8-902D-33F7A6D8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390" y="180975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98CF7A-6339-434C-9F0E-8F00FC06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C2778B-4672-4C37-92CA-69D001A1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55270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Layer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FC0248-AF3B-414E-A25B-1B556A61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337185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∂L/∂W₂ = δ₂a₁ᵀ.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2F76E0-8404-4225-9923-BA93B185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180975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FE2E1D-ED37-4FBC-9AF2-99558D32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893F60-543B-4075-8580-84BF1E7C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255270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Activation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2A4BA4-D2BB-493F-95E9-F7A26F02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337185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δ₁ = W₂ᵀδ₂ ⊙ ReLU′(z₁).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B0B0BB-58F3-444E-A3C2-E2649D8A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180975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D73416-5F8F-492E-8633-DE6A5EFF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521BDF-1713-4006-B45E-E4638C51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255270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Layer 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20CB58-FBED-4F6D-8868-1C38B365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337185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∂L/∂W₁ = δ₁xᵀ.</a:t>
            </a:r>
          </a:p>
        </p:txBody>
      </p:sp>
    </p:spTree>
    <p:extLst>
      <p:ext uri="{BB962C8B-B14F-4D97-AF65-F5344CB8AC3E}">
        <p14:creationId xmlns:p14="http://schemas.microsoft.com/office/powerpoint/2010/main" val="19128260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D20009-AE64-4D95-AA9B-E612EEA7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3395E-7755-48F1-A2C8-AFA49E7D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15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6B087B-BE05-4CBD-BE45-00DB2256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Gradients use the forward path in reverse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5FA5E-A4BE-472D-9765-70712D9D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5391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B0998-81F7-44A4-89BD-1458ED5D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33550"/>
            <a:ext cx="5791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64B1B-85E5-45BC-9C95-9CACB46A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Local information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24EFF-651D-4350-AC19-2AF5B082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Global consequence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7BAD7-141F-4B93-A9C7-83635886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D52C4-2852-47F0-A6C7-46ED5B75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Stored forward 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5121C0-B9E9-4CEF-9909-2BA90D36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5903E-2ADC-4F34-92D1-63466B51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28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Incoming gradient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AFC16-490C-4B92-BC99-6290951D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6B86C-7508-4A55-A890-0817AD6C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815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Layer-local derivative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CCB5C-4DE2-4506-8627-700C272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064B3-B8F0-49EF-8EA7-FCAD53C4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Bad weight scale corrupts both directions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F0DFFD-9839-4655-A9F9-CB617426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B29CF-9385-43F3-B502-2BC5B97B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528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Dead ReLU mask zeros the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AB7104-2BAC-4903-8F64-F87B1EE9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C9CA13-DEA9-47DA-BAB3-BB34C170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815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Depth multiplies every local factor</a:t>
            </a:r>
          </a:p>
        </p:txBody>
      </p:sp>
    </p:spTree>
    <p:extLst>
      <p:ext uri="{BB962C8B-B14F-4D97-AF65-F5344CB8AC3E}">
        <p14:creationId xmlns:p14="http://schemas.microsoft.com/office/powerpoint/2010/main" val="8962512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32EB2-1E0F-47B3-96DC-CCA2D7CE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9ADD1-63A2-4B96-B9FF-5538EE2A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16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A9D61A-82AC-49A4-A800-B61BFED1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Initialisation keeps variance alive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337DE-A42D-4C88-92C9-6A29E981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Match the scheme to the activation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981200"/>
          <a:ext xmlns:a="http://schemas.openxmlformats.org/drawingml/2006/main" cx="113919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905000"/>
                <a:gridCol w="3429000"/>
                <a:gridCol w="3771900"/>
              </a:tblGrid>
              <a:tr h="471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Scheme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Best match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Core idea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Failure it prevents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Xavier / Glorot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tanh-like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Scale by fan average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Variance drift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Kaiming / He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ReLU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Compensate for half-zero outputs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Early-layer starvation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Large random ×5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none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Oversized logits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Saturation / explosion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6426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5F0BB-ECB3-44FF-8049-3C0B0D35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C7BC1-EF76-4553-9EAC-01EC2083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17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BE3C3A-2509-4C24-ABB9-91BBD885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Read the symptom before choosing the fix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BC24D-0F70-4DCF-8863-BF1A6009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Failure signatures are clues, not diagnoses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981200"/>
          <a:ext xmlns:a="http://schemas.openxmlformats.org/drawingml/2006/main" cx="113919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714750"/>
                <a:gridCol w="5200650"/>
              </a:tblGrid>
              <a:tr h="4667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Symptom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Likely cause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First check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Loss ≈ ln(C)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No learning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Overfit one batch; gradients; labels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Loss starts huge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Bad init / raw inputs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Input stats and logit magnitude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Loss → NaN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Explosion / LR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Gradient norm; lower LR 10×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Many zeros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Dying ReLU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Activation zero fraction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Deep trains worse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Vanishing gradient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Per-layer norm histogram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71056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83572-A6B5-418D-A510-B7CD7A14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17073-8D53-4444-A6DF-2779BE51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18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ECD6C0-7DC0-4ED6-B104-6D12D490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The micro-network exposes every gradient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1C966-FBEE-4239-8BA9-945C9F5C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733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71"/>
                </a:solidFill>
              </a:defRPr>
            </a:pPr>
            <a:r>
              <a:rPr sz="1650" b="0">
                <a:solidFill>
                  <a:srgbClr val="526071"/>
                </a:solidFill>
              </a:rPr>
              <a:t>Use NumPy once so every cached tensor and derivative is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CDFF3-B7CA-4E77-89B7-33A0268F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52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3C939-BC98-422D-AB36-CC2E4A80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52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Print tensor shapes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257DF-B5CE-4574-9751-1D5BBB9B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A14E6-7524-486D-A45C-C90C5D7C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352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Check each local derivative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A884C-06D1-44A2-A022-4CD38620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C21D09-A585-4770-A68C-334D349E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352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Compare against autograd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6BA2F8-F5E4-4E18-BA22-C518246A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409700"/>
            <a:ext cx="735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49998-3B21-4B9C-89C8-4B25B03B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57350"/>
            <a:ext cx="685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def forward(x, W1, b1, W2, b2):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z1 = W1 @ x + b1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a1 = np.maximum(z1, 0)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z2 = W2 @ a1 + b2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return z1, a1, z2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def backward(x, y, cache, W2):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z1, a1, z2 = cache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d2 = softmax(z2) - onehot(y)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dW2 = np.outer(d2, a1)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d1 = (W2.T @ d2) * (z1 &gt; 0)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dW1 = np.outer(d1, x)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return dW1, dW2</a:t>
            </a:r>
          </a:p>
        </p:txBody>
      </p:sp>
    </p:spTree>
    <p:extLst>
      <p:ext uri="{BB962C8B-B14F-4D97-AF65-F5344CB8AC3E}">
        <p14:creationId xmlns:p14="http://schemas.microsoft.com/office/powerpoint/2010/main" val="12258109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6D6C5A-A69D-46F1-A72C-E0F0FCE9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C30AA-F88A-4FA6-BE3D-E4BBB7C6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19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190F5F-55CE-4583-9FF8-DDF3C1D6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Autograd verifies the algebra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6F271-F8E5-41C3-9B20-2C4271F0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733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71"/>
                </a:solidFill>
              </a:defRPr>
            </a:pPr>
            <a:r>
              <a:rPr sz="1650" b="0">
                <a:solidFill>
                  <a:srgbClr val="526071"/>
                </a:solidFill>
              </a:rPr>
              <a:t>A passing gradient match is permission to stop hand-deriving and start building.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2FCE1-4966-47B3-879A-5DD3E65F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52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2A51A-A9F3-4BEB-8537-84AC8C97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52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Match within 1e-6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1752D-9BE6-47A8-A9F3-C2A3D687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F16A2-954E-4A65-97D9-9223E010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352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Detach on 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9E691-9A42-4C6B-87C9-24435E67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564E68-56CF-496F-B7BE-6B3B4946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352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Observe graph loss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36745-263B-4CB7-A4C6-B04C4CE3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409700"/>
            <a:ext cx="735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DA4F3-F9F7-46D5-BD5A-7237B754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57350"/>
            <a:ext cx="685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x = torch.tensor(x_np, requires_grad=False)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W1 = torch.tensor(W1_np, requires_grad=True)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W2 = torch.tensor(W2_np, requires_grad=True)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z1 = W1 @ x + b1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a1 = torch.relu(z1)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logits = W2 @ a1 + b2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loss = F.cross_entropy(logits[None], y[None])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loss.backward()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assert np.allclose(W1.grad.numpy(), dW1_np, atol=1e-6)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assert np.allclose(W2.grad.numpy(), dW2_np, atol=1e-6)</a:t>
            </a:r>
          </a:p>
        </p:txBody>
      </p:sp>
    </p:spTree>
    <p:extLst>
      <p:ext uri="{BB962C8B-B14F-4D97-AF65-F5344CB8AC3E}">
        <p14:creationId xmlns:p14="http://schemas.microsoft.com/office/powerpoint/2010/main" val="2890033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1600E8-32AE-49FF-A94D-30872B44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D2FE"/>
                </a:solidFill>
              </a:defRPr>
            </a:pPr>
            <a:r>
              <a:rPr sz="975" b="1">
                <a:solidFill>
                  <a:srgbClr val="C7D2FE"/>
                </a:solidFill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6B8D8-BDA2-48B2-A819-029EB0C1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20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769484-ED0D-4682-8CD5-4C6E3AAC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Lab 1 — Backprop by hand, then autograd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3147F-D283-40E3-88D5-78CAE513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Derive, implement, verify, and break a two-layer classifier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77663-B043-4056-A87D-330A3B2B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2681288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E48D7-DE74-4D36-AD48-BD650E37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23383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906AF-3ED1-44F9-B959-B03BF60A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23383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Paper derivation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A9F09-F5D7-4402-9A50-4D466384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23383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Complete the six-step backward pass and annotate every shape.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EC6A9-1B5C-4FF3-AAF5-809C64A3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266950"/>
            <a:ext cx="2681288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2333A-CDB9-4292-8C67-99300C8C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2457450"/>
            <a:ext cx="23383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64A41-12F4-4651-BCF4-C18A98D7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2876550"/>
            <a:ext cx="23383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NumPy 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5AFD3-1D38-4A79-B55C-7DE4F1E9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3600450"/>
            <a:ext cx="23383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Train on digits_500.npz and reach the target loss.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1F165-41E0-42F2-9440-33E4D82E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266950"/>
            <a:ext cx="2681288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AA1C1-C3AF-499C-849E-F00BF508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57450"/>
            <a:ext cx="23383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20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736A3-DF81-45DF-AA22-EEA3D443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76550"/>
            <a:ext cx="23383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Autograd 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61C1F-A7F5-4C23-85F9-ADE31014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00450"/>
            <a:ext cx="23383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Match every parameter gradient within 1e-6.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FF445-BBB7-4819-A36B-139EA54E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66950"/>
            <a:ext cx="2681288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00643-816E-4FF5-BC35-44EBFAB3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457450"/>
            <a:ext cx="23383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15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A18280-685D-454D-B770-466F0DD0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876550"/>
            <a:ext cx="23383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Failure lab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7D5A5F-8C38-42B6-8855-709F7A73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600450"/>
            <a:ext cx="23383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Trigger saturation or a dead ReLU and diagnose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7DD0E1-18C3-49B4-813E-9148D177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864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DE68A"/>
                </a:solidFill>
              </a:defRPr>
            </a:pPr>
            <a:r>
              <a:rPr sz="1425" b="1">
                <a:solidFill>
                  <a:srgbClr val="FDE68A"/>
                </a:solidFill>
              </a:rPr>
              <a:t>DELIVERABLE  Gradient-match test green + one documented failure signature</a:t>
            </a:r>
          </a:p>
        </p:txBody>
      </p:sp>
    </p:spTree>
    <p:extLst>
      <p:ext uri="{BB962C8B-B14F-4D97-AF65-F5344CB8AC3E}">
        <p14:creationId xmlns:p14="http://schemas.microsoft.com/office/powerpoint/2010/main" val="11573484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B1EE6-3B9B-4798-8BA4-320218B0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8C2C2-0614-4940-9DE4-D457C313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21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C34EDB-E612-43E9-B829-B9DD6B8D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Lab 1 sign-off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F75B2-6554-44FE-B0C9-89E99D8E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Do not move on until the gradient contract is green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981200"/>
          <a:ext xmlns:a="http://schemas.openxmlformats.org/drawingml/2006/main" cx="1139190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095750"/>
                <a:gridCol w="4629150"/>
              </a:tblGrid>
              <a:tr h="46863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Pass evidence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If it fails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Forward shapes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All annotated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Trace one sample, not a batch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Gradient 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atol ≤ 1e-6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Check transpose and ReLU mask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Loss decreases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Tiny set memorised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Inspect labels and learning rate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Failure explanation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Symptom + first check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Run differential diagnosis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107840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01606-8CE9-451C-8812-242E755B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</a:defRPr>
            </a:pPr>
            <a:r>
              <a:rPr sz="1200" b="1">
                <a:solidFill>
                  <a:srgbClr val="6DCBF4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4BEDA-70D3-4418-817E-D56B5AAE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857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Training for real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1C895-661D-435F-BAB7-D9615845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3891B-11B0-427A-9296-BB98C26C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790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Turn autograd into a reusable engine, then apply architectural priors to images and sequences.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03FA8-BA82-4820-8A3F-6DC35F0B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6690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CCE65-5DE1-437B-935C-42C9D21F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66950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DE68A"/>
                </a:solidFill>
              </a:defRPr>
            </a:pPr>
            <a:r>
              <a:rPr sz="3900" b="1">
                <a:solidFill>
                  <a:srgbClr val="FDE68A"/>
                </a:solidFill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3E4E9-A403-462B-B150-0F14F188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575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learning hours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BD1AB-9B6F-43EA-897A-B7532347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66649265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21FF9-0B24-4FD8-BE18-3FD050D4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AF67E-FC76-4A2C-B526-4AB61EE4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23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923DB8-EA7C-461B-85C2-8654FF4B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Five tensor properties explain most errors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8A1AD-30A0-43EA-A20A-52594DA5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Name them before changing code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981200"/>
          <a:ext xmlns:a="http://schemas.openxmlformats.org/drawingml/2006/main" cx="113919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429000"/>
                <a:gridCol w="5867400"/>
              </a:tblGrid>
              <a:tr h="4667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Property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Common failure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Shape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What axes exist?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Batch/channel swap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Dtype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Float, long, bool?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Float labels into 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Device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CPU or CUDA?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Mixed-device operation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Layout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Contiguous / viewable?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Invalid 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Grad state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Recorded or detached?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Missing gradient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30028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213A6B-A6D6-40E5-AF36-A8AB3FB8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48265-5FD2-469B-BEF5-B9D0E5F6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24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04B093-D97A-47D2-9AE6-A679A814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Broadcasting is powerful—and silent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93788-5BDF-4240-BD31-5605743F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5391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30F1D-5CCA-49B1-AD3E-B5695714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33550"/>
            <a:ext cx="5791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3F581-36B2-4E56-9B95-C7FEF52B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Use it deliberately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761F0-C2AC-4395-965F-1AC713C1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Watch for silent bugs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AE841-3A05-432B-B65C-1B7ECA83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E25E5-2642-4B00-967B-F0A78446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Align trailing dimensions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121094-AD83-4AFB-B715-E908BC10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AF623-C661-4ED1-BE01-6F0A5B27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28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Add asserts at module boundaries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E8B79-6BD7-49F7-BFB8-091077D3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265FA-C858-46A7-BF72-FA9F8564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815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Use reshape/permute with named intent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B9F50-A4B8-49A5-A922-C0509FE6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04DBBC-501B-465F-8695-53E290D2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(B,C) + (B,1) may be intended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5E4F24-9F2D-4F49-9A9B-343719A3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54BCDA-FCF5-4BEE-AF5B-1C7DDA47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528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(T,B,F) into batch_first GRU is not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522180-EA00-4D3B-9EF8-D0478FA8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68C6F-A982-40B6-9902-A3DFB8B1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815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A run can train at chance with no error</a:t>
            </a:r>
          </a:p>
        </p:txBody>
      </p:sp>
    </p:spTree>
    <p:extLst>
      <p:ext uri="{BB962C8B-B14F-4D97-AF65-F5344CB8AC3E}">
        <p14:creationId xmlns:p14="http://schemas.microsoft.com/office/powerpoint/2010/main" val="100800861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F828B-EB16-42B1-9DCF-6BF6398C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EEEB9-C5A6-4B74-9B74-ABB7EAE6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25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E75465-4FC4-440C-A35E-75398136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Autograd is a tape recorder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3F301-F875-48F3-8BDA-A0EDF062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7048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Forward operations build a graph; backward replays local derivative rules in reverse.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15E6C-97E5-4233-BBB1-47278725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47850"/>
            <a:ext cx="39147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F0A13-6617-49E1-84F5-498B198B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76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D3C46-C13C-4DC7-9E64-AE4A2D1E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098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Leaf tensors own .grad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DFF2B-D22E-492B-A2B5-96D91964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24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F282D-C4EC-4782-9654-2825D072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5755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Backward accumulates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8293C-7325-47E2-9265-C6DE347C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71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EE4635-105A-4FF3-862C-03532FF4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053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no_grad saves memory</a:t>
            </a:r>
          </a:p>
        </p:txBody>
      </p:sp>
    </p:spTree>
    <p:extLst>
      <p:ext uri="{BB962C8B-B14F-4D97-AF65-F5344CB8AC3E}">
        <p14:creationId xmlns:p14="http://schemas.microsoft.com/office/powerpoint/2010/main" val="91748916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1C3DCA-FBCB-4262-8C63-CC69FF31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75E01-6269-48E9-BF33-EE1929DC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26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9D31F1-ADE6-4BE6-BBB1-CCF8E5ED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Break the graph on purpose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9105A-AA2B-48DF-8BFB-93350434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5391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E8884-CA02-4243-B2C4-DE59BAD8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33550"/>
            <a:ext cx="5791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ECB49-BBCE-4670-AC46-58ECC2E3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detach()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BA013-561A-41A2-B115-18DB2113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torch.no_grad()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C9D3D-22E8-4457-8D12-0FC2EE22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E765D-441C-4B7C-8B04-9C33F51A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Returns a tensor without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36255-AE6D-450D-BC5E-4ACA2C0B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48484-98E2-4B27-BA47-A40E0A73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28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Use at logging or target boundaries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667CA4-57ED-4202-92F3-80D95BC0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391FD-94EB-477E-842D-40AF7492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815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Cuts gradient flow from that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BB902-F235-42BA-A756-B5E19955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36EDB8-C4C0-4353-98C2-B49146EC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Disables graph recording in a block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B9D781-5238-400B-9B69-E76BA167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96CE0F-37C4-47D7-A59C-4A497967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528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Use in validation/inference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DF3DCA-8109-44B1-9FD3-FB2ABD91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14DBC0-B07C-47A1-9BE5-0EECC13B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815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Does not switch dropout or BatchNorm</a:t>
            </a:r>
          </a:p>
        </p:txBody>
      </p:sp>
    </p:spTree>
    <p:extLst>
      <p:ext uri="{BB962C8B-B14F-4D97-AF65-F5344CB8AC3E}">
        <p14:creationId xmlns:p14="http://schemas.microsoft.com/office/powerpoint/2010/main" val="124934387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44A622-0156-4F98-9892-2E7C153B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A40C7-BFE1-418C-9F83-E568EDEA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27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AE8CC1-4A90-459E-AFC6-D32E8497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The nn.Module contract is simple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1A469-54AA-4771-AC6B-AE70C17F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338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C3BC9-2DB0-405D-89BF-2F5741AA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FC755-E411-40B2-9D57-EA89DEB9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013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2C22C-76E2-4CE1-B4B4-1A32BA15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B6E702-98BA-4596-88D4-CA41C613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E52C1-9182-4A8D-B508-200240CA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Define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76697-A1D4-449F-A349-858455DF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Register layers in __init__.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C426B-7834-4810-AA97-AF1068CF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A19C3-B328-47D9-9445-E0583B21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D037E-DD7A-4FE1-8767-9E6B4203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Forward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8BC1A-B63F-4A12-B305-E704C3EB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Describe the computation, not the training loop.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A99419-E48C-4B4F-82D7-D0E6C1D1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73150C-7B5A-40DB-9566-319E7D20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6AFB9-BA13-4FD3-B7FF-99A36254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Parameters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12DF9-E727-42FC-8968-319EC403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The optimiser receives model.parameters().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63B2D-8C46-47E7-843C-192877F0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45F930-FF48-400F-816E-7FA21F98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7222F4-88E0-41BB-8E31-74E9801B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Modes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BBC52F-5B1E-4F6E-9DE5-1FCA57BB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train() and eval() control stateful layer behaviour.</a:t>
            </a:r>
          </a:p>
        </p:txBody>
      </p:sp>
    </p:spTree>
    <p:extLst>
      <p:ext uri="{BB962C8B-B14F-4D97-AF65-F5344CB8AC3E}">
        <p14:creationId xmlns:p14="http://schemas.microsoft.com/office/powerpoint/2010/main" val="23671472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E958EA-D583-42C9-BA61-C3A2FF94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1ACF0-C2F6-4EDE-951B-DB18F6E7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28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20806F-41B3-4B6C-9E29-746A906E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The training-step liturgy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65EA5-7740-4110-B6A1-E4926D51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Memorise the order; understand why each line exists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4173D-4B4D-47B4-AAD6-DEE7C897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170" y="37147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3296C-E5AE-4EC6-96B2-68A519D0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840" y="37147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4AC93-BBB2-4DB7-AB4E-DD041D52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510" y="37147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F77CB-E4F8-4210-BBBE-A6E103C7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180" y="37147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4965A-CD46-4F9C-BC65-193C1260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6477B-EFDD-4A38-BBD6-80F9A03F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D814E-2335-4F03-9B77-5EC6956B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Zero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6DBED-B189-4934-A059-0EBFD076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optimizer.zero_grad()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A86DC-6FDA-456A-8870-A2AD491D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209550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E5E4E-812D-4FBD-AF85-876E1A15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305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A38D1C-E067-435C-9D60-665236CB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83845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Forward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CD81D-DD83-4FF1-8030-510ADFDE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365760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logits = model(x)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3E549F-D0AE-4463-A9E9-D9351BF2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390" y="209550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FE0A97-94EF-4BE2-B2CC-D69268B0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305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7EF197-BFB0-4F32-BBF5-DE8B9818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83845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Loss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8F5344-E851-4EC2-8F6F-A4D2C708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365760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loss = criterion(logits, y)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736026-C9C5-4C68-A68D-B05EE7E4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209550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1AE5A1-3953-4746-920D-3E0F838A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2305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4757A8-D42C-49BA-AB46-3016D36C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283845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Backward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1D53D4-D98C-4397-BFC4-CC6EDCBF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365760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loss.backward()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11E8A7-45DA-4C49-B053-967E8689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09550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BD8E0A-1C10-4A03-96F9-2AB77E52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2305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518315-BC5D-4BC4-A7C2-E99D7256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283845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Step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93683D-B7C8-44A8-BDF4-ADBE23A6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365760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optimizer.step()</a:t>
            </a:r>
          </a:p>
        </p:txBody>
      </p:sp>
    </p:spTree>
    <p:extLst>
      <p:ext uri="{BB962C8B-B14F-4D97-AF65-F5344CB8AC3E}">
        <p14:creationId xmlns:p14="http://schemas.microsoft.com/office/powerpoint/2010/main" val="132690485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929B1-AF27-45EE-B41E-5489B259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C5148-29CE-42CA-AB96-B650EB40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29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C81C87-724C-44C2-8CD0-1DDE8CF9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A reusable engine owns the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C37BE-4961-4425-8BC1-83DF63DA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733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71"/>
                </a:solidFill>
              </a:defRPr>
            </a:pPr>
            <a:r>
              <a:rPr sz="1650" b="0">
                <a:solidFill>
                  <a:srgbClr val="526071"/>
                </a:solidFill>
              </a:rPr>
              <a:t>Separate train/eval control from the model and dataset so every later lab reuses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E49D1-F3BA-4403-9651-D56C5BF5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52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DF39F-81E6-4B4E-8960-DCD00E73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52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Return aggregated metrics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280B7-9868-447E-8BB9-C021B3C5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1E338-EE9D-48A5-90E3-CF58D4F8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352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Never store raw loss tensors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FEA72-445F-46C4-925D-F0A79527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B3E80-DF43-4120-BF91-1A913903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352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Keep device movement explicit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A6DE5-2167-48E3-B62D-088BEDB0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409700"/>
            <a:ext cx="735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E8923-FF9C-4CE0-BF7B-98FACE22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57350"/>
            <a:ext cx="685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def train_one_epoch(model, loader, loss_fn, optimizer, device):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model.train()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for x, y in loader: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x, y = x.to(device), y.to(device)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optimizer.zero_grad(set_to_none=True)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logits = model(x)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loss = loss_fn(logits, y)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loss.backward()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optimizer.step()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@torch.no_grad()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def evaluate(model, loader, loss_fn, device):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model.eval()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...</a:t>
            </a:r>
          </a:p>
        </p:txBody>
      </p:sp>
    </p:spTree>
    <p:extLst>
      <p:ext uri="{BB962C8B-B14F-4D97-AF65-F5344CB8AC3E}">
        <p14:creationId xmlns:p14="http://schemas.microsoft.com/office/powerpoint/2010/main" val="210086488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3C9C7-547E-4C36-A03A-3AD9FBC0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D8F67-B760-4375-8CC1-E993F880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30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1D78F9-A2AA-4214-BB5E-86071824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Gradients accumulate by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F4E51-1DDA-4A45-BC33-2971DB2D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7048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Every backward() adds into .grad; stale gradients change the effective update.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3F494-CCB9-4356-A7A1-60C00065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47850"/>
            <a:ext cx="39147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97B62-BBD3-4499-BD34-F3C22BD1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76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1F337-7200-40F9-B793-C0B4FB9C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098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zero before forward/backward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4755D-4604-4241-A823-FB3504E4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24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7BE4F-52BA-401F-B118-CB48A581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5755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set_to_none=True is efficient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FDCF0-A8B3-4178-86E7-A2562C52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71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ECF43-2ADA-4FDD-9B84-61814751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053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Accumulation must be intentional</a:t>
            </a:r>
          </a:p>
        </p:txBody>
      </p:sp>
    </p:spTree>
    <p:extLst>
      <p:ext uri="{BB962C8B-B14F-4D97-AF65-F5344CB8AC3E}">
        <p14:creationId xmlns:p14="http://schemas.microsoft.com/office/powerpoint/2010/main" val="8161521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F9E89-A091-40FF-817C-2A1B8085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C025F-D5E4-4AD2-8BC0-8020ADD0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31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425F40-8D9D-4FB1-AE71-0C6C6DB8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eval() and no_grad() solve different problems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505D1-BD66-4729-8F6D-08925AAC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Correct validation requires both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981200"/>
          <a:ext xmlns:a="http://schemas.openxmlformats.org/drawingml/2006/main" cx="113919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476750"/>
                <a:gridCol w="4438650"/>
              </a:tblGrid>
              <a:tr h="471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Changes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Does not change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model.eval()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Dropout + normalisation behaviour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Graph recording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torch.no_grad()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Graph recording + memory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Layer behaviour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Both together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Deterministic, memory-efficient eval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Dataset transforms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448045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9EAE30-FE28-4F77-853B-A485F8CD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5401C-A6C2-42CE-9DDB-AF654717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32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2A6F69-8CD7-4F3A-8E04-3BD7BF03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Dataset and DataLoader split responsibilities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6E923-227A-4B90-95EF-A93E9272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5391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E4125-3A29-4BAE-AC12-351F6E23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33550"/>
            <a:ext cx="5791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9F9BC-ABB2-4068-914F-44DC9573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Dataset: one sample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789A1-8D5D-4F8F-B2C7-CEA44B89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DataLoader: industrialise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4F0C7-3C4B-4232-9E77-348DB061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E4D543-8737-405C-B4D3-31488782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__len__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2CBB3-BA71-4720-8D9C-C548525B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DE45F-80D4-44BA-AB09-B5B7591E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28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__getitem__(i)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E4718-CD1B-4429-8A8C-417912A7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C6BBDB-4A97-4C32-BA52-90A74B47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815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Decode and transform one item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6A758A-328C-4FA6-81CF-DCE52AE5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83CC0-9FDE-4C23-B50F-4C530D8D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Batch and shuffle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36AD0-607C-45D7-8595-9E0F52E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B3AE45-0B8B-441A-AAEA-8C16EBFE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528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Parallel workers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7D114-B7A4-490A-83E6-22A201C4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9E2166-78AA-4E3A-B7B7-3B691AF8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815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Pinned host memory</a:t>
            </a:r>
          </a:p>
        </p:txBody>
      </p:sp>
    </p:spTree>
    <p:extLst>
      <p:ext uri="{BB962C8B-B14F-4D97-AF65-F5344CB8AC3E}">
        <p14:creationId xmlns:p14="http://schemas.microsoft.com/office/powerpoint/2010/main" val="200867823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FE3E4-FB5C-473D-B6C9-B858429B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D3292-BEF2-43CB-A7DE-C86E8BB5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33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D8D4FC-692F-4BC9-835C-7145292A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Freeze splits once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6B21F-DFC3-4129-86BE-D864DE5C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7048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A moving validation set makes cross-day comparisons meaningless.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A7B2D-3682-49EF-A661-DB44210F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47850"/>
            <a:ext cx="39147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0D961B-EC03-457D-AE27-F1B392C2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76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7A442-E952-4943-8B2F-D0CF1A6C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098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70/15/15 stratified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FB10C-1586-46D8-96C3-4782C8F9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24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D1E9F-136D-43A5-B15D-45494958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5755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Commit splits.json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AAC74-2A37-475F-8858-EA0EFCB7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71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FBC32-4769-4FE7-9DE9-0CAF54F3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053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Hold test labels until Day 4</a:t>
            </a:r>
          </a:p>
        </p:txBody>
      </p:sp>
    </p:spTree>
    <p:extLst>
      <p:ext uri="{BB962C8B-B14F-4D97-AF65-F5344CB8AC3E}">
        <p14:creationId xmlns:p14="http://schemas.microsoft.com/office/powerpoint/2010/main" val="180568717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5717EA-C0FC-4DF1-832F-DA1055F3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6BB7B-F60F-4028-A9CF-56F313B4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34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97610B-681B-44CF-B845-F212EEB9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A resumable checkpoint captures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0FA22-EF87-4B44-B490-B8ECBAAE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338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53DB4-7DE8-46EA-9C30-9A481F2F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7C64B-68CA-4E61-B03B-2F13B12C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013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B38ED-F250-4298-BE89-CA791E6E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232C1-B050-4DDE-82A5-77DF53C1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74765-ADC0-4EBB-8978-2F719171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2E711-4238-4205-AF3A-2FC0D25E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Parameters and buffers.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78166-97A6-460C-B846-8AFF9FF2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DC3440-7CFD-404B-890E-C0C45C93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6F63B3-FD00-4327-8A81-E9E354B3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Optimiser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2F5985-EBA4-4A24-9FD4-B5743111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Momentum and adaptive statistics.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1865A-5599-4D9E-A893-B64BC447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A5ED4D-777F-455B-BF1A-C091E797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DD8E0F-A3E3-413D-8BBC-92003F2A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Progress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A106A1-4B67-4FBA-B037-3D0B4C97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Epoch, global step, best metric.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9D12D4-9D15-4B47-80D7-2CBCD093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401C7D-51AB-401B-96C3-57594F18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5F418D-72F0-4E27-BA51-43ACF911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Randomness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83C3FF-B55E-42B9-8624-9B586C3C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RNG states; scheduler and scaler when used.</a:t>
            </a:r>
          </a:p>
        </p:txBody>
      </p:sp>
    </p:spTree>
    <p:extLst>
      <p:ext uri="{BB962C8B-B14F-4D97-AF65-F5344CB8AC3E}">
        <p14:creationId xmlns:p14="http://schemas.microsoft.com/office/powerpoint/2010/main" val="160835597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92E3C-E1DE-458A-9B31-C5281C51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D04E8-F01A-4F01-87BD-61724783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35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25259A-D43E-4C37-AB60-26EE1BBC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Overfit one batch before spending GPU hours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91A3E-0307-41C7-841A-526839F2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7048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If the pipeline cannot memorise 8–32 examples, the full run is not an experiment—it is a wiring 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82941-719C-40E5-9350-BC258D69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47850"/>
            <a:ext cx="39147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4A1D6-B263-4EEA-8709-8DBC3472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76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04752-8144-4F20-B502-630E5C32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098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Proves the pipeline can learn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2ED35-2764-46DF-86A1-A587AB34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24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566F9-3614-43F6-9C1C-0B8F97FE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5755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Catches labels, modes, loss, optimiser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C1D71-A72C-4673-A0EA-1FA2CA4B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71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003FF-2A25-451D-84C1-78A0FC59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053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Says nothing about generalisation</a:t>
            </a:r>
          </a:p>
        </p:txBody>
      </p:sp>
    </p:spTree>
    <p:extLst>
      <p:ext uri="{BB962C8B-B14F-4D97-AF65-F5344CB8AC3E}">
        <p14:creationId xmlns:p14="http://schemas.microsoft.com/office/powerpoint/2010/main" val="211978945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6F7CD8-347A-4AEB-B39C-25762178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D2FE"/>
                </a:solidFill>
              </a:defRPr>
            </a:pPr>
            <a:r>
              <a:rPr sz="975" b="1">
                <a:solidFill>
                  <a:srgbClr val="C7D2FE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7BD84-16E2-48BC-97DC-FF3C36DD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36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660D6A-052D-4867-B840-68F6572A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Lab 2 — Build the training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92B70-184D-4A14-A9E1-4B58E75B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Implement, self-test, checkpoint, and resume a reusable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68D72-A7E3-40CA-8E60-64F17147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2681288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536ED-5C69-40A7-B710-5AB93A4D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23383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15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70051-22F8-4DF0-9F58-21D991A3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23383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Complete engine.py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E87E1-095C-4D22-AB86-DF87961E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23383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Train/validate loops, metrics, modes, and device handling.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0F6F2-B642-48F5-9267-1AC39E70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266950"/>
            <a:ext cx="2681288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ED035-2719-4184-9BB2-041070C2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2457450"/>
            <a:ext cx="23383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01C98E-5A96-46FD-946F-E314D2F6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2876550"/>
            <a:ext cx="23383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Self-test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F7A07C-7CBA-4090-BF45-CCAE9606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3600450"/>
            <a:ext cx="23383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Overfit one Fashion-MNIST batch before a full run.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648117-5458-461B-A105-A83970A4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266950"/>
            <a:ext cx="2681288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CFF827-4CB3-4B94-95A5-42084A98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57450"/>
            <a:ext cx="23383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15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8158BA-B955-4B9D-A6B5-4D598E6F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76550"/>
            <a:ext cx="23383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Checkpoint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ED7B94-BDBE-4653-A1A3-CDFCC825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00450"/>
            <a:ext cx="23383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Save best/last and demonstrate resume continuity.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92B3C-FC20-48BE-B028-B1631437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66950"/>
            <a:ext cx="2681288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93A35A-74E2-4AF3-BFE9-D272337E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457450"/>
            <a:ext cx="23383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15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DEE7B1-A6A4-4A06-AA2D-DC273DCD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876550"/>
            <a:ext cx="23383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Run + inspect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1E7710-1111-4D34-B789-56148E05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600450"/>
            <a:ext cx="23383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Train an MLP and log evidence with .item().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D1397B-F2C3-44FF-BC0E-00D5FB4B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864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DE68A"/>
                </a:solidFill>
              </a:defRPr>
            </a:pPr>
            <a:r>
              <a:rPr sz="1425" b="1">
                <a:solidFill>
                  <a:srgbClr val="FDE68A"/>
                </a:solidFill>
              </a:rPr>
              <a:t>DELIVERABLE  pytest green + resumable Fashion-MNIST run</a:t>
            </a:r>
          </a:p>
        </p:txBody>
      </p:sp>
    </p:spTree>
    <p:extLst>
      <p:ext uri="{BB962C8B-B14F-4D97-AF65-F5344CB8AC3E}">
        <p14:creationId xmlns:p14="http://schemas.microsoft.com/office/powerpoint/2010/main" val="108316000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FE609-D9F0-412A-A5FC-7D1A466B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34D6D-9FA9-4A97-A690-0F50097E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37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5BCBE6-5D30-402D-BD84-5172B1B5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Training-loop triage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F9177-6B13-467C-8EA3-FBD0C322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Read the error at the contract boundary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981200"/>
          <a:ext xmlns:a="http://schemas.openxmlformats.org/drawingml/2006/main" cx="1139190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714750"/>
                <a:gridCol w="4819650"/>
              </a:tblGrid>
              <a:tr h="46863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Symptom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Cause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Fix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Expected Long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Float labels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y = y.long()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Validation varies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Forgot eval()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Set eval + no_grad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Memory grows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Stored graph tensors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Log loss.item()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Resume diverges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Missing optimiser/RNG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Expand checkpoint state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2349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C6F982-A24D-433D-8185-63B6D8EA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57F57-03CD-462E-ACA4-CCD70843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38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8AA12A-B0E0-4747-91E6-9C0E117A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Convolution encodes locality and sharing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38C72-8063-4BDD-B1C4-A0DD9482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5391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3CD9C-7969-451F-BA2A-5593D573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33550"/>
            <a:ext cx="5791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D91D0-FAA4-4F41-9993-9F106946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Dense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725A3-4DC9-453E-B950-914F7C6C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Convolution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275A5-22A0-4B85-A78B-99AC495F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E3431-76EB-4F37-A7A0-49E6F575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Every pixel connects independently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C6A44-D8C6-44DD-9ED4-25447046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BDA45-72BA-4594-96EB-C0B9B7AF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28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Position-specific weights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8049A-7E77-4A04-8E45-D5EA083A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F0D75-6CBB-4E52-A7EB-8DA1267D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815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Parameter count explodes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36013-B5CD-48CB-B15D-E754B08F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B8F8E0-ABF0-4ED4-A8E9-15B761DB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Local receptive field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28BF7-D0FD-49F9-9706-A0D5C045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F56DE3-9316-48AD-B193-2BBB71C9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528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Same kernel scans everywhere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459AEB-8C28-4196-89A0-29BCD18F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386BE6-51F6-4497-99BA-347E1BDB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815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Translation-aware feature hierarchy</a:t>
            </a:r>
          </a:p>
        </p:txBody>
      </p:sp>
    </p:spTree>
    <p:extLst>
      <p:ext uri="{BB962C8B-B14F-4D97-AF65-F5344CB8AC3E}">
        <p14:creationId xmlns:p14="http://schemas.microsoft.com/office/powerpoint/2010/main" val="163317461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6F1DEE-17AA-43FF-9FEE-1C62793F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3AC2D-62A4-4218-9E83-1EAA0620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39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192B8A-9A76-46C9-A09D-8B190062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Convolution output size is accounting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A38E0-9EED-4E0A-806B-5E1E72B9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7048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out = floor((in + 2p − k) / s) + 1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34E1A-856A-4D3A-AE9F-0E3AECF8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47850"/>
            <a:ext cx="39147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A4E28-AB3C-4722-B211-D176B12D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76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1F847-1195-4A63-8702-D1EC296C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098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Kernel 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80D0D-B638-4B35-A6C9-414045A7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24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834C9-3B21-4FE2-91A5-66A42EAE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5755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Padding 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E4FA6-9938-4FD9-ACB7-29837F7B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71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2B219-86F0-49CA-BFD5-01DACDA3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053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Stride s</a:t>
            </a:r>
          </a:p>
        </p:txBody>
      </p:sp>
    </p:spTree>
    <p:extLst>
      <p:ext uri="{BB962C8B-B14F-4D97-AF65-F5344CB8AC3E}">
        <p14:creationId xmlns:p14="http://schemas.microsoft.com/office/powerpoint/2010/main" val="170964558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5CB855-979A-4CFD-8F3E-700DD6E3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F6D77-B3C9-4E35-8B00-258CB770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40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BA49A0-0950-4787-9EB9-F5198D81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Receptive field grows through the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B8D70-7578-4A77-9FF0-504373CD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Three 3×3 layers use fewer weights than one 7×7 and add two nonlinearities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B2254-AF42-49E0-838B-525B1F0C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338" y="37147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6EAF3-ED0E-4464-BC61-79F79C81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7147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77F17-3BEF-43AA-B4CA-1BDC9591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013" y="37147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A5C5D-87CC-42F7-83C9-E7C188C6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BA2E7-0D26-4516-89B6-934430C1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2A3A7-BF7F-49BB-B8FB-E5AFAE99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3×3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F2229-39DE-46DB-90F9-1BACE271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One local neighbourhood.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554E16-0677-41EE-BCD8-C362DD1E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209550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71DD40-A00B-45D5-83B6-E0498BD1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305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AAD020-C381-4CE5-966B-71617540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83845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5×5 effective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8C45C-64F9-463B-99C5-A50370B5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65760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Two stacked 3×3 layers.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E28D4-3CB7-498F-8EE9-609D4255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9550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907450-0FFA-4899-A343-906B3F59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05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6961E4-1008-455F-9E14-5ACF25BB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3845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7×7 effective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87B50A-C312-4D40-9FEE-6C7FB5CE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5760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Three stacked 3×3 layers.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04D0D5-2B52-4D8E-9EF5-1BE885CD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09550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6AFB41-BF21-48E5-A6DC-83165ED9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305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BFD89B-2721-4403-B944-9B926546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83845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Global cue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537C5D-44A9-4B00-BA7C-36ED1B30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365760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Downsampling lets later features see the fruit.</a:t>
            </a:r>
          </a:p>
        </p:txBody>
      </p:sp>
    </p:spTree>
    <p:extLst>
      <p:ext uri="{BB962C8B-B14F-4D97-AF65-F5344CB8AC3E}">
        <p14:creationId xmlns:p14="http://schemas.microsoft.com/office/powerpoint/2010/main" val="167042350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E56A3A-111B-467C-A33B-CDFBCE21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530BE-A44B-4C59-AA49-F7E86FDA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41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3CED72-7C3A-44FA-95D7-5D31AD0D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CNN design evolved around gradient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B1A32-D2F7-43C9-A9D8-96D04456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338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42E0E-AF3F-44CD-AF60-280F45F2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D9BC1-FEDB-4563-9B1A-BA7A3D83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013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B123D-B559-422B-8FD6-345624D6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CB1F3-B40E-489E-9A42-DF71B4EE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6E294-6076-4515-A1C8-5BC56AB1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LeNet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38C65-F8C0-480F-AE32-7EF81FCE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Convolution + pooling.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1F98A-B5BA-4900-9BED-F4AEC758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24B2E-AA8E-4E84-BAA4-13D699EB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ED0D7-9A8C-4749-BEAE-0DF975AB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VGG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7518B-BC4F-4BCB-9A11-BD784CBB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Deep stacks of 3×3 filters.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366C84-88D3-48A6-936B-EAA9584B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099DD-EBEB-498D-84AC-248C4DE8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87C3A-F7EB-465F-BD08-6235A458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ResNet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985788-1EAD-4416-815F-D3AF2DC1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Identity shortcuts make depth trainable.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0DB13F-CCE6-4AD9-8BDA-38F5FF4A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2A5B26-502A-4F15-9AFD-C88B2AFF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810766-E073-4D39-84AE-4978631E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Modern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E0D7CA-0DC5-4220-93C1-61BB4642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Efficient blocks, better activations, pretrained weights.</a:t>
            </a:r>
          </a:p>
        </p:txBody>
      </p:sp>
    </p:spTree>
    <p:extLst>
      <p:ext uri="{BB962C8B-B14F-4D97-AF65-F5344CB8AC3E}">
        <p14:creationId xmlns:p14="http://schemas.microsoft.com/office/powerpoint/2010/main" val="180173052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D9F4EB-420B-4642-8E88-C0248B27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94993-D1FF-4DCB-AD8A-7AB1F615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42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D758F2-C05F-4D1C-9AD3-7ECD6EB7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Residual blocks preserve an identity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8E67F-00DD-45DF-8485-ED8AF482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7048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y = F(x) + x  ⇒  ∂y/∂x = ∂F/∂x + 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37A24-EED8-4944-B290-06A41F46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47850"/>
            <a:ext cx="39147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59795-4244-4E43-A249-F8E17786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76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097D3-6A70-4B2B-9C4C-50FFEB15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098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Depth stops erasing gradients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1A2D0-4CF8-45A3-8205-EC3A4C91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24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B8598-57F4-4AAF-AC24-1D1B783F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5755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The block learns a residual correction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2A8E76-9341-4F1D-9824-1A6A0BD0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71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33B28-12C5-43E7-A336-166E7583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053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Shapes must match at addition</a:t>
            </a:r>
          </a:p>
        </p:txBody>
      </p:sp>
    </p:spTree>
    <p:extLst>
      <p:ext uri="{BB962C8B-B14F-4D97-AF65-F5344CB8AC3E}">
        <p14:creationId xmlns:p14="http://schemas.microsoft.com/office/powerpoint/2010/main" val="110001985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6A8AEF-FC78-4AA7-8885-ED0B46BF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89332-9C45-435E-B177-6433E5D8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43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FAAB2A-42AB-4882-A053-2F2386C0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Train and evaluation transforms have different jobs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E0D3B-308C-4285-B19E-FFA1B34E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5391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5D440-B97C-488D-BEE7-F9203F0A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33550"/>
            <a:ext cx="5791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71D69-281E-424D-A503-8C5F30B1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Training transforms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5C09D-417B-4A32-9282-A9DD40C5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Evaluation transforms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59756-510F-4036-B898-5D809B57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E3222-3237-4329-B0CE-75F36D62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648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Random crop/resize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1FF0F-3F83-4540-B47D-6890BF44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AF82C-9637-44F6-B799-313FCF86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4648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Horizontal flip when semantics allow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8D00B-23BF-4796-BB58-46831C2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E69EDA-DB6B-4215-9953-198B903A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67175"/>
            <a:ext cx="4648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Conservative colour jitter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DC1B2-2148-4851-B32F-3A76D892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40CE75-56DF-4320-92D7-19ACCC8C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4648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Normalise from train split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D3C10E-CFDC-4230-87AE-56D8329B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A9F46D-B79A-44FF-91CF-12A4FF66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5029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Deterministic resize/crop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AEED84-2E42-4445-BA8A-1E9DE18A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623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10C10F-95F7-4088-BE68-5ED5568B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5029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No random augmentation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5DA53C-094B-4CE2-8BCB-9EB08B1D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3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23E0B-9758-4A19-88A0-21982721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67175"/>
            <a:ext cx="5029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Same normalisation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19B1ED-8813-495F-B96F-F170B416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05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8075AC-2251-4C9D-B6B9-E4E6DE54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38700"/>
            <a:ext cx="5029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Frozen ordering and split</a:t>
            </a:r>
          </a:p>
        </p:txBody>
      </p:sp>
    </p:spTree>
    <p:extLst>
      <p:ext uri="{BB962C8B-B14F-4D97-AF65-F5344CB8AC3E}">
        <p14:creationId xmlns:p14="http://schemas.microsoft.com/office/powerpoint/2010/main" val="26445498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0B6818-50EB-4EEC-949A-B7A89BC6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7CF8B-D672-410D-A08C-1E310BDD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44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E73753-57BB-4F68-9013-53C4C4B5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TamrCNN follows a VGG rhythm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453E4-422E-4CF2-8B96-15F50B6D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Compute shapes and receptive field before training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A50A0-8BCE-4285-9439-EA0B2AAA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170" y="37147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B862E-C98E-4C89-9E7B-FD934CCC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840" y="37147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E9853-6CA9-4DBE-B966-DDC6AA7F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510" y="37147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FF91D-CB30-48E5-B7AC-08EDFA47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180" y="37147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B5F1A-475E-43B2-AF50-EBCC561D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A38A2-7018-4B6F-BB3C-11CD260E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4E177-F294-49E8-A399-811C0C4B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E3B69-ED2D-459A-BEF7-F09C57B1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3→32 channels; 128² input.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77439-10D9-4E92-81E8-0FC3A056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209550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DD069-259B-4618-B898-DA55AC3B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305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986AB9-90BB-41AC-9C4E-F18AD66D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83845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Stage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38A2BB-CEE2-4D0E-B1CF-EFFEC1FC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365760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32→64; pool.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FBD230-3F17-41CB-B7EE-0E679FCC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390" y="209550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98CC8A-FD7A-4C45-85EF-D04F33C8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305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24321E-64E9-448A-B4BE-A8413E99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83845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Stage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704CC3-2A40-4DA0-99B6-12FAF5E1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365760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64→128; pool.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65B8C5-E70F-4E0F-9F76-B339C7A4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209550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95580A-4367-4A0B-B8BB-6BF8AA3A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2305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A73568-10E6-4F95-B40E-19305798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283845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Stage 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53C5BB-264A-4FA8-92AE-128DB5E7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365760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128→256; pool.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06509D-9A96-4744-831E-0E949F79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09550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550427-9DFA-4090-BCAC-981C9B7F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2305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1F9A3B-84A1-45B3-8134-EC9C7F5C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283845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Head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9CC208-8573-407B-9BEB-971DF4F7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365760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Global average pool → 9 logits.</a:t>
            </a:r>
          </a:p>
        </p:txBody>
      </p:sp>
    </p:spTree>
    <p:extLst>
      <p:ext uri="{BB962C8B-B14F-4D97-AF65-F5344CB8AC3E}">
        <p14:creationId xmlns:p14="http://schemas.microsoft.com/office/powerpoint/2010/main" val="39878494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8F3C18-293A-47A0-98DB-E0E1B637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8C0AB-0986-41B8-9230-F3E6EB45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45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D488CC-F717-46F4-A41A-085BD3CA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A small CNN establishes the scratch 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757CE-BF7A-41E9-954A-834276D2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733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71"/>
                </a:solidFill>
              </a:defRPr>
            </a:pPr>
            <a:r>
              <a:rPr sz="1650" b="0">
                <a:solidFill>
                  <a:srgbClr val="526071"/>
                </a:solidFill>
              </a:rPr>
              <a:t>The architecture is intentionally modest; later modules improve the recipe, not the benchmark definition.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55754-1143-4CC9-9840-6C5F0F0C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52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B4664-8EFF-4513-874B-E2447D4A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52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Input: B×3×128×128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27BA0-5F37-416F-9073-7B746977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B109AB-3FFA-4050-B07C-AF68FC04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352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Output: B×9 logits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3D889-B4A1-47CC-853E-21E58184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7AEBB-A02D-41B9-A8F1-1EEDFE0F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352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No softmax in forward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37ECE-3C56-406E-8B68-338F737F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409700"/>
            <a:ext cx="735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6898E6-1337-41D8-B3E8-4152A3FC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57350"/>
            <a:ext cx="685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class TamrCNN(nn.Module):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def __init__(self, classes=9):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super().__init__()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self.features = nn.Sequential(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    block(3, 32), nn.MaxPool2d(2),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    block(32, 64), nn.MaxPool2d(2),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    block(64, 128), nn.MaxPool2d(2),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    block(128, 256), nn.AdaptiveAvgPool2d(1),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self.head = nn.Linear(256, classes)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def forward(self, x):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return self.head(self.features(x).flatten(1))</a:t>
            </a:r>
          </a:p>
        </p:txBody>
      </p:sp>
    </p:spTree>
    <p:extLst>
      <p:ext uri="{BB962C8B-B14F-4D97-AF65-F5344CB8AC3E}">
        <p14:creationId xmlns:p14="http://schemas.microsoft.com/office/powerpoint/2010/main" val="9073567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3C5C9-BC90-4A39-88DC-BE99A2ED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FADE3-63F7-46D1-8D27-FEE86028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46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76B374-3CC7-4A76-BE72-3C2EF216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A confusion matrix turns accuracy into a hypothesis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37954-03B4-4CF9-AE58-7B458834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Look for the weakest class pair, not just the diagonal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981200"/>
          <a:ext xmlns:a="http://schemas.openxmlformats.org/drawingml/2006/main" cx="1139190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095750"/>
                <a:gridCol w="4533900"/>
              </a:tblGrid>
              <a:tr h="46863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Pattern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Next evidence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Two classes swap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Shared colour/texture cues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Inspect examples + Grad-CAM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One class leaks widely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Label/data quality issue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Audit that class folder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All classes weak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Pipeline or capacity issue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Overfit batch + curves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Train clean, val noisy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Overfit or split shift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Augment + per-split stats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731544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B6F3A0-8BED-4CB3-8EDA-2E043CD3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F7902-A69D-401F-9999-C1ED5EE8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47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2FF5AE-183A-47FD-AD5F-A097144A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Augmentation is a claim about invariance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DB891-28A2-448F-A03B-4F7D28E3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5391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D070A-9A19-4FB4-BF64-804FBF34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33550"/>
            <a:ext cx="5791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99206-FC94-402E-9739-6F182ACB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Defensible for date fruit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89AB7-CB99-4391-A088-65837E7D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Potentially label-breaking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A60D3-83AB-4E96-9168-DA3C16A4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5FEFD-44E6-4A98-B2AC-2A2FE6D6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648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Small rotation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6204D-6254-4C0E-8759-AA4FBA5A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6712CC-8309-4949-B806-4F411FEF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4648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Horizontal flip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A3011-8BA5-4888-A3DD-6D0784BA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D136B4-D2BB-4C80-A1F0-4D1984B5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67175"/>
            <a:ext cx="4648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Mild crop/scale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94D8C-B7A3-439F-A828-3407D44F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0C2DB-226C-4D5C-9E9D-C4933414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4648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Conservative brightness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3D08BD-37A4-4D2C-A72A-9149BC43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F26F3E-543F-4E99-996C-3603AE91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5029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Strong hue shift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D0C57C-CEB6-47DA-84BB-5C072CAD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623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1BE00E-CE72-4365-B86C-F973DAE0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5029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Extreme crop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19C8E8-7F72-4029-B902-A1DFBF82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3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ACCF87-95C5-48D4-B12B-55B04CFE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67175"/>
            <a:ext cx="5029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Vertical flip for digits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AC2B3A-0200-4479-9AEF-0011A1A7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05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C73A15-EFA1-42A4-8665-B9811520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38700"/>
            <a:ext cx="5029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Mirroring Arabic text</a:t>
            </a:r>
          </a:p>
        </p:txBody>
      </p:sp>
    </p:spTree>
    <p:extLst>
      <p:ext uri="{BB962C8B-B14F-4D97-AF65-F5344CB8AC3E}">
        <p14:creationId xmlns:p14="http://schemas.microsoft.com/office/powerpoint/2010/main" val="172149929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11ED9B-AFF7-4D0F-A158-192C4C2F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9ED41-3861-437A-B743-2549702C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48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1964B2-EB63-44E8-9EAF-1DA74DB7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Recurrence adds state to the computation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1FD32-1168-488E-A8FA-D14A7DDB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7048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hₜ = f(xₜ, hₜ₋₁) lets a model carry information across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E655F-6CA5-40F7-ACC7-62BD4A73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47850"/>
            <a:ext cx="39147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A5CF9-A967-4E1A-9346-58B5AD62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76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93686-815A-4882-A2EB-F607D9D0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098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Unroll through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0FEA2-AEF3-47E5-97A3-8DC7E773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24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A12DD-7BBC-4991-8ACD-56FE3918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5755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Backprop multiplies temporal factors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94817-5884-40C2-9066-D39B5066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71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29FF4-CBC5-483D-81B6-6EE26BFB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053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Long horizons revive vanishing gradients</a:t>
            </a:r>
          </a:p>
        </p:txBody>
      </p:sp>
    </p:spTree>
    <p:extLst>
      <p:ext uri="{BB962C8B-B14F-4D97-AF65-F5344CB8AC3E}">
        <p14:creationId xmlns:p14="http://schemas.microsoft.com/office/powerpoint/2010/main" val="17825728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F5CC82-D245-4276-9E43-9F2C1160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28DDE-F685-49F8-A98E-974F7000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49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E469D5-05D3-43D7-A63F-FE6FD743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Gates make memory trainable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92400-F44A-40BC-A2D4-F588932D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5391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8A3C7-A756-4D04-84BA-B4C4F49C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33550"/>
            <a:ext cx="5791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F0969-28EB-444E-AE8C-65BA972B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Vanilla RNN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D6283-56F2-40A9-A62C-623D29CA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GRU / LSTM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83E2E-CB5D-4261-B74F-AEB9D226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6E292-3FCE-4738-B33D-5DBE0563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One recurrent update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31251-A41E-492F-89A8-2927648C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2C6ACA-F832-40EE-991F-D076D7E7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28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Simple and fast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EAE43-ACB6-4092-8ADB-E59E0E80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D3DE87-A181-4906-BCC6-D55E9DB1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815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Long-range gradients fade or explode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92F08-9710-4125-BAF4-BC66619D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FF4481-456B-497B-90D0-0E2835DC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Learn what to keep and forget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913693-45C3-4A73-8D0C-431C4BD5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802CD-51CC-404B-BDF2-8F7A4CDA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528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Stable longer dependencies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6CFB42-C8E3-481A-964B-880A96E2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1F49DB-A9F2-4D6C-88E9-27370597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815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More parameters and state</a:t>
            </a:r>
          </a:p>
        </p:txBody>
      </p:sp>
    </p:spTree>
    <p:extLst>
      <p:ext uri="{BB962C8B-B14F-4D97-AF65-F5344CB8AC3E}">
        <p14:creationId xmlns:p14="http://schemas.microsoft.com/office/powerpoint/2010/main" val="207087338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D51C0-6C7D-458E-BCB9-6B28F10D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4C02C-15E7-486D-B134-9BCE8BFC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50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B079D2-B857-4A82-8429-9AB30399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A GRU consumes windows, not images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A2825-FC00-4E28-8CD3-E57B3A48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733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71"/>
                </a:solidFill>
              </a:defRPr>
            </a:pPr>
            <a:r>
              <a:rPr sz="1650" b="0">
                <a:solidFill>
                  <a:srgbClr val="526071"/>
                </a:solidFill>
              </a:rPr>
              <a:t>Shape asserts stop batch/sequence swaps from becoming silent chance-level training.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67CAA-125C-4D7B-8622-B63F0412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52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55D21-AB10-47CA-9B25-A56903E2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52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Input: B×200×3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8D3CF-2136-458A-9087-107BE5B2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5FA40-6AB6-465E-AD3C-58DCB4A4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352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Use last hidden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BE082-64DA-4388-B4C3-A58E1AD6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67CB1-BB9E-4154-BBEB-27DD131E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352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Clip before optimiser step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6D217-0C59-4222-95F3-BC532E7E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409700"/>
            <a:ext cx="735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9BA29-A535-49CF-8F8E-F8965A20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57350"/>
            <a:ext cx="685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class SensorGRU(nn.Module):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def __init__(self, features=3, hidden=64, classes=3):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super().__init__()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self.gru = nn.GRU(features, hidden, batch_first=True)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self.head = nn.Linear(hidden, classes)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def forward(self, x):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assert x.ndim == 3  # B, T, F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out, h = self.gru(x)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return self.head(h[-1])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loss.backward()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torch.nn.utils.clip_grad_norm_(model.parameters(), 1.0)</a:t>
            </a:r>
          </a:p>
        </p:txBody>
      </p:sp>
    </p:spTree>
    <p:extLst>
      <p:ext uri="{BB962C8B-B14F-4D97-AF65-F5344CB8AC3E}">
        <p14:creationId xmlns:p14="http://schemas.microsoft.com/office/powerpoint/2010/main" val="136986867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CC2C89-F5F1-4F02-8588-9609E59D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D2FE"/>
                </a:solidFill>
              </a:defRPr>
            </a:pPr>
            <a:r>
              <a:rPr sz="975" b="1">
                <a:solidFill>
                  <a:srgbClr val="C7D2FE"/>
                </a:solidFill>
              </a:rPr>
              <a:t>DAY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15360-38EA-4DBB-AB20-7B950309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51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068091-9B31-400D-9798-11B4368D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Lab 3 — CNN baseline + GRU mini-lab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25ECF-657C-4894-A8BA-4C56B436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Train TamrCNN on Tamr-9; classify synthetic vibration windows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3C8E4-52E6-4975-A4DC-71387089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2681288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0A7FC-E976-4E1B-9DA6-9FFA3E76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23383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10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2AC3C-2B40-4742-BDE4-C19C3377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23383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Shape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628A2-323A-49FB-9E5C-8D6E91FD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23383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Complete the CNN and receptive-field worksheet.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47BC6-C643-4906-8792-BCCF1818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266950"/>
            <a:ext cx="2681288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49DB9-6BFD-49C4-A9B5-F9F9FA23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2457450"/>
            <a:ext cx="23383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51A10-925B-4561-A410-3C722968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2876550"/>
            <a:ext cx="23383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Batch grid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A80BA3-C3C9-4217-AB38-890A4056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3600450"/>
            <a:ext cx="23383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Inspect eight augmented images and justify transforms.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79F7F-2F71-485A-BF8B-846F25E4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266950"/>
            <a:ext cx="2681288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578BA9-B1F7-403C-A003-9A842843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57450"/>
            <a:ext cx="23383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25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7C919-00AE-4056-B1F0-32B9B5D5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76550"/>
            <a:ext cx="23383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CNN run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4F22AA-4AD7-4A45-ADB6-A733BC57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00450"/>
            <a:ext cx="23383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Train with engine.py and target ≥80% validation accuracy.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A3CC31-F7B6-471E-A324-BA81543C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66950"/>
            <a:ext cx="2681288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AC59BD-3562-4649-A4DB-433FD9BA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457450"/>
            <a:ext cx="23383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15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6AD65F-DB5E-434E-B07C-AAD286FE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876550"/>
            <a:ext cx="23383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GRU run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D33CB1-3B50-47BD-96A2-02B3E365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600450"/>
            <a:ext cx="23383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Train five epochs with clipping; target ≥90% validation accuracy.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0FCBF3-62A0-4FF6-BC81-5BEBB881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864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DE68A"/>
                </a:solidFill>
              </a:defRPr>
            </a:pPr>
            <a:r>
              <a:rPr sz="1425" b="1">
                <a:solidFill>
                  <a:srgbClr val="FDE68A"/>
                </a:solidFill>
              </a:rPr>
              <a:t>DELIVERABLE  Tamr-9 baseline + 9×9 confusion matrix + GRU metrics</a:t>
            </a:r>
          </a:p>
        </p:txBody>
      </p:sp>
    </p:spTree>
    <p:extLst>
      <p:ext uri="{BB962C8B-B14F-4D97-AF65-F5344CB8AC3E}">
        <p14:creationId xmlns:p14="http://schemas.microsoft.com/office/powerpoint/2010/main" val="105817589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F0EAB-1C05-4AF9-AF32-32E582DD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</a:defRPr>
            </a:pPr>
            <a:r>
              <a:rPr sz="1200" b="1">
                <a:solidFill>
                  <a:srgbClr val="6DCBF4"/>
                </a:solidFill>
              </a:rPr>
              <a:t>DAY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988D2-CE85-4164-A858-940AF4BE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857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Make training behave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EA744-9083-4C01-8133-3611C1A1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04E60-F8EB-4C73-957C-46F8F3CD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790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Diagnose learning curves, stabilise the recipe, and adapt a pretrained backbone.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AFD18-3AC0-4CB0-AF12-12343ED7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6690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24B4B-4EF8-461F-AED9-8F0781F7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66950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DE68A"/>
                </a:solidFill>
              </a:defRPr>
            </a:pPr>
            <a:r>
              <a:rPr sz="3900" b="1">
                <a:solidFill>
                  <a:srgbClr val="FDE68A"/>
                </a:solidFill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655C1-60CD-476E-8083-13243FD1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575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learning hours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F1ACE-5B4F-4C1F-89E6-808E8916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17708156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49342-FF79-48CE-8E05-CAD28FC7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A4BC3-C180-4179-A052-179849E9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53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4FC828-514E-4B05-954C-A4F880C1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Four curve regimes suggest different actions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CD957-0790-4799-AF69-B5D35BC9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Do not prescribe regularisation before identifying the regime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981200"/>
          <a:ext xmlns:a="http://schemas.openxmlformats.org/drawingml/2006/main" cx="1139190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952750"/>
                <a:gridCol w="3429000"/>
                <a:gridCol w="3009900"/>
              </a:tblGrid>
              <a:tr h="46863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Regime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Train curve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Validation curve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First move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Healthy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Falls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Falls and plateaus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Keep best checkpoint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Overfit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Keeps improving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Turns upward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Augment/decay + early 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Underfit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High and flat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High and flat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Capacity / epochs / LR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Unstable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Oscillates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Oscillates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Lower LR; inspect norms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521056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9D6408-FF68-4114-BA99-87EA311A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F1C3D-C13D-41BD-A0FA-ADC2CE07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54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9BECBD-7BB0-45E7-B7C3-D4FE17C9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Validation divergence identifies the turning 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26C25-E285-4DAB-9D65-92B9ACEC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Synthetic teaching curves from the companion workbook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6953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ee4d0713e245b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BDEED-C7BD-43C2-AB41-31835615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809750"/>
            <a:ext cx="41052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E7C27-3E94-41ED-A52F-160D2BD6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Checkpoint before the gap widens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81B4F-B59A-4A6F-BBDA-9D73CBAA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924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70400-57C6-4118-BE2E-8E3EFB59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57500"/>
            <a:ext cx="3314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Best validation epoch ≈ 7–9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44624-1920-4228-91CE-BB8AC01F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810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B0259-0174-43F9-BBA3-F0D30C23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743325"/>
            <a:ext cx="3314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Later train gains are not generalisation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5D925F-C2F3-4D54-82A9-608D0D3E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695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58BC0-A1FC-4E23-96DE-1B71B8B0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629150"/>
            <a:ext cx="3314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Interventions need a fresh controlled run</a:t>
            </a:r>
          </a:p>
        </p:txBody>
      </p:sp>
    </p:spTree>
    <p:extLst>
      <p:ext uri="{BB962C8B-B14F-4D97-AF65-F5344CB8AC3E}">
        <p14:creationId xmlns:p14="http://schemas.microsoft.com/office/powerpoint/2010/main" val="107031456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B6845B-5BC6-41EF-AC42-E6FF53BA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93FAF-9781-47FA-981E-43DC4F95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55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C4FE36-512C-45BD-9E27-8A48B8FF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Apply regularisation in evidence order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A51E4-0D76-4EDC-945F-ED326353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170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257BD-56FA-46AE-80A7-FBC55111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840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CEEBB-6DDA-401B-B60A-CDE3C53B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510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EE73F-DF16-4951-B72F-F2287DE0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180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839AF-468F-424F-A895-659B6C81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3E5EB-154A-40AB-B0F8-73E09763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59706-1FC9-4BDA-BF95-4585B5CD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16D32-BC3C-4B6C-97E2-292AB3BD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Correct, semantic augmentation.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196BD-C404-4097-9935-89A880B7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180975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E866E-E249-4A42-946D-96747E32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B5A27-A1C5-40FD-B226-E1B8EBB6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55270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Optimiser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97CDE4-684E-4164-A971-A433F743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337185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AdamW weight decay.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A5728-15D6-43ED-90D8-418A4D83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390" y="180975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E51C11-FDA8-4CB1-88CF-F11252C9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97E73-87E7-4F0E-B03C-BBBEBB3F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55270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FE1994-383C-449E-B91F-0B8DB3F9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337185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Dropout or smaller capacity.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EAE16C-043D-41E6-A89B-9217F8F6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180975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D0BA30-6109-4E8E-888E-7131A1A7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F6619C-0BA2-4AC9-98C9-AB6399F1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255270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Targets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DA05BF-BBF6-4BA7-AD8E-15DB9F2B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337185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Label smoothing when justified.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F9A379-C17E-4175-993E-7FC4C92F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180975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514468-BB94-4175-B758-945B11A8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1DA2D4-1B07-4319-9BEA-01031F31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255270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Stop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A339D6-8BCD-485B-AF69-914841A6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337185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Checkpoint best validation; patience matches noise.</a:t>
            </a:r>
          </a:p>
        </p:txBody>
      </p:sp>
    </p:spTree>
    <p:extLst>
      <p:ext uri="{BB962C8B-B14F-4D97-AF65-F5344CB8AC3E}">
        <p14:creationId xmlns:p14="http://schemas.microsoft.com/office/powerpoint/2010/main" val="149633754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93ACC-3606-4262-B414-14A2DB80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6B302-0B9B-4369-9FBD-9B4B216C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56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A4D921-644E-4081-A602-1C3B0AFB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Regularisers act on different failure mechanisms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8CA45-D4CF-4DFD-A929-2E7D4627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Do not stack knobs without attribution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981200"/>
          <a:ext xmlns:a="http://schemas.openxmlformats.org/drawingml/2006/main" cx="113919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286250"/>
                <a:gridCol w="4724400"/>
              </a:tblGrid>
              <a:tr h="4667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Acts on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Watch for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AdamW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Large weights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Too much decay underfits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Dropout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Co-adaptation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Train/eval mode dependence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Label smoothing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Overconfidence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Calibration trade-off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Augmentation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Input invariance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Semantic label changes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Early stopping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Excess fitting time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Patience too short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757561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B4B8C-EDB3-4857-89ED-212E6D59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46BBA-1779-48C7-BDFD-F44AAE0D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57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C0EEB0-134F-4034-979E-02B2F657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Normalisation controls internal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902C9-0126-479F-9E73-9325998B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7048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Stable activations let deeper networks tolerate larger, more useful learning rates.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899A9-1B4C-4843-A927-F16BEA8A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47850"/>
            <a:ext cx="39147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C1A07-AC05-4383-8E67-08A59315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76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BE95F-2465-42A6-B3AD-D6F1D84E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098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BatchNorm uses batch statistics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CF109-F643-468B-B791-68961444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24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DBCF2-0893-4C22-BCA1-17F6E24F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5755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LayerNorm uses feature statistics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A3992-89BB-4EE4-A8F0-370C027B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71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5C245-E320-462E-816F-4467F7F0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053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GroupNorm is batch-size independent</a:t>
            </a:r>
          </a:p>
        </p:txBody>
      </p:sp>
    </p:spTree>
    <p:extLst>
      <p:ext uri="{BB962C8B-B14F-4D97-AF65-F5344CB8AC3E}">
        <p14:creationId xmlns:p14="http://schemas.microsoft.com/office/powerpoint/2010/main" val="2058928626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025CC-1D68-493E-9AD5-871C527B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69F6D-66D1-4539-8A70-CA26DF95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58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3C5892-D2E2-4BA5-9C82-1AC19156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Choose normalisation by data and batch regime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F0A41-7FC2-42AD-A79D-31243ECC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The smallest batch often decides the layer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981200"/>
          <a:ext xmlns:a="http://schemas.openxmlformats.org/drawingml/2006/main" cx="113919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667000"/>
                <a:gridCol w="3619500"/>
                <a:gridCol w="2819400"/>
              </a:tblGrid>
              <a:tr h="471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Statistics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Strength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Pitfall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BatchNorm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Across batch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CNN default at healthy batch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Noisy at batch 2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LayerNorm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Within sample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Sequence/transformer friendly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Different CNN behaviour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GroupNorm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Channel groups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Stable for tiny image batches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Choose group count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8463289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2BF6A1-09C1-4D0A-992C-640F39C6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9C70D-EE77-4FB3-89E9-178118D9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59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4BA0C2-2296-475D-A53F-B262C819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BatchNorm has two kinds of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D3DC5-2A65-48E1-8078-0F3E3BDD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5391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8E4A2-136C-4507-8EBC-3E070664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33550"/>
            <a:ext cx="5791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2C038-AA91-40E5-900C-76B9E97F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Trainable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E8BA3-666E-42AE-AAC7-98D68199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Running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80EFC-454F-4A43-8B3F-046F2ED7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10A03-6AC7-4CA5-8B14-B3F2E641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Scale 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9A7D3-C217-41D9-8A75-AFF87F27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A0028-F908-4257-A7C2-82D1D328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28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Shift 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FAA69-A08E-43BD-BEA5-93A8A569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C4E2B-D1AE-4658-9CA9-F773BFBF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815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Controlled by requires_grad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A9B3B-5453-40CA-8743-A37643BD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97231-63BE-4114-9AED-7B53F0F9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Mean and variance buffers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C6194-16E6-4C34-ADB3-9C3E5B08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13779B-609A-46DF-ACEF-B073EA94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528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Updated in train mode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E2E759-B4B5-4F44-B5B3-079FEB73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D468C8-EA6B-457B-A3C3-C006D2F6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815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Can drift in a frozen backbone</a:t>
            </a:r>
          </a:p>
        </p:txBody>
      </p:sp>
    </p:spTree>
    <p:extLst>
      <p:ext uri="{BB962C8B-B14F-4D97-AF65-F5344CB8AC3E}">
        <p14:creationId xmlns:p14="http://schemas.microsoft.com/office/powerpoint/2010/main" val="352425735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C150B-2883-40E7-BD90-2844D025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2487A-FEF6-4A9E-B6A7-4408AEEB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60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2B555F-F40B-45E9-A708-B4C882FD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Schedules spend learning rate over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83793-EF67-4C21-BE9A-448A1FB3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Illustrative policies; inspect the actual logged LR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6953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b4a1365cf24ad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AAD8B-8812-4B58-AE52-92D285EB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809750"/>
            <a:ext cx="41052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852AD-3965-4871-AE06-5A4A329E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The wiring contract is part of the schedule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2A5C08-C55D-48B3-A888-7405A394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924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AF79D-CA1C-4732-9479-4132B7CC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57500"/>
            <a:ext cx="3314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OneCycle usually steps per batch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ACFCC-C51A-4616-AF2F-8AB199F5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810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AED44-266C-405A-B8ED-A9541525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743325"/>
            <a:ext cx="3314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Warmup protects fresh or pretrained layers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812A72-5A86-4539-B2FC-F80E28BA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695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4A931-EF0E-4278-9B76-7E797C72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629150"/>
            <a:ext cx="3314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Plot LR against global step</a:t>
            </a:r>
          </a:p>
        </p:txBody>
      </p:sp>
    </p:spTree>
    <p:extLst>
      <p:ext uri="{BB962C8B-B14F-4D97-AF65-F5344CB8AC3E}">
        <p14:creationId xmlns:p14="http://schemas.microsoft.com/office/powerpoint/2010/main" val="585290422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EEED3-DC47-4504-8E3B-58769D80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035E5-8833-492B-A97F-C04C8BAC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61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8387C1-79E5-478F-8F9C-F3425EB5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The LR range test finds the useful band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36A30-9D28-417D-9CF6-E6F3A5C5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7048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Increase LR exponentially for a short run; choose before the loss cliff, not at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C0B47-58A6-479B-8320-2ACFC47D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47850"/>
            <a:ext cx="39147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9E760-BC36-4556-889D-05935C4D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76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B4A55-E348-425C-917C-9A5C10A7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098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Start tiny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409A7-54D2-417A-BFEA-EE1310DC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24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B2460-5CE7-4F52-A1E9-3F5E9A73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5755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Track smoothed loss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C6CCB-752E-4E7E-9724-7C9DDBE9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71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E4138-919D-4A93-B957-B021B9EC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053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Stop on divergence</a:t>
            </a:r>
          </a:p>
        </p:txBody>
      </p:sp>
    </p:spTree>
    <p:extLst>
      <p:ext uri="{BB962C8B-B14F-4D97-AF65-F5344CB8AC3E}">
        <p14:creationId xmlns:p14="http://schemas.microsoft.com/office/powerpoint/2010/main" val="1326584561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4872F2-3E60-4967-BB31-16C9A7B4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72160-6461-4FE9-9083-C9310D80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62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755F5C-0EAE-4C12-9A1E-10DCBEF6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Clip gradients only after measuring them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69322-9590-4DD9-820A-2FCED3F8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5391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0E23D-42BE-4D1C-9D73-C26056C0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33550"/>
            <a:ext cx="5791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92F56-7EFB-4607-A85B-0C0BB625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Correct 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CAD06-DD0C-4D8F-9844-C15BB396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Misuse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4C850-1BD1-4CB3-837F-FAD9B41D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E4FEB-B35A-48D7-AA0B-DDCCDC4C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Prevent rare explosive steps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A34D6-6CB7-4FD5-9EC2-7C058061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45AC1-EE3D-4100-913C-B2232D67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28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Log pre-clip norm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4269A-06DD-4443-A72D-072E2F02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EC6397-EFA8-4A90-993D-867EC0A3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815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AMP: unscale before clipping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63ABC-F246-404D-ADEC-64A91F62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F1900-9428-4292-8CC8-C6206533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Hide a consistently bad LR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9C1DE4-967A-4B36-8667-DDF0F81F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E56572-7B33-4D12-8535-33FEE39B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528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Clip every step without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956E6C-8F42-45F4-865D-AC6A0593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19CBD0-FAFA-4A3D-AB29-82A3A47A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815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Apply threshold to scaled gradients</a:t>
            </a:r>
          </a:p>
        </p:txBody>
      </p:sp>
    </p:spTree>
    <p:extLst>
      <p:ext uri="{BB962C8B-B14F-4D97-AF65-F5344CB8AC3E}">
        <p14:creationId xmlns:p14="http://schemas.microsoft.com/office/powerpoint/2010/main" val="2094007841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3EEFB-D973-4145-9AEF-FCCB3E4E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7A79C-797D-440A-8E79-B396DFD5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63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005E6D-FB6F-40A0-B86A-D7805A92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An ablation table turns knobs into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45CD8-F86C-42B3-A79B-54FDBCEB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Change one factor; retain only supported settings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981200"/>
          <a:ext xmlns:a="http://schemas.openxmlformats.org/drawingml/2006/main" cx="1139190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3810000"/>
                <a:gridCol w="2095500"/>
                <a:gridCol w="1524000"/>
                <a:gridCol w="2533650"/>
              </a:tblGrid>
              <a:tr h="46863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Run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Single change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Best val acc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Δ pp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Baseline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74.1%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Diagnose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R02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AdamW + wd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78.1%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+4.0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Keep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R03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Stronger augmentation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81.2%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+3.1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Keep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R04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Cosine schedule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82.9%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+1.7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Keep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7886906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DB8B4D-B4C2-45E9-89AA-B17288FF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D2FE"/>
                </a:solidFill>
              </a:defRPr>
            </a:pPr>
            <a:r>
              <a:rPr sz="975" b="1">
                <a:solidFill>
                  <a:srgbClr val="C7D2FE"/>
                </a:solidFill>
              </a:rPr>
              <a:t>DAY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AC14E-06E3-4E28-8CF8-EA35A889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64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809140-26DE-46F0-BC10-7FAD236F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Lab 4 — Rescue the failing 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7C5E1-5850-484D-A24D-A918046A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Diagnose first, then stabilise by marginal gain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4D290-39F8-476C-970E-3FF2D06D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2681288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51720-0A19-42CF-A6C3-A9E2CD94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23383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10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5ADE33-A1FE-45C3-BABB-31FA75D0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23383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Read curves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671B4-5BF2-4817-BBE0-AC1726F0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23383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List defects and rank the first checks.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4749A5-EA0F-4D04-9D16-68FA532F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266950"/>
            <a:ext cx="2681288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E9F6D-DE77-4962-911E-7232B63D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2457450"/>
            <a:ext cx="23383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F1CB4-BC74-44E3-AAD5-EE15BF3A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2876550"/>
            <a:ext cx="23383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Fix 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FBEB4-F23B-4E09-8A9A-94831CD1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3600450"/>
            <a:ext cx="23383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Change one factor and rerun the controlled baseline.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ADF8E-B6DD-4A5A-9208-745B093E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266950"/>
            <a:ext cx="2681288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D948D5-7510-439A-A3D3-246B732B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57450"/>
            <a:ext cx="23383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15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D8ABC-06B7-4FDB-9DEB-560296A8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76550"/>
            <a:ext cx="23383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Fix two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0735E7-8BBF-4968-B032-2FA53565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00450"/>
            <a:ext cx="23383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Add the next highest-value intervention.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F6BA5F-903F-4208-8F22-5BF03A80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66950"/>
            <a:ext cx="2681288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07B0DF-014B-4DA5-AFEB-209807DD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457450"/>
            <a:ext cx="23383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20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D63779-0AFC-43CE-BA42-F22E3E84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876550"/>
            <a:ext cx="23383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Ablation table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062FDA-C27B-4C4E-8A9D-7495F269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600450"/>
            <a:ext cx="23383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Record deltas and defend the final recipe.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752CA1-F4FF-4DD5-9670-4F3CB83E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864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DE68A"/>
                </a:solidFill>
              </a:defRPr>
            </a:pPr>
            <a:r>
              <a:rPr sz="1425" b="1">
                <a:solidFill>
                  <a:srgbClr val="FDE68A"/>
                </a:solidFill>
              </a:rPr>
              <a:t>DELIVERABLE  Stable run + ablation.csv + evidence-first diagnosis</a:t>
            </a:r>
          </a:p>
        </p:txBody>
      </p:sp>
    </p:spTree>
    <p:extLst>
      <p:ext uri="{BB962C8B-B14F-4D97-AF65-F5344CB8AC3E}">
        <p14:creationId xmlns:p14="http://schemas.microsoft.com/office/powerpoint/2010/main" val="1551686811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47A2A-FB03-4A6A-8984-6B73630A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6A484-340B-4ED2-B98C-9C6CB9B5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65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730614-E812-4795-A946-99807083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PA-1 — Rescue under the clock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7D31E-490A-4C3A-8756-E0DC7AF8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30 minutes; a fresh defect set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981200"/>
          <a:ext xmlns:a="http://schemas.openxmlformats.org/drawingml/2006/main" cx="113919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714500"/>
                <a:gridCol w="6534150"/>
              </a:tblGrid>
              <a:tr h="471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What earns full credit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Diagnosis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40%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Curves and norms support the defect list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Fix quality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40%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Top two interventions are correct and ordered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Documentation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20%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Each change has an ablation row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3775926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8D4DD-75B2-4E1E-A2BA-1EE94973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A8D43-ACE7-4FAA-9466-42A5BC73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66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F8CACF-877C-449C-82AB-B00C6FE9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Transfer learning spends data where it is 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FFF85-E9E8-4E4A-AE69-05AA3FEC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7048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Keep generic edges and textures; retrain the task-specific top.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96638-E868-467F-BA6C-61C4DAAA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47850"/>
            <a:ext cx="39147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24418-9A00-4021-85F3-B7D74921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76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BAA4D-D19A-44D0-8EA9-7791B852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098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Small local datasets gain most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D40A4-ED18-4AE7-BE10-971B27FB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24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67D9A-E265-499C-865B-3DE549D5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5755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Domain gap reduces transferability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B16B5C-C3B9-42E9-9218-36E6C8A8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71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0E44E-E4CD-4974-96B3-127F82AD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053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Provenance travels with the model</a:t>
            </a:r>
          </a:p>
        </p:txBody>
      </p:sp>
    </p:spTree>
    <p:extLst>
      <p:ext uri="{BB962C8B-B14F-4D97-AF65-F5344CB8AC3E}">
        <p14:creationId xmlns:p14="http://schemas.microsoft.com/office/powerpoint/2010/main" val="1816860978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5D6A7-F895-4FF0-A1B6-D733B9B9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F7713-F970-4A9F-A6E1-8B65599D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67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352EA8-E543-4529-9AB5-A0F75BE4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Dataset size × domain gap selects the recipe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A6B42-3DBD-46E4-9222-F91AA3DD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Start with the cheapest defensible experiment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981200"/>
          <a:ext xmlns:a="http://schemas.openxmlformats.org/drawingml/2006/main" cx="113919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572000"/>
                <a:gridCol w="4724400"/>
              </a:tblGrid>
              <a:tr h="476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Similar domain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Far domain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Small data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Feature extraction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Careful deeper fine-tune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Large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Full fine-tune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Pretraining helps least; compare scratch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7190091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85E326-15D2-40F4-928E-FE674E73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48A29-80E2-4ED6-AC13-F276BE39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68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4F7292-FE43-4AA8-9083-4ED7C1FB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Feature extraction freezes the representation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4C4C7-C604-4592-A190-F806A497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338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3129D3-5612-4B63-9404-B0877D97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76CAE-B324-4181-B77B-08C4F596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013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B9980-8EA6-42A2-824D-DCCA9C96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885DD-0B88-472F-B2A5-5FBFFAE1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EE5BF-B0F4-4E22-98D1-7D708464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067B8-2E85-42A4-840C-C6A3BFCD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Pretrained backbone + matching weights metadata.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64EC66-CF7C-4650-9AF5-329500CB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326A2-9F39-49D1-BC51-7ECC1BEC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B6FF2-C60A-4810-9A63-159CABB0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Freeze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9FA08-690E-4C87-97B8-FCC9F9CC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requires_grad=False for backbone parameters.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CDD4FB-5C21-4B6A-BDB5-DDEBB365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F4E67D-6564-4E3B-8868-2CFB6933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D933F-E905-4517-A28C-00FD9642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Stabilise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607265-FCAF-4134-A519-AA86A6DB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Keep frozen BatchNorm in eval mode.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866359-9CE8-4B0E-A7F7-1C4DFA00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A62712-1DB4-4235-B4E8-CEF333E8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5513A7-19CD-45E7-A14C-DDB42215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Train head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303C82-608C-48E7-ACB5-2C2067ED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Optimise only the new 9-class classifier.</a:t>
            </a:r>
          </a:p>
        </p:txBody>
      </p:sp>
    </p:spTree>
    <p:extLst>
      <p:ext uri="{BB962C8B-B14F-4D97-AF65-F5344CB8AC3E}">
        <p14:creationId xmlns:p14="http://schemas.microsoft.com/office/powerpoint/2010/main" val="317606716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DD8B1-1082-48C6-9B26-B94E5576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64F7E-0C1E-42B9-85CA-7994F6E1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69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89F96A-037D-43BE-B490-83055847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Freezing has two halves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31241-D27A-46B6-9F65-B43D61C0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7048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requires_grad freezes parameters; eval mode freezes BatchNorm behaviour.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73311-5EEE-4A44-9869-FDB71A79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47850"/>
            <a:ext cx="39147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E3FAC-2B2E-41FF-AD98-97171F47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76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80D1F-9C14-4B66-9597-66A4201E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098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Running means can still drift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D993D-0402-45AC-9D06-0F9E3ABE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24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64651-AAF3-47FC-9B0D-F64CC3D4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5755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Small target data amplifies the shift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4842EB-5ABE-47F5-9BAB-049D2810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71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783FD-464A-4232-865C-E9F1BF5E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053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Verify tensors, not intentions</a:t>
            </a:r>
          </a:p>
        </p:txBody>
      </p:sp>
    </p:spTree>
    <p:extLst>
      <p:ext uri="{BB962C8B-B14F-4D97-AF65-F5344CB8AC3E}">
        <p14:creationId xmlns:p14="http://schemas.microsoft.com/office/powerpoint/2010/main" val="1125070689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55B2F7-541B-4930-BC81-B5C5B43D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E2A4E-80B3-46C6-93E8-E2416666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70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9045B1-0138-461F-B373-3EEC2BEE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Fine-tuning should be staged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51353-1DCB-4B09-8D05-091EF8E0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338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7A6D5-4925-47AB-BDF5-14F79963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195DB-DA96-4318-9330-C7AF71A6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013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F586C-8F15-48D6-8E9E-49369DAB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0B30E-8675-4424-AA5F-4DA4440D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0BB60-84E7-46ED-89ED-70B7836D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Stage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CF0E9-6743-4CC8-AE5C-AB77BB8B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Train the fresh head; backbone frozen.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A90D8-D7B6-4DD2-A373-C9686CA1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03966-E56E-4C76-915F-8CCE0EF2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4DE34-1AD8-48AD-9417-C7EBD19E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Warm 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8347A2-5F07-42CD-A06E-8FB01690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Let the head learn a reasonable scale.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0C8C1-6730-4CC9-AFB1-7063050E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59E3E-F013-4934-A33E-2C8D17D0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41E9BC-6E35-4F36-863F-97C45AF5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Unfreeze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50054A-CF7E-429F-8D36-354E5386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Enable the backbone gradually or fully.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75CCEC-ADB1-4EF9-A54B-63D4F2A7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B4B28B-AF10-4116-9E81-FA651A48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DA6C6D-434B-4CAD-A7E8-EB98CC4C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Discriminate LR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434D48-06F7-4B21-B64F-6780FFB0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Lower LR for backbone, higher for head.</a:t>
            </a:r>
          </a:p>
        </p:txBody>
      </p:sp>
    </p:spTree>
    <p:extLst>
      <p:ext uri="{BB962C8B-B14F-4D97-AF65-F5344CB8AC3E}">
        <p14:creationId xmlns:p14="http://schemas.microsoft.com/office/powerpoint/2010/main" val="736972019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C80C01-1A09-4F47-8438-B4A301FF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EAC1D-F9A6-425F-A3C2-0F480811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71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02E8DC-AA55-473F-8FD0-80FC47E5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Discriminative learning rates protect useful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56709-569D-44E1-B2FA-E07E6B81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5391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D4DAE-724F-4EEE-B224-7360F3C7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33550"/>
            <a:ext cx="5791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4E8F9-296D-4425-876F-46F69CCB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Backbone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B5C82-572B-40C4-8CCF-92928D96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New head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5D0B1-6695-4FCA-B5D5-62ED6813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B4B3B-3F11-4CD0-A16F-30D16369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Already contains useful features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9EAF7-D5C5-43C5-9D32-EF5EE00C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BA28A-5C02-45D6-96EF-3AD732B2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28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Use 10×–100× smaller LR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742E74-0464-49BA-A86F-F85DBF7E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6C915-A5CD-40A8-B217-07C4EA40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815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Update gently after warmup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97BC9-8E5C-4BF6-A2CE-85A9CAC0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342B6-414A-4801-A2BD-F55C8124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Starts random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86503C-CC1B-4AAC-AC79-422B5474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322737-5ED7-433E-8C18-D2BB631F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528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Needs larger LR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3C9601-764C-4A81-B03D-280C23FC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3A2BB-5EEA-4DCA-8E15-2775BFFB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815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Learns target label geometry</a:t>
            </a:r>
          </a:p>
        </p:txBody>
      </p:sp>
    </p:spTree>
    <p:extLst>
      <p:ext uri="{BB962C8B-B14F-4D97-AF65-F5344CB8AC3E}">
        <p14:creationId xmlns:p14="http://schemas.microsoft.com/office/powerpoint/2010/main" val="1200337758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DE11B-99B7-44FA-9365-CF059ECD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251AA-71C0-4F12-8B5D-90FB68F4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72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11CFE8-90E9-42D1-8A09-17B760D6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Preprocessing is part of the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546ED-A985-44D5-AE89-205DD7A1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7048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Use the exact resize, crop, scale, and normalisation expected by the weights.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0CC6F-C19C-4EA4-91F4-17E48741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47850"/>
            <a:ext cx="39147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B218D-2897-4D11-943A-DDD0178B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76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B4D5D-FB5C-420D-AE6A-57557409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098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ImageNet mean: 0.485, 0.456, 0.406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25580-9A73-4CF3-9B6B-8A2E3B26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24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F4543-7D48-41F9-A197-46499B1C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5755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ImageNet std: 0.229, 0.224, 0.225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EBA347-94DB-41B7-9C4D-3020B8F0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71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F8F42-EA51-4643-A664-0C81FC52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053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Wrong stats fail silently</a:t>
            </a:r>
          </a:p>
        </p:txBody>
      </p:sp>
    </p:spTree>
    <p:extLst>
      <p:ext uri="{BB962C8B-B14F-4D97-AF65-F5344CB8AC3E}">
        <p14:creationId xmlns:p14="http://schemas.microsoft.com/office/powerpoint/2010/main" val="1761343752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2FE07-E698-4440-A645-254A8C04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6445E-442C-47A4-AF45-9D64695B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73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D0B6B1-5ED1-422E-A4C1-D8FB9D7D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Source pretrained models like dependencies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9DBE8-C8B1-400E-B49C-415762E4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A strong checkpoint can still be unacceptable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981200"/>
          <a:ext xmlns:a="http://schemas.openxmlformats.org/drawingml/2006/main" cx="113919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572000"/>
                <a:gridCol w="4724400"/>
              </a:tblGrid>
              <a:tr h="4667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Gate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Pass question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Block condition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Task fit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Architecture matches use?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Wrong modality/output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Licence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Commercial use allowed?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Research-only / unclear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Provenance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Credible source and card?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Unknown origin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Format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safetensors available?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Untrusted pickle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Revision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Immutable SHA pinned?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main / moving target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1039512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CD44ED-66E8-4C6B-933B-A3FE19FA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A6BFD-A94D-4726-9B3A-6C18F756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74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27CC63-A8F5-4C00-9DD4-1598D523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The Hub checklist is a release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80FBF-5EE9-4F87-A4BB-DDADF1FB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338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BA78F-6C28-4720-B274-3C90EE56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7580C-3F93-4FAC-A6E0-322223B5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013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CDF3A-AF5E-4F24-8525-81C448FB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9488B-62E9-4F5A-AB1D-637EFC2F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09B5C-AD06-46D7-B55B-4D4E810D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Read card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423CB-E3A0-4FB1-9A18-B02B2F95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Data, metrics, intended use, limitations.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E1C76-837E-404F-8B09-E2626CE7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D2CAB-ED8B-440F-A8F3-3FCF6D64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D0DE5-3432-4A6C-B676-EFF94F9D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Check licence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6BCF8-F67A-4546-89DD-FA6FDB8D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Compare actual deployment to permissions.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EBE9A7-2B32-410D-BB4E-1B58A2A7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250D95-E00B-45B3-BC9A-337D931A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122C2-6777-46FB-843B-F4500CCE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Prefer safe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18E59-7024-46A2-94AF-D121927F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Use safetensors and trusted publishers.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9B550F-3AA4-45EC-95ED-435492B0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D5E124-0CCC-4F2A-8809-49EC0EA5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E41755-790F-459F-9980-478F35C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Pin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93B39E-B62F-4CB9-AE56-FF1F8035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Record immutable revision in code and model card.</a:t>
            </a:r>
          </a:p>
        </p:txBody>
      </p:sp>
    </p:spTree>
    <p:extLst>
      <p:ext uri="{BB962C8B-B14F-4D97-AF65-F5344CB8AC3E}">
        <p14:creationId xmlns:p14="http://schemas.microsoft.com/office/powerpoint/2010/main" val="1972765435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90E85-6559-4611-833C-EBBF85FB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6C417-C9F3-449C-929B-40AA318C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75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68DB0B-28A1-4B8F-9AE6-AB49AB96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Fine-tuning preserves the preprocessing 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66F61-3E30-4C5E-955C-B29A3E11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733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71"/>
                </a:solidFill>
              </a:defRPr>
            </a:pPr>
            <a:r>
              <a:rPr sz="1650" b="0">
                <a:solidFill>
                  <a:srgbClr val="526071"/>
                </a:solidFill>
              </a:rPr>
              <a:t>Let the weights object supply its own evaluation transforms; wrap only defensible training augmentation around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68CFE-1195-4873-A0B3-2F770E20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52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5E460-C43E-412C-A77D-60B3AA73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52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Use weights.transforms()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514FB-1832-435D-BDDA-7BD12A63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0A692-2188-4748-8035-0D3B02BB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352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Assert BN 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0DBC5-F508-498E-B5F3-C0D83E36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D5E8D-4521-4976-B4F3-26C32950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352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Log base revision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ABDF8-5F59-42F2-B0E4-4BA798E3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409700"/>
            <a:ext cx="735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9F849-009D-424E-AFC5-99F75BC3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57350"/>
            <a:ext cx="685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weights = ResNet50_Weights.DEFAULT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model = resnet50(weights=weights)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model.fc = nn.Linear(model.fc.in_features, 9)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# Stage 1: head only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for p in model.parameters(): p.requires_grad = False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for p in model.fc.parameters(): p.requires_grad = True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model.eval()  # then keep BN modules in eval during head training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# Stage 2: unfreeze gently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for p in model.parameters(): p.requires_grad = True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backbone = [p for n, p in model.named_parameters() if not n.startswith("fc.")]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optimizer = AdamW([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{"params": backbone, "lr": 3e-5},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{"params": model.fc.parameters(), "lr": 3e-4},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45257519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9A435C-C731-42D7-9679-388061EE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BE029-3425-4AC1-B11D-89C52BB6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76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C1154A-AE5D-43D9-8047-5E2F4B7D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Transfer beats scratch most when data is scarce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FD829-E687-4B9B-8BD9-8F47F67F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Reference expectations from the instructor package; verify on your cohort hardware and data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6953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ab66b3c9454e6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E2264-A41B-41A8-B899-7C310D71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809750"/>
            <a:ext cx="41052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77DDB-7010-451A-96BD-BE8401E1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The business case is data efficiency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C20A3-DD6A-4E97-981B-66F7FFAE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924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E2FF2-871A-43E3-B61D-24F90528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57500"/>
            <a:ext cx="3314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Transfer advantage widens at 10%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054BF-B58E-4708-BC65-EC79DCA6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810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45287-66C0-42DE-B6EB-8140AA88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743325"/>
            <a:ext cx="3314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Measured results will vary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BCFF63-10CA-427E-A77A-85F238FD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695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703CDF-18DE-4EDE-9BA9-13288143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629150"/>
            <a:ext cx="3314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Keep the same frozen validation split</a:t>
            </a:r>
          </a:p>
        </p:txBody>
      </p:sp>
    </p:spTree>
    <p:extLst>
      <p:ext uri="{BB962C8B-B14F-4D97-AF65-F5344CB8AC3E}">
        <p14:creationId xmlns:p14="http://schemas.microsoft.com/office/powerpoint/2010/main" val="597733553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808A89-77EB-4CA8-AE08-000A25FB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D2FE"/>
                </a:solidFill>
              </a:defRPr>
            </a:pPr>
            <a:r>
              <a:rPr sz="975" b="1">
                <a:solidFill>
                  <a:srgbClr val="C7D2FE"/>
                </a:solidFill>
              </a:rPr>
              <a:t>DAY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51C60A-FEE4-4854-93FE-46B78D85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77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D40C0F-8D72-4764-B68F-7B942E5D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Lab 5 — Fine-tune a pretrained backbone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C93A9-AA59-4E73-B84B-162A863E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Beat the scratch baseline without breaking the model contract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F9A84-276F-400E-9A6A-ACBC200F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2681288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377AC-E948-438B-9E3A-893E417F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23383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15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625DB-87A0-45A4-BE87-FB0969BC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23383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Feature extract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7A28A-2A81-4D67-BFE7-A811DD1C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23383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Freeze backbone + BN; train the new head.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E05DB-903F-4880-9174-5FE30139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266950"/>
            <a:ext cx="2681288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16466-4842-4502-9381-07C47BB5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2457450"/>
            <a:ext cx="23383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2D228E-8F62-4B77-A037-2FADD27A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2876550"/>
            <a:ext cx="23383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Break contract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89E4B-2C33-44EF-87DE-9CD94EED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3600450"/>
            <a:ext cx="23383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Use wrong normalisation and measure the silent cost.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6673A-8A53-4248-8F97-15F8FFE3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266950"/>
            <a:ext cx="2681288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66CD0-916E-466B-9A6A-7B112B6A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57450"/>
            <a:ext cx="23383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20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6B51F-83E1-49DE-AFAC-1852B460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76550"/>
            <a:ext cx="23383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Stage fine-tune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20558-E7CB-4869-888F-A547F453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00450"/>
            <a:ext cx="23383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Warm up, unfreeze, use discriminative LRs.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20CF7-3394-46D4-B574-71BC9A53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66950"/>
            <a:ext cx="2681288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B2E09-FED5-474A-BEA5-2D9DFFB3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457450"/>
            <a:ext cx="23383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15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770F5A-774F-4A18-AF6A-D4574846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876550"/>
            <a:ext cx="23383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Source + card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4ED15C-25D4-43DC-8179-AE097D2D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600450"/>
            <a:ext cx="23383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Licence verdict, pinned revision, complete model card.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AF3383-4D1C-41CF-81F3-5A58F269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864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DE68A"/>
                </a:solidFill>
              </a:defRPr>
            </a:pPr>
            <a:r>
              <a:rPr sz="1425" b="1">
                <a:solidFill>
                  <a:srgbClr val="FDE68A"/>
                </a:solidFill>
              </a:rPr>
              <a:t>DELIVERABLE  Tracked baseline comparison + model card + sourcing verdict</a:t>
            </a:r>
          </a:p>
        </p:txBody>
      </p:sp>
    </p:spTree>
    <p:extLst>
      <p:ext uri="{BB962C8B-B14F-4D97-AF65-F5344CB8AC3E}">
        <p14:creationId xmlns:p14="http://schemas.microsoft.com/office/powerpoint/2010/main" val="192394572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65E7D-503F-4902-A85F-E4EA87DD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</a:defRPr>
            </a:pPr>
            <a:r>
              <a:rPr sz="1200" b="1">
                <a:solidFill>
                  <a:srgbClr val="6DCBF4"/>
                </a:solidFill>
              </a:rPr>
              <a:t>DAY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551BF-A809-48C0-A7D6-8AF96FA6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857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Scale it, track it, ship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C0670-2248-4A47-B1A5-39624BF9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87AC9-9D56-4DD3-887B-0341AB7D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790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Use the GPU well, make every run queryable, and finish the evidence trail.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1F9DF-2CE9-43AE-9B41-E0D04BCB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6690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98E7D-4AB6-404F-9C03-4E9BEB17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66950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DE68A"/>
                </a:solidFill>
              </a:defRPr>
            </a:pPr>
            <a:r>
              <a:rPr sz="3900" b="1">
                <a:solidFill>
                  <a:srgbClr val="FDE68A"/>
                </a:solidFill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34C18-8550-48DA-9FDA-BC34A583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575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learning hours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CC523-2F13-454E-BFF5-48AEF7EA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1957871287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E07875-0775-4413-9C25-34A0299C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00D00-9FE0-4996-873F-165EF426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79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DA7AEB-B119-4C5C-88B1-F33191F8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GPU training is two computers in one program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3EA91-6CA1-433C-9EBA-71D203EC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5391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0D7F0-1313-49A2-B36E-2A512C09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33550"/>
            <a:ext cx="5791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08560-0A53-4025-BFB6-C3E8E443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Host / CPU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72446-B57C-4015-A347-BC5FB433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Device / GPU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17686-0DF3-4FA2-9A6C-D6FCFC4F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8851E-7FF2-4C93-B5DA-DD01B448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Decode and augment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A29A4-B6E4-4AEC-9845-38273C85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9AEFDE-4E63-4307-A9B2-37637B32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28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Queue batches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9BE39-BB9B-4B7C-93CE-7E1C6122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E124E-0857-430B-A9C7-30CE694C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815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Launch GPU kernels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90AF1-B404-4B34-8996-4285959D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99A70-7101-42D6-83F5-9B0C7789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Owns model and batch tensors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7C3555-35BB-45E3-AD20-76A11D35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A27F8C-5250-4D43-9403-2C8B9C0A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528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Executes parallel kernels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4900E8-6591-4E1E-9949-D622C26B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6C9598-660F-44A9-B7C9-D7647971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815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Waits when input starves</a:t>
            </a:r>
          </a:p>
        </p:txBody>
      </p:sp>
    </p:spTree>
    <p:extLst>
      <p:ext uri="{BB962C8B-B14F-4D97-AF65-F5344CB8AC3E}">
        <p14:creationId xmlns:p14="http://schemas.microsoft.com/office/powerpoint/2010/main" val="1465903184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23FFB-91B4-4D50-AE93-132710B3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FF891-E0D1-4638-9A8E-2FCCF853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80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F294E5-A590-4F32-B66E-281BFCCB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One device variable threads through the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ACD9A-E5F1-4965-978F-C9E7631D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7048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Move the model and every batch tensor once; create new tensors on the correct device.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AF352-BF58-4D0A-9DC4-C2E78C7E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47850"/>
            <a:ext cx="39147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6C72C-A6F7-4E49-8F02-0A14E2B2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76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A4E58-B94F-411C-B7A1-E4D2EC3A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098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No hard-coded cuda:0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C80BB-B71D-4750-8A82-8FF55A79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24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A717D-A2CC-4869-A775-A4086476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5755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Audit tensor creation sites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A983F-F36B-4530-B76B-0161DFB1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71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CE04F3-5959-449A-AC60-2BD10A2C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053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Return CPU scalars at logging boundaries</a:t>
            </a:r>
          </a:p>
        </p:txBody>
      </p:sp>
    </p:spTree>
    <p:extLst>
      <p:ext uri="{BB962C8B-B14F-4D97-AF65-F5344CB8AC3E}">
        <p14:creationId xmlns:p14="http://schemas.microsoft.com/office/powerpoint/2010/main" val="1790288714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C0C9A7-1772-4E64-AD98-245A930B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43823-BBF2-4CBD-8D3F-42D7B00B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81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4850F6-0B6D-4469-9F28-1F3567A8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Throughput is a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2CF24-349A-482F-A3E4-798CAB34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The slowest stage determines utilisation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A7360-51B8-45C8-A35E-54AEEEBF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338" y="37147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DE963-C219-4DCF-832B-CCC8D9C8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7147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1E6D6-A5A7-4C71-A0C1-51380A06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013" y="37147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DF3A2-F80A-4191-9584-24360D44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DB313-28BB-479A-BF7B-850E16CF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F280E-451A-48BD-A198-03C9981F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Storage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F7A41-A8A6-4786-BE9B-D94E6E90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Read compressed images.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E2A30-65E0-42D8-BFA2-F101577B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209550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FAAFB-0FCF-4082-8289-F80193F0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305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17E76-25BC-4C85-BA14-CBED7158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83845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CPU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C2F735-ECF8-42BC-A5AD-7783FAE6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65760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Decode and augment.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955BE5-E4FF-49BF-BB96-319E44A2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9550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4BBEB0-8E83-4B5E-862E-7D51B1F1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05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4B174B-61EE-4EA0-8861-FB501711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3845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Transfer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EAA3B7-8D36-4D13-964A-9D895718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5760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Pinned host memory → device.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9C6C15-182C-478C-9B2B-225FE034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09550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F1CB03-9729-4916-887F-FE436A0F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305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0FE818-47D6-4524-A395-CBD1EEC3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83845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GPU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3E4287-A8E0-428C-9564-695212B9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365760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Forward, backward, optimise.</a:t>
            </a:r>
          </a:p>
        </p:txBody>
      </p:sp>
    </p:spTree>
    <p:extLst>
      <p:ext uri="{BB962C8B-B14F-4D97-AF65-F5344CB8AC3E}">
        <p14:creationId xmlns:p14="http://schemas.microsoft.com/office/powerpoint/2010/main" val="1704491137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445E0-C177-4D1E-BA29-3701A3CA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DBE33-0E2A-4F13-AB6C-60F0FC8C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82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0ECE9B-EE7D-4707-925D-DA7D0EDD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Fix input starvation in cost order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5313D-3C8C-4F83-BF6A-627082F9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Measure after each change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981200"/>
          <a:ext xmlns:a="http://schemas.openxmlformats.org/drawingml/2006/main" cx="1139190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714750"/>
                <a:gridCol w="4819650"/>
              </a:tblGrid>
              <a:tr h="46863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Observation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Diagnostic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First response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Sawtooth utilisation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Loader-only timing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Increase num_workers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Copy stalls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Transfer timing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pin_memory + non_blocking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Epoch startup gap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Worker lifecycle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persistent_workers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Decode dominates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Profile source size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Pre-resized cache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482125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89B90-8697-4934-86C1-898899B7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709A7-8D43-440C-A02F-DE707566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83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07908A-2AA5-4FC5-B9F0-AB368600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Pipeline tuning can unlock the GPU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846B5-577E-488C-A1CB-E253497E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Illustrative throughput only; remeasure on classroom hardware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6953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375fac713b458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BAF27-50E9-4E75-B1EF-5FCC9D3C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809750"/>
            <a:ext cx="41052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24AFD-BE64-4F62-9EC2-F8EE97CA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Fix the bottleneck you measured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1B24E-DD55-40E5-9482-5C2B292C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924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BBD25-ED0D-4B2D-8AAD-D9B7608D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57500"/>
            <a:ext cx="3314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CPU changes can outperform model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F7283-DE85-42C2-A295-E54B8971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810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DD694-0D42-418E-84A1-23FDD824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743325"/>
            <a:ext cx="3314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AMP helps only after data arrives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1D1D8-106C-481D-A887-F6DF3548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695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12146-4D8C-47EB-8DE4-20F4C8EB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629150"/>
            <a:ext cx="3314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Regenerate reference numbers per GPU</a:t>
            </a:r>
          </a:p>
        </p:txBody>
      </p:sp>
    </p:spTree>
    <p:extLst>
      <p:ext uri="{BB962C8B-B14F-4D97-AF65-F5344CB8AC3E}">
        <p14:creationId xmlns:p14="http://schemas.microsoft.com/office/powerpoint/2010/main" val="460046766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1F2EA9-6410-42D1-8D8C-4AF8532F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1A4CC-64AC-4E4A-A0A8-B0CB2C3E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84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B32CF7-89AA-4550-8B03-7DC6354F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AMP trades precision for speed safely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315CE-988F-4481-806A-FE9E795F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5391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C0589-6BC5-4B20-B02A-2E95D300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33550"/>
            <a:ext cx="5791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0D1D2-5FEB-4CDB-8EF6-BCF6B69E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What changes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940BE-E08F-42B7-8F6D-098F64C1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What stays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D0F8F-AC5A-45B6-88D3-20396672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F8C5C-F858-492F-BA17-3A1E4287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Autocast chooses lower precision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397973-F50B-4D9F-A4F0-693A053B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27766-1623-4564-AA03-3F5DD7E1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28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GradScaler protects small gradients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E4119C-569B-459D-9B69-92A05933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0DF2E-A16B-4FF5-BAFB-0C2FF094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815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Less activation 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4DE5A-E3AE-4FC9-AE6C-CCE7FFBA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6F36D6-8AF4-41E5-9671-B8C6672E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Master weights and sensitive ops remain safe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6C620-1AE6-412E-A074-A10E1C7D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5EE905-E721-4F3B-BAF0-6A44C9EA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528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Validation contract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5F0EC0-E5C8-4F4C-B06F-16524A64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BCE11-E8D1-4BD7-8548-E8A6BBA3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815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Need to unscale before clipping</a:t>
            </a:r>
          </a:p>
        </p:txBody>
      </p:sp>
    </p:spTree>
    <p:extLst>
      <p:ext uri="{BB962C8B-B14F-4D97-AF65-F5344CB8AC3E}">
        <p14:creationId xmlns:p14="http://schemas.microsoft.com/office/powerpoint/2010/main" val="1893809795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5388E1-EB0E-4F55-BF87-5FC4BA30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3D5D5-8CB8-45B9-BD16-E22C3DCE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85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986303-DC2E-4E12-9F48-E5D4A560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Accumulation and clipping must respect AMP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F93FF-4D48-493D-B6F0-103C8CEB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170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2F442-4927-41B8-9D5C-257B4CA2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840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5FA5F-B275-4E2F-B587-DF96DFD0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510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F9DF3-DF34-4ED3-B5B9-292F5B7B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180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BA241-EB33-470B-A687-0B876C17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03608-9F79-4815-9839-0A64A585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597C7-97A9-4A65-A245-C3230D27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Autocast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98143-7661-44D1-8C13-412E959E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Forward and loss in mixed precision.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26594-F6CB-4DEC-9B15-03626F5A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180975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C91291-3CC1-4D0C-B792-DFABCBC2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82B386-C4A0-4AED-99BA-1ED75304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55270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Scale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8C8615-52D3-4105-B347-01A82267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337185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scaler.scale(loss / accum).backward().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CB32F-25E3-4338-B736-8F591AA9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390" y="180975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55FC9-C017-4A42-A072-4983CECD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EE6659-B31D-4E28-9C76-4B21DECC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55270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Unscale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3CF52-B56D-49F9-BBC5-89796640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337185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scaler.unscale_(optimizer).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73241C-55E8-4DC7-BB82-10453112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180975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B89863-08EC-491B-B73F-D5905B6D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95E28B-F421-4FAE-B0C5-7EC9D329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255270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Clip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826921-F6F2-494E-8CE5-CEB72F64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337185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Apply threshold to true gradients.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B5418C-7980-401F-8BB3-8DCCF256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180975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5AF508-5B7F-442A-A995-DEAFFC8A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AFA8DA-8D7D-4CB5-92E7-1D1EBC55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255270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Step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5F986D-CF4B-44AB-A25D-9350F6D1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337185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scaler.step(); update(); zero.</a:t>
            </a:r>
          </a:p>
        </p:txBody>
      </p:sp>
    </p:spTree>
    <p:extLst>
      <p:ext uri="{BB962C8B-B14F-4D97-AF65-F5344CB8AC3E}">
        <p14:creationId xmlns:p14="http://schemas.microsoft.com/office/powerpoint/2010/main" val="909428923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0EFE47-8A7D-4C1B-8666-F5B94920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2AC8B-9F31-4353-8816-2586DE4C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86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AE69FE-488A-4146-8D91-D381B833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Reproducibility has three rungs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36AB5-4F48-41E2-919C-C74F58D6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The course requires reconstructable runs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91BD6-597E-4EF0-A44C-C8308EB8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37147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8F4F6-FBA0-49D9-A47F-FCD7C823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37147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C2480-98FE-4426-B1A3-DBA73AEF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68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5B825-77A1-45A4-9822-49365C30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5B6B9-4EAF-4677-91F9-8BC668C1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3263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Repeatable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04840-FB54-4247-B6C4-B3267BF8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32639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Same code/data/seed usually gives similar metrics.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9B76F-4994-4793-9482-94C5106B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095500"/>
            <a:ext cx="368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C5E9A2-74C7-4DA7-87C0-651DE90D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305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36CD68-A4BC-4DC7-BA5C-70838A40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838450"/>
            <a:ext cx="3263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Deterministic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D4873-E068-4A14-8286-FE072595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3657600"/>
            <a:ext cx="32639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Strict kernels and controlled environment; slower.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21C238-2658-4F10-A9FD-77FA8271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2095500"/>
            <a:ext cx="368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28CC2-102F-4176-B803-F5677F87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305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F38907-183D-4E02-8B5E-1864C4D8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838450"/>
            <a:ext cx="3263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Reconstructable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53E709-93C5-499A-AE12-CC2F0E2B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3657600"/>
            <a:ext cx="32639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Commit, data hash, config, environment, and artefacts let another machine relaunch.</a:t>
            </a:r>
          </a:p>
        </p:txBody>
      </p:sp>
    </p:spTree>
    <p:extLst>
      <p:ext uri="{BB962C8B-B14F-4D97-AF65-F5344CB8AC3E}">
        <p14:creationId xmlns:p14="http://schemas.microsoft.com/office/powerpoint/2010/main" val="1317660432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F80BE-5DD9-4C2A-9336-B6160F2D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25492-F55F-4A70-8062-7ACFF68F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87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C459C1-E4B9-4809-BF3E-5F90DA7C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A run page should answer five audit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88E19-6398-431A-9642-FE73C8B0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If a field is missing, the experiment is incomplete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981200"/>
          <a:ext xmlns:a="http://schemas.openxmlformats.org/drawingml/2006/main" cx="113919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6438900"/>
              </a:tblGrid>
              <a:tr h="4667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Required field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Which model won?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Validation metric + checkpoint artifact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On what data?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splits.json hash + counts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From what code?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Git commit + dirty-state flag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From what base?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Backbone ID + pinned revision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Can it relaunch?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Full config + environment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5206079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1EC962-D8EE-4091-ABA6-6D139AE1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126C3-B2F2-4784-8944-09D07F85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88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D8E39D-29C5-4AE4-A49A-4E0C4AF6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Artifact lineage turns files into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1AC02-E5B8-44C8-8AFA-3931AC50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338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F81E0-F987-47E0-9E46-63C2A61C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9598F-00A0-466D-9A97-D93DD80C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013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0D459-C935-44DA-8AD6-8F87D1BF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50D67-A552-41F5-AE26-86BF33DD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D3683-D66D-40BA-BC05-F7F5E4B6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42FC5-1D4F-4BD9-B4F1-A058CD9E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Frozen split artifact and hash.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23CF7-E546-4C58-A0CA-8260635F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B6C77-D22A-4A19-8655-3FF09EA0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742B3-6E5D-4B1F-BD5E-C0D8D23D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843863-C73C-4297-8419-67B51C72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Config, metrics, environment, code.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83259-DB07-4F08-A005-0C0D695C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BDAD1-585D-495F-950B-72FB8BD1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64A327-876B-438D-8CF8-BE03DEA8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Checkpoint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C8C046-DC58-4C96-B06B-95EE2903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Best model linked to the producing run.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F2FCAC-9BA5-4325-B518-E31DA16D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62154-E7F8-4D8C-9764-C2793DE1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44B8CD-0D88-4D0F-83A7-6401E618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Release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97D0AA-BD56-4DCB-9384-F2324E93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Hub model card cross-references W&amp;B.</a:t>
            </a:r>
          </a:p>
        </p:txBody>
      </p:sp>
    </p:spTree>
    <p:extLst>
      <p:ext uri="{BB962C8B-B14F-4D97-AF65-F5344CB8AC3E}">
        <p14:creationId xmlns:p14="http://schemas.microsoft.com/office/powerpoint/2010/main" val="1021812650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DB0C1D-B5B5-4027-8405-6A782CAB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F7FD6-757D-41E0-9B7D-BFFEC4BB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89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84E6BD-D228-4B91-923D-77B94688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A sweep is a budgeted experiment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DB913-2206-41F0-9D63-04E66419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5391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73CF1-D69C-4247-8207-0310EC1A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33550"/>
            <a:ext cx="5791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BCF7A-0036-448E-B9FC-40861B73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DE951-638D-40BA-9436-AB7BC960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Governance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D3E02-21B0-4FDC-9931-DE2CE22F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9AFD9-E5DA-4938-BA4D-F2F2DD89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Search lr, weight decay, augmentation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73C6C-0FC8-40E0-A01C-D1DE5360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06F2B-B3B6-47F7-B6F8-6D09DF98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28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Use ≥12 informative 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E8378-A2C5-4FCE-9F3E-E837D5FF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68F62-67C9-433C-BE10-89AAF35D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815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Early-kill weak configurations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BF2F1C-45A4-4429-AA30-FEF7E822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627B6-43E8-4273-BDE6-1208036E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Select on frozen validation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A1C9E-90A2-4DAF-B3D0-CE63D5DF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BC1EDE-12CA-4709-9C84-B88C4568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528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One sealed-test evaluation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90899B-60BF-4E1C-94AC-08120688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93E357-DE3F-44C8-9CCA-EEDCBB9B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815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Preserve configs and artifacts</a:t>
            </a:r>
          </a:p>
        </p:txBody>
      </p:sp>
    </p:spTree>
    <p:extLst>
      <p:ext uri="{BB962C8B-B14F-4D97-AF65-F5344CB8AC3E}">
        <p14:creationId xmlns:p14="http://schemas.microsoft.com/office/powerpoint/2010/main" val="764797804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74EEE-B83C-4F4B-9A19-1697D1DE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E89E9-38B1-46A6-8D89-AEDD989B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90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C796DB-7BC9-4B6E-9137-0D5B0CCF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The best run is a query, not a memory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D98F4-FEDC-42D8-A76C-6526C13B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Synthetic 12-run sample from the companion workbook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6953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bc80a7608643e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8A6E6-17D4-48CD-90C5-C28C982E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809750"/>
            <a:ext cx="41052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32BD2-8D86-4BD9-8C21-9AD62C86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Run 04 leads this synthetic sample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2BA31-3350-4CF2-AF8B-2A1015B7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924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53641-3A2F-49EF-98A3-29927D29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57500"/>
            <a:ext cx="3314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Rank by validation—not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2B1B0-8D92-4137-B33B-DE1E247D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810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02040-C97F-4ADF-BEC4-035482C0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743325"/>
            <a:ext cx="3314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Inspect the winning config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217F8-46EB-4558-9221-720E45F2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695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CB252-26F2-40EC-8A7F-E78C37A7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629150"/>
            <a:ext cx="3314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Confirm artifact lineage before release</a:t>
            </a:r>
          </a:p>
        </p:txBody>
      </p:sp>
    </p:spTree>
    <p:extLst>
      <p:ext uri="{BB962C8B-B14F-4D97-AF65-F5344CB8AC3E}">
        <p14:creationId xmlns:p14="http://schemas.microsoft.com/office/powerpoint/2010/main" val="933742669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EE77F7-8C6E-4948-9962-3BBF2B63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834F9-50A5-4D19-AF1A-D1293A4C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91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8BC98F-E3C8-45A7-895C-7B7E5B12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Shipping completes the 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E20D9-6776-4322-A771-C1A40F9C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338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4D19A-4782-4087-92B1-D08DCD24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CB8EA-20CB-481A-8ED7-BB2C1EDF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013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C1D50-6718-46D3-921C-DD02F0A1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EEF41-32A3-4145-B550-3A24D205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2794D-DFE7-401D-9B3F-8F6C5A1B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Weights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BA526-A125-4E08-88EC-BD976E0A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Prefer safetensors; include checksum.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D97ED-8180-4632-9DE3-2CEB37C1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E3040-43E5-4D62-83BB-B2A2B1A3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D07E1-1FDA-4F90-9745-D3F4567A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Model card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6805E-1408-423B-AC92-5615F2A3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Base revision, preprocessing, data, metrics, licence.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6CD47-FBD8-4984-BF92-26757857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B9CEBB-C97D-4E0D-B4FD-BDF5707A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85821E-FF00-4D4B-A919-B2D17E60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Lineage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38EC9B-55BE-4EFF-BC3A-1B92386F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Cross-reference the producing W&amp;B run.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A4C378-BD71-43D5-9393-7F7A9E99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F0CCBF-B125-400F-9CF7-B362C0AE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A33749-37B6-4580-8ED9-4344D600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4A0AA5-26B0-4997-ABF2-6C60959E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State ambiguous classes and known failure conditions.</a:t>
            </a:r>
          </a:p>
        </p:txBody>
      </p:sp>
    </p:spTree>
    <p:extLst>
      <p:ext uri="{BB962C8B-B14F-4D97-AF65-F5344CB8AC3E}">
        <p14:creationId xmlns:p14="http://schemas.microsoft.com/office/powerpoint/2010/main" val="1822628332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A86CA5-1278-41AF-ABF5-D664DFD1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D2FE"/>
                </a:solidFill>
              </a:defRPr>
            </a:pPr>
            <a:r>
              <a:rPr sz="975" b="1">
                <a:solidFill>
                  <a:srgbClr val="C7D2FE"/>
                </a:solidFill>
              </a:rPr>
              <a:t>DAY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721F3-7B56-4ED7-B4DF-BA9D562F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92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3A9522-3085-4039-8A92-8F9EE953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Lab 6 — Make it fast, make it tracked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C22B8-D24B-4279-A1DA-9FF14B7B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Benchmark, optimise, log, and relaunch the fine-tuned classifier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A096C-B714-4A5D-9171-AA472E07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2681288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6882A-3994-455C-B928-D16A08C6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23383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15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D2B8D-F986-477E-BBD4-57E8A722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23383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Baseline profile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77D93-2388-45B9-AB77-418A6ED7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23383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Measure loader, transfer, GPU time, and utilisation.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CC5B6-BA3B-42B1-8186-B03FAB70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266950"/>
            <a:ext cx="2681288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743FA-9F9F-494B-AA23-918EE65B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2457450"/>
            <a:ext cx="23383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98546-0D6E-4C78-83DF-93A215BA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2876550"/>
            <a:ext cx="23383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Optimise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FA7713-29F6-4886-84B7-287D065F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3600450"/>
            <a:ext cx="23383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Tune workers/pinning; add AMP and accumulation correctly.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026E3-671E-460B-983D-2AA88C7B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266950"/>
            <a:ext cx="2681288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131019-4F9D-4FBC-9B60-17E6F7C8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57450"/>
            <a:ext cx="23383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15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CD5BB-772A-410B-BBA6-2C57EDF3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76550"/>
            <a:ext cx="23383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Track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D8A863-3DA1-42EE-9DDF-F8E7F47C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00450"/>
            <a:ext cx="23383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Log complete config, data hash, code, and artifacts.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218678-DCE0-48FE-AE87-AF14659E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66950"/>
            <a:ext cx="2681288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9E19C2-7D4A-4FF7-BF78-C4EBB694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457450"/>
            <a:ext cx="23383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15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3B67AB-4198-4E9B-A783-0599179B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876550"/>
            <a:ext cx="23383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Machine swap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0D15E6-38FA-4808-B1D0-0DF20E8F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600450"/>
            <a:ext cx="23383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Relaunch another pair's run from its page.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DB6A9C-852A-45FE-94B4-60114061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864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DE68A"/>
                </a:solidFill>
              </a:defRPr>
            </a:pPr>
            <a:r>
              <a:rPr sz="1425" b="1">
                <a:solidFill>
                  <a:srgbClr val="FDE68A"/>
                </a:solidFill>
              </a:rPr>
              <a:t>DELIVERABLE  Before/after throughput + config-complete W&amp;B run + swap test</a:t>
            </a:r>
          </a:p>
        </p:txBody>
      </p:sp>
    </p:spTree>
    <p:extLst>
      <p:ext uri="{BB962C8B-B14F-4D97-AF65-F5344CB8AC3E}">
        <p14:creationId xmlns:p14="http://schemas.microsoft.com/office/powerpoint/2010/main" val="308449938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1DB2B-F884-482F-8BF2-874804FB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</a:defRPr>
            </a:pPr>
            <a:r>
              <a:rPr sz="1200" b="1">
                <a:solidFill>
                  <a:srgbClr val="6DCBF4"/>
                </a:solidFill>
              </a:rPr>
              <a:t>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C5D23-559A-410C-B991-DF61557D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857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Tamr 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A5DDA-599F-48E2-A9BE-DB621CBB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4778F-8C05-42FF-A663-2EB78C0D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790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Integrate the pipeline, tune with discipline, evaluate once, and ship a reviewable classifier.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C6AF8-E3FC-4270-ADD0-8CF830D4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6690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1785C-14CF-464A-BEB8-43E2FF18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66950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DE68A"/>
                </a:solidFill>
              </a:defRPr>
            </a:pPr>
            <a:r>
              <a:rPr sz="3900" b="1">
                <a:solidFill>
                  <a:srgbClr val="FDE68A"/>
                </a:solidFill>
              </a:rPr>
              <a:t>2.5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1D31B-4989-49C8-B0D6-1AF8000A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575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learning hours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28698-86ED-4DD3-9664-909523BD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93</a:t>
            </a:r>
          </a:p>
        </p:txBody>
      </p:sp>
    </p:spTree>
    <p:extLst>
      <p:ext uri="{BB962C8B-B14F-4D97-AF65-F5344CB8AC3E}">
        <p14:creationId xmlns:p14="http://schemas.microsoft.com/office/powerpoint/2010/main" val="376811985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648A0A-1A05-4661-847E-59097841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D84C1-F265-4EA6-8BB3-14E33E83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94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4FC8AD-3E89-4603-B637-83B5BEDC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The pilot has a production constraint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4A1D7-474C-4EF3-B016-0518A582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7048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Nine date varieties must be classified at line speed—without hiding uncertainty or losing the evidence trail.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41017-ED02-4805-904B-556F09A6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47850"/>
            <a:ext cx="39147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B138F-2AE6-4295-AD90-79C1CAA7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76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F5FCB-703A-40BB-A144-6D870969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098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≥10 items/s 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F6DCC-1048-43D8-9CEE-0D9007A5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24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BFF14-8CE7-4D44-8BC4-FC13DF91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5755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Frozen validation 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C30DD-6AE9-4415-9A50-36013BFF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71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80D86-B246-492F-A55C-E1E3923D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053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One sealed-test evaluation</a:t>
            </a:r>
          </a:p>
        </p:txBody>
      </p:sp>
    </p:spTree>
    <p:extLst>
      <p:ext uri="{BB962C8B-B14F-4D97-AF65-F5344CB8AC3E}">
        <p14:creationId xmlns:p14="http://schemas.microsoft.com/office/powerpoint/2010/main" val="974991227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A9A4AB-30C5-4EE6-8798-D4C5C365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68068-9550-461F-8D0F-99C6CB98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95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794F48-9D60-4645-B8B8-8B17819F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The target system is an evidence chain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D602F-F343-45AB-9EA6-D6CDCE1C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170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BAA90-4AAD-48F0-8DE7-9F3C12FA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840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60295-DC32-4FF0-BD04-1660FB07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510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A9666-A161-46F0-A60D-D490CEA6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180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083C1-DF99-4541-99A5-16E3F460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7CD2D-7471-436A-8259-2297D025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0B8D6-15C6-4DAB-8427-11F34A9D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Tamr-9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203F1-5793-4CAD-9802-3B047794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Frozen, hash-versioned splits.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CB952-C1E3-49C8-9A0C-6E2A98EB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180975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BDF99D-5E3B-4FE9-AF68-7707ABFC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9A9FC-773A-4FC9-A880-91564AE7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55270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Engine v2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BFADC-CFD2-451F-BF6F-F5E50236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337185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AMP, accumulation, resume, metrics.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5AC7DB-250B-443E-80D3-A88AB9C5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390" y="180975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3E8AD0-94A7-4606-A60A-66A47B03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C8545-ACEB-4D0F-8636-4B8A5D92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55270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ResNet-50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2E296E-29A4-4237-98DE-328A178E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337185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Staged fine-tune + discriminative LRs.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FAC409-AD55-4E1D-89D0-58217495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180975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344349-5CC4-4EF5-BABB-C478D3EA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C63783-2D5B-4F65-8B59-312F9073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255270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W&amp;B sweep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5F02F5-A5E5-46E7-BCC2-F281C28D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337185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Bayes + Hyperband; select on validation.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D16FE2-7CFF-4CE6-8B33-DB95541A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1809750"/>
            <a:ext cx="21412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28EDEB-117E-426A-8979-084B82EC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1F7D08-ED47-4402-B8DA-6BB9C23D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2552700"/>
            <a:ext cx="17221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Hub release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5AD736-4AE3-4F45-8C98-0A69E1BB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3371850"/>
            <a:ext cx="172212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One test evaluation + complete model card.</a:t>
            </a:r>
          </a:p>
        </p:txBody>
      </p:sp>
    </p:spTree>
    <p:extLst>
      <p:ext uri="{BB962C8B-B14F-4D97-AF65-F5344CB8AC3E}">
        <p14:creationId xmlns:p14="http://schemas.microsoft.com/office/powerpoint/2010/main" val="438838124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76351-4D6F-4981-B52D-E5184B79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9C25B-0CC8-4CA5-ADB0-B2F49465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96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44935E-D177-4581-97E1-4729B64C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Seven mandatory requirements define completion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AC59D-685B-4660-B934-2BC6B97F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One extension is also required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981200"/>
          <a:ext xmlns:a="http://schemas.openxmlformats.org/drawingml/2006/main" cx="113919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8343900"/>
              </a:tblGrid>
              <a:tr h="46434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Requirement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Minimum evidence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Pipeline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Self-test, best/last, resume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Scratch baseline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Logged TamrCNN validation result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Transfer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Staged fine-tune beats baseline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Tuning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≥12 runs over lr, wd, augmentation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Reproducibility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Config, commit, data hash, revision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Evaluation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One test run + per-class recall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Shipping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Hub card + W&amp;B cross-reference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2519951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6CA63-B911-49A2-92AA-BD364B25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B745B-FD99-455A-A606-6FC80D21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97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65E483-8DDF-4732-8B4A-ACF0C2F5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Capstone gates protect the schedule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3BC9C-FA01-4DC4-863B-D543D621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Sealed test labels remain private until Gate D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981200"/>
          <a:ext xmlns:a="http://schemas.openxmlformats.org/drawingml/2006/main" cx="113919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2857500"/>
                <a:gridCol w="7391400"/>
              </a:tblGrid>
              <a:tr h="4667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Gate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Due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Pass condition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Day 4 H2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Engine v2 tracked; machine-swap passes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Day 4 H3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≥12 sweep runs; winner selected on validation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Day 4 H4 first half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Winner confirmed; model card complete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Day 4 H4 end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Exactly one sealed-test evaluation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Day 4 H5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Five-minute demo + submission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7057683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4FC1E-5119-4CA3-AB58-B3322828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37231-3EF5-4595-AA29-8E66374A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98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54988A-24B7-4958-979F-CE9A5853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Rubric: build and improve the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DE4B3-9180-4BA0-82FE-909812A1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First 55 points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981200"/>
          <a:ext xmlns:a="http://schemas.openxmlformats.org/drawingml/2006/main" cx="113919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1524000"/>
                <a:gridCol w="6629400"/>
              </a:tblGrid>
              <a:tr h="471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Distinction signal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Pipeline correctness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Self-test, resume, device-clean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Transfer + quality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Staged recipe; beats scratch; contract kept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Stabilisation + tuning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Every non-default setting has run evidence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0651126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8A58D-24CE-4A06-BF29-6382679B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A0FED-127A-4888-8623-D495A7C0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99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A2FB0B-07C3-4DB9-91A3-C366F700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Rubric: prove, evaluate, and 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E75E0-1870-4C1A-B331-80EC8D74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Final 45 points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981200"/>
          <a:ext xmlns:a="http://schemas.openxmlformats.org/drawingml/2006/main" cx="113919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1524000"/>
                <a:gridCol w="6629400"/>
              </a:tblGrid>
              <a:tr h="471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Distinction signal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Tracking + reproducibility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Complete lineage; machine-swap passes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Evaluation discipline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One test run; per-class analysis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Shipping + demo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Complete card; crisp evidence-led demo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7213616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6ED7BF-46B4-4EEB-9CC2-DD474D4A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61D0A-302D-43D6-9C9D-D94675DF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100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7270FC-0A82-4995-97F5-6BC857B2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The sealed test set is not a tuning tool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6BC62-A234-454E-AD7D-F8096C87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7048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Choose the winner on validation, then evaluate exactly once on 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EE2FA-F2B2-4812-9BA2-C46F551C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47850"/>
            <a:ext cx="39147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EBB1C-0BA3-4880-97D1-40EC331D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76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0FB24-AB02-4F47-A835-927358D8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098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Release labels in Day 4 H4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7A939-1291-4680-829A-823CDD22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24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BDBCF-F4BB-4151-A0B7-9AC6B491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5755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Log the first test invocation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FF91F-75E3-446E-B577-7B830EE4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71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4B3F8-CF0C-4FE6-8C0D-C4E30F62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053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Analyse weakest class pair</a:t>
            </a:r>
          </a:p>
        </p:txBody>
      </p:sp>
    </p:spTree>
    <p:extLst>
      <p:ext uri="{BB962C8B-B14F-4D97-AF65-F5344CB8AC3E}">
        <p14:creationId xmlns:p14="http://schemas.microsoft.com/office/powerpoint/2010/main" val="1894299710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B14C4-D1D3-4BB4-998F-276B2B40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E9D53-3ED6-4329-88A3-529EF6F7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101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B9B3E9-3F23-4D18-A82B-61E1977E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Submission is four links and one 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6A98B-09E5-45F5-87DA-2132A379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</a:defRPr>
            </a:pPr>
            <a:r>
              <a:rPr sz="1500" b="0">
                <a:solidFill>
                  <a:srgbClr val="526071"/>
                </a:solidFill>
              </a:rPr>
              <a:t>Everything should launch cold on another machine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981200"/>
          <a:ext xmlns:a="http://schemas.openxmlformats.org/drawingml/2006/main" cx="113919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8153400"/>
              </a:tblGrid>
              <a:tr h="4667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Repository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Commit history across Labs 1–6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W&amp;B project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Sweep + winning run + comparison table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Model artifact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best.pt / safetensors + lineage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Hub repository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Complete MODEL_CARD.md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RESULTS.md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Baseline vs final; test metrics; extension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4844810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9E350A-E0BD-4D14-9BCF-2C6ECAA7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D64EF-78AA-4C3E-8F45-0384CC3A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102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1E11FA-6FB0-47B2-84C5-401A3E81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A five-minute demo answers four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C5CB2-C940-4B8B-A3E5-C5D8B3A8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338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44ED9-3FDF-4CA8-AC3C-DDF8827F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3F86F-2B10-486C-B082-FF8D3E6E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013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851DD-B509-4990-B67B-C6DC1713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25DA3-4038-4773-BBCF-45E129E7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80FFA-C32A-46E9-BC03-8BE8B7DD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Does it run?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91F2C-6C02-4B2C-A178-AA876038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Five instructor images, including one ambiguous fruit.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23B3E-5D0C-47ED-9B91-34740F8A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CF92C8-B6AC-4648-92AA-4852D3C9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44BBF-FDB1-4EA6-97C4-145D0A75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Why this model?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1C5B63-20D8-4EB7-8612-4D0D7422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Baseline, ablations, and sweep winner.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A036B9-2398-4A3B-84E9-0284997D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171D75-5E32-4E3B-BDA9-DD5A7B60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39756-C08D-41E2-8718-C9BEF73A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Can we reproduce it?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509645-96A1-4216-8638-071FE4A7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Run page, commit, data hash, base revision.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CA83D1-C81B-441F-937D-071CAB12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7AA557-7C92-4D32-8A8F-2E556208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308669-3F51-40B8-9A24-7F6E2626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Where does it fail?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B16293-95E6-4586-80C3-25A456B4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Weakest class pair and next step.</a:t>
            </a:r>
          </a:p>
        </p:txBody>
      </p:sp>
    </p:spTree>
    <p:extLst>
      <p:ext uri="{BB962C8B-B14F-4D97-AF65-F5344CB8AC3E}">
        <p14:creationId xmlns:p14="http://schemas.microsoft.com/office/powerpoint/2010/main" val="656539341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58ACCB-8DDA-4EF2-8CAA-6935D2AA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9106A-983C-4D77-B79B-648BAE21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103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F01498-AD84-42E4-BE6D-07C24636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The course was one project all along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11F8A-4F7F-4139-AE2D-19AACC2C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338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4DEAF-2DA9-484E-B106-0C5D5315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CCCFF-873B-4751-AA3F-8C30C177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013" y="34290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92D17-0DCA-43BB-BAC1-DFBFCCF2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C59E6-122B-4331-81DE-40C2C4F9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AB6E3-677F-4E32-B9F0-DEADDFB6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Mechanics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5087B-9F05-469D-A6CC-3F569CFB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M1: gradients and failure signatures.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37E34-CF11-4EB3-909F-624151EC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30834-9A33-4E18-A8B2-1608571B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A85CB-A058-44BB-BA5E-3D1BB83D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Pipeline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32FD8-2C0F-4271-AD5B-AECCB0BD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M2–M3: engine, CNN, and sequence model.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E0D44F-3EA5-44CC-8746-EDD6350F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BA75C-C4E4-4169-B26E-5E416D8A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B352A8-7B43-4F5A-B880-58F40775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Recipe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E8B496-9F32-49BF-A129-9667A3CB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M4–M5: stabilisation and transfer.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14CC4-5205-42A9-9A1D-8481CA0B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809750"/>
            <a:ext cx="2719388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0CAFB7-0C3D-4B2E-A5C4-74251C00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623DF1-9453-4913-B7B7-7AFAF46E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552700"/>
            <a:ext cx="23002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4ABDCE-1B70-412B-80C2-808A18C4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3371850"/>
            <a:ext cx="2300288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</a:defRPr>
            </a:pPr>
            <a:r>
              <a:rPr sz="1350" b="0">
                <a:solidFill>
                  <a:srgbClr val="526071"/>
                </a:solidFill>
              </a:rPr>
              <a:t>M6: performance, tracking, and shipping.</a:t>
            </a:r>
          </a:p>
        </p:txBody>
      </p:sp>
    </p:spTree>
    <p:extLst>
      <p:ext uri="{BB962C8B-B14F-4D97-AF65-F5344CB8AC3E}">
        <p14:creationId xmlns:p14="http://schemas.microsoft.com/office/powerpoint/2010/main" val="804148083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9148CA-AFB4-4E99-AA8A-DB64020D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1EAF7-8288-4C3D-8E7E-1141521B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104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66091A-ABCD-4323-AC8B-5FEB1848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Your next modules consume this artefact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D5B32-6455-4AFC-917D-039CF55C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5391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34917-2B13-410C-83E5-648AFB99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33550"/>
            <a:ext cx="5791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38B3A-BA84-42BF-B194-DAB9B282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SDA-AIE-113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6DB3D-AB19-45BC-B931-1864BF5C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SDA-AIE-211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6444E-2F8D-44C2-B822-A2C542F7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8C596-26DE-45CB-9417-6DA34B8E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Reuses tensors and training loops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B680B-EEDE-47B5-87C5-DFC59816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A0E51-A3DA-45FA-AFB6-7AA04094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28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Fine-tunes sequence models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26617-A5A4-42D7-95B6-3D3D45F5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0C20D-B413-4830-BC95-D43A43F3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81525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Scales transfer to NLP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CA45F8-0E2D-4A90-A4CC-424FBC53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1E701C-1E2B-47CF-9B53-E1360052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Consumes the Hub artifact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1FDD1-03A3-464C-B8D5-97EDAFBF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5F8668-AF52-4034-998C-57741438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528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Operationalises lineage and monitoring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E040F5-2884-49EC-B343-DE84C8C0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5F1C9A-C963-4BBD-9410-4B485147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81525"/>
            <a:ext cx="5029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Deploys the exact model card contract</a:t>
            </a:r>
          </a:p>
        </p:txBody>
      </p:sp>
    </p:spTree>
    <p:extLst>
      <p:ext uri="{BB962C8B-B14F-4D97-AF65-F5344CB8AC3E}">
        <p14:creationId xmlns:p14="http://schemas.microsoft.com/office/powerpoint/2010/main" val="1147123608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B659CE-1F7C-442A-92EF-4BF0ED58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75EF0-2C45-4FB0-93B0-970D6821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</a:defRPr>
            </a:pPr>
            <a:r>
              <a:rPr sz="975" b="0">
                <a:solidFill>
                  <a:srgbClr val="526071"/>
                </a:solidFill>
              </a:rPr>
              <a:t>105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A615AA-66FD-4D39-9C14-562A8669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A gradient became a shipped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04EC2-33A1-4B73-A30E-F6A033A0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7048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The distance between Day 1 paper and Day 4 lineage is the discipline you can reuse.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9DFCE-D2BF-49E8-9ACF-FFAA3497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47850"/>
            <a:ext cx="39147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27886-CAE8-4FB6-AF52-F1F9EFD9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76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7F8C7-26C7-4D29-827E-02D6A4B3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098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Build one trustworthy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B79DF-2441-4B5A-BE29-F3C33ED1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24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ED2F4-1A1B-42DE-8B22-00CE236E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5755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Change one thing with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E9C83-1DBD-46F7-815C-81F58DFD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71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BDD34-D540-4F55-B6DE-88B4BF3A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0530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Ship the full contract</a:t>
            </a:r>
          </a:p>
        </p:txBody>
      </p:sp>
    </p:spTree>
    <p:extLst>
      <p:ext uri="{BB962C8B-B14F-4D97-AF65-F5344CB8AC3E}">
        <p14:creationId xmlns:p14="http://schemas.microsoft.com/office/powerpoint/2010/main" val="4119321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2026-08-26T09:55:10.4520000Z</dcterms:created>
  <dcterms:modified xsi:type="dcterms:W3CDTF">2026-08-26T09:55:10.4530000Z</dcterms:modified>
</coreProperties>
</file>